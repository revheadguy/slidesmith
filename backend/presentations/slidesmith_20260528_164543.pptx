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F51B5"/>
        </a:solidFill>
        <a:effectLst/>
      </p:bgPr>
    </p:bg>
    <p:spTree>
      <p:nvGrpSpPr>
        <p:cNvPr id="1" name=""/>
        <p:cNvGrpSpPr/>
        <p:nvPr/>
      </p:nvGrpSpPr>
      <p:grpSpPr/>
      <p:sp>
        <p:nvSpPr>
          <p:cNvPr id="2" name="Oval 1"/>
          <p:cNvSpPr/>
          <p:nvPr/>
        </p:nvSpPr>
        <p:spPr>
          <a:xfrm>
            <a:off x="6355079" y="-1143000"/>
            <a:ext cx="4114800" cy="4114800"/>
          </a:xfrm>
          <a:prstGeom prst="ellipse">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 y="4754880"/>
            <a:ext cx="2011680" cy="2011680"/>
          </a:xfrm>
          <a:prstGeom prst="ellipse">
            <a:avLst/>
          </a:prstGeom>
          <a:noFill/>
          <a:ln w="31750">
            <a:solidFill>
              <a:srgbClr val="5C6B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377440"/>
            <a:ext cx="7680960" cy="2011680"/>
          </a:xfrm>
          <a:prstGeom prst="rect">
            <a:avLst/>
          </a:prstGeom>
          <a:noFill/>
        </p:spPr>
        <p:txBody>
          <a:bodyPr wrap="square">
            <a:spAutoFit/>
          </a:bodyPr>
          <a:lstStyle/>
          <a:p>
            <a:pPr algn="ctr">
              <a:lnSpc>
                <a:spcPct val="115000"/>
              </a:lnSpc>
              <a:defRPr sz="4000" b="1">
                <a:solidFill>
                  <a:srgbClr val="FFFFFF"/>
                </a:solidFill>
              </a:defRPr>
            </a:pPr>
            <a:r>
              <a:t>Sun Pharma Pvt Ltd: A Leading Pharmaceutical Company</a:t>
            </a:r>
          </a:p>
        </p:txBody>
      </p:sp>
      <p:sp>
        <p:nvSpPr>
          <p:cNvPr id="5" name="Rectangle 4"/>
          <p:cNvSpPr/>
          <p:nvPr/>
        </p:nvSpPr>
        <p:spPr>
          <a:xfrm>
            <a:off x="0" y="6748272"/>
            <a:ext cx="9144000" cy="109728"/>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Company Overview</a:t>
            </a:r>
          </a:p>
        </p:txBody>
      </p:sp>
      <p:sp>
        <p:nvSpPr>
          <p:cNvPr id="4" name="TextBox 3"/>
          <p:cNvSpPr txBox="1"/>
          <p:nvPr/>
        </p:nvSpPr>
        <p:spPr>
          <a:xfrm>
            <a:off x="731520" y="1417320"/>
            <a:ext cx="7680960" cy="960119"/>
          </a:xfrm>
          <a:prstGeom prst="rect">
            <a:avLst/>
          </a:prstGeom>
          <a:noFill/>
        </p:spPr>
        <p:txBody>
          <a:bodyPr wrap="square">
            <a:spAutoFit/>
          </a:bodyPr>
          <a:lstStyle/>
          <a:p>
            <a:pPr>
              <a:lnSpc>
                <a:spcPct val="130000"/>
              </a:lnSpc>
              <a:defRPr sz="1600">
                <a:solidFill>
                  <a:srgbClr val="0F172A"/>
                </a:solidFill>
              </a:defRPr>
            </a:pPr>
            <a:r>
              <a:t>Sun Pharma is a leading Indian pharmaceutical company that has been in operation since 1983. The company was founded by Dilip Shanghvi and has since grown to become one of the largest pharmaceutical companies in India.</a:t>
            </a:r>
          </a:p>
        </p:txBody>
      </p:sp>
      <p:sp>
        <p:nvSpPr>
          <p:cNvPr id="5" name="Oval 4"/>
          <p:cNvSpPr/>
          <p:nvPr/>
        </p:nvSpPr>
        <p:spPr>
          <a:xfrm>
            <a:off x="502920" y="269747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51760"/>
            <a:ext cx="7589520" cy="685800"/>
          </a:xfrm>
          <a:prstGeom prst="rect">
            <a:avLst/>
          </a:prstGeom>
          <a:noFill/>
        </p:spPr>
        <p:txBody>
          <a:bodyPr wrap="square">
            <a:spAutoFit/>
          </a:bodyPr>
          <a:lstStyle/>
          <a:p>
            <a:pPr>
              <a:lnSpc>
                <a:spcPct val="130000"/>
              </a:lnSpc>
              <a:defRPr sz="1600">
                <a:solidFill>
                  <a:srgbClr val="0F172A"/>
                </a:solidFill>
              </a:defRPr>
            </a:pPr>
            <a:r>
              <a:t>Headquartered in Mumbai, India</a:t>
            </a:r>
          </a:p>
        </p:txBody>
      </p:sp>
      <p:sp>
        <p:nvSpPr>
          <p:cNvPr id="7" name="Oval 6"/>
          <p:cNvSpPr/>
          <p:nvPr/>
        </p:nvSpPr>
        <p:spPr>
          <a:xfrm>
            <a:off x="502920" y="3447287"/>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401568"/>
            <a:ext cx="7589520" cy="685800"/>
          </a:xfrm>
          <a:prstGeom prst="rect">
            <a:avLst/>
          </a:prstGeom>
          <a:noFill/>
        </p:spPr>
        <p:txBody>
          <a:bodyPr wrap="square">
            <a:spAutoFit/>
          </a:bodyPr>
          <a:lstStyle/>
          <a:p>
            <a:pPr>
              <a:lnSpc>
                <a:spcPct val="130000"/>
              </a:lnSpc>
              <a:defRPr sz="1600">
                <a:solidFill>
                  <a:srgbClr val="0F172A"/>
                </a:solidFill>
              </a:defRPr>
            </a:pPr>
            <a:r>
              <a:t>Founded in 1983</a:t>
            </a:r>
          </a:p>
        </p:txBody>
      </p:sp>
      <p:sp>
        <p:nvSpPr>
          <p:cNvPr id="9" name="Oval 8"/>
          <p:cNvSpPr/>
          <p:nvPr/>
        </p:nvSpPr>
        <p:spPr>
          <a:xfrm>
            <a:off x="502920" y="4197096"/>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51376"/>
            <a:ext cx="7589520" cy="685800"/>
          </a:xfrm>
          <a:prstGeom prst="rect">
            <a:avLst/>
          </a:prstGeom>
          <a:noFill/>
        </p:spPr>
        <p:txBody>
          <a:bodyPr wrap="square">
            <a:spAutoFit/>
          </a:bodyPr>
          <a:lstStyle/>
          <a:p>
            <a:pPr>
              <a:lnSpc>
                <a:spcPct val="130000"/>
              </a:lnSpc>
              <a:defRPr sz="1600">
                <a:solidFill>
                  <a:srgbClr val="0F172A"/>
                </a:solidFill>
              </a:defRPr>
            </a:pPr>
            <a:r>
              <a:t>Leading manufacturer of generic drugs</a:t>
            </a:r>
          </a:p>
        </p:txBody>
      </p:sp>
      <p:sp>
        <p:nvSpPr>
          <p:cNvPr id="11" name="Oval 10"/>
          <p:cNvSpPr/>
          <p:nvPr/>
        </p:nvSpPr>
        <p:spPr>
          <a:xfrm>
            <a:off x="502920" y="4946904"/>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01184"/>
            <a:ext cx="7589520" cy="685800"/>
          </a:xfrm>
          <a:prstGeom prst="rect">
            <a:avLst/>
          </a:prstGeom>
          <a:noFill/>
        </p:spPr>
        <p:txBody>
          <a:bodyPr wrap="square">
            <a:spAutoFit/>
          </a:bodyPr>
          <a:lstStyle/>
          <a:p>
            <a:pPr>
              <a:lnSpc>
                <a:spcPct val="130000"/>
              </a:lnSpc>
              <a:defRPr sz="1600">
                <a:solidFill>
                  <a:srgbClr val="0F172A"/>
                </a:solidFill>
              </a:defRPr>
            </a:pPr>
            <a:r>
              <a:t>Operates globally with a strong presence in over 100 countries</a:t>
            </a:r>
          </a:p>
        </p:txBody>
      </p:sp>
      <p:sp>
        <p:nvSpPr>
          <p:cNvPr id="13" name="Rectangle 12"/>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Sun Pharma Pvt Ltd: A Leading Pharmaceutical Company</a:t>
            </a:r>
          </a:p>
        </p:txBody>
      </p:sp>
      <p:sp>
        <p:nvSpPr>
          <p:cNvPr id="15" name="TextBox 14"/>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Product Portfolio</a:t>
            </a:r>
          </a:p>
        </p:txBody>
      </p:sp>
      <p:sp>
        <p:nvSpPr>
          <p:cNvPr id="4" name="TextBox 3"/>
          <p:cNvSpPr txBox="1"/>
          <p:nvPr/>
        </p:nvSpPr>
        <p:spPr>
          <a:xfrm>
            <a:off x="457200" y="1417320"/>
            <a:ext cx="4114800" cy="1600200"/>
          </a:xfrm>
          <a:prstGeom prst="rect">
            <a:avLst/>
          </a:prstGeom>
          <a:noFill/>
        </p:spPr>
        <p:txBody>
          <a:bodyPr wrap="square">
            <a:spAutoFit/>
          </a:bodyPr>
          <a:lstStyle/>
          <a:p>
            <a:pPr>
              <a:lnSpc>
                <a:spcPct val="130000"/>
              </a:lnSpc>
              <a:defRPr sz="1400">
                <a:solidFill>
                  <a:srgbClr val="0F172A"/>
                </a:solidFill>
              </a:defRPr>
            </a:pPr>
            <a:r>
              <a:t>Sun Pharma's product portfolio includes a wide range of pharmaceutical products, including specialty and generic medications. The company has a strong focus on research and development, which enables it to develop innovative and effective treatments for various diseases.</a:t>
            </a:r>
          </a:p>
        </p:txBody>
      </p:sp>
      <p:sp>
        <p:nvSpPr>
          <p:cNvPr id="5" name="Oval 4"/>
          <p:cNvSpPr/>
          <p:nvPr/>
        </p:nvSpPr>
        <p:spPr>
          <a:xfrm>
            <a:off x="457200" y="339242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3337560"/>
            <a:ext cx="3858768" cy="658368"/>
          </a:xfrm>
          <a:prstGeom prst="rect">
            <a:avLst/>
          </a:prstGeom>
          <a:noFill/>
        </p:spPr>
        <p:txBody>
          <a:bodyPr wrap="square">
            <a:spAutoFit/>
          </a:bodyPr>
          <a:lstStyle/>
          <a:p>
            <a:pPr>
              <a:lnSpc>
                <a:spcPct val="130000"/>
              </a:lnSpc>
              <a:defRPr sz="1500">
                <a:solidFill>
                  <a:srgbClr val="0F172A"/>
                </a:solidFill>
              </a:defRPr>
            </a:pPr>
            <a:r>
              <a:t>Specialty generics for rare and niche indications</a:t>
            </a:r>
          </a:p>
        </p:txBody>
      </p:sp>
      <p:sp>
        <p:nvSpPr>
          <p:cNvPr id="7" name="Oval 6"/>
          <p:cNvSpPr/>
          <p:nvPr/>
        </p:nvSpPr>
        <p:spPr>
          <a:xfrm>
            <a:off x="457200" y="412394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4069080"/>
            <a:ext cx="3858768" cy="658368"/>
          </a:xfrm>
          <a:prstGeom prst="rect">
            <a:avLst/>
          </a:prstGeom>
          <a:noFill/>
        </p:spPr>
        <p:txBody>
          <a:bodyPr wrap="square">
            <a:spAutoFit/>
          </a:bodyPr>
          <a:lstStyle/>
          <a:p>
            <a:pPr>
              <a:lnSpc>
                <a:spcPct val="130000"/>
              </a:lnSpc>
              <a:defRPr sz="1500">
                <a:solidFill>
                  <a:srgbClr val="0F172A"/>
                </a:solidFill>
              </a:defRPr>
            </a:pPr>
            <a:r>
              <a:t>Innovative therapies for complex diseases</a:t>
            </a:r>
          </a:p>
        </p:txBody>
      </p:sp>
      <p:sp>
        <p:nvSpPr>
          <p:cNvPr id="9" name="Oval 8"/>
          <p:cNvSpPr/>
          <p:nvPr/>
        </p:nvSpPr>
        <p:spPr>
          <a:xfrm>
            <a:off x="457200" y="485546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4800600"/>
            <a:ext cx="3858768" cy="658368"/>
          </a:xfrm>
          <a:prstGeom prst="rect">
            <a:avLst/>
          </a:prstGeom>
          <a:noFill/>
        </p:spPr>
        <p:txBody>
          <a:bodyPr wrap="square">
            <a:spAutoFit/>
          </a:bodyPr>
          <a:lstStyle/>
          <a:p>
            <a:pPr>
              <a:lnSpc>
                <a:spcPct val="130000"/>
              </a:lnSpc>
              <a:defRPr sz="1500">
                <a:solidFill>
                  <a:srgbClr val="0F172A"/>
                </a:solidFill>
              </a:defRPr>
            </a:pPr>
            <a:r>
              <a:t>Generic versions of patented drugs</a:t>
            </a:r>
          </a:p>
        </p:txBody>
      </p:sp>
      <p:sp>
        <p:nvSpPr>
          <p:cNvPr id="11" name="Oval 10"/>
          <p:cNvSpPr/>
          <p:nvPr/>
        </p:nvSpPr>
        <p:spPr>
          <a:xfrm>
            <a:off x="457200" y="5586983"/>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5532120"/>
            <a:ext cx="3858768" cy="658368"/>
          </a:xfrm>
          <a:prstGeom prst="rect">
            <a:avLst/>
          </a:prstGeom>
          <a:noFill/>
        </p:spPr>
        <p:txBody>
          <a:bodyPr wrap="square">
            <a:spAutoFit/>
          </a:bodyPr>
          <a:lstStyle/>
          <a:p>
            <a:pPr>
              <a:lnSpc>
                <a:spcPct val="130000"/>
              </a:lnSpc>
              <a:defRPr sz="1500">
                <a:solidFill>
                  <a:srgbClr val="0F172A"/>
                </a:solidFill>
              </a:defRPr>
            </a:pPr>
            <a:r>
              <a:t>Oral solids, injectables, and topical formulations</a:t>
            </a:r>
          </a:p>
        </p:txBody>
      </p:sp>
      <p:pic>
        <p:nvPicPr>
          <p:cNvPr id="13" name="Picture 12" descr="unsplash_pWtydIYnASM.jpg"/>
          <p:cNvPicPr>
            <a:picLocks noChangeAspect="1"/>
          </p:cNvPicPr>
          <p:nvPr/>
        </p:nvPicPr>
        <p:blipFill>
          <a:blip r:embed="rId2"/>
          <a:stretch>
            <a:fillRect/>
          </a:stretch>
        </p:blipFill>
        <p:spPr>
          <a:xfrm>
            <a:off x="4754880" y="1280160"/>
            <a:ext cx="3840480" cy="4937760"/>
          </a:xfrm>
          <a:prstGeom prst="rect">
            <a:avLst/>
          </a:prstGeom>
        </p:spPr>
      </p:pic>
      <p:sp>
        <p:nvSpPr>
          <p:cNvPr id="14" name="Rectangle 13"/>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Sun Pharma Pvt Ltd: A Leading Pharmaceutical Company</a:t>
            </a:r>
          </a:p>
        </p:txBody>
      </p:sp>
      <p:sp>
        <p:nvSpPr>
          <p:cNvPr id="16" name="TextBox 15"/>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Business Operations</a:t>
            </a:r>
          </a:p>
        </p:txBody>
      </p:sp>
      <p:sp>
        <p:nvSpPr>
          <p:cNvPr id="4" name="TextBox 3"/>
          <p:cNvSpPr txBox="1"/>
          <p:nvPr/>
        </p:nvSpPr>
        <p:spPr>
          <a:xfrm>
            <a:off x="731520" y="1417320"/>
            <a:ext cx="7680960" cy="960119"/>
          </a:xfrm>
          <a:prstGeom prst="rect">
            <a:avLst/>
          </a:prstGeom>
          <a:noFill/>
        </p:spPr>
        <p:txBody>
          <a:bodyPr wrap="square">
            <a:spAutoFit/>
          </a:bodyPr>
          <a:lstStyle/>
          <a:p>
            <a:pPr>
              <a:lnSpc>
                <a:spcPct val="130000"/>
              </a:lnSpc>
              <a:defRPr sz="1600">
                <a:solidFill>
                  <a:srgbClr val="0F172A"/>
                </a:solidFill>
              </a:defRPr>
            </a:pPr>
            <a:r>
              <a:t>Sun Pharma's business operations are centered around its core strengths in research and development, manufacturing, and marketing. The company has a global presence with a strong network of distributors, wholesalers, and retail partners.</a:t>
            </a:r>
          </a:p>
        </p:txBody>
      </p:sp>
      <p:sp>
        <p:nvSpPr>
          <p:cNvPr id="5" name="Oval 4"/>
          <p:cNvSpPr/>
          <p:nvPr/>
        </p:nvSpPr>
        <p:spPr>
          <a:xfrm>
            <a:off x="502920" y="269747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51760"/>
            <a:ext cx="7589520" cy="685800"/>
          </a:xfrm>
          <a:prstGeom prst="rect">
            <a:avLst/>
          </a:prstGeom>
          <a:noFill/>
        </p:spPr>
        <p:txBody>
          <a:bodyPr wrap="square">
            <a:spAutoFit/>
          </a:bodyPr>
          <a:lstStyle/>
          <a:p>
            <a:pPr>
              <a:lnSpc>
                <a:spcPct val="130000"/>
              </a:lnSpc>
              <a:defRPr sz="1600">
                <a:solidFill>
                  <a:srgbClr val="0F172A"/>
                </a:solidFill>
              </a:defRPr>
            </a:pPr>
            <a:r>
              <a:t>Global distribution network</a:t>
            </a:r>
          </a:p>
        </p:txBody>
      </p:sp>
      <p:sp>
        <p:nvSpPr>
          <p:cNvPr id="7" name="Oval 6"/>
          <p:cNvSpPr/>
          <p:nvPr/>
        </p:nvSpPr>
        <p:spPr>
          <a:xfrm>
            <a:off x="502920" y="3447287"/>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401568"/>
            <a:ext cx="7589520" cy="685800"/>
          </a:xfrm>
          <a:prstGeom prst="rect">
            <a:avLst/>
          </a:prstGeom>
          <a:noFill/>
        </p:spPr>
        <p:txBody>
          <a:bodyPr wrap="square">
            <a:spAutoFit/>
          </a:bodyPr>
          <a:lstStyle/>
          <a:p>
            <a:pPr>
              <a:lnSpc>
                <a:spcPct val="130000"/>
              </a:lnSpc>
              <a:defRPr sz="1600">
                <a:solidFill>
                  <a:srgbClr val="0F172A"/>
                </a:solidFill>
              </a:defRPr>
            </a:pPr>
            <a:r>
              <a:t>State-of-the-art manufacturing facilities</a:t>
            </a:r>
          </a:p>
        </p:txBody>
      </p:sp>
      <p:sp>
        <p:nvSpPr>
          <p:cNvPr id="9" name="Oval 8"/>
          <p:cNvSpPr/>
          <p:nvPr/>
        </p:nvSpPr>
        <p:spPr>
          <a:xfrm>
            <a:off x="502920" y="4197096"/>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51376"/>
            <a:ext cx="7589520" cy="685800"/>
          </a:xfrm>
          <a:prstGeom prst="rect">
            <a:avLst/>
          </a:prstGeom>
          <a:noFill/>
        </p:spPr>
        <p:txBody>
          <a:bodyPr wrap="square">
            <a:spAutoFit/>
          </a:bodyPr>
          <a:lstStyle/>
          <a:p>
            <a:pPr>
              <a:lnSpc>
                <a:spcPct val="130000"/>
              </a:lnSpc>
              <a:defRPr sz="1600">
                <a:solidFill>
                  <a:srgbClr val="0F172A"/>
                </a:solidFill>
              </a:defRPr>
            </a:pPr>
            <a:r>
              <a:t>Research and development partnerships</a:t>
            </a:r>
          </a:p>
        </p:txBody>
      </p:sp>
      <p:sp>
        <p:nvSpPr>
          <p:cNvPr id="11" name="Oval 10"/>
          <p:cNvSpPr/>
          <p:nvPr/>
        </p:nvSpPr>
        <p:spPr>
          <a:xfrm>
            <a:off x="502920" y="4946904"/>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01184"/>
            <a:ext cx="7589520" cy="685800"/>
          </a:xfrm>
          <a:prstGeom prst="rect">
            <a:avLst/>
          </a:prstGeom>
          <a:noFill/>
        </p:spPr>
        <p:txBody>
          <a:bodyPr wrap="square">
            <a:spAutoFit/>
          </a:bodyPr>
          <a:lstStyle/>
          <a:p>
            <a:pPr>
              <a:lnSpc>
                <a:spcPct val="130000"/>
              </a:lnSpc>
              <a:defRPr sz="1600">
                <a:solidFill>
                  <a:srgbClr val="0F172A"/>
                </a:solidFill>
              </a:defRPr>
            </a:pPr>
            <a:r>
              <a:t>Marketing and sales strategies for targeted markets</a:t>
            </a:r>
          </a:p>
        </p:txBody>
      </p:sp>
      <p:sp>
        <p:nvSpPr>
          <p:cNvPr id="13" name="Rectangle 12"/>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Sun Pharma Pvt Ltd: A Leading Pharmaceutical Company</a:t>
            </a:r>
          </a:p>
        </p:txBody>
      </p:sp>
      <p:sp>
        <p:nvSpPr>
          <p:cNvPr id="15" name="TextBox 14"/>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Corporate Social Responsibility</a:t>
            </a:r>
          </a:p>
        </p:txBody>
      </p:sp>
      <p:sp>
        <p:nvSpPr>
          <p:cNvPr id="4" name="TextBox 3"/>
          <p:cNvSpPr txBox="1"/>
          <p:nvPr/>
        </p:nvSpPr>
        <p:spPr>
          <a:xfrm>
            <a:off x="457200" y="1417320"/>
            <a:ext cx="4114800" cy="1600200"/>
          </a:xfrm>
          <a:prstGeom prst="rect">
            <a:avLst/>
          </a:prstGeom>
          <a:noFill/>
        </p:spPr>
        <p:txBody>
          <a:bodyPr wrap="square">
            <a:spAutoFit/>
          </a:bodyPr>
          <a:lstStyle/>
          <a:p>
            <a:pPr>
              <a:lnSpc>
                <a:spcPct val="130000"/>
              </a:lnSpc>
              <a:defRPr sz="1400">
                <a:solidFill>
                  <a:srgbClr val="0F172A"/>
                </a:solidFill>
              </a:defRPr>
            </a:pPr>
            <a:r>
              <a:t>Sun Pharma is committed to giving back to the community through various corporate social responsibility initiatives. The company believes that its success is closely linked to the well-being of society and the environment.</a:t>
            </a:r>
          </a:p>
        </p:txBody>
      </p:sp>
      <p:sp>
        <p:nvSpPr>
          <p:cNvPr id="5" name="Oval 4"/>
          <p:cNvSpPr/>
          <p:nvPr/>
        </p:nvSpPr>
        <p:spPr>
          <a:xfrm>
            <a:off x="457200" y="339242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3337560"/>
            <a:ext cx="3858768" cy="658368"/>
          </a:xfrm>
          <a:prstGeom prst="rect">
            <a:avLst/>
          </a:prstGeom>
          <a:noFill/>
        </p:spPr>
        <p:txBody>
          <a:bodyPr wrap="square">
            <a:spAutoFit/>
          </a:bodyPr>
          <a:lstStyle/>
          <a:p>
            <a:pPr>
              <a:lnSpc>
                <a:spcPct val="130000"/>
              </a:lnSpc>
              <a:defRPr sz="1500">
                <a:solidFill>
                  <a:srgbClr val="0F172A"/>
                </a:solidFill>
              </a:defRPr>
            </a:pPr>
            <a:r>
              <a:t>Healthcare education programs for underprivileged communities</a:t>
            </a:r>
          </a:p>
        </p:txBody>
      </p:sp>
      <p:sp>
        <p:nvSpPr>
          <p:cNvPr id="7" name="Oval 6"/>
          <p:cNvSpPr/>
          <p:nvPr/>
        </p:nvSpPr>
        <p:spPr>
          <a:xfrm>
            <a:off x="457200" y="412394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4069080"/>
            <a:ext cx="3858768" cy="658368"/>
          </a:xfrm>
          <a:prstGeom prst="rect">
            <a:avLst/>
          </a:prstGeom>
          <a:noFill/>
        </p:spPr>
        <p:txBody>
          <a:bodyPr wrap="square">
            <a:spAutoFit/>
          </a:bodyPr>
          <a:lstStyle/>
          <a:p>
            <a:pPr>
              <a:lnSpc>
                <a:spcPct val="130000"/>
              </a:lnSpc>
              <a:defRPr sz="1500">
                <a:solidFill>
                  <a:srgbClr val="0F172A"/>
                </a:solidFill>
              </a:defRPr>
            </a:pPr>
            <a:r>
              <a:t>Patient advocacy and awareness campaigns</a:t>
            </a:r>
          </a:p>
        </p:txBody>
      </p:sp>
      <p:sp>
        <p:nvSpPr>
          <p:cNvPr id="9" name="Oval 8"/>
          <p:cNvSpPr/>
          <p:nvPr/>
        </p:nvSpPr>
        <p:spPr>
          <a:xfrm>
            <a:off x="457200" y="485546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4800600"/>
            <a:ext cx="3858768" cy="658368"/>
          </a:xfrm>
          <a:prstGeom prst="rect">
            <a:avLst/>
          </a:prstGeom>
          <a:noFill/>
        </p:spPr>
        <p:txBody>
          <a:bodyPr wrap="square">
            <a:spAutoFit/>
          </a:bodyPr>
          <a:lstStyle/>
          <a:p>
            <a:pPr>
              <a:lnSpc>
                <a:spcPct val="130000"/>
              </a:lnSpc>
              <a:defRPr sz="1500">
                <a:solidFill>
                  <a:srgbClr val="0F172A"/>
                </a:solidFill>
              </a:defRPr>
            </a:pPr>
            <a:r>
              <a:t>Environmental sustainability initiatives</a:t>
            </a:r>
          </a:p>
        </p:txBody>
      </p:sp>
      <p:sp>
        <p:nvSpPr>
          <p:cNvPr id="11" name="Oval 10"/>
          <p:cNvSpPr/>
          <p:nvPr/>
        </p:nvSpPr>
        <p:spPr>
          <a:xfrm>
            <a:off x="457200" y="5586983"/>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5532120"/>
            <a:ext cx="3858768" cy="658368"/>
          </a:xfrm>
          <a:prstGeom prst="rect">
            <a:avLst/>
          </a:prstGeom>
          <a:noFill/>
        </p:spPr>
        <p:txBody>
          <a:bodyPr wrap="square">
            <a:spAutoFit/>
          </a:bodyPr>
          <a:lstStyle/>
          <a:p>
            <a:pPr>
              <a:lnSpc>
                <a:spcPct val="130000"/>
              </a:lnSpc>
              <a:defRPr sz="1500">
                <a:solidFill>
                  <a:srgbClr val="0F172A"/>
                </a:solidFill>
              </a:defRPr>
            </a:pPr>
            <a:r>
              <a:t>Community development projects</a:t>
            </a:r>
          </a:p>
        </p:txBody>
      </p:sp>
      <p:pic>
        <p:nvPicPr>
          <p:cNvPr id="13" name="Picture 12" descr="unsplash_eJeK3qgNhTQ.jpg"/>
          <p:cNvPicPr>
            <a:picLocks noChangeAspect="1"/>
          </p:cNvPicPr>
          <p:nvPr/>
        </p:nvPicPr>
        <p:blipFill>
          <a:blip r:embed="rId2"/>
          <a:stretch>
            <a:fillRect/>
          </a:stretch>
        </p:blipFill>
        <p:spPr>
          <a:xfrm>
            <a:off x="4754880" y="1280160"/>
            <a:ext cx="3840480" cy="4937760"/>
          </a:xfrm>
          <a:prstGeom prst="rect">
            <a:avLst/>
          </a:prstGeom>
        </p:spPr>
      </p:pic>
      <p:sp>
        <p:nvSpPr>
          <p:cNvPr id="14" name="Rectangle 13"/>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Sun Pharma Pvt Ltd: A Leading Pharmaceutical Company</a:t>
            </a:r>
          </a:p>
        </p:txBody>
      </p:sp>
      <p:sp>
        <p:nvSpPr>
          <p:cNvPr id="16" name="TextBox 15"/>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Awards and Recognition</a:t>
            </a:r>
          </a:p>
        </p:txBody>
      </p:sp>
      <p:sp>
        <p:nvSpPr>
          <p:cNvPr id="4" name="TextBox 3"/>
          <p:cNvSpPr txBox="1"/>
          <p:nvPr/>
        </p:nvSpPr>
        <p:spPr>
          <a:xfrm>
            <a:off x="731520" y="1417320"/>
            <a:ext cx="7680960" cy="960119"/>
          </a:xfrm>
          <a:prstGeom prst="rect">
            <a:avLst/>
          </a:prstGeom>
          <a:noFill/>
        </p:spPr>
        <p:txBody>
          <a:bodyPr wrap="square">
            <a:spAutoFit/>
          </a:bodyPr>
          <a:lstStyle/>
          <a:p>
            <a:pPr>
              <a:lnSpc>
                <a:spcPct val="130000"/>
              </a:lnSpc>
              <a:defRPr sz="1600">
                <a:solidFill>
                  <a:srgbClr val="0F172A"/>
                </a:solidFill>
              </a:defRPr>
            </a:pPr>
            <a:r>
              <a:t>Sun Pharma has received numerous awards and recognition for its contributions to the pharmaceutical industry. The company's commitment to innovation, quality, and patient care has earned it several prestigious awards from various organizations.</a:t>
            </a:r>
          </a:p>
        </p:txBody>
      </p:sp>
      <p:sp>
        <p:nvSpPr>
          <p:cNvPr id="5" name="Oval 4"/>
          <p:cNvSpPr/>
          <p:nvPr/>
        </p:nvSpPr>
        <p:spPr>
          <a:xfrm>
            <a:off x="502920" y="269747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51760"/>
            <a:ext cx="7589520" cy="685800"/>
          </a:xfrm>
          <a:prstGeom prst="rect">
            <a:avLst/>
          </a:prstGeom>
          <a:noFill/>
        </p:spPr>
        <p:txBody>
          <a:bodyPr wrap="square">
            <a:spAutoFit/>
          </a:bodyPr>
          <a:lstStyle/>
          <a:p>
            <a:pPr>
              <a:lnSpc>
                <a:spcPct val="130000"/>
              </a:lnSpc>
              <a:defRPr sz="1600">
                <a:solidFill>
                  <a:srgbClr val="0F172A"/>
                </a:solidFill>
              </a:defRPr>
            </a:pPr>
            <a:r>
              <a:t>Indian Pharmaceutical Association (IPA) Award</a:t>
            </a:r>
          </a:p>
        </p:txBody>
      </p:sp>
      <p:sp>
        <p:nvSpPr>
          <p:cNvPr id="7" name="Oval 6"/>
          <p:cNvSpPr/>
          <p:nvPr/>
        </p:nvSpPr>
        <p:spPr>
          <a:xfrm>
            <a:off x="502920" y="3447287"/>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401568"/>
            <a:ext cx="7589520" cy="685800"/>
          </a:xfrm>
          <a:prstGeom prst="rect">
            <a:avLst/>
          </a:prstGeom>
          <a:noFill/>
        </p:spPr>
        <p:txBody>
          <a:bodyPr wrap="square">
            <a:spAutoFit/>
          </a:bodyPr>
          <a:lstStyle/>
          <a:p>
            <a:pPr>
              <a:lnSpc>
                <a:spcPct val="130000"/>
              </a:lnSpc>
              <a:defRPr sz="1600">
                <a:solidFill>
                  <a:srgbClr val="0F172A"/>
                </a:solidFill>
              </a:defRPr>
            </a:pPr>
            <a:r>
              <a:t>Pharmaceutical Leadership Summit (PLS) Award</a:t>
            </a:r>
          </a:p>
        </p:txBody>
      </p:sp>
      <p:sp>
        <p:nvSpPr>
          <p:cNvPr id="9" name="Oval 8"/>
          <p:cNvSpPr/>
          <p:nvPr/>
        </p:nvSpPr>
        <p:spPr>
          <a:xfrm>
            <a:off x="502920" y="4197096"/>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51376"/>
            <a:ext cx="7589520" cy="685800"/>
          </a:xfrm>
          <a:prstGeom prst="rect">
            <a:avLst/>
          </a:prstGeom>
          <a:noFill/>
        </p:spPr>
        <p:txBody>
          <a:bodyPr wrap="square">
            <a:spAutoFit/>
          </a:bodyPr>
          <a:lstStyle/>
          <a:p>
            <a:pPr>
              <a:lnSpc>
                <a:spcPct val="130000"/>
              </a:lnSpc>
              <a:defRPr sz="1600">
                <a:solidFill>
                  <a:srgbClr val="0F172A"/>
                </a:solidFill>
              </a:defRPr>
            </a:pPr>
            <a:r>
              <a:t>India's Most Valuable Companies (IMVCS) Award</a:t>
            </a:r>
          </a:p>
        </p:txBody>
      </p:sp>
      <p:sp>
        <p:nvSpPr>
          <p:cNvPr id="11" name="Oval 10"/>
          <p:cNvSpPr/>
          <p:nvPr/>
        </p:nvSpPr>
        <p:spPr>
          <a:xfrm>
            <a:off x="502920" y="4946904"/>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01184"/>
            <a:ext cx="7589520" cy="685800"/>
          </a:xfrm>
          <a:prstGeom prst="rect">
            <a:avLst/>
          </a:prstGeom>
          <a:noFill/>
        </p:spPr>
        <p:txBody>
          <a:bodyPr wrap="square">
            <a:spAutoFit/>
          </a:bodyPr>
          <a:lstStyle/>
          <a:p>
            <a:pPr>
              <a:lnSpc>
                <a:spcPct val="130000"/>
              </a:lnSpc>
              <a:defRPr sz="1600">
                <a:solidFill>
                  <a:srgbClr val="0F172A"/>
                </a:solidFill>
              </a:defRPr>
            </a:pPr>
            <a:r>
              <a:t>Best Company to Work For (BCWF) Award</a:t>
            </a:r>
          </a:p>
        </p:txBody>
      </p:sp>
      <p:sp>
        <p:nvSpPr>
          <p:cNvPr id="13" name="Rectangle 12"/>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Sun Pharma Pvt Ltd: A Leading Pharmaceutical Company</a:t>
            </a:r>
          </a:p>
        </p:txBody>
      </p:sp>
      <p:sp>
        <p:nvSpPr>
          <p:cNvPr id="15" name="TextBox 14"/>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256032"/>
            <a:ext cx="9144000" cy="54864"/>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9184"/>
            <a:ext cx="8229600" cy="658368"/>
          </a:xfrm>
          <a:prstGeom prst="rect">
            <a:avLst/>
          </a:prstGeom>
          <a:noFill/>
        </p:spPr>
        <p:txBody>
          <a:bodyPr wrap="square">
            <a:spAutoFit/>
          </a:bodyPr>
          <a:lstStyle/>
          <a:p>
            <a:pPr>
              <a:defRPr sz="2600" b="1">
                <a:solidFill>
                  <a:srgbClr val="1E40AF"/>
                </a:solidFill>
              </a:defRPr>
            </a:pPr>
            <a:r>
              <a:t>Presentation Flow</a:t>
            </a:r>
          </a:p>
        </p:txBody>
      </p:sp>
      <p:cxnSp>
        <p:nvCxnSpPr>
          <p:cNvPr id="900" name="DiagConnector"/>
          <p:cNvCxnSpPr/>
          <p:nvPr/>
        </p:nvCxnSpPr>
        <p:spPr>
          <a:xfrm>
            <a:off x="758952" y="1444752"/>
            <a:ext cx="5029200" cy="2743200"/>
          </a:xfrm>
          <a:prstGeom prst="line">
            <a:avLst/>
          </a:prstGeom>
          <a:ln w="18000">
            <a:solidFill>
              <a:srgbClr val="CBD5E1"/>
            </a:solidFill>
            <a:prstDash val="sysDash"/>
          </a:ln>
        </p:spPr>
      </p:cxnSp>
      <p:sp>
        <p:nvSpPr>
          <p:cNvPr id="901" name="Rectangle 900"/>
          <p:cNvSpPr/>
          <p:nvPr/>
        </p:nvSpPr>
        <p:spPr>
          <a:xfrm>
            <a:off x="557784" y="11521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Rectangle 901"/>
          <p:cNvSpPr/>
          <p:nvPr/>
        </p:nvSpPr>
        <p:spPr>
          <a:xfrm>
            <a:off x="502920" y="10972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Rectangle 902"/>
          <p:cNvSpPr/>
          <p:nvPr/>
        </p:nvSpPr>
        <p:spPr>
          <a:xfrm>
            <a:off x="502920" y="10972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Oval 903"/>
          <p:cNvSpPr/>
          <p:nvPr/>
        </p:nvSpPr>
        <p:spPr>
          <a:xfrm>
            <a:off x="502920" y="11887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1</a:t>
            </a:r>
          </a:p>
        </p:txBody>
      </p:sp>
      <p:sp>
        <p:nvSpPr>
          <p:cNvPr id="905" name="TextBox 904"/>
          <p:cNvSpPr txBox="1"/>
          <p:nvPr/>
        </p:nvSpPr>
        <p:spPr>
          <a:xfrm>
            <a:off x="1271016" y="1261872"/>
            <a:ext cx="2176272" cy="384048"/>
          </a:xfrm>
          <a:prstGeom prst="rect">
            <a:avLst/>
          </a:prstGeom>
          <a:noFill/>
        </p:spPr>
        <p:txBody>
          <a:bodyPr wrap="square">
            <a:spAutoFit/>
          </a:bodyPr>
          <a:lstStyle/>
          <a:p>
            <a:pPr>
              <a:defRPr sz="1400" b="1">
                <a:solidFill>
                  <a:srgbClr val="1E40AF"/>
                </a:solidFill>
              </a:defRPr>
            </a:pPr>
            <a:r>
              <a:t>Company Overview</a:t>
            </a:r>
          </a:p>
        </p:txBody>
      </p:sp>
      <p:sp>
        <p:nvSpPr>
          <p:cNvPr id="906" name="Rectangle 905"/>
          <p:cNvSpPr/>
          <p:nvPr/>
        </p:nvSpPr>
        <p:spPr>
          <a:xfrm>
            <a:off x="667512" y="17007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TextBox 906"/>
          <p:cNvSpPr txBox="1"/>
          <p:nvPr/>
        </p:nvSpPr>
        <p:spPr>
          <a:xfrm>
            <a:off x="704088" y="17739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Headquartered in Mumbai, India</a:t>
            </a:r>
          </a:p>
          <a:p>
            <a:pPr>
              <a:lnSpc>
                <a:spcPct val="120000"/>
              </a:lnSpc>
              <a:spcBef>
                <a:spcPts val="300"/>
              </a:spcBef>
              <a:spcAft>
                <a:spcPts val="300"/>
              </a:spcAft>
              <a:defRPr sz="1100">
                <a:solidFill>
                  <a:srgbClr val="64748B"/>
                </a:solidFill>
              </a:defRPr>
            </a:pPr>
            <a:r>
              <a:t>• Founded in 1983</a:t>
            </a:r>
          </a:p>
          <a:p>
            <a:pPr>
              <a:lnSpc>
                <a:spcPct val="120000"/>
              </a:lnSpc>
              <a:spcBef>
                <a:spcPts val="300"/>
              </a:spcBef>
              <a:spcAft>
                <a:spcPts val="300"/>
              </a:spcAft>
              <a:defRPr sz="1100">
                <a:solidFill>
                  <a:srgbClr val="64748B"/>
                </a:solidFill>
              </a:defRPr>
            </a:pPr>
            <a:r>
              <a:t>• Leading manufacturer of generic drugs</a:t>
            </a:r>
          </a:p>
        </p:txBody>
      </p:sp>
      <p:sp>
        <p:nvSpPr>
          <p:cNvPr id="908" name="Rectangle 907"/>
          <p:cNvSpPr/>
          <p:nvPr/>
        </p:nvSpPr>
        <p:spPr>
          <a:xfrm>
            <a:off x="3072384" y="25237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Rectangle 908"/>
          <p:cNvSpPr/>
          <p:nvPr/>
        </p:nvSpPr>
        <p:spPr>
          <a:xfrm>
            <a:off x="3017520" y="24688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Rectangle 909"/>
          <p:cNvSpPr/>
          <p:nvPr/>
        </p:nvSpPr>
        <p:spPr>
          <a:xfrm>
            <a:off x="3017520" y="24688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Oval 910"/>
          <p:cNvSpPr/>
          <p:nvPr/>
        </p:nvSpPr>
        <p:spPr>
          <a:xfrm>
            <a:off x="3017520" y="25603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2</a:t>
            </a:r>
          </a:p>
        </p:txBody>
      </p:sp>
      <p:sp>
        <p:nvSpPr>
          <p:cNvPr id="912" name="TextBox 911"/>
          <p:cNvSpPr txBox="1"/>
          <p:nvPr/>
        </p:nvSpPr>
        <p:spPr>
          <a:xfrm>
            <a:off x="3785615" y="2633472"/>
            <a:ext cx="2176272" cy="384048"/>
          </a:xfrm>
          <a:prstGeom prst="rect">
            <a:avLst/>
          </a:prstGeom>
          <a:noFill/>
        </p:spPr>
        <p:txBody>
          <a:bodyPr wrap="square">
            <a:spAutoFit/>
          </a:bodyPr>
          <a:lstStyle/>
          <a:p>
            <a:pPr>
              <a:defRPr sz="1400" b="1">
                <a:solidFill>
                  <a:srgbClr val="1E40AF"/>
                </a:solidFill>
              </a:defRPr>
            </a:pPr>
            <a:r>
              <a:t>Product Portfolio</a:t>
            </a:r>
          </a:p>
        </p:txBody>
      </p:sp>
      <p:sp>
        <p:nvSpPr>
          <p:cNvPr id="913" name="Rectangle 912"/>
          <p:cNvSpPr/>
          <p:nvPr/>
        </p:nvSpPr>
        <p:spPr>
          <a:xfrm>
            <a:off x="3182112" y="30723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TextBox 913"/>
          <p:cNvSpPr txBox="1"/>
          <p:nvPr/>
        </p:nvSpPr>
        <p:spPr>
          <a:xfrm>
            <a:off x="3218688" y="31455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Specialty generics for rare and niche indications</a:t>
            </a:r>
          </a:p>
          <a:p>
            <a:pPr>
              <a:lnSpc>
                <a:spcPct val="120000"/>
              </a:lnSpc>
              <a:spcBef>
                <a:spcPts val="300"/>
              </a:spcBef>
              <a:spcAft>
                <a:spcPts val="300"/>
              </a:spcAft>
              <a:defRPr sz="1100">
                <a:solidFill>
                  <a:srgbClr val="64748B"/>
                </a:solidFill>
              </a:defRPr>
            </a:pPr>
            <a:r>
              <a:t>• Innovative therapies for complex diseases</a:t>
            </a:r>
          </a:p>
          <a:p>
            <a:pPr>
              <a:lnSpc>
                <a:spcPct val="120000"/>
              </a:lnSpc>
              <a:spcBef>
                <a:spcPts val="300"/>
              </a:spcBef>
              <a:spcAft>
                <a:spcPts val="300"/>
              </a:spcAft>
              <a:defRPr sz="1100">
                <a:solidFill>
                  <a:srgbClr val="64748B"/>
                </a:solidFill>
              </a:defRPr>
            </a:pPr>
            <a:r>
              <a:t>• Generic versions of patented drugs</a:t>
            </a:r>
          </a:p>
        </p:txBody>
      </p:sp>
      <p:sp>
        <p:nvSpPr>
          <p:cNvPr id="915" name="Rectangle 914"/>
          <p:cNvSpPr/>
          <p:nvPr/>
        </p:nvSpPr>
        <p:spPr>
          <a:xfrm>
            <a:off x="5586983" y="38953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Rectangle 915"/>
          <p:cNvSpPr/>
          <p:nvPr/>
        </p:nvSpPr>
        <p:spPr>
          <a:xfrm>
            <a:off x="5532120" y="38404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Rectangle 916"/>
          <p:cNvSpPr/>
          <p:nvPr/>
        </p:nvSpPr>
        <p:spPr>
          <a:xfrm>
            <a:off x="5532120" y="38404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Oval 917"/>
          <p:cNvSpPr/>
          <p:nvPr/>
        </p:nvSpPr>
        <p:spPr>
          <a:xfrm>
            <a:off x="5532120" y="39319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3</a:t>
            </a:r>
          </a:p>
        </p:txBody>
      </p:sp>
      <p:sp>
        <p:nvSpPr>
          <p:cNvPr id="919" name="TextBox 918"/>
          <p:cNvSpPr txBox="1"/>
          <p:nvPr/>
        </p:nvSpPr>
        <p:spPr>
          <a:xfrm>
            <a:off x="6300215" y="4005072"/>
            <a:ext cx="2176272" cy="384048"/>
          </a:xfrm>
          <a:prstGeom prst="rect">
            <a:avLst/>
          </a:prstGeom>
          <a:noFill/>
        </p:spPr>
        <p:txBody>
          <a:bodyPr wrap="square">
            <a:spAutoFit/>
          </a:bodyPr>
          <a:lstStyle/>
          <a:p>
            <a:pPr>
              <a:defRPr sz="1400" b="1">
                <a:solidFill>
                  <a:srgbClr val="1E40AF"/>
                </a:solidFill>
              </a:defRPr>
            </a:pPr>
            <a:r>
              <a:t>Business Operations</a:t>
            </a:r>
          </a:p>
        </p:txBody>
      </p:sp>
      <p:sp>
        <p:nvSpPr>
          <p:cNvPr id="920" name="Rectangle 919"/>
          <p:cNvSpPr/>
          <p:nvPr/>
        </p:nvSpPr>
        <p:spPr>
          <a:xfrm>
            <a:off x="5696712" y="44439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TextBox 920"/>
          <p:cNvSpPr txBox="1"/>
          <p:nvPr/>
        </p:nvSpPr>
        <p:spPr>
          <a:xfrm>
            <a:off x="5733288" y="45171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Global distribution network</a:t>
            </a:r>
          </a:p>
          <a:p>
            <a:pPr>
              <a:lnSpc>
                <a:spcPct val="120000"/>
              </a:lnSpc>
              <a:spcBef>
                <a:spcPts val="300"/>
              </a:spcBef>
              <a:spcAft>
                <a:spcPts val="300"/>
              </a:spcAft>
              <a:defRPr sz="1100">
                <a:solidFill>
                  <a:srgbClr val="64748B"/>
                </a:solidFill>
              </a:defRPr>
            </a:pPr>
            <a:r>
              <a:t>• State-of-the-art manufacturing facilities</a:t>
            </a:r>
          </a:p>
          <a:p>
            <a:pPr>
              <a:lnSpc>
                <a:spcPct val="120000"/>
              </a:lnSpc>
              <a:spcBef>
                <a:spcPts val="300"/>
              </a:spcBef>
              <a:spcAft>
                <a:spcPts val="300"/>
              </a:spcAft>
              <a:defRPr sz="1100">
                <a:solidFill>
                  <a:srgbClr val="64748B"/>
                </a:solidFill>
              </a:defRPr>
            </a:pPr>
            <a:r>
              <a:t>• Research and development partnerships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Company Overview</a:t>
            </a:r>
          </a:p>
          <a:p>
            <a:pPr>
              <a:spcBef>
                <a:spcPts val="800"/>
              </a:spcBef>
              <a:spcAft>
                <a:spcPts val="800"/>
              </a:spcAft>
              <a:defRPr sz="2000">
                <a:solidFill>
                  <a:srgbClr val="F59E0B"/>
                </a:solidFill>
              </a:defRPr>
            </a:pPr>
            <a:r>
              <a:t>✓ Product Portfolio</a:t>
            </a:r>
          </a:p>
          <a:p>
            <a:pPr>
              <a:spcBef>
                <a:spcPts val="800"/>
              </a:spcBef>
              <a:spcAft>
                <a:spcPts val="800"/>
              </a:spcAft>
              <a:defRPr sz="2000">
                <a:solidFill>
                  <a:srgbClr val="F59E0B"/>
                </a:solidFill>
              </a:defRPr>
            </a:pPr>
            <a:r>
              <a:t>✓ Business Operations</a:t>
            </a:r>
          </a:p>
          <a:p>
            <a:pPr>
              <a:spcBef>
                <a:spcPts val="800"/>
              </a:spcBef>
              <a:spcAft>
                <a:spcPts val="800"/>
              </a:spcAft>
              <a:defRPr sz="2000">
                <a:solidFill>
                  <a:srgbClr val="F59E0B"/>
                </a:solidFill>
              </a:defRPr>
            </a:pPr>
            <a:r>
              <a:t>✓ Corporate Social Responsibility</a:t>
            </a:r>
          </a:p>
          <a:p>
            <a:pPr>
              <a:spcBef>
                <a:spcPts val="800"/>
              </a:spcBef>
              <a:spcAft>
                <a:spcPts val="800"/>
              </a:spcAft>
              <a:defRPr sz="2000">
                <a:solidFill>
                  <a:srgbClr val="F59E0B"/>
                </a:solidFill>
              </a:defRPr>
            </a:pPr>
            <a:r>
              <a:t>✓ Awards and Recognition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