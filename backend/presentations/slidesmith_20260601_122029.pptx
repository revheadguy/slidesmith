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40A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355079" y="-1143000"/>
            <a:ext cx="4114800" cy="411480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1440" y="4754880"/>
            <a:ext cx="2011680" cy="2011680"/>
          </a:xfrm>
          <a:prstGeom prst="ellipse">
            <a:avLst/>
          </a:prstGeom>
          <a:noFill/>
          <a:ln w="317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37744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4000" b="1">
                <a:solidFill>
                  <a:srgbClr val="FFFFFF"/>
                </a:solidFill>
              </a:defRPr>
            </a:pPr>
            <a:r>
              <a:t>The Power of Artificial Intelligence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48272"/>
            <a:ext cx="9144000" cy="109728"/>
          </a:xfrm>
          <a:prstGeom prst="rect">
            <a:avLst/>
          </a:prstGeom>
          <a:solidFill>
            <a:srgbClr val="5C6B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"/>
            <a:ext cx="9144000" cy="73152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E40AF"/>
                </a:solidFill>
              </a:defRPr>
            </a:pPr>
            <a:r>
              <a:t>What is Artificial Intelligence?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7680960" cy="1234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600">
                <a:solidFill>
                  <a:srgbClr val="0F172A"/>
                </a:solidFill>
              </a:defRPr>
            </a:pPr>
            <a:r>
              <a:t>Artificial intelligence (AI) refers to the development of computer systems that can perform tasks that typically require human intelligence, such as visual perception, speech recognition, and decision-making. AI has been around for decades, but recent advancements in machine learning have enabled more sophisticated applications.</a:t>
            </a:r>
          </a:p>
        </p:txBody>
      </p:sp>
      <p:sp>
        <p:nvSpPr>
          <p:cNvPr id="5" name="Oval 4"/>
          <p:cNvSpPr/>
          <p:nvPr/>
        </p:nvSpPr>
        <p:spPr>
          <a:xfrm>
            <a:off x="502920" y="2971800"/>
            <a:ext cx="164592" cy="164592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926080"/>
            <a:ext cx="75895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600">
                <a:solidFill>
                  <a:srgbClr val="0F172A"/>
                </a:solidFill>
              </a:defRPr>
            </a:pPr>
            <a:r>
              <a:t>Machine learning enabled</a:t>
            </a:r>
          </a:p>
        </p:txBody>
      </p:sp>
      <p:sp>
        <p:nvSpPr>
          <p:cNvPr id="7" name="Oval 6"/>
          <p:cNvSpPr/>
          <p:nvPr/>
        </p:nvSpPr>
        <p:spPr>
          <a:xfrm>
            <a:off x="502920" y="3721608"/>
            <a:ext cx="164592" cy="164592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3675888"/>
            <a:ext cx="75895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600">
                <a:solidFill>
                  <a:srgbClr val="0F172A"/>
                </a:solidFill>
              </a:defRPr>
            </a:pPr>
            <a:r>
              <a:t>Computer systems mimicking human intelligence</a:t>
            </a:r>
          </a:p>
        </p:txBody>
      </p:sp>
      <p:sp>
        <p:nvSpPr>
          <p:cNvPr id="9" name="Oval 8"/>
          <p:cNvSpPr/>
          <p:nvPr/>
        </p:nvSpPr>
        <p:spPr>
          <a:xfrm>
            <a:off x="502920" y="4471416"/>
            <a:ext cx="164592" cy="164592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425696"/>
            <a:ext cx="75895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600">
                <a:solidFill>
                  <a:srgbClr val="0F172A"/>
                </a:solidFill>
              </a:defRPr>
            </a:pPr>
            <a:r>
              <a:t>Pattern recognition capabilities</a:t>
            </a:r>
          </a:p>
        </p:txBody>
      </p:sp>
      <p:sp>
        <p:nvSpPr>
          <p:cNvPr id="11" name="Oval 10"/>
          <p:cNvSpPr/>
          <p:nvPr/>
        </p:nvSpPr>
        <p:spPr>
          <a:xfrm>
            <a:off x="502920" y="5221224"/>
            <a:ext cx="164592" cy="164592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175504"/>
            <a:ext cx="75895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600">
                <a:solidFill>
                  <a:srgbClr val="0F172A"/>
                </a:solidFill>
              </a:defRPr>
            </a:pPr>
            <a:r>
              <a:t>Decision-making abilities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6537960"/>
            <a:ext cx="822960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6565392"/>
            <a:ext cx="6400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384153"/>
                </a:solidFill>
              </a:defRPr>
            </a:pPr>
            <a:r>
              <a:t>The Power of Artificial Intelligence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0" y="6565392"/>
            <a:ext cx="914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384153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"/>
            <a:ext cx="9144000" cy="73152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E40AF"/>
                </a:solidFill>
              </a:defRPr>
            </a:pPr>
            <a:r>
              <a:t>Applications of Artificial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17320"/>
            <a:ext cx="4114800" cy="10149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400">
                <a:solidFill>
                  <a:srgbClr val="0F172A"/>
                </a:solidFill>
              </a:defRPr>
            </a:pPr>
            <a:r>
              <a:t>AI has numerous applications across various industries. In healthcare, AI-powered diagnostic tools can help doctors diagnose diseases more accurately and quickly.</a:t>
            </a:r>
          </a:p>
        </p:txBody>
      </p:sp>
      <p:sp>
        <p:nvSpPr>
          <p:cNvPr id="5" name="Oval 4"/>
          <p:cNvSpPr/>
          <p:nvPr/>
        </p:nvSpPr>
        <p:spPr>
          <a:xfrm>
            <a:off x="457200" y="2807208"/>
            <a:ext cx="146304" cy="14630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94944" y="2752344"/>
            <a:ext cx="385876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500">
                <a:solidFill>
                  <a:srgbClr val="0F172A"/>
                </a:solidFill>
              </a:defRPr>
            </a:pPr>
            <a:r>
              <a:t>Healthcare diagnosis</a:t>
            </a:r>
          </a:p>
        </p:txBody>
      </p:sp>
      <p:sp>
        <p:nvSpPr>
          <p:cNvPr id="7" name="Oval 6"/>
          <p:cNvSpPr/>
          <p:nvPr/>
        </p:nvSpPr>
        <p:spPr>
          <a:xfrm>
            <a:off x="457200" y="3538727"/>
            <a:ext cx="146304" cy="14630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4944" y="3483863"/>
            <a:ext cx="385876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500">
                <a:solidFill>
                  <a:srgbClr val="0F172A"/>
                </a:solidFill>
              </a:defRPr>
            </a:pPr>
            <a:r>
              <a:t>Financial analysis</a:t>
            </a:r>
          </a:p>
        </p:txBody>
      </p:sp>
      <p:sp>
        <p:nvSpPr>
          <p:cNvPr id="9" name="Oval 8"/>
          <p:cNvSpPr/>
          <p:nvPr/>
        </p:nvSpPr>
        <p:spPr>
          <a:xfrm>
            <a:off x="457200" y="4270247"/>
            <a:ext cx="146304" cy="14630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4944" y="4215383"/>
            <a:ext cx="385876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500">
                <a:solidFill>
                  <a:srgbClr val="0F172A"/>
                </a:solidFill>
              </a:defRPr>
            </a:pPr>
            <a:r>
              <a:t>Personalized education</a:t>
            </a:r>
          </a:p>
        </p:txBody>
      </p:sp>
      <p:sp>
        <p:nvSpPr>
          <p:cNvPr id="11" name="Oval 10"/>
          <p:cNvSpPr/>
          <p:nvPr/>
        </p:nvSpPr>
        <p:spPr>
          <a:xfrm>
            <a:off x="457200" y="5001767"/>
            <a:ext cx="146304" cy="14630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4944" y="4946903"/>
            <a:ext cx="385876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500">
                <a:solidFill>
                  <a:srgbClr val="0F172A"/>
                </a:solidFill>
              </a:defRPr>
            </a:pPr>
            <a:r>
              <a:t>Customer service chatbots</a:t>
            </a:r>
          </a:p>
        </p:txBody>
      </p:sp>
      <p:pic>
        <p:nvPicPr>
          <p:cNvPr id="13" name="Picture 12" descr="unsplash_eGGFZ5X2Ln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280160"/>
            <a:ext cx="3840480" cy="493776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457200" y="6537960"/>
            <a:ext cx="822960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6565392"/>
            <a:ext cx="6400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384153"/>
                </a:solidFill>
              </a:defRPr>
            </a:pPr>
            <a:r>
              <a:t>The Power of Artificial Intelligence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6565392"/>
            <a:ext cx="914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384153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"/>
            <a:ext cx="9144000" cy="73152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E40AF"/>
                </a:solidFill>
              </a:defRPr>
            </a:pPr>
            <a:r>
              <a:t>Benefits of Artificial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7680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600">
                <a:solidFill>
                  <a:srgbClr val="0F172A"/>
                </a:solidFill>
              </a:defRPr>
            </a:pPr>
            <a:r>
              <a:t>The benefits of AI are numerous. It can improve efficiency and accuracy in various tasks, reduce costs, and provide valuable insights for decision-making.</a:t>
            </a:r>
          </a:p>
        </p:txBody>
      </p:sp>
      <p:sp>
        <p:nvSpPr>
          <p:cNvPr id="5" name="Oval 4"/>
          <p:cNvSpPr/>
          <p:nvPr/>
        </p:nvSpPr>
        <p:spPr>
          <a:xfrm>
            <a:off x="502920" y="2423160"/>
            <a:ext cx="164592" cy="164592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377440"/>
            <a:ext cx="75895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600">
                <a:solidFill>
                  <a:srgbClr val="0F172A"/>
                </a:solidFill>
              </a:defRPr>
            </a:pPr>
            <a:r>
              <a:t>Improved efficiency</a:t>
            </a:r>
          </a:p>
        </p:txBody>
      </p:sp>
      <p:sp>
        <p:nvSpPr>
          <p:cNvPr id="7" name="Oval 6"/>
          <p:cNvSpPr/>
          <p:nvPr/>
        </p:nvSpPr>
        <p:spPr>
          <a:xfrm>
            <a:off x="502920" y="3172968"/>
            <a:ext cx="164592" cy="164592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3127248"/>
            <a:ext cx="75895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600">
                <a:solidFill>
                  <a:srgbClr val="0F172A"/>
                </a:solidFill>
              </a:defRPr>
            </a:pPr>
            <a:r>
              <a:t>Increased accuracy</a:t>
            </a:r>
          </a:p>
        </p:txBody>
      </p:sp>
      <p:sp>
        <p:nvSpPr>
          <p:cNvPr id="9" name="Oval 8"/>
          <p:cNvSpPr/>
          <p:nvPr/>
        </p:nvSpPr>
        <p:spPr>
          <a:xfrm>
            <a:off x="502920" y="3922776"/>
            <a:ext cx="164592" cy="164592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3877056"/>
            <a:ext cx="75895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600">
                <a:solidFill>
                  <a:srgbClr val="0F172A"/>
                </a:solidFill>
              </a:defRPr>
            </a:pPr>
            <a:r>
              <a:t>Cost savings</a:t>
            </a:r>
          </a:p>
        </p:txBody>
      </p:sp>
      <p:sp>
        <p:nvSpPr>
          <p:cNvPr id="11" name="Oval 10"/>
          <p:cNvSpPr/>
          <p:nvPr/>
        </p:nvSpPr>
        <p:spPr>
          <a:xfrm>
            <a:off x="502920" y="4672584"/>
            <a:ext cx="164592" cy="164592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4626864"/>
            <a:ext cx="75895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600">
                <a:solidFill>
                  <a:srgbClr val="0F172A"/>
                </a:solidFill>
              </a:defRPr>
            </a:pPr>
            <a:r>
              <a:t>Valuable insights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6537960"/>
            <a:ext cx="822960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6565392"/>
            <a:ext cx="6400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384153"/>
                </a:solidFill>
              </a:defRPr>
            </a:pPr>
            <a:r>
              <a:t>The Power of Artificial Intelligence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0" y="6565392"/>
            <a:ext cx="914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384153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"/>
            <a:ext cx="9144000" cy="73152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E40AF"/>
                </a:solidFill>
              </a:defRPr>
            </a:pPr>
            <a:r>
              <a:t>Challenges of Artificial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17320"/>
            <a:ext cx="4114800" cy="10149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400">
                <a:solidFill>
                  <a:srgbClr val="0F172A"/>
                </a:solidFill>
              </a:defRPr>
            </a:pPr>
            <a:r>
              <a:t>While AI has numerous benefits, it also poses some challenges. One challenge is ensuring the ethical use of AI and addressing biases in algorithms.</a:t>
            </a:r>
          </a:p>
        </p:txBody>
      </p:sp>
      <p:sp>
        <p:nvSpPr>
          <p:cNvPr id="5" name="Oval 4"/>
          <p:cNvSpPr/>
          <p:nvPr/>
        </p:nvSpPr>
        <p:spPr>
          <a:xfrm>
            <a:off x="457200" y="2807208"/>
            <a:ext cx="146304" cy="14630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94944" y="2752344"/>
            <a:ext cx="385876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500">
                <a:solidFill>
                  <a:srgbClr val="0F172A"/>
                </a:solidFill>
              </a:defRPr>
            </a:pPr>
            <a:r>
              <a:t>Ethical considerations</a:t>
            </a:r>
          </a:p>
        </p:txBody>
      </p:sp>
      <p:sp>
        <p:nvSpPr>
          <p:cNvPr id="7" name="Oval 6"/>
          <p:cNvSpPr/>
          <p:nvPr/>
        </p:nvSpPr>
        <p:spPr>
          <a:xfrm>
            <a:off x="457200" y="3538727"/>
            <a:ext cx="146304" cy="14630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4944" y="3483863"/>
            <a:ext cx="385876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500">
                <a:solidFill>
                  <a:srgbClr val="0F172A"/>
                </a:solidFill>
              </a:defRPr>
            </a:pPr>
            <a:r>
              <a:t>Biases in algorithms</a:t>
            </a:r>
          </a:p>
        </p:txBody>
      </p:sp>
      <p:sp>
        <p:nvSpPr>
          <p:cNvPr id="9" name="Oval 8"/>
          <p:cNvSpPr/>
          <p:nvPr/>
        </p:nvSpPr>
        <p:spPr>
          <a:xfrm>
            <a:off x="457200" y="4270247"/>
            <a:ext cx="146304" cy="14630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4944" y="4215383"/>
            <a:ext cx="385876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500">
                <a:solidFill>
                  <a:srgbClr val="0F172A"/>
                </a:solidFill>
              </a:defRPr>
            </a:pPr>
            <a:r>
              <a:t>Infrastructure investment</a:t>
            </a:r>
          </a:p>
        </p:txBody>
      </p:sp>
      <p:sp>
        <p:nvSpPr>
          <p:cNvPr id="11" name="Oval 10"/>
          <p:cNvSpPr/>
          <p:nvPr/>
        </p:nvSpPr>
        <p:spPr>
          <a:xfrm>
            <a:off x="457200" y="5001767"/>
            <a:ext cx="146304" cy="14630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4944" y="4946903"/>
            <a:ext cx="385876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500">
                <a:solidFill>
                  <a:srgbClr val="0F172A"/>
                </a:solidFill>
              </a:defRPr>
            </a:pPr>
            <a:r>
              <a:t>Training required</a:t>
            </a:r>
          </a:p>
        </p:txBody>
      </p:sp>
      <p:pic>
        <p:nvPicPr>
          <p:cNvPr id="13" name="Picture 12" descr="unsplash_nGoCBxiaRO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280160"/>
            <a:ext cx="3840480" cy="493776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457200" y="6537960"/>
            <a:ext cx="822960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6565392"/>
            <a:ext cx="6400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384153"/>
                </a:solidFill>
              </a:defRPr>
            </a:pPr>
            <a:r>
              <a:t>The Power of Artificial Intelligence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6565392"/>
            <a:ext cx="914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384153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"/>
            <a:ext cx="9144000" cy="73152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1E40AF"/>
                </a:solidFill>
              </a:defRPr>
            </a:pPr>
            <a:r>
              <a:t>The Future of Artificial Intelligence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0" y="1188720"/>
            <a:ext cx="18288" cy="3840480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943600" y="1188720"/>
            <a:ext cx="18288" cy="3840480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18872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59E0B"/>
                </a:solidFill>
              </a:defRPr>
            </a:pPr>
            <a:r>
              <a:t>What We</a:t>
            </a:r>
            <a:br/>
            <a:r>
              <a:t>Learned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920240"/>
            <a:ext cx="2377439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Climate change solutions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0" y="118872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59E0B"/>
                </a:solidFill>
              </a:defRPr>
            </a:pPr>
            <a:r>
              <a:t>Key</a:t>
            </a:r>
            <a:br/>
            <a:r>
              <a:t>Actions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66160" y="1920240"/>
            <a:ext cx="2377439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Poverty reduction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118872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59E0B"/>
                </a:solidFill>
              </a:defRPr>
            </a:pPr>
            <a:r>
              <a:t>What's</a:t>
            </a:r>
            <a:br/>
            <a:r>
              <a:t>Next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59" y="1920240"/>
            <a:ext cx="2377439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Transforming industries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New job creation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Global impact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5120640"/>
            <a:ext cx="8229600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53035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384153"/>
                </a:solidFill>
              </a:defRPr>
            </a:pPr>
            <a:r>
              <a:t>Thank you for your attention | Questions?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56032"/>
            <a:ext cx="9144000" cy="54864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9184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E40AF"/>
                </a:solidFill>
              </a:defRPr>
            </a:pPr>
            <a:r>
              <a:t>Presentation Flow</a:t>
            </a:r>
          </a:p>
        </p:txBody>
      </p:sp>
      <p:cxnSp>
        <p:nvCxnSpPr>
          <p:cNvPr id="900" name="DiagConnector"/>
          <p:cNvCxnSpPr/>
          <p:nvPr/>
        </p:nvCxnSpPr>
        <p:spPr>
          <a:xfrm>
            <a:off x="758952" y="1444752"/>
            <a:ext cx="5029200" cy="2743200"/>
          </a:xfrm>
          <a:prstGeom prst="line">
            <a:avLst/>
          </a:prstGeom>
          <a:ln w="18000">
            <a:solidFill>
              <a:srgbClr val="CBD5E1"/>
            </a:solidFill>
            <a:prstDash val="sysDash"/>
          </a:ln>
        </p:spPr>
      </p:cxnSp>
      <p:sp>
        <p:nvSpPr>
          <p:cNvPr id="901" name="Rectangle 900"/>
          <p:cNvSpPr/>
          <p:nvPr/>
        </p:nvSpPr>
        <p:spPr>
          <a:xfrm>
            <a:off x="557784" y="1152144"/>
            <a:ext cx="3108960" cy="19202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2" name="Rectangle 901"/>
          <p:cNvSpPr/>
          <p:nvPr/>
        </p:nvSpPr>
        <p:spPr>
          <a:xfrm>
            <a:off x="502920" y="1097280"/>
            <a:ext cx="310896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3" name="Rectangle 902"/>
          <p:cNvSpPr/>
          <p:nvPr/>
        </p:nvSpPr>
        <p:spPr>
          <a:xfrm>
            <a:off x="502920" y="1097280"/>
            <a:ext cx="54864" cy="19202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4" name="Oval 903"/>
          <p:cNvSpPr/>
          <p:nvPr/>
        </p:nvSpPr>
        <p:spPr>
          <a:xfrm>
            <a:off x="502920" y="1188720"/>
            <a:ext cx="512064" cy="512064"/>
          </a:xfrm>
          <a:prstGeom prst="ellipse">
            <a:avLst/>
          </a:prstGeom>
          <a:solidFill>
            <a:srgbClr val="1E40AF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905" name="TextBox 904"/>
          <p:cNvSpPr txBox="1"/>
          <p:nvPr/>
        </p:nvSpPr>
        <p:spPr>
          <a:xfrm>
            <a:off x="1271016" y="1261872"/>
            <a:ext cx="21762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E40AF"/>
                </a:solidFill>
              </a:defRPr>
            </a:pPr>
            <a:r>
              <a:t>What is Artificial Intelligence?</a:t>
            </a:r>
          </a:p>
        </p:txBody>
      </p:sp>
      <p:sp>
        <p:nvSpPr>
          <p:cNvPr id="906" name="Rectangle 905"/>
          <p:cNvSpPr/>
          <p:nvPr/>
        </p:nvSpPr>
        <p:spPr>
          <a:xfrm>
            <a:off x="667512" y="1700784"/>
            <a:ext cx="2779776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7" name="TextBox 906"/>
          <p:cNvSpPr txBox="1"/>
          <p:nvPr/>
        </p:nvSpPr>
        <p:spPr>
          <a:xfrm>
            <a:off x="704088" y="1773936"/>
            <a:ext cx="2743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1100">
                <a:solidFill>
                  <a:srgbClr val="0F172A"/>
                </a:solidFill>
              </a:defRPr>
            </a:pPr>
            <a:r>
              <a:t>• Machine learning enabled</a:t>
            </a:r>
          </a:p>
          <a:p>
            <a: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1100">
                <a:solidFill>
                  <a:srgbClr val="0F172A"/>
                </a:solidFill>
              </a:defRPr>
            </a:pPr>
            <a:r>
              <a:t>• Computer systems mimicking human intelligence</a:t>
            </a:r>
          </a:p>
          <a:p>
            <a: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1100">
                <a:solidFill>
                  <a:srgbClr val="0F172A"/>
                </a:solidFill>
              </a:defRPr>
            </a:pPr>
            <a:r>
              <a:t>• Pattern recognition capabilities</a:t>
            </a:r>
          </a:p>
        </p:txBody>
      </p:sp>
      <p:sp>
        <p:nvSpPr>
          <p:cNvPr id="908" name="Rectangle 907"/>
          <p:cNvSpPr/>
          <p:nvPr/>
        </p:nvSpPr>
        <p:spPr>
          <a:xfrm>
            <a:off x="3072384" y="2523744"/>
            <a:ext cx="3108960" cy="19202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9" name="Rectangle 908"/>
          <p:cNvSpPr/>
          <p:nvPr/>
        </p:nvSpPr>
        <p:spPr>
          <a:xfrm>
            <a:off x="3017520" y="2468880"/>
            <a:ext cx="310896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0" name="Rectangle 909"/>
          <p:cNvSpPr/>
          <p:nvPr/>
        </p:nvSpPr>
        <p:spPr>
          <a:xfrm>
            <a:off x="3017520" y="2468880"/>
            <a:ext cx="54864" cy="19202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1" name="Oval 910"/>
          <p:cNvSpPr/>
          <p:nvPr/>
        </p:nvSpPr>
        <p:spPr>
          <a:xfrm>
            <a:off x="3017520" y="2560320"/>
            <a:ext cx="512064" cy="512064"/>
          </a:xfrm>
          <a:prstGeom prst="ellipse">
            <a:avLst/>
          </a:prstGeom>
          <a:solidFill>
            <a:srgbClr val="1E40AF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912" name="TextBox 911"/>
          <p:cNvSpPr txBox="1"/>
          <p:nvPr/>
        </p:nvSpPr>
        <p:spPr>
          <a:xfrm>
            <a:off x="3785615" y="2633472"/>
            <a:ext cx="21762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E40AF"/>
                </a:solidFill>
              </a:defRPr>
            </a:pPr>
            <a:r>
              <a:t>Applications of Artificial Intelligence</a:t>
            </a:r>
          </a:p>
        </p:txBody>
      </p:sp>
      <p:sp>
        <p:nvSpPr>
          <p:cNvPr id="913" name="Rectangle 912"/>
          <p:cNvSpPr/>
          <p:nvPr/>
        </p:nvSpPr>
        <p:spPr>
          <a:xfrm>
            <a:off x="3182112" y="3072384"/>
            <a:ext cx="2779776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4" name="TextBox 913"/>
          <p:cNvSpPr txBox="1"/>
          <p:nvPr/>
        </p:nvSpPr>
        <p:spPr>
          <a:xfrm>
            <a:off x="3218688" y="3145536"/>
            <a:ext cx="2743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1100">
                <a:solidFill>
                  <a:srgbClr val="0F172A"/>
                </a:solidFill>
              </a:defRPr>
            </a:pPr>
            <a:r>
              <a:t>• Healthcare diagnosis</a:t>
            </a:r>
          </a:p>
          <a:p>
            <a: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1100">
                <a:solidFill>
                  <a:srgbClr val="0F172A"/>
                </a:solidFill>
              </a:defRPr>
            </a:pPr>
            <a:r>
              <a:t>• Financial analysis</a:t>
            </a:r>
          </a:p>
          <a:p>
            <a: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1100">
                <a:solidFill>
                  <a:srgbClr val="0F172A"/>
                </a:solidFill>
              </a:defRPr>
            </a:pPr>
            <a:r>
              <a:t>• Personalized education</a:t>
            </a:r>
          </a:p>
        </p:txBody>
      </p:sp>
      <p:sp>
        <p:nvSpPr>
          <p:cNvPr id="915" name="Rectangle 914"/>
          <p:cNvSpPr/>
          <p:nvPr/>
        </p:nvSpPr>
        <p:spPr>
          <a:xfrm>
            <a:off x="5586983" y="3895344"/>
            <a:ext cx="3108960" cy="19202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6" name="Rectangle 915"/>
          <p:cNvSpPr/>
          <p:nvPr/>
        </p:nvSpPr>
        <p:spPr>
          <a:xfrm>
            <a:off x="5532120" y="3840480"/>
            <a:ext cx="310896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7" name="Rectangle 916"/>
          <p:cNvSpPr/>
          <p:nvPr/>
        </p:nvSpPr>
        <p:spPr>
          <a:xfrm>
            <a:off x="5532120" y="3840480"/>
            <a:ext cx="54864" cy="19202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8" name="Oval 917"/>
          <p:cNvSpPr/>
          <p:nvPr/>
        </p:nvSpPr>
        <p:spPr>
          <a:xfrm>
            <a:off x="5532120" y="3931920"/>
            <a:ext cx="512064" cy="512064"/>
          </a:xfrm>
          <a:prstGeom prst="ellipse">
            <a:avLst/>
          </a:prstGeom>
          <a:solidFill>
            <a:srgbClr val="1E40AF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919" name="TextBox 918"/>
          <p:cNvSpPr txBox="1"/>
          <p:nvPr/>
        </p:nvSpPr>
        <p:spPr>
          <a:xfrm>
            <a:off x="6300215" y="4005072"/>
            <a:ext cx="21762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E40AF"/>
                </a:solidFill>
              </a:defRPr>
            </a:pPr>
            <a:r>
              <a:t>Benefits of Artificial Intelligence</a:t>
            </a:r>
          </a:p>
        </p:txBody>
      </p:sp>
      <p:sp>
        <p:nvSpPr>
          <p:cNvPr id="920" name="Rectangle 919"/>
          <p:cNvSpPr/>
          <p:nvPr/>
        </p:nvSpPr>
        <p:spPr>
          <a:xfrm>
            <a:off x="5696712" y="4443984"/>
            <a:ext cx="2779776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1" name="TextBox 920"/>
          <p:cNvSpPr txBox="1"/>
          <p:nvPr/>
        </p:nvSpPr>
        <p:spPr>
          <a:xfrm>
            <a:off x="5733288" y="4517136"/>
            <a:ext cx="2743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1100">
                <a:solidFill>
                  <a:srgbClr val="0F172A"/>
                </a:solidFill>
              </a:defRPr>
            </a:pPr>
            <a:r>
              <a:t>• Improved efficiency</a:t>
            </a:r>
          </a:p>
          <a:p>
            <a: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1100">
                <a:solidFill>
                  <a:srgbClr val="0F172A"/>
                </a:solidFill>
              </a:defRPr>
            </a:pPr>
            <a:r>
              <a:t>• Increased accuracy</a:t>
            </a:r>
          </a:p>
          <a:p>
            <a: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1100">
                <a:solidFill>
                  <a:srgbClr val="0F172A"/>
                </a:solidFill>
              </a:defRPr>
            </a:pPr>
            <a:r>
              <a:t>• Cost savings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40A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Key Takeaways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0" y="896112"/>
            <a:ext cx="274320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60120" y="1097280"/>
            <a:ext cx="7315200" cy="7772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1051560"/>
            <a:ext cx="731520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15568" y="1293876"/>
            <a:ext cx="292608" cy="29260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1216151"/>
            <a:ext cx="65653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600" b="1">
                <a:solidFill>
                  <a:srgbClr val="1E40AF"/>
                </a:solidFill>
              </a:defRPr>
            </a:pPr>
            <a:r>
              <a:t>What is Artificial Intelligence?</a:t>
            </a:r>
          </a:p>
        </p:txBody>
      </p:sp>
      <p:sp>
        <p:nvSpPr>
          <p:cNvPr id="8" name="Rectangle 7"/>
          <p:cNvSpPr/>
          <p:nvPr/>
        </p:nvSpPr>
        <p:spPr>
          <a:xfrm>
            <a:off x="960120" y="1984248"/>
            <a:ext cx="7315200" cy="7772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14400" y="1938528"/>
            <a:ext cx="731520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15568" y="2180844"/>
            <a:ext cx="292608" cy="29260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103120"/>
            <a:ext cx="65653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600" b="1">
                <a:solidFill>
                  <a:srgbClr val="1E40AF"/>
                </a:solidFill>
              </a:defRPr>
            </a:pPr>
            <a:r>
              <a:t>Applications of Artificial Intelligence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60120" y="2871215"/>
            <a:ext cx="7315200" cy="7772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14400" y="2825496"/>
            <a:ext cx="731520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15568" y="3067812"/>
            <a:ext cx="292608" cy="29260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2990088"/>
            <a:ext cx="65653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600" b="1">
                <a:solidFill>
                  <a:srgbClr val="1E40AF"/>
                </a:solidFill>
              </a:defRPr>
            </a:pPr>
            <a:r>
              <a:t>Benefits of Artificial Intelligence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60120" y="3758184"/>
            <a:ext cx="7315200" cy="7772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14400" y="3712464"/>
            <a:ext cx="731520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115568" y="3954780"/>
            <a:ext cx="292608" cy="29260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3877056"/>
            <a:ext cx="65653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600" b="1">
                <a:solidFill>
                  <a:srgbClr val="1E40AF"/>
                </a:solidFill>
              </a:defRPr>
            </a:pPr>
            <a:r>
              <a:t>Challenges of Artificial Intelligence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60120" y="4645151"/>
            <a:ext cx="7315200" cy="7772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14400" y="4599431"/>
            <a:ext cx="731520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115568" y="4841747"/>
            <a:ext cx="292608" cy="29260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4764023"/>
            <a:ext cx="65653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600" b="1">
                <a:solidFill>
                  <a:srgbClr val="1E40AF"/>
                </a:solidFill>
              </a:defRPr>
            </a:pPr>
            <a:r>
              <a:t>The Future of Artificial Intelligence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