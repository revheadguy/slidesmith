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Adoption (%)</c:v>
                </c:pt>
              </c:strCache>
            </c:strRef>
          </c:tx>
          <c:cat>
            <c:strRef>
              <c:f>Sheet1!$A$2:$A$6</c:f>
              <c:strCache>
                <c:ptCount val="5"/>
                <c:pt idx="0">
                  <c:v>OpenAI</c:v>
                </c:pt>
                <c:pt idx="1">
                  <c:v>Google</c:v>
                </c:pt>
                <c:pt idx="2">
                  <c:v>Meta</c:v>
                </c:pt>
                <c:pt idx="3">
                  <c:v>Anthropic</c:v>
                </c:pt>
                <c:pt idx="4">
                  <c:v>Others</c:v>
                </c:pt>
              </c:strCache>
            </c:strRef>
          </c:cat>
          <c:val>
            <c:numRef>
              <c:f>Sheet1!$B$2:$B$6</c:f>
              <c:numCache>
                <c:formatCode>General</c:formatCode>
                <c:ptCount val="5"/>
                <c:pt idx="0">
                  <c:v>32</c:v>
                </c:pt>
                <c:pt idx="1">
                  <c:v>28</c:v>
                </c:pt>
                <c:pt idx="2">
                  <c:v>18</c:v>
                </c:pt>
                <c:pt idx="3">
                  <c:v>15</c:v>
                </c:pt>
                <c:pt idx="4">
                  <c:v>7</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The Power of AI in Healthcare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AI in Healthcare</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Artificial intelligence (AI) has the potential to revolutionize the healthcare industry. By analyzing large amounts of medical data, AI can help identify patterns and trends that may not be apparent through traditional methods. This can lead to more accurate diagnoses, improved patient outcomes, and reduced costs. AI-powered systems can also assist clinicians with decision-making, freeing up time for more complex tasks. Ultimately, the integration of AI in healthcare aims to provide better care, faster.</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Improves diagnostic accuracy</a:t>
            </a:r>
          </a:p>
          <a:p>
            <a:pPr>
              <a:lnSpc>
                <a:spcPct val="120000"/>
              </a:lnSpc>
              <a:spcBef>
                <a:spcPts val="300"/>
              </a:spcBef>
              <a:spcAft>
                <a:spcPts val="300"/>
              </a:spcAft>
              <a:defRPr sz="1600">
                <a:solidFill>
                  <a:srgbClr val="0F172A"/>
                </a:solidFill>
              </a:defRPr>
            </a:pPr>
            <a:r>
              <a:t>• Enhances patient outcomes</a:t>
            </a:r>
          </a:p>
          <a:p>
            <a:pPr>
              <a:lnSpc>
                <a:spcPct val="120000"/>
              </a:lnSpc>
              <a:spcBef>
                <a:spcPts val="300"/>
              </a:spcBef>
              <a:spcAft>
                <a:spcPts val="300"/>
              </a:spcAft>
              <a:defRPr sz="1600">
                <a:solidFill>
                  <a:srgbClr val="0F172A"/>
                </a:solidFill>
              </a:defRPr>
            </a:pPr>
            <a:r>
              <a:t>• Reduces costs</a:t>
            </a:r>
          </a:p>
          <a:p>
            <a:pPr>
              <a:lnSpc>
                <a:spcPct val="120000"/>
              </a:lnSpc>
              <a:spcBef>
                <a:spcPts val="300"/>
              </a:spcBef>
              <a:spcAft>
                <a:spcPts val="300"/>
              </a:spcAft>
              <a:defRPr sz="1600">
                <a:solidFill>
                  <a:srgbClr val="0F172A"/>
                </a:solidFill>
              </a:defRPr>
            </a:pPr>
            <a:r>
              <a:t>• Assists clinician decision-making</a:t>
            </a:r>
          </a:p>
          <a:p>
            <a:pPr>
              <a:lnSpc>
                <a:spcPct val="120000"/>
              </a:lnSpc>
              <a:spcBef>
                <a:spcPts val="300"/>
              </a:spcBef>
              <a:spcAft>
                <a:spcPts val="300"/>
              </a:spcAft>
              <a:defRPr sz="1600">
                <a:solidFill>
                  <a:srgbClr val="0F172A"/>
                </a:solidFill>
              </a:defRPr>
            </a:pPr>
            <a:r>
              <a:t>• Streamlines workflow</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AI-Powered Diagnostics</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AI-powered diagnostic tools can analyze medical images, such as X-rays and MRIs, to identify potential health issues earlier and more accurately. For instance, AI-assisted mammography screening has been shown to reduce false positives and improve detection rates for breast cancer. Similarly, AI-powered analysis of electroencephalograms (EEGs) can help diagnose neurological disorders like epilepsy and sleep apnea.</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Analyzes medical images</a:t>
            </a:r>
          </a:p>
          <a:p>
            <a:pPr>
              <a:lnSpc>
                <a:spcPct val="115000"/>
              </a:lnSpc>
              <a:spcBef>
                <a:spcPts val="200"/>
              </a:spcBef>
              <a:spcAft>
                <a:spcPts val="200"/>
              </a:spcAft>
              <a:defRPr sz="1500">
                <a:solidFill>
                  <a:srgbClr val="0F172A"/>
                </a:solidFill>
              </a:defRPr>
            </a:pPr>
            <a:r>
              <a:t>• Improves diagnostic accuracy</a:t>
            </a:r>
          </a:p>
          <a:p>
            <a:pPr>
              <a:lnSpc>
                <a:spcPct val="115000"/>
              </a:lnSpc>
              <a:spcBef>
                <a:spcPts val="200"/>
              </a:spcBef>
              <a:spcAft>
                <a:spcPts val="200"/>
              </a:spcAft>
              <a:defRPr sz="1500">
                <a:solidFill>
                  <a:srgbClr val="0F172A"/>
                </a:solidFill>
              </a:defRPr>
            </a:pPr>
            <a:r>
              <a:t>• Enhances patient outcomes</a:t>
            </a:r>
          </a:p>
          <a:p>
            <a:pPr>
              <a:lnSpc>
                <a:spcPct val="115000"/>
              </a:lnSpc>
              <a:spcBef>
                <a:spcPts val="200"/>
              </a:spcBef>
              <a:spcAft>
                <a:spcPts val="200"/>
              </a:spcAft>
              <a:defRPr sz="1500">
                <a:solidFill>
                  <a:srgbClr val="0F172A"/>
                </a:solidFill>
              </a:defRPr>
            </a:pPr>
            <a:r>
              <a:t>• Reduces costs</a:t>
            </a:r>
          </a:p>
          <a:p>
            <a:pPr>
              <a:lnSpc>
                <a:spcPct val="115000"/>
              </a:lnSpc>
              <a:spcBef>
                <a:spcPts val="200"/>
              </a:spcBef>
              <a:spcAft>
                <a:spcPts val="200"/>
              </a:spcAft>
              <a:defRPr sz="1500">
                <a:solidFill>
                  <a:srgbClr val="0F172A"/>
                </a:solidFill>
              </a:defRPr>
            </a:pPr>
            <a:r>
              <a:t>• Increases efficiency</a:t>
            </a:r>
          </a:p>
        </p:txBody>
      </p:sp>
      <p:pic>
        <p:nvPicPr>
          <p:cNvPr id="5" name="Picture 4" descr="unsplash_5K_ijgjiDko.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Personalized Medicine with AI</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AI-powered algorithms can analyze an individual's genetic data, medical history, and lifestyle to provide personalized treatment recommendations. This approach has been shown to improve patient outcomes, reduce side effects, and enhance overall quality of life. AI-powered decision support systems can also assist clinicians in developing customized treatment plans tailored to each patient's unique needs.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Analyzes genetic data</a:t>
            </a:r>
          </a:p>
          <a:p>
            <a:pPr>
              <a:lnSpc>
                <a:spcPct val="120000"/>
              </a:lnSpc>
              <a:spcBef>
                <a:spcPts val="300"/>
              </a:spcBef>
              <a:spcAft>
                <a:spcPts val="300"/>
              </a:spcAft>
              <a:defRPr sz="1600">
                <a:solidFill>
                  <a:srgbClr val="0F172A"/>
                </a:solidFill>
              </a:defRPr>
            </a:pPr>
            <a:r>
              <a:t>• Considers medical history</a:t>
            </a:r>
          </a:p>
          <a:p>
            <a:pPr>
              <a:lnSpc>
                <a:spcPct val="120000"/>
              </a:lnSpc>
              <a:spcBef>
                <a:spcPts val="300"/>
              </a:spcBef>
              <a:spcAft>
                <a:spcPts val="300"/>
              </a:spcAft>
              <a:defRPr sz="1600">
                <a:solidFill>
                  <a:srgbClr val="0F172A"/>
                </a:solidFill>
              </a:defRPr>
            </a:pPr>
            <a:r>
              <a:t>• Takes lifestyle factors into account</a:t>
            </a:r>
          </a:p>
          <a:p>
            <a:pPr>
              <a:lnSpc>
                <a:spcPct val="120000"/>
              </a:lnSpc>
              <a:spcBef>
                <a:spcPts val="300"/>
              </a:spcBef>
              <a:spcAft>
                <a:spcPts val="300"/>
              </a:spcAft>
              <a:defRPr sz="1600">
                <a:solidFill>
                  <a:srgbClr val="0F172A"/>
                </a:solidFill>
              </a:defRPr>
            </a:pPr>
            <a:r>
              <a:t>• Improves patient outcomes</a:t>
            </a:r>
          </a:p>
          <a:p>
            <a:pPr>
              <a:lnSpc>
                <a:spcPct val="120000"/>
              </a:lnSpc>
              <a:spcBef>
                <a:spcPts val="300"/>
              </a:spcBef>
              <a:spcAft>
                <a:spcPts val="300"/>
              </a:spcAft>
              <a:defRPr sz="1600">
                <a:solidFill>
                  <a:srgbClr val="0F172A"/>
                </a:solidFill>
              </a:defRPr>
            </a:pPr>
            <a:r>
              <a:t>• Enhances quality of life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AI-Powered Chronic Disease Management</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Chronic diseases, such as diabetes and heart disease, require ongoing management to prevent complications. AI-powered systems can help patients track their condition, receive personalized recommendations, and stay connected with healthcare providers. This approach has been shown to improve patient engagement, reduce hospitalizations, and enhance overall health outcomes.</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Tracks chronic disease</a:t>
            </a:r>
          </a:p>
          <a:p>
            <a:pPr>
              <a:lnSpc>
                <a:spcPct val="115000"/>
              </a:lnSpc>
              <a:spcBef>
                <a:spcPts val="200"/>
              </a:spcBef>
              <a:spcAft>
                <a:spcPts val="200"/>
              </a:spcAft>
              <a:defRPr sz="1500">
                <a:solidFill>
                  <a:srgbClr val="0F172A"/>
                </a:solidFill>
              </a:defRPr>
            </a:pPr>
            <a:r>
              <a:t>• Provides personalized recommendations</a:t>
            </a:r>
          </a:p>
          <a:p>
            <a:pPr>
              <a:lnSpc>
                <a:spcPct val="115000"/>
              </a:lnSpc>
              <a:spcBef>
                <a:spcPts val="200"/>
              </a:spcBef>
              <a:spcAft>
                <a:spcPts val="200"/>
              </a:spcAft>
              <a:defRPr sz="1500">
                <a:solidFill>
                  <a:srgbClr val="0F172A"/>
                </a:solidFill>
              </a:defRPr>
            </a:pPr>
            <a:r>
              <a:t>• Enhances patient engagement</a:t>
            </a:r>
          </a:p>
          <a:p>
            <a:pPr>
              <a:lnSpc>
                <a:spcPct val="115000"/>
              </a:lnSpc>
              <a:spcBef>
                <a:spcPts val="200"/>
              </a:spcBef>
              <a:spcAft>
                <a:spcPts val="200"/>
              </a:spcAft>
              <a:defRPr sz="1500">
                <a:solidFill>
                  <a:srgbClr val="0F172A"/>
                </a:solidFill>
              </a:defRPr>
            </a:pPr>
            <a:r>
              <a:t>• Reduces hospitalizations</a:t>
            </a:r>
          </a:p>
          <a:p>
            <a:pPr>
              <a:lnSpc>
                <a:spcPct val="115000"/>
              </a:lnSpc>
              <a:spcBef>
                <a:spcPts val="200"/>
              </a:spcBef>
              <a:spcAft>
                <a:spcPts val="200"/>
              </a:spcAft>
              <a:defRPr sz="1500">
                <a:solidFill>
                  <a:srgbClr val="0F172A"/>
                </a:solidFill>
              </a:defRPr>
            </a:pPr>
            <a:r>
              <a:t>• Improves health outcomes</a:t>
            </a:r>
          </a:p>
        </p:txBody>
      </p:sp>
      <p:pic>
        <p:nvPicPr>
          <p:cNvPr id="5" name="Picture 4" descr="unsplash_gv2E6bX7qLo.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Conclusion: The Future of AI in Healthcare - Adoption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AI in Healthcare</a:t>
            </a:r>
          </a:p>
          <a:p>
            <a:pPr>
              <a:spcBef>
                <a:spcPts val="800"/>
              </a:spcBef>
              <a:spcAft>
                <a:spcPts val="800"/>
              </a:spcAft>
              <a:defRPr sz="2000">
                <a:solidFill>
                  <a:srgbClr val="F59E0B"/>
                </a:solidFill>
              </a:defRPr>
            </a:pPr>
            <a:r>
              <a:t>✓ AI-Powered Diagnostics</a:t>
            </a:r>
          </a:p>
          <a:p>
            <a:pPr>
              <a:spcBef>
                <a:spcPts val="800"/>
              </a:spcBef>
              <a:spcAft>
                <a:spcPts val="800"/>
              </a:spcAft>
              <a:defRPr sz="2000">
                <a:solidFill>
                  <a:srgbClr val="F59E0B"/>
                </a:solidFill>
              </a:defRPr>
            </a:pPr>
            <a:r>
              <a:t>✓ Personalized Medicine with AI</a:t>
            </a:r>
          </a:p>
          <a:p>
            <a:pPr>
              <a:spcBef>
                <a:spcPts val="800"/>
              </a:spcBef>
              <a:spcAft>
                <a:spcPts val="800"/>
              </a:spcAft>
              <a:defRPr sz="2000">
                <a:solidFill>
                  <a:srgbClr val="F59E0B"/>
                </a:solidFill>
              </a:defRPr>
            </a:pPr>
            <a:r>
              <a:t>✓ AI-Powered Chronic Disease Management</a:t>
            </a:r>
          </a:p>
          <a:p>
            <a:pPr>
              <a:spcBef>
                <a:spcPts val="800"/>
              </a:spcBef>
              <a:spcAft>
                <a:spcPts val="800"/>
              </a:spcAft>
              <a:defRPr sz="2000">
                <a:solidFill>
                  <a:srgbClr val="F59E0B"/>
                </a:solidFill>
              </a:defRPr>
            </a:pPr>
            <a:r>
              <a:t>✓ Conclusion: The Future of AI in Healthcare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