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Market Share (%)</c:v>
                </c:pt>
              </c:strCache>
            </c:strRef>
          </c:tx>
          <c:cat>
            <c:strRef>
              <c:f>Sheet1!$A$2:$A$6</c:f>
              <c:strCache>
                <c:ptCount val="5"/>
                <c:pt idx="0">
                  <c:v>Oracle</c:v>
                </c:pt>
                <c:pt idx="1">
                  <c:v>SQL Server</c:v>
                </c:pt>
                <c:pt idx="2">
                  <c:v>PostgreSQL</c:v>
                </c:pt>
                <c:pt idx="3">
                  <c:v>MySQL</c:v>
                </c:pt>
                <c:pt idx="4">
                  <c:v>MariaDB</c:v>
                </c:pt>
              </c:strCache>
            </c:strRef>
          </c:cat>
          <c:val>
            <c:numRef>
              <c:f>Sheet1!$B$2:$B$6</c:f>
              <c:numCache>
                <c:formatCode>General</c:formatCode>
                <c:ptCount val="5"/>
                <c:pt idx="0">
                  <c:v>35</c:v>
                </c:pt>
                <c:pt idx="1">
                  <c:v>28</c:v>
                </c:pt>
                <c:pt idx="2">
                  <c:v>15</c:v>
                </c:pt>
                <c:pt idx="3">
                  <c:v>15</c:v>
                </c:pt>
                <c:pt idx="4">
                  <c:v>7</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011680"/>
            <a:ext cx="8229600" cy="2011680"/>
          </a:xfrm>
          <a:prstGeom prst="rect">
            <a:avLst/>
          </a:prstGeom>
          <a:noFill/>
        </p:spPr>
        <p:txBody>
          <a:bodyPr wrap="square">
            <a:normAutofit/>
          </a:bodyPr>
          <a:lstStyle/>
          <a:p>
            <a:pPr algn="ctr">
              <a:lnSpc>
                <a:spcPct val="110000"/>
              </a:lnSpc>
              <a:defRPr sz="4000" b="1">
                <a:solidFill>
                  <a:srgbClr val="FFFFFF"/>
                </a:solidFill>
              </a:defRPr>
            </a:pPr>
            <a:r>
              <a:t>Affective Computing: Understanding Human Emotions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What is Affective Computing?</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Affective computing is an emerging field that focuses on developing computers and robots that can understand, recognize, and respond to human emotions. This technology has the potential to revolutionize various industries such as healthcare, education, and customer service. Affective computing involves analyzing facial expressions, speech patterns, and physiological responses to determine a person's emotional state. The goal is to create machines that can empathize with humans and provide personalized support.</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Affective computing is an interdisciplinary field combining computer science, psychology, and neuroscience</a:t>
            </a:r>
          </a:p>
          <a:p>
            <a:pPr>
              <a:lnSpc>
                <a:spcPct val="120000"/>
              </a:lnSpc>
              <a:spcBef>
                <a:spcPts val="300"/>
              </a:spcBef>
              <a:spcAft>
                <a:spcPts val="300"/>
              </a:spcAft>
              <a:defRPr sz="1600">
                <a:solidFill>
                  <a:srgbClr val="0F172A"/>
                </a:solidFill>
              </a:defRPr>
            </a:pPr>
            <a:r>
              <a:t>• It aims to develop machines that can recognize and respond to human emotions</a:t>
            </a:r>
          </a:p>
          <a:p>
            <a:pPr>
              <a:lnSpc>
                <a:spcPct val="120000"/>
              </a:lnSpc>
              <a:spcBef>
                <a:spcPts val="300"/>
              </a:spcBef>
              <a:spcAft>
                <a:spcPts val="300"/>
              </a:spcAft>
              <a:defRPr sz="1600">
                <a:solidFill>
                  <a:srgbClr val="0F172A"/>
                </a:solidFill>
              </a:defRPr>
            </a:pPr>
            <a:r>
              <a:t>• Applications include healthcare, education, customer service, and more</a:t>
            </a:r>
          </a:p>
          <a:p>
            <a:pPr>
              <a:lnSpc>
                <a:spcPct val="120000"/>
              </a:lnSpc>
              <a:spcBef>
                <a:spcPts val="300"/>
              </a:spcBef>
              <a:spcAft>
                <a:spcPts val="300"/>
              </a:spcAft>
              <a:defRPr sz="1600">
                <a:solidFill>
                  <a:srgbClr val="0F172A"/>
                </a:solidFill>
              </a:defRPr>
            </a:pPr>
            <a:r>
              <a:t>• Emotion recognition involves analyzing facial expressions, speech patterns, and physiological responses</a:t>
            </a:r>
          </a:p>
          <a:p>
            <a:pPr>
              <a:lnSpc>
                <a:spcPct val="120000"/>
              </a:lnSpc>
              <a:spcBef>
                <a:spcPts val="300"/>
              </a:spcBef>
              <a:spcAft>
                <a:spcPts val="300"/>
              </a:spcAft>
              <a:defRPr sz="1600">
                <a:solidFill>
                  <a:srgbClr val="0F172A"/>
                </a:solidFill>
              </a:defRPr>
            </a:pPr>
            <a:r>
              <a:t>• Empathy is key to creating personalized support systems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Emotion Recognition: The Building Blocks of Affective Computing</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Emotion recognition is the foundation of affective computing. This involves analyzing various physiological and behavioral signals such as facial expressions, speech patterns, and physiological responses to determine a person's emotional state. Researchers have developed various techniques to recognize emotions including machine learning algorithms, computer vision, and audio processing.</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Emotion recognition is the foundation of affective computing</a:t>
            </a:r>
          </a:p>
          <a:p>
            <a:pPr>
              <a:lnSpc>
                <a:spcPct val="120000"/>
              </a:lnSpc>
              <a:spcBef>
                <a:spcPts val="300"/>
              </a:spcBef>
              <a:spcAft>
                <a:spcPts val="300"/>
              </a:spcAft>
              <a:defRPr sz="1600">
                <a:solidFill>
                  <a:srgbClr val="0F172A"/>
                </a:solidFill>
              </a:defRPr>
            </a:pPr>
            <a:r>
              <a:t>• Physiological and behavioral signals are analyzed to determine emotional states</a:t>
            </a:r>
          </a:p>
          <a:p>
            <a:pPr>
              <a:lnSpc>
                <a:spcPct val="120000"/>
              </a:lnSpc>
              <a:spcBef>
                <a:spcPts val="300"/>
              </a:spcBef>
              <a:spcAft>
                <a:spcPts val="300"/>
              </a:spcAft>
              <a:defRPr sz="1600">
                <a:solidFill>
                  <a:srgbClr val="0F172A"/>
                </a:solidFill>
              </a:defRPr>
            </a:pPr>
            <a:r>
              <a:t>• Techniques include machine learning algorithms, computer vision, and audio processing</a:t>
            </a:r>
          </a:p>
          <a:p>
            <a:pPr>
              <a:lnSpc>
                <a:spcPct val="120000"/>
              </a:lnSpc>
              <a:spcBef>
                <a:spcPts val="300"/>
              </a:spcBef>
              <a:spcAft>
                <a:spcPts val="300"/>
              </a:spcAft>
              <a:defRPr sz="1600">
                <a:solidFill>
                  <a:srgbClr val="0F172A"/>
                </a:solidFill>
              </a:defRPr>
            </a:pPr>
            <a:r>
              <a:t>• Facial expressions, speech patterns, and physiological responses are key indicators of emotions</a:t>
            </a:r>
          </a:p>
          <a:p>
            <a:pPr>
              <a:lnSpc>
                <a:spcPct val="120000"/>
              </a:lnSpc>
              <a:spcBef>
                <a:spcPts val="300"/>
              </a:spcBef>
              <a:spcAft>
                <a:spcPts val="300"/>
              </a:spcAft>
              <a:defRPr sz="1600">
                <a:solidFill>
                  <a:srgbClr val="0F172A"/>
                </a:solidFill>
              </a:defRPr>
            </a:pPr>
            <a:r>
              <a:t>• Emotion recognition has applications in healthcare, education, and customer service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Applications of Affective Computing</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Affective computing has numerous applications across various industries. In healthcare, it can be used to develop personalized treatment plans for patients with mental health disorders. In education, it can help create adaptive learning systems that respond to students' emotions and needs. In customer service, it can enable chatbots and virtual assistants to provide empathetic support.</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Affective computing has applications in healthcare, education, and customer service</a:t>
            </a:r>
          </a:p>
          <a:p>
            <a:pPr>
              <a:lnSpc>
                <a:spcPct val="120000"/>
              </a:lnSpc>
              <a:spcBef>
                <a:spcPts val="300"/>
              </a:spcBef>
              <a:spcAft>
                <a:spcPts val="300"/>
              </a:spcAft>
              <a:defRPr sz="1600">
                <a:solidFill>
                  <a:srgbClr val="0F172A"/>
                </a:solidFill>
              </a:defRPr>
            </a:pPr>
            <a:r>
              <a:t>• Personalized treatment plans for mental health disorders are possible</a:t>
            </a:r>
          </a:p>
          <a:p>
            <a:pPr>
              <a:lnSpc>
                <a:spcPct val="120000"/>
              </a:lnSpc>
              <a:spcBef>
                <a:spcPts val="300"/>
              </a:spcBef>
              <a:spcAft>
                <a:spcPts val="300"/>
              </a:spcAft>
              <a:defRPr sz="1600">
                <a:solidFill>
                  <a:srgbClr val="0F172A"/>
                </a:solidFill>
              </a:defRPr>
            </a:pPr>
            <a:r>
              <a:t>• Adaptive learning systems respond to students' emotions and needs</a:t>
            </a:r>
          </a:p>
          <a:p>
            <a:pPr>
              <a:lnSpc>
                <a:spcPct val="120000"/>
              </a:lnSpc>
              <a:spcBef>
                <a:spcPts val="300"/>
              </a:spcBef>
              <a:spcAft>
                <a:spcPts val="300"/>
              </a:spcAft>
              <a:defRPr sz="1600">
                <a:solidFill>
                  <a:srgbClr val="0F172A"/>
                </a:solidFill>
              </a:defRPr>
            </a:pPr>
            <a:r>
              <a:t>• Chatbots and virtual assistants can provide empathetic support</a:t>
            </a:r>
          </a:p>
          <a:p>
            <a:pPr>
              <a:lnSpc>
                <a:spcPct val="120000"/>
              </a:lnSpc>
              <a:spcBef>
                <a:spcPts val="300"/>
              </a:spcBef>
              <a:spcAft>
                <a:spcPts val="300"/>
              </a:spcAft>
              <a:defRPr sz="1600">
                <a:solidFill>
                  <a:srgbClr val="0F172A"/>
                </a:solidFill>
              </a:defRPr>
            </a:pPr>
            <a:r>
              <a:t>• Emotional intelligence is key to effective communication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Challenges and Limitations of Affective Computing</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While affective computing has tremendous potential, it also faces several challenges and limitations. One major challenge is dealing with the complexity and variability of human emotions. Additionally, there are concerns about privacy, security, and the potential misuse of emotional data. Finally, developing machines that can truly understand and respond to human emotions requires significant advances in artificial intelligence.</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Affective computing faces challenges and limitations</a:t>
            </a:r>
          </a:p>
          <a:p>
            <a:pPr>
              <a:lnSpc>
                <a:spcPct val="120000"/>
              </a:lnSpc>
              <a:spcBef>
                <a:spcPts val="300"/>
              </a:spcBef>
              <a:spcAft>
                <a:spcPts val="300"/>
              </a:spcAft>
              <a:defRPr sz="1600">
                <a:solidFill>
                  <a:srgbClr val="0F172A"/>
                </a:solidFill>
              </a:defRPr>
            </a:pPr>
            <a:r>
              <a:t>• Dealing with complexity and variability of human emotions is a major challenge</a:t>
            </a:r>
          </a:p>
          <a:p>
            <a:pPr>
              <a:lnSpc>
                <a:spcPct val="120000"/>
              </a:lnSpc>
              <a:spcBef>
                <a:spcPts val="300"/>
              </a:spcBef>
              <a:spcAft>
                <a:spcPts val="300"/>
              </a:spcAft>
              <a:defRPr sz="1600">
                <a:solidFill>
                  <a:srgbClr val="0F172A"/>
                </a:solidFill>
              </a:defRPr>
            </a:pPr>
            <a:r>
              <a:t>• Concerns about privacy, security, and emotional data misuse exist</a:t>
            </a:r>
          </a:p>
          <a:p>
            <a:pPr>
              <a:lnSpc>
                <a:spcPct val="120000"/>
              </a:lnSpc>
              <a:spcBef>
                <a:spcPts val="300"/>
              </a:spcBef>
              <a:spcAft>
                <a:spcPts val="300"/>
              </a:spcAft>
              <a:defRPr sz="1600">
                <a:solidFill>
                  <a:srgbClr val="0F172A"/>
                </a:solidFill>
              </a:defRPr>
            </a:pPr>
            <a:r>
              <a:t>• Advances in AI are required to truly understand human emotions</a:t>
            </a:r>
          </a:p>
          <a:p>
            <a:pPr>
              <a:lnSpc>
                <a:spcPct val="120000"/>
              </a:lnSpc>
              <a:spcBef>
                <a:spcPts val="300"/>
              </a:spcBef>
              <a:spcAft>
                <a:spcPts val="300"/>
              </a:spcAft>
              <a:defRPr sz="1600">
                <a:solidFill>
                  <a:srgbClr val="0F172A"/>
                </a:solidFill>
              </a:defRPr>
            </a:pPr>
            <a:r>
              <a:t>• Overcoming biases and cultural differences is crucial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Future Directions of Affective Computing</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As affective computing continues to evolve, researchers and developers can expect significant advancements in the coming years. One direction is the development of more sophisticated emotion recognition algorithms that can handle complex emotions and nuances. Another area is the creation of more empathetic AI systems that can truly understand human emotions.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Future directions include developing sophisticated emotion recognition algorithms</a:t>
            </a:r>
          </a:p>
          <a:p>
            <a:pPr>
              <a:lnSpc>
                <a:spcPct val="120000"/>
              </a:lnSpc>
              <a:spcBef>
                <a:spcPts val="300"/>
              </a:spcBef>
              <a:spcAft>
                <a:spcPts val="300"/>
              </a:spcAft>
              <a:defRPr sz="1600">
                <a:solidFill>
                  <a:srgbClr val="0F172A"/>
                </a:solidFill>
              </a:defRPr>
            </a:pPr>
            <a:r>
              <a:t>• More empathetic AI systems are needed to truly understand human emotions</a:t>
            </a:r>
          </a:p>
          <a:p>
            <a:pPr>
              <a:lnSpc>
                <a:spcPct val="120000"/>
              </a:lnSpc>
              <a:spcBef>
                <a:spcPts val="300"/>
              </a:spcBef>
              <a:spcAft>
                <a:spcPts val="300"/>
              </a:spcAft>
              <a:defRPr sz="1600">
                <a:solidFill>
                  <a:srgbClr val="0F172A"/>
                </a:solidFill>
              </a:defRPr>
            </a:pPr>
            <a:r>
              <a:t>• Integration with existing technologies such as virtual reality and brain-computer interfaces is possible</a:t>
            </a:r>
          </a:p>
          <a:p>
            <a:pPr>
              <a:lnSpc>
                <a:spcPct val="120000"/>
              </a:lnSpc>
              <a:spcBef>
                <a:spcPts val="300"/>
              </a:spcBef>
              <a:spcAft>
                <a:spcPts val="300"/>
              </a:spcAft>
              <a:defRPr sz="1600">
                <a:solidFill>
                  <a:srgbClr val="0F172A"/>
                </a:solidFill>
              </a:defRPr>
            </a:pPr>
            <a:r>
              <a:t>• Advances in neuroscience and psychology will inform affective computing research</a:t>
            </a:r>
          </a:p>
          <a:p>
            <a:pPr>
              <a:lnSpc>
                <a:spcPct val="120000"/>
              </a:lnSpc>
              <a:spcBef>
                <a:spcPts val="300"/>
              </a:spcBef>
              <a:spcAft>
                <a:spcPts val="300"/>
              </a:spcAft>
              <a:defRPr sz="1600">
                <a:solidFill>
                  <a:srgbClr val="0F172A"/>
                </a:solidFill>
              </a:defRPr>
            </a:pPr>
            <a:r>
              <a:t>• Ethical considerations will become increasingly important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Conclusion - Market Share (%)</a:t>
            </a:r>
          </a:p>
        </p:txBody>
      </p:sp>
      <p:graphicFrame>
        <p:nvGraphicFramePr>
          <p:cNvPr id="4" name="Chart 3"/>
          <p:cNvGraphicFramePr>
            <a:graphicFrameLocks noGrp="1"/>
          </p:cNvGraphicFramePr>
          <p:nvPr/>
        </p:nvGraphicFramePr>
        <p:xfrm>
          <a:off x="457200" y="1463040"/>
          <a:ext cx="82296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Presentation Flow</a:t>
            </a:r>
          </a:p>
        </p:txBody>
      </p:sp>
      <p:sp>
        <p:nvSpPr>
          <p:cNvPr id="4" name="Rectangle 3"/>
          <p:cNvSpPr/>
          <p:nvPr/>
        </p:nvSpPr>
        <p:spPr>
          <a:xfrm>
            <a:off x="4572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554480"/>
            <a:ext cx="2225040" cy="457200"/>
          </a:xfrm>
          <a:prstGeom prst="rect">
            <a:avLst/>
          </a:prstGeom>
          <a:noFill/>
        </p:spPr>
        <p:txBody>
          <a:bodyPr wrap="square">
            <a:spAutoFit/>
          </a:bodyPr>
          <a:lstStyle/>
          <a:p>
            <a:pPr algn="ctr">
              <a:defRPr sz="1600" b="1">
                <a:solidFill>
                  <a:srgbClr val="1E40AF"/>
                </a:solidFill>
              </a:defRPr>
            </a:pPr>
            <a:r>
              <a:t>Beginning</a:t>
            </a:r>
          </a:p>
        </p:txBody>
      </p:sp>
      <p:sp>
        <p:nvSpPr>
          <p:cNvPr id="6" name="TextBox 5"/>
          <p:cNvSpPr txBox="1"/>
          <p:nvPr/>
        </p:nvSpPr>
        <p:spPr>
          <a:xfrm>
            <a:off x="594360" y="2194560"/>
            <a:ext cx="2225040" cy="3657600"/>
          </a:xfrm>
          <a:prstGeom prst="rect">
            <a:avLst/>
          </a:prstGeom>
          <a:noFill/>
        </p:spPr>
        <p:txBody>
          <a:bodyPr wrap="square">
            <a:spAutoFit/>
          </a:bodyPr>
          <a:lstStyle/>
          <a:p>
            <a:pPr>
              <a:lnSpc>
                <a:spcPct val="140000"/>
              </a:lnSpc>
              <a:defRPr sz="1300">
                <a:solidFill>
                  <a:srgbClr val="64748B"/>
                </a:solidFill>
              </a:defRPr>
            </a:pPr>
            <a:r>
              <a:t>What is Affective Computing?</a:t>
            </a:r>
          </a:p>
        </p:txBody>
      </p:sp>
      <p:sp>
        <p:nvSpPr>
          <p:cNvPr id="7" name="Rectangle 6"/>
          <p:cNvSpPr/>
          <p:nvPr/>
        </p:nvSpPr>
        <p:spPr>
          <a:xfrm>
            <a:off x="30480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85160" y="1554480"/>
            <a:ext cx="2225040" cy="457200"/>
          </a:xfrm>
          <a:prstGeom prst="rect">
            <a:avLst/>
          </a:prstGeom>
          <a:noFill/>
        </p:spPr>
        <p:txBody>
          <a:bodyPr wrap="square">
            <a:spAutoFit/>
          </a:bodyPr>
          <a:lstStyle/>
          <a:p>
            <a:pPr algn="ctr">
              <a:defRPr sz="1600" b="1">
                <a:solidFill>
                  <a:srgbClr val="1E40AF"/>
                </a:solidFill>
              </a:defRPr>
            </a:pPr>
            <a:r>
              <a:t>Middle</a:t>
            </a:r>
          </a:p>
        </p:txBody>
      </p:sp>
      <p:sp>
        <p:nvSpPr>
          <p:cNvPr id="9" name="TextBox 8"/>
          <p:cNvSpPr txBox="1"/>
          <p:nvPr/>
        </p:nvSpPr>
        <p:spPr>
          <a:xfrm>
            <a:off x="3185160" y="2194560"/>
            <a:ext cx="2225040" cy="3657600"/>
          </a:xfrm>
          <a:prstGeom prst="rect">
            <a:avLst/>
          </a:prstGeom>
          <a:noFill/>
        </p:spPr>
        <p:txBody>
          <a:bodyPr wrap="square">
            <a:spAutoFit/>
          </a:bodyPr>
          <a:lstStyle/>
          <a:p>
            <a:pPr>
              <a:lnSpc>
                <a:spcPct val="140000"/>
              </a:lnSpc>
              <a:defRPr sz="1300">
                <a:solidFill>
                  <a:srgbClr val="64748B"/>
                </a:solidFill>
              </a:defRPr>
            </a:pPr>
            <a:r>
              <a:t>Challenges and Limitations of Affective Computing</a:t>
            </a:r>
          </a:p>
        </p:txBody>
      </p:sp>
      <p:sp>
        <p:nvSpPr>
          <p:cNvPr id="10" name="Rectangle 9"/>
          <p:cNvSpPr/>
          <p:nvPr/>
        </p:nvSpPr>
        <p:spPr>
          <a:xfrm>
            <a:off x="56388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75960" y="1554480"/>
            <a:ext cx="2225040" cy="457200"/>
          </a:xfrm>
          <a:prstGeom prst="rect">
            <a:avLst/>
          </a:prstGeom>
          <a:noFill/>
        </p:spPr>
        <p:txBody>
          <a:bodyPr wrap="square">
            <a:spAutoFit/>
          </a:bodyPr>
          <a:lstStyle/>
          <a:p>
            <a:pPr algn="ctr">
              <a:defRPr sz="1600" b="1">
                <a:solidFill>
                  <a:srgbClr val="1E40AF"/>
                </a:solidFill>
              </a:defRPr>
            </a:pPr>
            <a:r>
              <a:t>End</a:t>
            </a:r>
          </a:p>
        </p:txBody>
      </p:sp>
      <p:sp>
        <p:nvSpPr>
          <p:cNvPr id="12" name="TextBox 11"/>
          <p:cNvSpPr txBox="1"/>
          <p:nvPr/>
        </p:nvSpPr>
        <p:spPr>
          <a:xfrm>
            <a:off x="5775960" y="2194560"/>
            <a:ext cx="2225040" cy="3657600"/>
          </a:xfrm>
          <a:prstGeom prst="rect">
            <a:avLst/>
          </a:prstGeom>
          <a:noFill/>
        </p:spPr>
        <p:txBody>
          <a:bodyPr wrap="square">
            <a:spAutoFit/>
          </a:bodyPr>
          <a:lstStyle/>
          <a:p>
            <a:pPr>
              <a:lnSpc>
                <a:spcPct val="140000"/>
              </a:lnSpc>
              <a:defRPr sz="1300">
                <a:solidFill>
                  <a:srgbClr val="64748B"/>
                </a:solidFill>
              </a:defRPr>
            </a:pPr>
            <a:r>
              <a:t>Conclusion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What is Affective Computing?</a:t>
            </a:r>
          </a:p>
          <a:p>
            <a:pPr>
              <a:spcBef>
                <a:spcPts val="800"/>
              </a:spcBef>
              <a:spcAft>
                <a:spcPts val="800"/>
              </a:spcAft>
              <a:defRPr sz="2000">
                <a:solidFill>
                  <a:srgbClr val="F59E0B"/>
                </a:solidFill>
              </a:defRPr>
            </a:pPr>
            <a:r>
              <a:t>✓ Emotion Recognition: The Building Blocks of Affective Computing</a:t>
            </a:r>
          </a:p>
          <a:p>
            <a:pPr>
              <a:spcBef>
                <a:spcPts val="800"/>
              </a:spcBef>
              <a:spcAft>
                <a:spcPts val="800"/>
              </a:spcAft>
              <a:defRPr sz="2000">
                <a:solidFill>
                  <a:srgbClr val="F59E0B"/>
                </a:solidFill>
              </a:defRPr>
            </a:pPr>
            <a:r>
              <a:t>✓ Applications of Affective Computing</a:t>
            </a:r>
          </a:p>
          <a:p>
            <a:pPr>
              <a:spcBef>
                <a:spcPts val="800"/>
              </a:spcBef>
              <a:spcAft>
                <a:spcPts val="800"/>
              </a:spcAft>
              <a:defRPr sz="2000">
                <a:solidFill>
                  <a:srgbClr val="F59E0B"/>
                </a:solidFill>
              </a:defRPr>
            </a:pPr>
            <a:r>
              <a:t>✓ Challenges and Limitations of Affective Computing</a:t>
            </a:r>
          </a:p>
          <a:p>
            <a:pPr>
              <a:spcBef>
                <a:spcPts val="800"/>
              </a:spcBef>
              <a:spcAft>
                <a:spcPts val="800"/>
              </a:spcAft>
              <a:defRPr sz="2000">
                <a:solidFill>
                  <a:srgbClr val="F59E0B"/>
                </a:solidFill>
              </a:defRPr>
            </a:pPr>
            <a:r>
              <a:t>✓ Future Directions of Affective Computing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