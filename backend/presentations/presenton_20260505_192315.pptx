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Sheet1!$A$2:$A$4</c:f>
              <c:strCache>
                <c:ptCount val="3"/>
                <c:pt idx="0">
                  <c:v>Premier</c:v>
                </c:pt>
                <c:pt idx="1">
                  <c:v>High-quality</c:v>
                </c:pt>
                <c:pt idx="2">
                  <c:v>Strong focus on</c:v>
                </c:pt>
              </c:strCache>
            </c:strRef>
          </c:cat>
          <c:val>
            <c:numRef>
              <c:f>Sheet1!$B$2:$B$4</c:f>
              <c:numCache>
                <c:formatCode>General</c:formatCode>
                <c:ptCount val="3"/>
                <c:pt idx="0">
                  <c:v>30</c:v>
                </c:pt>
                <c:pt idx="1">
                  <c:v>42</c:v>
                </c:pt>
                <c:pt idx="2">
                  <c:v>53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Jaypee Institute of Information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Jaypee Institute of Information Technology</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Located in Noida, Uttar Pradesh, India, the Jaypee Institute of Information Technology is a premier institution for higher education and research. Established in 2001, it has since grown into one of the most reputed institutions in the country, offering undergraduate and postgraduate programs in various disciplines. The institute has a strong focus on innovation, entrepreneurship, and social responsibility.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Established in 2001</a:t>
            </a:r>
          </a:p>
          <a:p>
            <a:pPr>
              <a:lnSpc>
                <a:spcPct val="120000"/>
              </a:lnSpc>
              <a:spcBef>
                <a:spcPts val="300"/>
              </a:spcBef>
              <a:spcAft>
                <a:spcPts val="300"/>
              </a:spcAft>
              <a:defRPr sz="1600">
                <a:solidFill>
                  <a:srgbClr val="0F172A"/>
                </a:solidFill>
              </a:defRPr>
            </a:pPr>
            <a:r>
              <a:t>• Located in Noida, Uttar Pradesh, India</a:t>
            </a:r>
          </a:p>
          <a:p>
            <a:pPr>
              <a:lnSpc>
                <a:spcPct val="120000"/>
              </a:lnSpc>
              <a:spcBef>
                <a:spcPts val="300"/>
              </a:spcBef>
              <a:spcAft>
                <a:spcPts val="300"/>
              </a:spcAft>
              <a:defRPr sz="1600">
                <a:solidFill>
                  <a:srgbClr val="0F172A"/>
                </a:solidFill>
              </a:defRPr>
            </a:pPr>
            <a:r>
              <a:t>• Offers undergraduate and postgraduate programs</a:t>
            </a:r>
          </a:p>
          <a:p>
            <a:pPr>
              <a:lnSpc>
                <a:spcPct val="120000"/>
              </a:lnSpc>
              <a:spcBef>
                <a:spcPts val="300"/>
              </a:spcBef>
              <a:spcAft>
                <a:spcPts val="300"/>
              </a:spcAft>
              <a:defRPr sz="1600">
                <a:solidFill>
                  <a:srgbClr val="0F172A"/>
                </a:solidFill>
              </a:defRPr>
            </a:pPr>
            <a:r>
              <a:t>• Strong focus on innovation, entrepreneurship, and social responsibility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Academics and Research</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Jaypee Institute of Information Technology offers a wide range of academic programs at the undergraduate and postgraduate levels in fields such as computer science, engineering, mathematics, and management. The institute has a strong research focus, with faculty members actively engaged in various areas of research. This includes collaborations with industry partners and funding agencies to develop innovative solutions.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Offers undergraduate and postgraduate programs</a:t>
            </a:r>
          </a:p>
          <a:p>
            <a:pPr>
              <a:lnSpc>
                <a:spcPct val="115000"/>
              </a:lnSpc>
              <a:spcBef>
                <a:spcPts val="200"/>
              </a:spcBef>
              <a:spcAft>
                <a:spcPts val="200"/>
              </a:spcAft>
              <a:defRPr sz="1500">
                <a:solidFill>
                  <a:srgbClr val="0F172A"/>
                </a:solidFill>
              </a:defRPr>
            </a:pPr>
            <a:r>
              <a:t>• Focus on computer science, engineering, mathematics, and management</a:t>
            </a:r>
          </a:p>
          <a:p>
            <a:pPr>
              <a:lnSpc>
                <a:spcPct val="115000"/>
              </a:lnSpc>
              <a:spcBef>
                <a:spcPts val="200"/>
              </a:spcBef>
              <a:spcAft>
                <a:spcPts val="200"/>
              </a:spcAft>
              <a:defRPr sz="1500">
                <a:solidFill>
                  <a:srgbClr val="0F172A"/>
                </a:solidFill>
              </a:defRPr>
            </a:pPr>
            <a:r>
              <a:t>• Strong research focus</a:t>
            </a:r>
          </a:p>
          <a:p>
            <a:pPr>
              <a:lnSpc>
                <a:spcPct val="115000"/>
              </a:lnSpc>
              <a:spcBef>
                <a:spcPts val="200"/>
              </a:spcBef>
              <a:spcAft>
                <a:spcPts val="200"/>
              </a:spcAft>
              <a:defRPr sz="1500">
                <a:solidFill>
                  <a:srgbClr val="0F172A"/>
                </a:solidFill>
              </a:defRPr>
            </a:pPr>
            <a:r>
              <a:t>• Collaborations with industry partners and funding agencies</a:t>
            </a:r>
          </a:p>
        </p:txBody>
      </p:sp>
      <p:pic>
        <p:nvPicPr>
          <p:cNvPr id="5" name="Picture 4" descr="unsplash_Kimr7Gp2Ctg.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Campus Life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Jaypee Institute of Information Technology has a vibrant campus life that provides students with opportunities to engage in various extracurricular activities, cultural events, and sports. The institute also offers facilities such as hostels, libraries, and recreational centers to ensure a comfortable living environment for its students.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Vibrant campus life</a:t>
            </a:r>
          </a:p>
          <a:p>
            <a:pPr>
              <a:lnSpc>
                <a:spcPct val="120000"/>
              </a:lnSpc>
              <a:spcBef>
                <a:spcPts val="300"/>
              </a:spcBef>
              <a:spcAft>
                <a:spcPts val="300"/>
              </a:spcAft>
              <a:defRPr sz="1600">
                <a:solidFill>
                  <a:srgbClr val="0F172A"/>
                </a:solidFill>
              </a:defRPr>
            </a:pPr>
            <a:r>
              <a:t>• Extracurricular activities, cultural events, and sports</a:t>
            </a:r>
          </a:p>
          <a:p>
            <a:pPr>
              <a:lnSpc>
                <a:spcPct val="120000"/>
              </a:lnSpc>
              <a:spcBef>
                <a:spcPts val="300"/>
              </a:spcBef>
              <a:spcAft>
                <a:spcPts val="300"/>
              </a:spcAft>
              <a:defRPr sz="1600">
                <a:solidFill>
                  <a:srgbClr val="0F172A"/>
                </a:solidFill>
              </a:defRPr>
            </a:pPr>
            <a:r>
              <a:t>• Facilities such as hostels, libraries, and recreational centers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Faculty and Staff</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Jaypee Institute of Information Technology has a team of experienced faculty members and staff who are committed to providing high-quality education and support. The institute also offers opportunities for professional development and growth for its employees.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Experienced faculty members</a:t>
            </a:r>
          </a:p>
          <a:p>
            <a:pPr>
              <a:lnSpc>
                <a:spcPct val="120000"/>
              </a:lnSpc>
              <a:spcBef>
                <a:spcPts val="300"/>
              </a:spcBef>
              <a:spcAft>
                <a:spcPts val="300"/>
              </a:spcAft>
              <a:defRPr sz="1600">
                <a:solidFill>
                  <a:srgbClr val="0F172A"/>
                </a:solidFill>
              </a:defRPr>
            </a:pPr>
            <a:r>
              <a:t>• Committed to providing high-quality education and support</a:t>
            </a:r>
          </a:p>
          <a:p>
            <a:pPr>
              <a:lnSpc>
                <a:spcPct val="120000"/>
              </a:lnSpc>
              <a:spcBef>
                <a:spcPts val="300"/>
              </a:spcBef>
              <a:spcAft>
                <a:spcPts val="300"/>
              </a:spcAft>
              <a:defRPr sz="1600">
                <a:solidFill>
                  <a:srgbClr val="0F172A"/>
                </a:solidFill>
              </a:defRPr>
            </a:pPr>
            <a:r>
              <a:t>• Opportunities for professional development and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Placement and Networking</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Jaypee Institute of Information Technology has a strong placement record, with many students securing jobs in top companies. The institute also provides opportunities for networking through its alumni association and industry partnerships.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Strong placement record</a:t>
            </a:r>
          </a:p>
          <a:p>
            <a:pPr>
              <a:lnSpc>
                <a:spcPct val="115000"/>
              </a:lnSpc>
              <a:spcBef>
                <a:spcPts val="200"/>
              </a:spcBef>
              <a:spcAft>
                <a:spcPts val="200"/>
              </a:spcAft>
              <a:defRPr sz="1500">
                <a:solidFill>
                  <a:srgbClr val="0F172A"/>
                </a:solidFill>
              </a:defRPr>
            </a:pPr>
            <a:r>
              <a:t>• Many students secure jobs in top companies</a:t>
            </a:r>
          </a:p>
          <a:p>
            <a:pPr>
              <a:lnSpc>
                <a:spcPct val="115000"/>
              </a:lnSpc>
              <a:spcBef>
                <a:spcPts val="200"/>
              </a:spcBef>
              <a:spcAft>
                <a:spcPts val="200"/>
              </a:spcAft>
              <a:defRPr sz="1500">
                <a:solidFill>
                  <a:srgbClr val="0F172A"/>
                </a:solidFill>
              </a:defRPr>
            </a:pPr>
            <a:r>
              <a:t>• Opportunities for networking</a:t>
            </a:r>
          </a:p>
        </p:txBody>
      </p:sp>
      <p:pic>
        <p:nvPicPr>
          <p:cNvPr id="5" name="Picture 4" descr="unsplash_DZF4E-6EVTc.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Jaypee Institute of Information Technology</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Faculty and Staff</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Jaypee Institute of Information Technology</a:t>
            </a:r>
          </a:p>
          <a:p>
            <a:pPr>
              <a:spcBef>
                <a:spcPts val="800"/>
              </a:spcBef>
              <a:spcAft>
                <a:spcPts val="800"/>
              </a:spcAft>
              <a:defRPr sz="2000">
                <a:solidFill>
                  <a:srgbClr val="F59E0B"/>
                </a:solidFill>
              </a:defRPr>
            </a:pPr>
            <a:r>
              <a:t>✓ Academics and Research</a:t>
            </a:r>
          </a:p>
          <a:p>
            <a:pPr>
              <a:spcBef>
                <a:spcPts val="800"/>
              </a:spcBef>
              <a:spcAft>
                <a:spcPts val="800"/>
              </a:spcAft>
              <a:defRPr sz="2000">
                <a:solidFill>
                  <a:srgbClr val="F59E0B"/>
                </a:solidFill>
              </a:defRPr>
            </a:pPr>
            <a:r>
              <a:t>✓ Campus Life</a:t>
            </a:r>
          </a:p>
          <a:p>
            <a:pPr>
              <a:spcBef>
                <a:spcPts val="800"/>
              </a:spcBef>
              <a:spcAft>
                <a:spcPts val="800"/>
              </a:spcAft>
              <a:defRPr sz="2000">
                <a:solidFill>
                  <a:srgbClr val="F59E0B"/>
                </a:solidFill>
              </a:defRPr>
            </a:pPr>
            <a:r>
              <a:t>✓ Faculty and Staff</a:t>
            </a:r>
          </a:p>
          <a:p>
            <a:pPr>
              <a:spcBef>
                <a:spcPts val="800"/>
              </a:spcBef>
              <a:spcAft>
                <a:spcPts val="800"/>
              </a:spcAft>
              <a:defRPr sz="2000">
                <a:solidFill>
                  <a:srgbClr val="F59E0B"/>
                </a:solidFill>
              </a:defRPr>
            </a:pPr>
            <a:r>
              <a:t>✓ Placement and Networking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