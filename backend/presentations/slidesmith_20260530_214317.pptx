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Unlocking AI in Healthcare: Revolutionizing Patient Care</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FFFFFF"/>
                </a:solidFill>
              </a:defRPr>
            </a:pPr>
            <a:r>
              <a:t>Introduction to AI in Healthcare</a:t>
            </a:r>
          </a:p>
        </p:txBody>
      </p:sp>
      <p:sp>
        <p:nvSpPr>
          <p:cNvPr id="4" name="TextBox 3"/>
          <p:cNvSpPr txBox="1"/>
          <p:nvPr/>
        </p:nvSpPr>
        <p:spPr>
          <a:xfrm>
            <a:off x="731520" y="1417320"/>
            <a:ext cx="7680960" cy="1234439"/>
          </a:xfrm>
          <a:prstGeom prst="rect">
            <a:avLst/>
          </a:prstGeom>
          <a:noFill/>
        </p:spPr>
        <p:txBody>
          <a:bodyPr wrap="square">
            <a:spAutoFit/>
          </a:bodyPr>
          <a:lstStyle/>
          <a:p>
            <a:pPr>
              <a:lnSpc>
                <a:spcPct val="130000"/>
              </a:lnSpc>
              <a:defRPr sz="1600">
                <a:solidFill>
                  <a:srgbClr val="F3F4F6"/>
                </a:solidFill>
              </a:defRPr>
            </a:pPr>
            <a:r>
              <a:t>Artificial intelligence (AI) is transforming the healthcare industry by improving patient outcomes, reducing costs, and enhancing clinician workflows. With vast amounts of electronic health records and medical imaging data available, AI can help identify patterns and trends that aid in diagnosis and treatment.</a:t>
            </a:r>
          </a:p>
        </p:txBody>
      </p:sp>
      <p:sp>
        <p:nvSpPr>
          <p:cNvPr id="5" name="Oval 4"/>
          <p:cNvSpPr/>
          <p:nvPr/>
        </p:nvSpPr>
        <p:spPr>
          <a:xfrm>
            <a:off x="502920" y="2971800"/>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926080"/>
            <a:ext cx="7589520" cy="868680"/>
          </a:xfrm>
          <a:prstGeom prst="rect">
            <a:avLst/>
          </a:prstGeom>
          <a:noFill/>
        </p:spPr>
        <p:txBody>
          <a:bodyPr wrap="square">
            <a:spAutoFit/>
          </a:bodyPr>
          <a:lstStyle/>
          <a:p>
            <a:pPr>
              <a:lnSpc>
                <a:spcPct val="130000"/>
              </a:lnSpc>
              <a:defRPr sz="1600">
                <a:solidFill>
                  <a:srgbClr val="F3F4F6"/>
                </a:solidFill>
              </a:defRPr>
            </a:pPr>
            <a:r>
              <a:t>Improved diagnostic accuracy</a:t>
            </a:r>
          </a:p>
        </p:txBody>
      </p:sp>
      <p:sp>
        <p:nvSpPr>
          <p:cNvPr id="7" name="Oval 6"/>
          <p:cNvSpPr/>
          <p:nvPr/>
        </p:nvSpPr>
        <p:spPr>
          <a:xfrm>
            <a:off x="502920" y="3721608"/>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675888"/>
            <a:ext cx="7589520" cy="868680"/>
          </a:xfrm>
          <a:prstGeom prst="rect">
            <a:avLst/>
          </a:prstGeom>
          <a:noFill/>
        </p:spPr>
        <p:txBody>
          <a:bodyPr wrap="square">
            <a:spAutoFit/>
          </a:bodyPr>
          <a:lstStyle/>
          <a:p>
            <a:pPr>
              <a:lnSpc>
                <a:spcPct val="130000"/>
              </a:lnSpc>
              <a:defRPr sz="1600">
                <a:solidFill>
                  <a:srgbClr val="F3F4F6"/>
                </a:solidFill>
              </a:defRPr>
            </a:pPr>
            <a:r>
              <a:t>Enhanced patient engagement</a:t>
            </a:r>
          </a:p>
        </p:txBody>
      </p:sp>
      <p:sp>
        <p:nvSpPr>
          <p:cNvPr id="9" name="Oval 8"/>
          <p:cNvSpPr/>
          <p:nvPr/>
        </p:nvSpPr>
        <p:spPr>
          <a:xfrm>
            <a:off x="502920" y="4471416"/>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425696"/>
            <a:ext cx="7589520" cy="868680"/>
          </a:xfrm>
          <a:prstGeom prst="rect">
            <a:avLst/>
          </a:prstGeom>
          <a:noFill/>
        </p:spPr>
        <p:txBody>
          <a:bodyPr wrap="square">
            <a:spAutoFit/>
          </a:bodyPr>
          <a:lstStyle/>
          <a:p>
            <a:pPr>
              <a:lnSpc>
                <a:spcPct val="130000"/>
              </a:lnSpc>
              <a:defRPr sz="1600">
                <a:solidFill>
                  <a:srgbClr val="F3F4F6"/>
                </a:solidFill>
              </a:defRPr>
            </a:pPr>
            <a:r>
              <a:t>Streamlined clinical decision-making</a:t>
            </a:r>
          </a:p>
        </p:txBody>
      </p:sp>
      <p:sp>
        <p:nvSpPr>
          <p:cNvPr id="11" name="Oval 10"/>
          <p:cNvSpPr/>
          <p:nvPr/>
        </p:nvSpPr>
        <p:spPr>
          <a:xfrm>
            <a:off x="502920" y="5221224"/>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175504"/>
            <a:ext cx="7589520" cy="868680"/>
          </a:xfrm>
          <a:prstGeom prst="rect">
            <a:avLst/>
          </a:prstGeom>
          <a:noFill/>
        </p:spPr>
        <p:txBody>
          <a:bodyPr wrap="square">
            <a:spAutoFit/>
          </a:bodyPr>
          <a:lstStyle/>
          <a:p>
            <a:pPr>
              <a:lnSpc>
                <a:spcPct val="130000"/>
              </a:lnSpc>
              <a:defRPr sz="1600">
                <a:solidFill>
                  <a:srgbClr val="F3F4F6"/>
                </a:solidFill>
              </a:defRPr>
            </a:pPr>
            <a:r>
              <a:t>Increased access to quality care</a:t>
            </a:r>
          </a:p>
        </p:txBody>
      </p:sp>
      <p:sp>
        <p:nvSpPr>
          <p:cNvPr id="13" name="Rectangle 12"/>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Unlocking AI in Healthcare: Revolutionizing Patient Care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11827"/>
                </a:solidFill>
              </a:defRPr>
            </a:pPr>
            <a:r>
              <a:t>Applications of AI in Healthcare</a:t>
            </a:r>
          </a:p>
        </p:txBody>
      </p:sp>
      <p:sp>
        <p:nvSpPr>
          <p:cNvPr id="4" name="TextBox 3"/>
          <p:cNvSpPr txBox="1"/>
          <p:nvPr/>
        </p:nvSpPr>
        <p:spPr>
          <a:xfrm>
            <a:off x="457200" y="1417320"/>
            <a:ext cx="4114800" cy="1892807"/>
          </a:xfrm>
          <a:prstGeom prst="rect">
            <a:avLst/>
          </a:prstGeom>
          <a:noFill/>
        </p:spPr>
        <p:txBody>
          <a:bodyPr wrap="square">
            <a:spAutoFit/>
          </a:bodyPr>
          <a:lstStyle/>
          <a:p>
            <a:pPr>
              <a:lnSpc>
                <a:spcPct val="130000"/>
              </a:lnSpc>
              <a:defRPr sz="1400">
                <a:solidFill>
                  <a:srgbClr val="F3F4F6"/>
                </a:solidFill>
              </a:defRPr>
            </a:pPr>
            <a:r>
              <a:t>AI has numerous applications in healthcare, including medical imaging analysis, disease diagnosis, treatment planning, and patient monitoring. Natural language processing (NLP) enables AI-powered chatbots to interact with patients, while machine learning algorithms can predict patient outcomes and identify high-risk individuals.</a:t>
            </a:r>
          </a:p>
        </p:txBody>
      </p:sp>
      <p:sp>
        <p:nvSpPr>
          <p:cNvPr id="5" name="Oval 4"/>
          <p:cNvSpPr/>
          <p:nvPr/>
        </p:nvSpPr>
        <p:spPr>
          <a:xfrm>
            <a:off x="457200" y="368503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630168"/>
            <a:ext cx="3858768" cy="658368"/>
          </a:xfrm>
          <a:prstGeom prst="rect">
            <a:avLst/>
          </a:prstGeom>
          <a:noFill/>
        </p:spPr>
        <p:txBody>
          <a:bodyPr wrap="square">
            <a:spAutoFit/>
          </a:bodyPr>
          <a:lstStyle/>
          <a:p>
            <a:pPr>
              <a:lnSpc>
                <a:spcPct val="130000"/>
              </a:lnSpc>
              <a:defRPr sz="1500">
                <a:solidFill>
                  <a:srgbClr val="F3F4F6"/>
                </a:solidFill>
              </a:defRPr>
            </a:pPr>
            <a:r>
              <a:t>Medical imaging analysis</a:t>
            </a:r>
          </a:p>
        </p:txBody>
      </p:sp>
      <p:sp>
        <p:nvSpPr>
          <p:cNvPr id="7" name="Oval 6"/>
          <p:cNvSpPr/>
          <p:nvPr/>
        </p:nvSpPr>
        <p:spPr>
          <a:xfrm>
            <a:off x="457200" y="441655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361688"/>
            <a:ext cx="3858768" cy="658368"/>
          </a:xfrm>
          <a:prstGeom prst="rect">
            <a:avLst/>
          </a:prstGeom>
          <a:noFill/>
        </p:spPr>
        <p:txBody>
          <a:bodyPr wrap="square">
            <a:spAutoFit/>
          </a:bodyPr>
          <a:lstStyle/>
          <a:p>
            <a:pPr>
              <a:lnSpc>
                <a:spcPct val="130000"/>
              </a:lnSpc>
              <a:defRPr sz="1500">
                <a:solidFill>
                  <a:srgbClr val="F3F4F6"/>
                </a:solidFill>
              </a:defRPr>
            </a:pPr>
            <a:r>
              <a:t>Disease diagnosis and treatment planning</a:t>
            </a:r>
          </a:p>
        </p:txBody>
      </p:sp>
      <p:sp>
        <p:nvSpPr>
          <p:cNvPr id="9" name="Oval 8"/>
          <p:cNvSpPr/>
          <p:nvPr/>
        </p:nvSpPr>
        <p:spPr>
          <a:xfrm>
            <a:off x="457200" y="514807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093207"/>
            <a:ext cx="3858768" cy="658368"/>
          </a:xfrm>
          <a:prstGeom prst="rect">
            <a:avLst/>
          </a:prstGeom>
          <a:noFill/>
        </p:spPr>
        <p:txBody>
          <a:bodyPr wrap="square">
            <a:spAutoFit/>
          </a:bodyPr>
          <a:lstStyle/>
          <a:p>
            <a:pPr>
              <a:lnSpc>
                <a:spcPct val="130000"/>
              </a:lnSpc>
              <a:defRPr sz="1500">
                <a:solidFill>
                  <a:srgbClr val="F3F4F6"/>
                </a:solidFill>
              </a:defRPr>
            </a:pPr>
            <a:r>
              <a:t>Patient monitoring and tracking</a:t>
            </a:r>
          </a:p>
        </p:txBody>
      </p:sp>
      <p:sp>
        <p:nvSpPr>
          <p:cNvPr id="11" name="Oval 10"/>
          <p:cNvSpPr/>
          <p:nvPr/>
        </p:nvSpPr>
        <p:spPr>
          <a:xfrm>
            <a:off x="457200" y="587959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824727"/>
            <a:ext cx="3858768" cy="658368"/>
          </a:xfrm>
          <a:prstGeom prst="rect">
            <a:avLst/>
          </a:prstGeom>
          <a:noFill/>
        </p:spPr>
        <p:txBody>
          <a:bodyPr wrap="square">
            <a:spAutoFit/>
          </a:bodyPr>
          <a:lstStyle/>
          <a:p>
            <a:pPr>
              <a:lnSpc>
                <a:spcPct val="130000"/>
              </a:lnSpc>
              <a:defRPr sz="1500">
                <a:solidFill>
                  <a:srgbClr val="F3F4F6"/>
                </a:solidFill>
              </a:defRPr>
            </a:pPr>
            <a:r>
              <a:t>Chatbot-based patient engagement</a:t>
            </a:r>
          </a:p>
        </p:txBody>
      </p:sp>
      <p:pic>
        <p:nvPicPr>
          <p:cNvPr id="13" name="Picture 12" descr="unsplash_L8tWZT4CcVQ.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Unlocking AI in Healthcare: Revolutionizing Patient Care</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FFFFFF"/>
                </a:solidFill>
              </a:defRPr>
            </a:pPr>
            <a:r>
              <a:t>Benefits of AI in Healthcare</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F3F4F6"/>
                </a:solidFill>
              </a:defRPr>
            </a:pPr>
            <a:r>
              <a:t>The integration of AI in healthcare offers numerous benefits, including improved patient outcomes, reduced costs, and enhanced clinician satisfaction. AI-powered systems can also identify potential biases in clinical decision-making, leading to more equitable care.</a:t>
            </a:r>
          </a:p>
        </p:txBody>
      </p:sp>
      <p:sp>
        <p:nvSpPr>
          <p:cNvPr id="5" name="Oval 4"/>
          <p:cNvSpPr/>
          <p:nvPr/>
        </p:nvSpPr>
        <p:spPr>
          <a:xfrm>
            <a:off x="502920" y="269747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F3F4F6"/>
                </a:solidFill>
              </a:defRPr>
            </a:pPr>
            <a:r>
              <a:t>Improved patient outcomes</a:t>
            </a:r>
          </a:p>
        </p:txBody>
      </p:sp>
      <p:sp>
        <p:nvSpPr>
          <p:cNvPr id="7" name="Oval 6"/>
          <p:cNvSpPr/>
          <p:nvPr/>
        </p:nvSpPr>
        <p:spPr>
          <a:xfrm>
            <a:off x="502920" y="3447287"/>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F3F4F6"/>
                </a:solidFill>
              </a:defRPr>
            </a:pPr>
            <a:r>
              <a:t>Reduced healthcare costs</a:t>
            </a:r>
          </a:p>
        </p:txBody>
      </p:sp>
      <p:sp>
        <p:nvSpPr>
          <p:cNvPr id="9" name="Oval 8"/>
          <p:cNvSpPr/>
          <p:nvPr/>
        </p:nvSpPr>
        <p:spPr>
          <a:xfrm>
            <a:off x="502920" y="4197096"/>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F3F4F6"/>
                </a:solidFill>
              </a:defRPr>
            </a:pPr>
            <a:r>
              <a:t>Enhanced clinician satisfaction</a:t>
            </a:r>
          </a:p>
        </p:txBody>
      </p:sp>
      <p:sp>
        <p:nvSpPr>
          <p:cNvPr id="11" name="Oval 10"/>
          <p:cNvSpPr/>
          <p:nvPr/>
        </p:nvSpPr>
        <p:spPr>
          <a:xfrm>
            <a:off x="502920" y="4946904"/>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F3F4F6"/>
                </a:solidFill>
              </a:defRPr>
            </a:pPr>
            <a:r>
              <a:t>Biases reduction in clinical decision-making</a:t>
            </a:r>
          </a:p>
        </p:txBody>
      </p:sp>
      <p:sp>
        <p:nvSpPr>
          <p:cNvPr id="13" name="Rectangle 12"/>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Unlocking AI in Healthcare: Revolutionizing Patient Care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11827"/>
                </a:solidFill>
              </a:defRPr>
            </a:pPr>
            <a:r>
              <a:t>Challenges and Limitations of AI in Healthcare</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F3F4F6"/>
                </a:solidFill>
              </a:defRPr>
            </a:pPr>
            <a:r>
              <a:t>While AI has the potential to revolutionize healthcare, it also presents several challenges and limitations. These include data quality and integrity issues, regulatory hurdles, and concerns about job displacement and bias.</a:t>
            </a:r>
          </a:p>
        </p:txBody>
      </p:sp>
      <p:sp>
        <p:nvSpPr>
          <p:cNvPr id="5" name="Oval 4"/>
          <p:cNvSpPr/>
          <p:nvPr/>
        </p:nvSpPr>
        <p:spPr>
          <a:xfrm>
            <a:off x="457200" y="3392424"/>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F3F4F6"/>
                </a:solidFill>
              </a:defRPr>
            </a:pPr>
            <a:r>
              <a:t>Data quality and integrity issues</a:t>
            </a:r>
          </a:p>
        </p:txBody>
      </p:sp>
      <p:sp>
        <p:nvSpPr>
          <p:cNvPr id="7" name="Oval 6"/>
          <p:cNvSpPr/>
          <p:nvPr/>
        </p:nvSpPr>
        <p:spPr>
          <a:xfrm>
            <a:off x="457200" y="4123944"/>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F3F4F6"/>
                </a:solidFill>
              </a:defRPr>
            </a:pPr>
            <a:r>
              <a:t>Regulatory hurdles</a:t>
            </a:r>
          </a:p>
        </p:txBody>
      </p:sp>
      <p:sp>
        <p:nvSpPr>
          <p:cNvPr id="9" name="Oval 8"/>
          <p:cNvSpPr/>
          <p:nvPr/>
        </p:nvSpPr>
        <p:spPr>
          <a:xfrm>
            <a:off x="457200" y="4855464"/>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F3F4F6"/>
                </a:solidFill>
              </a:defRPr>
            </a:pPr>
            <a:r>
              <a:t>Job displacement concerns</a:t>
            </a:r>
          </a:p>
        </p:txBody>
      </p:sp>
      <p:sp>
        <p:nvSpPr>
          <p:cNvPr id="11" name="Oval 10"/>
          <p:cNvSpPr/>
          <p:nvPr/>
        </p:nvSpPr>
        <p:spPr>
          <a:xfrm>
            <a:off x="457200" y="5586983"/>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F3F4F6"/>
                </a:solidFill>
              </a:defRPr>
            </a:pPr>
            <a:r>
              <a:t>Bias in AI systems</a:t>
            </a:r>
          </a:p>
        </p:txBody>
      </p:sp>
      <p:pic>
        <p:nvPicPr>
          <p:cNvPr id="13" name="Picture 12" descr="unsplash_bu5LEzvtAKY.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Unlocking AI in Healthcare: Revolutionizing Patient Care</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11827"/>
                </a:solidFill>
              </a:defRPr>
            </a:pPr>
            <a:r>
              <a:t>Future Directions of AI in Healthcare</a:t>
            </a:r>
          </a:p>
        </p:txBody>
      </p:sp>
      <p:sp>
        <p:nvSpPr>
          <p:cNvPr id="4" name="Rectangle 3"/>
          <p:cNvSpPr/>
          <p:nvPr/>
        </p:nvSpPr>
        <p:spPr>
          <a:xfrm>
            <a:off x="3200400" y="1188720"/>
            <a:ext cx="18288" cy="3840480"/>
          </a:xfrm>
          <a:prstGeom prst="rect">
            <a:avLst/>
          </a:prstGeom>
          <a:solidFill>
            <a:srgbClr val="4B5563"/>
          </a:solidFill>
          <a:ln>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4B5563"/>
          </a:solidFill>
          <a:ln>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22C55E"/>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F3F4F6"/>
                </a:solidFill>
              </a:defRPr>
            </a:pPr>
            <a:r>
              <a:t>• AI-powered virtual assistants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22C55E"/>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F3F4F6"/>
                </a:solidFill>
              </a:defRPr>
            </a:pPr>
            <a:r>
              <a:t>• Personalized medicine and precision health</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22C55E"/>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F3F4F6"/>
                </a:solidFill>
              </a:defRPr>
            </a:pPr>
            <a:r>
              <a:t>• Robotic-assisted surgery expansion</a:t>
            </a:r>
          </a:p>
          <a:p>
            <a:pPr>
              <a:lnSpc>
                <a:spcPct val="120000"/>
              </a:lnSpc>
              <a:spcBef>
                <a:spcPts val="600"/>
              </a:spcBef>
              <a:spcAft>
                <a:spcPts val="600"/>
              </a:spcAft>
              <a:defRPr sz="1200">
                <a:solidFill>
                  <a:srgbClr val="F3F4F6"/>
                </a:solidFill>
              </a:defRPr>
            </a:pPr>
            <a:r>
              <a:t>• Patient engagement enhancement</a:t>
            </a:r>
          </a:p>
          <a:p>
            <a:pPr>
              <a:lnSpc>
                <a:spcPct val="120000"/>
              </a:lnSpc>
              <a:spcBef>
                <a:spcPts val="600"/>
              </a:spcBef>
              <a:spcAft>
                <a:spcPts val="600"/>
              </a:spcAft>
              <a:defRPr sz="1200">
                <a:solidFill>
                  <a:srgbClr val="F3F4F6"/>
                </a:solidFill>
              </a:defRPr>
            </a:pPr>
            <a:r>
              <a:t>• Healthcare system optimization</a:t>
            </a:r>
          </a:p>
        </p:txBody>
      </p:sp>
      <p:sp>
        <p:nvSpPr>
          <p:cNvPr id="12" name="Rectangle 11"/>
          <p:cNvSpPr/>
          <p:nvPr/>
        </p:nvSpPr>
        <p:spPr>
          <a:xfrm>
            <a:off x="457200" y="5120640"/>
            <a:ext cx="8229600" cy="18288"/>
          </a:xfrm>
          <a:prstGeom prst="rect">
            <a:avLst/>
          </a:prstGeom>
          <a:solidFill>
            <a:srgbClr val="4B5563"/>
          </a:solidFill>
          <a:ln>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D1D5DB"/>
                </a:solidFill>
              </a:defRPr>
            </a:pPr>
            <a:r>
              <a:t>Thank you for your attention | 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11827"/>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11827"/>
                </a:solidFill>
              </a:defRPr>
            </a:pPr>
            <a:r>
              <a:t>Introduction to AI in Healthcare</a:t>
            </a:r>
          </a:p>
        </p:txBody>
      </p:sp>
      <p:sp>
        <p:nvSpPr>
          <p:cNvPr id="906" name="Rectangle 905"/>
          <p:cNvSpPr/>
          <p:nvPr/>
        </p:nvSpPr>
        <p:spPr>
          <a:xfrm>
            <a:off x="667512" y="17007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Improved diagnostic accuracy</a:t>
            </a:r>
          </a:p>
          <a:p>
            <a:pPr>
              <a:lnSpc>
                <a:spcPct val="120000"/>
              </a:lnSpc>
              <a:spcBef>
                <a:spcPts val="300"/>
              </a:spcBef>
              <a:spcAft>
                <a:spcPts val="300"/>
              </a:spcAft>
              <a:defRPr sz="1100">
                <a:solidFill>
                  <a:srgbClr val="D1D5DB"/>
                </a:solidFill>
              </a:defRPr>
            </a:pPr>
            <a:r>
              <a:t>• Enhanced patient engagement</a:t>
            </a:r>
          </a:p>
          <a:p>
            <a:pPr>
              <a:lnSpc>
                <a:spcPct val="120000"/>
              </a:lnSpc>
              <a:spcBef>
                <a:spcPts val="300"/>
              </a:spcBef>
              <a:spcAft>
                <a:spcPts val="300"/>
              </a:spcAft>
              <a:defRPr sz="1100">
                <a:solidFill>
                  <a:srgbClr val="D1D5DB"/>
                </a:solidFill>
              </a:defRPr>
            </a:pPr>
            <a:r>
              <a:t>• Streamlined clinical decision-making</a:t>
            </a:r>
          </a:p>
        </p:txBody>
      </p:sp>
      <p:sp>
        <p:nvSpPr>
          <p:cNvPr id="908" name="Rectangle 907"/>
          <p:cNvSpPr/>
          <p:nvPr/>
        </p:nvSpPr>
        <p:spPr>
          <a:xfrm>
            <a:off x="3072384" y="25237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11827"/>
                </a:solidFill>
              </a:defRPr>
            </a:pPr>
            <a:r>
              <a:t>Applications of AI in Healthcare</a:t>
            </a:r>
          </a:p>
        </p:txBody>
      </p:sp>
      <p:sp>
        <p:nvSpPr>
          <p:cNvPr id="913" name="Rectangle 912"/>
          <p:cNvSpPr/>
          <p:nvPr/>
        </p:nvSpPr>
        <p:spPr>
          <a:xfrm>
            <a:off x="3182112" y="30723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Medical imaging analysis</a:t>
            </a:r>
          </a:p>
          <a:p>
            <a:pPr>
              <a:lnSpc>
                <a:spcPct val="120000"/>
              </a:lnSpc>
              <a:spcBef>
                <a:spcPts val="300"/>
              </a:spcBef>
              <a:spcAft>
                <a:spcPts val="300"/>
              </a:spcAft>
              <a:defRPr sz="1100">
                <a:solidFill>
                  <a:srgbClr val="D1D5DB"/>
                </a:solidFill>
              </a:defRPr>
            </a:pPr>
            <a:r>
              <a:t>• Disease diagnosis and treatment planning</a:t>
            </a:r>
          </a:p>
          <a:p>
            <a:pPr>
              <a:lnSpc>
                <a:spcPct val="120000"/>
              </a:lnSpc>
              <a:spcBef>
                <a:spcPts val="300"/>
              </a:spcBef>
              <a:spcAft>
                <a:spcPts val="300"/>
              </a:spcAft>
              <a:defRPr sz="1100">
                <a:solidFill>
                  <a:srgbClr val="D1D5DB"/>
                </a:solidFill>
              </a:defRPr>
            </a:pPr>
            <a:r>
              <a:t>• Patient monitoring and tracking</a:t>
            </a:r>
          </a:p>
        </p:txBody>
      </p:sp>
      <p:sp>
        <p:nvSpPr>
          <p:cNvPr id="915" name="Rectangle 914"/>
          <p:cNvSpPr/>
          <p:nvPr/>
        </p:nvSpPr>
        <p:spPr>
          <a:xfrm>
            <a:off x="5586983" y="38953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11827"/>
                </a:solidFill>
              </a:defRPr>
            </a:pPr>
            <a:r>
              <a:t>Benefits of AI in Healthcare</a:t>
            </a:r>
          </a:p>
        </p:txBody>
      </p:sp>
      <p:sp>
        <p:nvSpPr>
          <p:cNvPr id="920" name="Rectangle 919"/>
          <p:cNvSpPr/>
          <p:nvPr/>
        </p:nvSpPr>
        <p:spPr>
          <a:xfrm>
            <a:off x="5696712" y="44439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Improved patient outcomes</a:t>
            </a:r>
          </a:p>
          <a:p>
            <a:pPr>
              <a:lnSpc>
                <a:spcPct val="120000"/>
              </a:lnSpc>
              <a:spcBef>
                <a:spcPts val="300"/>
              </a:spcBef>
              <a:spcAft>
                <a:spcPts val="300"/>
              </a:spcAft>
              <a:defRPr sz="1100">
                <a:solidFill>
                  <a:srgbClr val="D1D5DB"/>
                </a:solidFill>
              </a:defRPr>
            </a:pPr>
            <a:r>
              <a:t>• Reduced healthcare costs</a:t>
            </a:r>
          </a:p>
          <a:p>
            <a:pPr>
              <a:lnSpc>
                <a:spcPct val="120000"/>
              </a:lnSpc>
              <a:spcBef>
                <a:spcPts val="300"/>
              </a:spcBef>
              <a:spcAft>
                <a:spcPts val="300"/>
              </a:spcAft>
              <a:defRPr sz="1100">
                <a:solidFill>
                  <a:srgbClr val="D1D5DB"/>
                </a:solidFill>
              </a:defRPr>
            </a:pPr>
            <a:r>
              <a:t>• Enhanced clinician satisfaction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11827"/>
                </a:solidFill>
              </a:defRPr>
            </a:pPr>
            <a:r>
              <a:t>Introduction to AI in Healthcare</a:t>
            </a:r>
          </a:p>
        </p:txBody>
      </p:sp>
      <p:sp>
        <p:nvSpPr>
          <p:cNvPr id="8" name="Rectangle 7"/>
          <p:cNvSpPr/>
          <p:nvPr/>
        </p:nvSpPr>
        <p:spPr>
          <a:xfrm>
            <a:off x="960120" y="1984248"/>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11827"/>
                </a:solidFill>
              </a:defRPr>
            </a:pPr>
            <a:r>
              <a:t>Applications of AI in Healthcare</a:t>
            </a:r>
          </a:p>
        </p:txBody>
      </p:sp>
      <p:sp>
        <p:nvSpPr>
          <p:cNvPr id="12" name="Rectangle 11"/>
          <p:cNvSpPr/>
          <p:nvPr/>
        </p:nvSpPr>
        <p:spPr>
          <a:xfrm>
            <a:off x="960120" y="2871215"/>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11827"/>
                </a:solidFill>
              </a:defRPr>
            </a:pPr>
            <a:r>
              <a:t>Benefits of AI in Healthcare</a:t>
            </a:r>
          </a:p>
        </p:txBody>
      </p:sp>
      <p:sp>
        <p:nvSpPr>
          <p:cNvPr id="16" name="Rectangle 15"/>
          <p:cNvSpPr/>
          <p:nvPr/>
        </p:nvSpPr>
        <p:spPr>
          <a:xfrm>
            <a:off x="960120" y="3758184"/>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11827"/>
                </a:solidFill>
              </a:defRPr>
            </a:pPr>
            <a:r>
              <a:t>Challenges and Limitations of AI in Healthcare</a:t>
            </a:r>
          </a:p>
        </p:txBody>
      </p:sp>
      <p:sp>
        <p:nvSpPr>
          <p:cNvPr id="20" name="Rectangle 19"/>
          <p:cNvSpPr/>
          <p:nvPr/>
        </p:nvSpPr>
        <p:spPr>
          <a:xfrm>
            <a:off x="960120" y="4645151"/>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11827"/>
                </a:solidFill>
              </a:defRPr>
            </a:pPr>
            <a:r>
              <a:t>Future Directions of AI in Healthcare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