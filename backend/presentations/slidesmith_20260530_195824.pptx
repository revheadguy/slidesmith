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Revenue and Finance of Microsoft</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19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141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Overview of Revenue</a:t>
            </a:r>
          </a:p>
        </p:txBody>
      </p:sp>
      <p:sp>
        <p:nvSpPr>
          <p:cNvPr id="6" name="TextBox 5"/>
          <p:cNvSpPr txBox="1"/>
          <p:nvPr/>
        </p:nvSpPr>
        <p:spPr>
          <a:xfrm>
            <a:off x="731520" y="1417320"/>
            <a:ext cx="7680960" cy="960119"/>
          </a:xfrm>
          <a:prstGeom prst="rect">
            <a:avLst/>
          </a:prstGeom>
          <a:noFill/>
        </p:spPr>
        <p:txBody>
          <a:bodyPr wrap="square">
            <a:spAutoFit/>
          </a:bodyPr>
          <a:lstStyle/>
          <a:p>
            <a:pPr>
              <a:lnSpc>
                <a:spcPct val="130000"/>
              </a:lnSpc>
              <a:defRPr sz="1600">
                <a:solidFill>
                  <a:srgbClr val="F3F4F6"/>
                </a:solidFill>
              </a:defRPr>
            </a:pPr>
            <a:r>
              <a:t>Microsoft is a multinational technology company with a diverse range of products and services. The company's revenue comes from various sources including its flagship product, Windows operating system, as well as its productivity software, Office.</a:t>
            </a:r>
          </a:p>
        </p:txBody>
      </p:sp>
      <p:sp>
        <p:nvSpPr>
          <p:cNvPr id="7" name="Oval 6"/>
          <p:cNvSpPr/>
          <p:nvPr/>
        </p:nvSpPr>
        <p:spPr>
          <a:xfrm>
            <a:off x="502920" y="269747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651760"/>
            <a:ext cx="7589520" cy="868680"/>
          </a:xfrm>
          <a:prstGeom prst="rect">
            <a:avLst/>
          </a:prstGeom>
          <a:noFill/>
        </p:spPr>
        <p:txBody>
          <a:bodyPr wrap="square">
            <a:spAutoFit/>
          </a:bodyPr>
          <a:lstStyle/>
          <a:p>
            <a:pPr>
              <a:lnSpc>
                <a:spcPct val="130000"/>
              </a:lnSpc>
              <a:defRPr sz="1600">
                <a:solidFill>
                  <a:srgbClr val="F3F4F6"/>
                </a:solidFill>
              </a:defRPr>
            </a:pPr>
            <a:r>
              <a:t>Software sales</a:t>
            </a:r>
          </a:p>
        </p:txBody>
      </p:sp>
      <p:sp>
        <p:nvSpPr>
          <p:cNvPr id="9" name="Oval 8"/>
          <p:cNvSpPr/>
          <p:nvPr/>
        </p:nvSpPr>
        <p:spPr>
          <a:xfrm>
            <a:off x="502920" y="3447287"/>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01568"/>
            <a:ext cx="7589520" cy="868680"/>
          </a:xfrm>
          <a:prstGeom prst="rect">
            <a:avLst/>
          </a:prstGeom>
          <a:noFill/>
        </p:spPr>
        <p:txBody>
          <a:bodyPr wrap="square">
            <a:spAutoFit/>
          </a:bodyPr>
          <a:lstStyle/>
          <a:p>
            <a:pPr>
              <a:lnSpc>
                <a:spcPct val="130000"/>
              </a:lnSpc>
              <a:defRPr sz="1600">
                <a:solidFill>
                  <a:srgbClr val="F3F4F6"/>
                </a:solidFill>
              </a:defRPr>
            </a:pPr>
            <a:r>
              <a:t>Advertising revenue</a:t>
            </a:r>
          </a:p>
        </p:txBody>
      </p:sp>
      <p:sp>
        <p:nvSpPr>
          <p:cNvPr id="11" name="Oval 10"/>
          <p:cNvSpPr/>
          <p:nvPr/>
        </p:nvSpPr>
        <p:spPr>
          <a:xfrm>
            <a:off x="502920" y="4197096"/>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51376"/>
            <a:ext cx="7589520" cy="868680"/>
          </a:xfrm>
          <a:prstGeom prst="rect">
            <a:avLst/>
          </a:prstGeom>
          <a:noFill/>
        </p:spPr>
        <p:txBody>
          <a:bodyPr wrap="square">
            <a:spAutoFit/>
          </a:bodyPr>
          <a:lstStyle/>
          <a:p>
            <a:pPr>
              <a:lnSpc>
                <a:spcPct val="130000"/>
              </a:lnSpc>
              <a:defRPr sz="1600">
                <a:solidFill>
                  <a:srgbClr val="F3F4F6"/>
                </a:solidFill>
              </a:defRPr>
            </a:pPr>
            <a:r>
              <a:t>Cloud services</a:t>
            </a:r>
          </a:p>
        </p:txBody>
      </p:sp>
      <p:sp>
        <p:nvSpPr>
          <p:cNvPr id="13" name="Oval 12"/>
          <p:cNvSpPr/>
          <p:nvPr/>
        </p:nvSpPr>
        <p:spPr>
          <a:xfrm>
            <a:off x="502920" y="4946904"/>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901184"/>
            <a:ext cx="7589520" cy="868680"/>
          </a:xfrm>
          <a:prstGeom prst="rect">
            <a:avLst/>
          </a:prstGeom>
          <a:noFill/>
        </p:spPr>
        <p:txBody>
          <a:bodyPr wrap="square">
            <a:spAutoFit/>
          </a:bodyPr>
          <a:lstStyle/>
          <a:p>
            <a:pPr>
              <a:lnSpc>
                <a:spcPct val="130000"/>
              </a:lnSpc>
              <a:defRPr sz="1600">
                <a:solidFill>
                  <a:srgbClr val="F3F4F6"/>
                </a:solidFill>
              </a:defRPr>
            </a:pPr>
            <a:r>
              <a:t>Gaming revenue</a:t>
            </a:r>
          </a:p>
        </p:txBody>
      </p:sp>
      <p:sp>
        <p:nvSpPr>
          <p:cNvPr id="15" name="Rectangle 14"/>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Revenue and Finance of Microsoft</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19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141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8229600" cy="640080"/>
          </a:xfrm>
          <a:prstGeom prst="rect">
            <a:avLst/>
          </a:prstGeom>
          <a:noFill/>
        </p:spPr>
        <p:txBody>
          <a:bodyPr wrap="square">
            <a:spAutoFit/>
          </a:bodyPr>
          <a:lstStyle/>
          <a:p>
            <a:pPr>
              <a:defRPr sz="2800" b="1">
                <a:solidFill>
                  <a:srgbClr val="111827"/>
                </a:solidFill>
              </a:defRPr>
            </a:pPr>
            <a:r>
              <a:t>Revenue Streams</a:t>
            </a:r>
          </a:p>
        </p:txBody>
      </p:sp>
      <p:sp>
        <p:nvSpPr>
          <p:cNvPr id="6" name="TextBox 5"/>
          <p:cNvSpPr txBox="1"/>
          <p:nvPr/>
        </p:nvSpPr>
        <p:spPr>
          <a:xfrm>
            <a:off x="457200" y="1417320"/>
            <a:ext cx="4114800" cy="1307592"/>
          </a:xfrm>
          <a:prstGeom prst="rect">
            <a:avLst/>
          </a:prstGeom>
          <a:noFill/>
        </p:spPr>
        <p:txBody>
          <a:bodyPr wrap="square">
            <a:spAutoFit/>
          </a:bodyPr>
          <a:lstStyle/>
          <a:p>
            <a:pPr>
              <a:lnSpc>
                <a:spcPct val="130000"/>
              </a:lnSpc>
              <a:defRPr sz="1400">
                <a:solidFill>
                  <a:srgbClr val="F3F4F6"/>
                </a:solidFill>
              </a:defRPr>
            </a:pPr>
            <a:r>
              <a:t>Microsoft's revenue streams are diverse and come from a variety of sources. The company generates the majority of its revenue from the sales of its software products and cloud services.</a:t>
            </a:r>
          </a:p>
        </p:txBody>
      </p:sp>
      <p:sp>
        <p:nvSpPr>
          <p:cNvPr id="7" name="Oval 6"/>
          <p:cNvSpPr/>
          <p:nvPr/>
        </p:nvSpPr>
        <p:spPr>
          <a:xfrm>
            <a:off x="457200" y="3099816"/>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044952"/>
            <a:ext cx="3858768" cy="658368"/>
          </a:xfrm>
          <a:prstGeom prst="rect">
            <a:avLst/>
          </a:prstGeom>
          <a:noFill/>
        </p:spPr>
        <p:txBody>
          <a:bodyPr wrap="square">
            <a:spAutoFit/>
          </a:bodyPr>
          <a:lstStyle/>
          <a:p>
            <a:pPr>
              <a:lnSpc>
                <a:spcPct val="130000"/>
              </a:lnSpc>
              <a:defRPr sz="1500">
                <a:solidFill>
                  <a:srgbClr val="F3F4F6"/>
                </a:solidFill>
              </a:defRPr>
            </a:pPr>
            <a:r>
              <a:t>Software licenses</a:t>
            </a:r>
          </a:p>
        </p:txBody>
      </p:sp>
      <p:sp>
        <p:nvSpPr>
          <p:cNvPr id="9" name="Oval 8"/>
          <p:cNvSpPr/>
          <p:nvPr/>
        </p:nvSpPr>
        <p:spPr>
          <a:xfrm>
            <a:off x="457200" y="3831335"/>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3776472"/>
            <a:ext cx="3858768" cy="658368"/>
          </a:xfrm>
          <a:prstGeom prst="rect">
            <a:avLst/>
          </a:prstGeom>
          <a:noFill/>
        </p:spPr>
        <p:txBody>
          <a:bodyPr wrap="square">
            <a:spAutoFit/>
          </a:bodyPr>
          <a:lstStyle/>
          <a:p>
            <a:pPr>
              <a:lnSpc>
                <a:spcPct val="130000"/>
              </a:lnSpc>
              <a:defRPr sz="1500">
                <a:solidFill>
                  <a:srgbClr val="F3F4F6"/>
                </a:solidFill>
              </a:defRPr>
            </a:pPr>
            <a:r>
              <a:t>Cloud computing</a:t>
            </a:r>
          </a:p>
        </p:txBody>
      </p:sp>
      <p:sp>
        <p:nvSpPr>
          <p:cNvPr id="11" name="Oval 10"/>
          <p:cNvSpPr/>
          <p:nvPr/>
        </p:nvSpPr>
        <p:spPr>
          <a:xfrm>
            <a:off x="457200" y="4562855"/>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4507992"/>
            <a:ext cx="3858768" cy="658368"/>
          </a:xfrm>
          <a:prstGeom prst="rect">
            <a:avLst/>
          </a:prstGeom>
          <a:noFill/>
        </p:spPr>
        <p:txBody>
          <a:bodyPr wrap="square">
            <a:spAutoFit/>
          </a:bodyPr>
          <a:lstStyle/>
          <a:p>
            <a:pPr>
              <a:lnSpc>
                <a:spcPct val="130000"/>
              </a:lnSpc>
              <a:defRPr sz="1500">
                <a:solidFill>
                  <a:srgbClr val="F3F4F6"/>
                </a:solidFill>
              </a:defRPr>
            </a:pPr>
            <a:r>
              <a:t>Gaming consoles</a:t>
            </a:r>
          </a:p>
        </p:txBody>
      </p:sp>
      <p:sp>
        <p:nvSpPr>
          <p:cNvPr id="13" name="Oval 12"/>
          <p:cNvSpPr/>
          <p:nvPr/>
        </p:nvSpPr>
        <p:spPr>
          <a:xfrm>
            <a:off x="457200" y="5294375"/>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5239512"/>
            <a:ext cx="3858768" cy="658368"/>
          </a:xfrm>
          <a:prstGeom prst="rect">
            <a:avLst/>
          </a:prstGeom>
          <a:noFill/>
        </p:spPr>
        <p:txBody>
          <a:bodyPr wrap="square">
            <a:spAutoFit/>
          </a:bodyPr>
          <a:lstStyle/>
          <a:p>
            <a:pPr>
              <a:lnSpc>
                <a:spcPct val="130000"/>
              </a:lnSpc>
              <a:defRPr sz="1500">
                <a:solidFill>
                  <a:srgbClr val="F3F4F6"/>
                </a:solidFill>
              </a:defRPr>
            </a:pPr>
            <a:r>
              <a:t>Advertising revenue</a:t>
            </a:r>
          </a:p>
        </p:txBody>
      </p:sp>
      <p:pic>
        <p:nvPicPr>
          <p:cNvPr id="15" name="Picture 14" descr="unsplash_Nph1oyRsHm4.jpg"/>
          <p:cNvPicPr>
            <a:picLocks noChangeAspect="1"/>
          </p:cNvPicPr>
          <p:nvPr/>
        </p:nvPicPr>
        <p:blipFill>
          <a:blip r:embed="rId2"/>
          <a:stretch>
            <a:fillRect/>
          </a:stretch>
        </p:blipFill>
        <p:spPr>
          <a:xfrm>
            <a:off x="4754880" y="1280160"/>
            <a:ext cx="3840480" cy="4937760"/>
          </a:xfrm>
          <a:prstGeom prst="rect">
            <a:avLst/>
          </a:prstGeom>
        </p:spPr>
      </p:pic>
      <p:sp>
        <p:nvSpPr>
          <p:cNvPr id="16" name="Rectangle 15"/>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Revenue and Finance of Microsoft</a:t>
            </a:r>
          </a:p>
        </p:txBody>
      </p:sp>
      <p:sp>
        <p:nvSpPr>
          <p:cNvPr id="18" name="TextBox 17"/>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19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141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Financial Performance</a:t>
            </a:r>
          </a:p>
        </p:txBody>
      </p:sp>
      <p:sp>
        <p:nvSpPr>
          <p:cNvPr id="6" name="TextBox 5"/>
          <p:cNvSpPr txBox="1"/>
          <p:nvPr/>
        </p:nvSpPr>
        <p:spPr>
          <a:xfrm>
            <a:off x="731520" y="1417320"/>
            <a:ext cx="7680960" cy="685800"/>
          </a:xfrm>
          <a:prstGeom prst="rect">
            <a:avLst/>
          </a:prstGeom>
          <a:noFill/>
        </p:spPr>
        <p:txBody>
          <a:bodyPr wrap="square">
            <a:spAutoFit/>
          </a:bodyPr>
          <a:lstStyle/>
          <a:p>
            <a:pPr>
              <a:lnSpc>
                <a:spcPct val="130000"/>
              </a:lnSpc>
              <a:defRPr sz="1600">
                <a:solidFill>
                  <a:srgbClr val="F3F4F6"/>
                </a:solidFill>
              </a:defRPr>
            </a:pPr>
            <a:r>
              <a:t>Microsoft has consistently demonstrated strong financial performance over the years. The company's revenue and profit have grown steadily due to its diverse range of products and services.</a:t>
            </a:r>
          </a:p>
        </p:txBody>
      </p:sp>
      <p:sp>
        <p:nvSpPr>
          <p:cNvPr id="7" name="Oval 6"/>
          <p:cNvSpPr/>
          <p:nvPr/>
        </p:nvSpPr>
        <p:spPr>
          <a:xfrm>
            <a:off x="502920" y="2423160"/>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77440"/>
            <a:ext cx="7589520" cy="868680"/>
          </a:xfrm>
          <a:prstGeom prst="rect">
            <a:avLst/>
          </a:prstGeom>
          <a:noFill/>
        </p:spPr>
        <p:txBody>
          <a:bodyPr wrap="square">
            <a:spAutoFit/>
          </a:bodyPr>
          <a:lstStyle/>
          <a:p>
            <a:pPr>
              <a:lnSpc>
                <a:spcPct val="130000"/>
              </a:lnSpc>
              <a:defRPr sz="1600">
                <a:solidFill>
                  <a:srgbClr val="F3F4F6"/>
                </a:solidFill>
              </a:defRPr>
            </a:pPr>
            <a:r>
              <a:t>Consistent growth</a:t>
            </a:r>
          </a:p>
        </p:txBody>
      </p:sp>
      <p:sp>
        <p:nvSpPr>
          <p:cNvPr id="9" name="Oval 8"/>
          <p:cNvSpPr/>
          <p:nvPr/>
        </p:nvSpPr>
        <p:spPr>
          <a:xfrm>
            <a:off x="502920" y="3172968"/>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127248"/>
            <a:ext cx="7589520" cy="868680"/>
          </a:xfrm>
          <a:prstGeom prst="rect">
            <a:avLst/>
          </a:prstGeom>
          <a:noFill/>
        </p:spPr>
        <p:txBody>
          <a:bodyPr wrap="square">
            <a:spAutoFit/>
          </a:bodyPr>
          <a:lstStyle/>
          <a:p>
            <a:pPr>
              <a:lnSpc>
                <a:spcPct val="130000"/>
              </a:lnSpc>
              <a:defRPr sz="1600">
                <a:solidFill>
                  <a:srgbClr val="F3F4F6"/>
                </a:solidFill>
              </a:defRPr>
            </a:pPr>
            <a:r>
              <a:t>Diversified revenue streams</a:t>
            </a:r>
          </a:p>
        </p:txBody>
      </p:sp>
      <p:sp>
        <p:nvSpPr>
          <p:cNvPr id="11" name="Oval 10"/>
          <p:cNvSpPr/>
          <p:nvPr/>
        </p:nvSpPr>
        <p:spPr>
          <a:xfrm>
            <a:off x="502920" y="3922776"/>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877056"/>
            <a:ext cx="7589520" cy="868680"/>
          </a:xfrm>
          <a:prstGeom prst="rect">
            <a:avLst/>
          </a:prstGeom>
          <a:noFill/>
        </p:spPr>
        <p:txBody>
          <a:bodyPr wrap="square">
            <a:spAutoFit/>
          </a:bodyPr>
          <a:lstStyle/>
          <a:p>
            <a:pPr>
              <a:lnSpc>
                <a:spcPct val="130000"/>
              </a:lnSpc>
              <a:defRPr sz="1600">
                <a:solidFill>
                  <a:srgbClr val="F3F4F6"/>
                </a:solidFill>
              </a:defRPr>
            </a:pPr>
            <a:r>
              <a:t>Strong financial performance</a:t>
            </a:r>
          </a:p>
        </p:txBody>
      </p:sp>
      <p:sp>
        <p:nvSpPr>
          <p:cNvPr id="13" name="Oval 12"/>
          <p:cNvSpPr/>
          <p:nvPr/>
        </p:nvSpPr>
        <p:spPr>
          <a:xfrm>
            <a:off x="502920" y="4672584"/>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626864"/>
            <a:ext cx="7589520" cy="868680"/>
          </a:xfrm>
          <a:prstGeom prst="rect">
            <a:avLst/>
          </a:prstGeom>
          <a:noFill/>
        </p:spPr>
        <p:txBody>
          <a:bodyPr wrap="square">
            <a:spAutoFit/>
          </a:bodyPr>
          <a:lstStyle/>
          <a:p>
            <a:pPr>
              <a:lnSpc>
                <a:spcPct val="130000"/>
              </a:lnSpc>
              <a:defRPr sz="1600">
                <a:solidFill>
                  <a:srgbClr val="F3F4F6"/>
                </a:solidFill>
              </a:defRPr>
            </a:pPr>
            <a:r>
              <a:t>Investments in AI</a:t>
            </a:r>
          </a:p>
        </p:txBody>
      </p:sp>
      <p:sp>
        <p:nvSpPr>
          <p:cNvPr id="15" name="Rectangle 14"/>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Revenue and Finance of Microsoft</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11827"/>
                </a:solidFill>
              </a:defRPr>
            </a:pPr>
            <a:r>
              <a:t>Revenue by Segment</a:t>
            </a:r>
          </a:p>
        </p:txBody>
      </p:sp>
      <p:sp>
        <p:nvSpPr>
          <p:cNvPr id="4" name="TextBox 3"/>
          <p:cNvSpPr txBox="1"/>
          <p:nvPr/>
        </p:nvSpPr>
        <p:spPr>
          <a:xfrm>
            <a:off x="731520" y="1417320"/>
            <a:ext cx="7680960" cy="914399"/>
          </a:xfrm>
          <a:prstGeom prst="rect">
            <a:avLst/>
          </a:prstGeom>
          <a:noFill/>
        </p:spPr>
        <p:txBody>
          <a:bodyPr wrap="square">
            <a:spAutoFit/>
          </a:bodyPr>
          <a:lstStyle/>
          <a:p>
            <a:pPr>
              <a:lnSpc>
                <a:spcPct val="130000"/>
              </a:lnSpc>
              <a:defRPr sz="1400">
                <a:solidFill>
                  <a:srgbClr val="D1D5DB"/>
                </a:solidFill>
              </a:defRPr>
            </a:pPr>
            <a:r>
              <a:t>Microsoft's revenue is divided into several segments including productivity and business processes, gaming, and personal computing. The company's productivity and business process segment includes its Office software as well as its cloud-based productivity tools such as Microsoft 365.</a:t>
            </a:r>
          </a:p>
        </p:txBody>
      </p:sp>
      <p:sp>
        <p:nvSpPr>
          <p:cNvPr id="5" name="Oval 4"/>
          <p:cNvSpPr/>
          <p:nvPr/>
        </p:nvSpPr>
        <p:spPr>
          <a:xfrm>
            <a:off x="502920" y="260603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60320"/>
            <a:ext cx="7589520" cy="868680"/>
          </a:xfrm>
          <a:prstGeom prst="rect">
            <a:avLst/>
          </a:prstGeom>
          <a:noFill/>
        </p:spPr>
        <p:txBody>
          <a:bodyPr wrap="square">
            <a:spAutoFit/>
          </a:bodyPr>
          <a:lstStyle/>
          <a:p>
            <a:pPr>
              <a:lnSpc>
                <a:spcPct val="130000"/>
              </a:lnSpc>
              <a:defRPr sz="1600">
                <a:solidFill>
                  <a:srgbClr val="F3F4F6"/>
                </a:solidFill>
              </a:defRPr>
            </a:pPr>
            <a:r>
              <a:t>Productivity and business processes</a:t>
            </a:r>
          </a:p>
        </p:txBody>
      </p:sp>
      <p:sp>
        <p:nvSpPr>
          <p:cNvPr id="7" name="Oval 6"/>
          <p:cNvSpPr/>
          <p:nvPr/>
        </p:nvSpPr>
        <p:spPr>
          <a:xfrm>
            <a:off x="502920" y="333755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91839"/>
            <a:ext cx="7589520" cy="868680"/>
          </a:xfrm>
          <a:prstGeom prst="rect">
            <a:avLst/>
          </a:prstGeom>
          <a:noFill/>
        </p:spPr>
        <p:txBody>
          <a:bodyPr wrap="square">
            <a:spAutoFit/>
          </a:bodyPr>
          <a:lstStyle/>
          <a:p>
            <a:pPr>
              <a:lnSpc>
                <a:spcPct val="130000"/>
              </a:lnSpc>
              <a:defRPr sz="1600">
                <a:solidFill>
                  <a:srgbClr val="F3F4F6"/>
                </a:solidFill>
              </a:defRPr>
            </a:pPr>
            <a:r>
              <a:t>Gaming</a:t>
            </a:r>
          </a:p>
        </p:txBody>
      </p:sp>
      <p:sp>
        <p:nvSpPr>
          <p:cNvPr id="9" name="Oval 8"/>
          <p:cNvSpPr/>
          <p:nvPr/>
        </p:nvSpPr>
        <p:spPr>
          <a:xfrm>
            <a:off x="502920" y="406907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59"/>
            <a:ext cx="7589520" cy="868680"/>
          </a:xfrm>
          <a:prstGeom prst="rect">
            <a:avLst/>
          </a:prstGeom>
          <a:noFill/>
        </p:spPr>
        <p:txBody>
          <a:bodyPr wrap="square">
            <a:spAutoFit/>
          </a:bodyPr>
          <a:lstStyle/>
          <a:p>
            <a:pPr>
              <a:lnSpc>
                <a:spcPct val="130000"/>
              </a:lnSpc>
              <a:defRPr sz="1600">
                <a:solidFill>
                  <a:srgbClr val="F3F4F6"/>
                </a:solidFill>
              </a:defRPr>
            </a:pPr>
            <a:r>
              <a:t>Personal computing</a:t>
            </a:r>
          </a:p>
        </p:txBody>
      </p:sp>
      <p:sp>
        <p:nvSpPr>
          <p:cNvPr id="11" name="Rectangle 10"/>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Revenue and Finance of Microsoft</a:t>
            </a:r>
          </a:p>
        </p:txBody>
      </p:sp>
      <p:sp>
        <p:nvSpPr>
          <p:cNvPr id="13" name="TextBox 12"/>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19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141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8229600" cy="640080"/>
          </a:xfrm>
          <a:prstGeom prst="rect">
            <a:avLst/>
          </a:prstGeom>
          <a:noFill/>
        </p:spPr>
        <p:txBody>
          <a:bodyPr wrap="square">
            <a:spAutoFit/>
          </a:bodyPr>
          <a:lstStyle/>
          <a:p>
            <a:pPr>
              <a:defRPr sz="2800" b="1">
                <a:solidFill>
                  <a:srgbClr val="111827"/>
                </a:solidFill>
              </a:defRPr>
            </a:pPr>
            <a:r>
              <a:t>Cost Structure</a:t>
            </a:r>
          </a:p>
        </p:txBody>
      </p:sp>
      <p:sp>
        <p:nvSpPr>
          <p:cNvPr id="6" name="TextBox 5"/>
          <p:cNvSpPr txBox="1"/>
          <p:nvPr/>
        </p:nvSpPr>
        <p:spPr>
          <a:xfrm>
            <a:off x="457200" y="1417320"/>
            <a:ext cx="4114800" cy="1892807"/>
          </a:xfrm>
          <a:prstGeom prst="rect">
            <a:avLst/>
          </a:prstGeom>
          <a:noFill/>
        </p:spPr>
        <p:txBody>
          <a:bodyPr wrap="square">
            <a:spAutoFit/>
          </a:bodyPr>
          <a:lstStyle/>
          <a:p>
            <a:pPr>
              <a:lnSpc>
                <a:spcPct val="130000"/>
              </a:lnSpc>
              <a:defRPr sz="1400">
                <a:solidFill>
                  <a:srgbClr val="F3F4F6"/>
                </a:solidFill>
              </a:defRPr>
            </a:pPr>
            <a:r>
              <a:t>Microsoft's cost structure is comprised of several key components including research and development expenses, sales and marketing costs, as well as general and administrative expenses. The company also incurs costs related to the manufacturing and distribution of its products.</a:t>
            </a:r>
          </a:p>
        </p:txBody>
      </p:sp>
      <p:sp>
        <p:nvSpPr>
          <p:cNvPr id="7" name="Oval 6"/>
          <p:cNvSpPr/>
          <p:nvPr/>
        </p:nvSpPr>
        <p:spPr>
          <a:xfrm>
            <a:off x="457200" y="368503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630168"/>
            <a:ext cx="3858768" cy="658368"/>
          </a:xfrm>
          <a:prstGeom prst="rect">
            <a:avLst/>
          </a:prstGeom>
          <a:noFill/>
        </p:spPr>
        <p:txBody>
          <a:bodyPr wrap="square">
            <a:spAutoFit/>
          </a:bodyPr>
          <a:lstStyle/>
          <a:p>
            <a:pPr>
              <a:lnSpc>
                <a:spcPct val="130000"/>
              </a:lnSpc>
              <a:defRPr sz="1500">
                <a:solidFill>
                  <a:srgbClr val="F3F4F6"/>
                </a:solidFill>
              </a:defRPr>
            </a:pPr>
            <a:r>
              <a:t>R&amp;D expenses</a:t>
            </a:r>
          </a:p>
        </p:txBody>
      </p:sp>
      <p:sp>
        <p:nvSpPr>
          <p:cNvPr id="9" name="Oval 8"/>
          <p:cNvSpPr/>
          <p:nvPr/>
        </p:nvSpPr>
        <p:spPr>
          <a:xfrm>
            <a:off x="457200" y="441655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361688"/>
            <a:ext cx="3858768" cy="658368"/>
          </a:xfrm>
          <a:prstGeom prst="rect">
            <a:avLst/>
          </a:prstGeom>
          <a:noFill/>
        </p:spPr>
        <p:txBody>
          <a:bodyPr wrap="square">
            <a:spAutoFit/>
          </a:bodyPr>
          <a:lstStyle/>
          <a:p>
            <a:pPr>
              <a:lnSpc>
                <a:spcPct val="130000"/>
              </a:lnSpc>
              <a:defRPr sz="1500">
                <a:solidFill>
                  <a:srgbClr val="F3F4F6"/>
                </a:solidFill>
              </a:defRPr>
            </a:pPr>
            <a:r>
              <a:t>Sales and marketing costs</a:t>
            </a:r>
          </a:p>
        </p:txBody>
      </p:sp>
      <p:sp>
        <p:nvSpPr>
          <p:cNvPr id="11" name="Oval 10"/>
          <p:cNvSpPr/>
          <p:nvPr/>
        </p:nvSpPr>
        <p:spPr>
          <a:xfrm>
            <a:off x="457200" y="514807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093207"/>
            <a:ext cx="3858768" cy="658368"/>
          </a:xfrm>
          <a:prstGeom prst="rect">
            <a:avLst/>
          </a:prstGeom>
          <a:noFill/>
        </p:spPr>
        <p:txBody>
          <a:bodyPr wrap="square">
            <a:spAutoFit/>
          </a:bodyPr>
          <a:lstStyle/>
          <a:p>
            <a:pPr>
              <a:lnSpc>
                <a:spcPct val="130000"/>
              </a:lnSpc>
              <a:defRPr sz="1500">
                <a:solidFill>
                  <a:srgbClr val="F3F4F6"/>
                </a:solidFill>
              </a:defRPr>
            </a:pPr>
            <a:r>
              <a:t>General and administrative expenses</a:t>
            </a:r>
          </a:p>
        </p:txBody>
      </p:sp>
      <p:sp>
        <p:nvSpPr>
          <p:cNvPr id="13" name="Oval 12"/>
          <p:cNvSpPr/>
          <p:nvPr/>
        </p:nvSpPr>
        <p:spPr>
          <a:xfrm>
            <a:off x="457200" y="587959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5824727"/>
            <a:ext cx="3858768" cy="658368"/>
          </a:xfrm>
          <a:prstGeom prst="rect">
            <a:avLst/>
          </a:prstGeom>
          <a:noFill/>
        </p:spPr>
        <p:txBody>
          <a:bodyPr wrap="square">
            <a:spAutoFit/>
          </a:bodyPr>
          <a:lstStyle/>
          <a:p>
            <a:pPr>
              <a:lnSpc>
                <a:spcPct val="130000"/>
              </a:lnSpc>
              <a:defRPr sz="1500">
                <a:solidFill>
                  <a:srgbClr val="F3F4F6"/>
                </a:solidFill>
              </a:defRPr>
            </a:pPr>
            <a:r>
              <a:t>Manufacturing and distribution costs</a:t>
            </a:r>
          </a:p>
        </p:txBody>
      </p:sp>
      <p:pic>
        <p:nvPicPr>
          <p:cNvPr id="15" name="Picture 14" descr="unsplash_jpqyfK7GB4w.jpg"/>
          <p:cNvPicPr>
            <a:picLocks noChangeAspect="1"/>
          </p:cNvPicPr>
          <p:nvPr/>
        </p:nvPicPr>
        <p:blipFill>
          <a:blip r:embed="rId2"/>
          <a:stretch>
            <a:fillRect/>
          </a:stretch>
        </p:blipFill>
        <p:spPr>
          <a:xfrm>
            <a:off x="4754880" y="1280160"/>
            <a:ext cx="3840480" cy="4937760"/>
          </a:xfrm>
          <a:prstGeom prst="rect">
            <a:avLst/>
          </a:prstGeom>
        </p:spPr>
      </p:pic>
      <p:sp>
        <p:nvSpPr>
          <p:cNvPr id="16" name="Rectangle 15"/>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Revenue and Finance of Microsoft</a:t>
            </a:r>
          </a:p>
        </p:txBody>
      </p:sp>
      <p:sp>
        <p:nvSpPr>
          <p:cNvPr id="18" name="TextBox 17"/>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19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141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Financial Strategy</a:t>
            </a:r>
          </a:p>
        </p:txBody>
      </p:sp>
      <p:sp>
        <p:nvSpPr>
          <p:cNvPr id="6" name="TextBox 5"/>
          <p:cNvSpPr txBox="1"/>
          <p:nvPr/>
        </p:nvSpPr>
        <p:spPr>
          <a:xfrm>
            <a:off x="731520" y="1417320"/>
            <a:ext cx="7680960" cy="960119"/>
          </a:xfrm>
          <a:prstGeom prst="rect">
            <a:avLst/>
          </a:prstGeom>
          <a:noFill/>
        </p:spPr>
        <p:txBody>
          <a:bodyPr wrap="square">
            <a:spAutoFit/>
          </a:bodyPr>
          <a:lstStyle/>
          <a:p>
            <a:pPr>
              <a:lnSpc>
                <a:spcPct val="130000"/>
              </a:lnSpc>
              <a:defRPr sz="1600">
                <a:solidFill>
                  <a:srgbClr val="F3F4F6"/>
                </a:solidFill>
              </a:defRPr>
            </a:pPr>
            <a:r>
              <a:t>Microsoft's financial strategy is focused on driving growth through its diverse range of products and services. The company invests in emerging technologies such as artificial intelligence and blockchain to stay ahead of the competition.</a:t>
            </a:r>
          </a:p>
        </p:txBody>
      </p:sp>
      <p:sp>
        <p:nvSpPr>
          <p:cNvPr id="7" name="Oval 6"/>
          <p:cNvSpPr/>
          <p:nvPr/>
        </p:nvSpPr>
        <p:spPr>
          <a:xfrm>
            <a:off x="502920" y="269747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651760"/>
            <a:ext cx="7589520" cy="868680"/>
          </a:xfrm>
          <a:prstGeom prst="rect">
            <a:avLst/>
          </a:prstGeom>
          <a:noFill/>
        </p:spPr>
        <p:txBody>
          <a:bodyPr wrap="square">
            <a:spAutoFit/>
          </a:bodyPr>
          <a:lstStyle/>
          <a:p>
            <a:pPr>
              <a:lnSpc>
                <a:spcPct val="130000"/>
              </a:lnSpc>
              <a:defRPr sz="1600">
                <a:solidFill>
                  <a:srgbClr val="F3F4F6"/>
                </a:solidFill>
              </a:defRPr>
            </a:pPr>
            <a:r>
              <a:t>Growth through diversification</a:t>
            </a:r>
          </a:p>
        </p:txBody>
      </p:sp>
      <p:sp>
        <p:nvSpPr>
          <p:cNvPr id="9" name="Oval 8"/>
          <p:cNvSpPr/>
          <p:nvPr/>
        </p:nvSpPr>
        <p:spPr>
          <a:xfrm>
            <a:off x="502920" y="3447287"/>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01568"/>
            <a:ext cx="7589520" cy="868680"/>
          </a:xfrm>
          <a:prstGeom prst="rect">
            <a:avLst/>
          </a:prstGeom>
          <a:noFill/>
        </p:spPr>
        <p:txBody>
          <a:bodyPr wrap="square">
            <a:spAutoFit/>
          </a:bodyPr>
          <a:lstStyle/>
          <a:p>
            <a:pPr>
              <a:lnSpc>
                <a:spcPct val="130000"/>
              </a:lnSpc>
              <a:defRPr sz="1600">
                <a:solidFill>
                  <a:srgbClr val="F3F4F6"/>
                </a:solidFill>
              </a:defRPr>
            </a:pPr>
            <a:r>
              <a:t>Investments in AI and blockchain</a:t>
            </a:r>
          </a:p>
        </p:txBody>
      </p:sp>
      <p:sp>
        <p:nvSpPr>
          <p:cNvPr id="11" name="Oval 10"/>
          <p:cNvSpPr/>
          <p:nvPr/>
        </p:nvSpPr>
        <p:spPr>
          <a:xfrm>
            <a:off x="502920" y="4197096"/>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51376"/>
            <a:ext cx="7589520" cy="868680"/>
          </a:xfrm>
          <a:prstGeom prst="rect">
            <a:avLst/>
          </a:prstGeom>
          <a:noFill/>
        </p:spPr>
        <p:txBody>
          <a:bodyPr wrap="square">
            <a:spAutoFit/>
          </a:bodyPr>
          <a:lstStyle/>
          <a:p>
            <a:pPr>
              <a:lnSpc>
                <a:spcPct val="130000"/>
              </a:lnSpc>
              <a:defRPr sz="1600">
                <a:solidFill>
                  <a:srgbClr val="F3F4F6"/>
                </a:solidFill>
              </a:defRPr>
            </a:pPr>
            <a:r>
              <a:t>Shareholder returns</a:t>
            </a:r>
          </a:p>
        </p:txBody>
      </p:sp>
      <p:sp>
        <p:nvSpPr>
          <p:cNvPr id="13" name="Oval 12"/>
          <p:cNvSpPr/>
          <p:nvPr/>
        </p:nvSpPr>
        <p:spPr>
          <a:xfrm>
            <a:off x="502920" y="4946904"/>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901184"/>
            <a:ext cx="7589520" cy="868680"/>
          </a:xfrm>
          <a:prstGeom prst="rect">
            <a:avLst/>
          </a:prstGeom>
          <a:noFill/>
        </p:spPr>
        <p:txBody>
          <a:bodyPr wrap="square">
            <a:spAutoFit/>
          </a:bodyPr>
          <a:lstStyle/>
          <a:p>
            <a:pPr>
              <a:lnSpc>
                <a:spcPct val="130000"/>
              </a:lnSpc>
              <a:defRPr sz="1600">
                <a:solidFill>
                  <a:srgbClr val="F3F4F6"/>
                </a:solidFill>
              </a:defRPr>
            </a:pPr>
            <a:r>
              <a:t>Prioritizing growth and profitability</a:t>
            </a:r>
          </a:p>
        </p:txBody>
      </p:sp>
      <p:sp>
        <p:nvSpPr>
          <p:cNvPr id="15" name="Rectangle 14"/>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Revenue and Finance of Microsoft</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11827"/>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11827"/>
                </a:solidFill>
              </a:defRPr>
            </a:pPr>
            <a:r>
              <a:t>Overview of Revenue</a:t>
            </a:r>
          </a:p>
        </p:txBody>
      </p:sp>
      <p:sp>
        <p:nvSpPr>
          <p:cNvPr id="906" name="Rectangle 905"/>
          <p:cNvSpPr/>
          <p:nvPr/>
        </p:nvSpPr>
        <p:spPr>
          <a:xfrm>
            <a:off x="667512" y="17007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Software sales</a:t>
            </a:r>
          </a:p>
          <a:p>
            <a:pPr>
              <a:lnSpc>
                <a:spcPct val="120000"/>
              </a:lnSpc>
              <a:spcBef>
                <a:spcPts val="300"/>
              </a:spcBef>
              <a:spcAft>
                <a:spcPts val="300"/>
              </a:spcAft>
              <a:defRPr sz="1100">
                <a:solidFill>
                  <a:srgbClr val="D1D5DB"/>
                </a:solidFill>
              </a:defRPr>
            </a:pPr>
            <a:r>
              <a:t>• Advertising revenue</a:t>
            </a:r>
          </a:p>
          <a:p>
            <a:pPr>
              <a:lnSpc>
                <a:spcPct val="120000"/>
              </a:lnSpc>
              <a:spcBef>
                <a:spcPts val="300"/>
              </a:spcBef>
              <a:spcAft>
                <a:spcPts val="300"/>
              </a:spcAft>
              <a:defRPr sz="1100">
                <a:solidFill>
                  <a:srgbClr val="D1D5DB"/>
                </a:solidFill>
              </a:defRPr>
            </a:pPr>
            <a:r>
              <a:t>• Cloud services</a:t>
            </a:r>
          </a:p>
        </p:txBody>
      </p:sp>
      <p:sp>
        <p:nvSpPr>
          <p:cNvPr id="908" name="Rectangle 907"/>
          <p:cNvSpPr/>
          <p:nvPr/>
        </p:nvSpPr>
        <p:spPr>
          <a:xfrm>
            <a:off x="3072384" y="25237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11827"/>
                </a:solidFill>
              </a:defRPr>
            </a:pPr>
            <a:r>
              <a:t>Revenue Streams</a:t>
            </a:r>
          </a:p>
        </p:txBody>
      </p:sp>
      <p:sp>
        <p:nvSpPr>
          <p:cNvPr id="913" name="Rectangle 912"/>
          <p:cNvSpPr/>
          <p:nvPr/>
        </p:nvSpPr>
        <p:spPr>
          <a:xfrm>
            <a:off x="3182112" y="30723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Software licenses</a:t>
            </a:r>
          </a:p>
          <a:p>
            <a:pPr>
              <a:lnSpc>
                <a:spcPct val="120000"/>
              </a:lnSpc>
              <a:spcBef>
                <a:spcPts val="300"/>
              </a:spcBef>
              <a:spcAft>
                <a:spcPts val="300"/>
              </a:spcAft>
              <a:defRPr sz="1100">
                <a:solidFill>
                  <a:srgbClr val="D1D5DB"/>
                </a:solidFill>
              </a:defRPr>
            </a:pPr>
            <a:r>
              <a:t>• Cloud computing</a:t>
            </a:r>
          </a:p>
          <a:p>
            <a:pPr>
              <a:lnSpc>
                <a:spcPct val="120000"/>
              </a:lnSpc>
              <a:spcBef>
                <a:spcPts val="300"/>
              </a:spcBef>
              <a:spcAft>
                <a:spcPts val="300"/>
              </a:spcAft>
              <a:defRPr sz="1100">
                <a:solidFill>
                  <a:srgbClr val="D1D5DB"/>
                </a:solidFill>
              </a:defRPr>
            </a:pPr>
            <a:r>
              <a:t>• Gaming consoles</a:t>
            </a:r>
          </a:p>
        </p:txBody>
      </p:sp>
      <p:sp>
        <p:nvSpPr>
          <p:cNvPr id="915" name="Rectangle 914"/>
          <p:cNvSpPr/>
          <p:nvPr/>
        </p:nvSpPr>
        <p:spPr>
          <a:xfrm>
            <a:off x="5586983" y="38953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11827"/>
                </a:solidFill>
              </a:defRPr>
            </a:pPr>
            <a:r>
              <a:t>Financial Performance</a:t>
            </a:r>
          </a:p>
        </p:txBody>
      </p:sp>
      <p:sp>
        <p:nvSpPr>
          <p:cNvPr id="920" name="Rectangle 919"/>
          <p:cNvSpPr/>
          <p:nvPr/>
        </p:nvSpPr>
        <p:spPr>
          <a:xfrm>
            <a:off x="5696712" y="44439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Consistent growth</a:t>
            </a:r>
          </a:p>
          <a:p>
            <a:pPr>
              <a:lnSpc>
                <a:spcPct val="120000"/>
              </a:lnSpc>
              <a:spcBef>
                <a:spcPts val="300"/>
              </a:spcBef>
              <a:spcAft>
                <a:spcPts val="300"/>
              </a:spcAft>
              <a:defRPr sz="1100">
                <a:solidFill>
                  <a:srgbClr val="D1D5DB"/>
                </a:solidFill>
              </a:defRPr>
            </a:pPr>
            <a:r>
              <a:t>• Diversified revenue streams</a:t>
            </a:r>
          </a:p>
          <a:p>
            <a:pPr>
              <a:lnSpc>
                <a:spcPct val="120000"/>
              </a:lnSpc>
              <a:spcBef>
                <a:spcPts val="300"/>
              </a:spcBef>
              <a:spcAft>
                <a:spcPts val="300"/>
              </a:spcAft>
              <a:defRPr sz="1100">
                <a:solidFill>
                  <a:srgbClr val="D1D5DB"/>
                </a:solidFill>
              </a:defRPr>
            </a:pPr>
            <a:r>
              <a:t>• Strong financial performance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11827"/>
                </a:solidFill>
              </a:defRPr>
            </a:pPr>
            <a:r>
              <a:t>Overview of Revenue</a:t>
            </a:r>
          </a:p>
        </p:txBody>
      </p:sp>
      <p:sp>
        <p:nvSpPr>
          <p:cNvPr id="8" name="Rectangle 7"/>
          <p:cNvSpPr/>
          <p:nvPr/>
        </p:nvSpPr>
        <p:spPr>
          <a:xfrm>
            <a:off x="960120" y="1984248"/>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11827"/>
                </a:solidFill>
              </a:defRPr>
            </a:pPr>
            <a:r>
              <a:t>Revenue Streams</a:t>
            </a:r>
          </a:p>
        </p:txBody>
      </p:sp>
      <p:sp>
        <p:nvSpPr>
          <p:cNvPr id="12" name="Rectangle 11"/>
          <p:cNvSpPr/>
          <p:nvPr/>
        </p:nvSpPr>
        <p:spPr>
          <a:xfrm>
            <a:off x="960120" y="2871215"/>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11827"/>
                </a:solidFill>
              </a:defRPr>
            </a:pPr>
            <a:r>
              <a:t>Financial Performance</a:t>
            </a:r>
          </a:p>
        </p:txBody>
      </p:sp>
      <p:sp>
        <p:nvSpPr>
          <p:cNvPr id="16" name="Rectangle 15"/>
          <p:cNvSpPr/>
          <p:nvPr/>
        </p:nvSpPr>
        <p:spPr>
          <a:xfrm>
            <a:off x="960120" y="3758184"/>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11827"/>
                </a:solidFill>
              </a:defRPr>
            </a:pPr>
            <a:r>
              <a:t>Revenue by Segment</a:t>
            </a:r>
          </a:p>
        </p:txBody>
      </p:sp>
      <p:sp>
        <p:nvSpPr>
          <p:cNvPr id="20" name="Rectangle 19"/>
          <p:cNvSpPr/>
          <p:nvPr/>
        </p:nvSpPr>
        <p:spPr>
          <a:xfrm>
            <a:off x="960120" y="4645151"/>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11827"/>
                </a:solidFill>
              </a:defRPr>
            </a:pPr>
            <a:r>
              <a:t>Cost 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