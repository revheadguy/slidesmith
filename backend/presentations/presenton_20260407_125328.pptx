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jp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0"/>
    <c:plotArea>
      <c:barChart>
        <c:barDir val="col"/>
        <c:grouping val="clustered"/>
        <c:ser>
          <c:idx val="0"/>
          <c:order val="0"/>
          <c:tx>
            <c:strRef>
              <c:f>Sheet1!$B$1</c:f>
              <c:strCache>
                <c:ptCount val="1"/>
                <c:pt idx="0">
                  <c:v>Mitigation Index (%)</c:v>
                </c:pt>
              </c:strCache>
            </c:strRef>
          </c:tx>
          <c:cat>
            <c:strRef>
              <c:f>Sheet1!$A$2:$A$6</c:f>
              <c:strCache>
                <c:ptCount val="5"/>
                <c:pt idx="0">
                  <c:v>Renewable energy and</c:v>
                </c:pt>
                <c:pt idx="1">
                  <c:v>Carbon pricing and t</c:v>
                </c:pt>
                <c:pt idx="2">
                  <c:v>Energy efficiency an</c:v>
                </c:pt>
                <c:pt idx="3">
                  <c:v>Building climate-res</c:v>
                </c:pt>
                <c:pt idx="4">
                  <c:v>Ecosystem-based adap</c:v>
                </c:pt>
              </c:strCache>
            </c:strRef>
          </c:cat>
          <c:val>
            <c:numRef>
              <c:f>Sheet1!$B$2:$B$6</c:f>
              <c:numCache>
                <c:formatCode>General</c:formatCode>
                <c:ptCount val="5"/>
                <c:pt idx="0">
                  <c:v>20</c:v>
                </c:pt>
                <c:pt idx="1">
                  <c:v>35</c:v>
                </c:pt>
                <c:pt idx="2">
                  <c:v>49</c:v>
                </c:pt>
                <c:pt idx="3">
                  <c:v>68</c:v>
                </c:pt>
                <c:pt idx="4">
                  <c:v>84</c:v>
                </c:pt>
              </c:numCache>
            </c:numRef>
          </c:val>
        </c:ser>
        <c:axId val="-2068027336"/>
        <c:axId val="-2113994440"/>
      </c:barChart>
      <c:catAx>
        <c:axId val="-2068027336"/>
        <c:scaling>
          <c:orientation val="minMax"/>
        </c:scaling>
        <c:delete val="0"/>
        <c:axPos val="b"/>
        <c:majorTickMark val="out"/>
        <c:minorTickMark val="none"/>
        <c:tickLblPos val="nextTo"/>
        <c:crossAx val="-2113994440"/>
        <c:crosses val="autoZero"/>
        <c:auto val="1"/>
        <c:lblAlgn val="ctr"/>
        <c:lblOffset val="100"/>
        <c:noMultiLvlLbl val="0"/>
      </c:catAx>
      <c:valAx>
        <c:axId val="-2113994440"/>
        <c:scaling/>
        <c:delete val="0"/>
        <c:axPos val="l"/>
        <c:majorGridlines/>
        <c:majorTickMark val="out"/>
        <c:minorTickMark val="none"/>
        <c:tickLblPos val="nextTo"/>
        <c:crossAx val="-2068027336"/>
        <c:crosses val="autoZero"/>
      </c:valAx>
    </c:plotArea>
    <c:legend>
      <c:overlay val="0"/>
    </c:legend>
    <c:dispBlanksAs val="gap"/>
  </c:chart>
  <c:txPr>
    <a:bodyPr/>
    <a:lstStyle/>
    <a:p>
      <a:pPr>
        <a:defRPr sz="1800"/>
      </a:pPr>
      <a:endParaRPr lang="en-US"/>
    </a:p>
  </c:txPr>
  <c:externalData r:id="rId1">
    <c:autoUpdate val="0"/>
  </c:externalData>
</c:chartSpac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2011680"/>
            <a:ext cx="8229600" cy="2011680"/>
          </a:xfrm>
          <a:prstGeom prst="rect">
            <a:avLst/>
          </a:prstGeom>
          <a:noFill/>
        </p:spPr>
        <p:txBody>
          <a:bodyPr wrap="square">
            <a:normAutofit/>
          </a:bodyPr>
          <a:lstStyle/>
          <a:p>
            <a:pPr algn="ctr">
              <a:lnSpc>
                <a:spcPct val="110000"/>
              </a:lnSpc>
              <a:defRPr sz="4000" b="1">
                <a:solidFill>
                  <a:srgbClr val="FFFFFF"/>
                </a:solidFill>
              </a:defRPr>
            </a:pPr>
            <a:r>
              <a:t>Climate Change Presentation</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Introduction to Climate Change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Climate change refers to the long-term warming of the planet, which is primarily caused by human activities that release greenhouse gases, such as carbon dioxide and methane, into the atmosphere. These gases trap heat from the sun, leading to rising temperatures and altering ecosystems. The effects of climate change are widespread and can be seen in melting glaciers, sea-level rise, and changes in precipitation patterns.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Global temperature increase since 1880</a:t>
            </a:r>
          </a:p>
          <a:p>
            <a:pPr>
              <a:lnSpc>
                <a:spcPct val="120000"/>
              </a:lnSpc>
              <a:spcBef>
                <a:spcPts val="300"/>
              </a:spcBef>
              <a:spcAft>
                <a:spcPts val="300"/>
              </a:spcAft>
              <a:defRPr sz="1600">
                <a:solidFill>
                  <a:srgbClr val="0F172A"/>
                </a:solidFill>
              </a:defRPr>
            </a:pPr>
            <a:r>
              <a:t>• Increase in extreme weather events</a:t>
            </a:r>
          </a:p>
          <a:p>
            <a:pPr>
              <a:lnSpc>
                <a:spcPct val="120000"/>
              </a:lnSpc>
              <a:spcBef>
                <a:spcPts val="300"/>
              </a:spcBef>
              <a:spcAft>
                <a:spcPts val="300"/>
              </a:spcAft>
              <a:defRPr sz="1600">
                <a:solidFill>
                  <a:srgbClr val="0F172A"/>
                </a:solidFill>
              </a:defRPr>
            </a:pPr>
            <a:r>
              <a:t>• Rise in sea levels</a:t>
            </a:r>
          </a:p>
          <a:p>
            <a:pPr>
              <a:lnSpc>
                <a:spcPct val="120000"/>
              </a:lnSpc>
              <a:spcBef>
                <a:spcPts val="300"/>
              </a:spcBef>
              <a:spcAft>
                <a:spcPts val="300"/>
              </a:spcAft>
              <a:defRPr sz="1600">
                <a:solidFill>
                  <a:srgbClr val="0F172A"/>
                </a:solidFill>
              </a:defRPr>
            </a:pPr>
            <a:r>
              <a:t>• Melting of polar ice caps</a:t>
            </a:r>
          </a:p>
          <a:p>
            <a:pPr>
              <a:lnSpc>
                <a:spcPct val="120000"/>
              </a:lnSpc>
              <a:spcBef>
                <a:spcPts val="300"/>
              </a:spcBef>
              <a:spcAft>
                <a:spcPts val="300"/>
              </a:spcAft>
              <a:defRPr sz="1600">
                <a:solidFill>
                  <a:srgbClr val="0F172A"/>
                </a:solidFill>
              </a:defRPr>
            </a:pPr>
            <a:r>
              <a:t>• Impact on ecosystems and biodiversity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731520"/>
          </a:xfrm>
          <a:prstGeom prst="rect">
            <a:avLst/>
          </a:prstGeom>
          <a:noFill/>
        </p:spPr>
        <p:txBody>
          <a:bodyPr wrap="square">
            <a:spAutoFit/>
          </a:bodyPr>
          <a:lstStyle/>
          <a:p>
            <a:pPr>
              <a:defRPr sz="2800" b="1">
                <a:solidFill>
                  <a:srgbClr val="1E40AF"/>
                </a:solidFill>
              </a:defRPr>
            </a:pPr>
            <a:r>
              <a:t>Causes of Climate Change</a:t>
            </a:r>
          </a:p>
        </p:txBody>
      </p:sp>
      <p:sp>
        <p:nvSpPr>
          <p:cNvPr id="4" name="TextBox 3"/>
          <p:cNvSpPr txBox="1"/>
          <p:nvPr/>
        </p:nvSpPr>
        <p:spPr>
          <a:xfrm>
            <a:off x="914400" y="1463040"/>
            <a:ext cx="7315200" cy="4572000"/>
          </a:xfrm>
          <a:prstGeom prst="rect">
            <a:avLst/>
          </a:prstGeom>
          <a:noFill/>
        </p:spPr>
        <p:txBody>
          <a:bodyPr wrap="square">
            <a:spAutoFit/>
          </a:bodyPr>
          <a:lstStyle/>
          <a:p>
            <a:pPr>
              <a:lnSpc>
                <a:spcPct val="120000"/>
              </a:lnSpc>
              <a:spcBef>
                <a:spcPts val="300"/>
              </a:spcBef>
              <a:spcAft>
                <a:spcPts val="300"/>
              </a:spcAft>
              <a:defRPr sz="1600">
                <a:solidFill>
                  <a:srgbClr val="0F172A"/>
                </a:solidFill>
              </a:defRPr>
            </a:pPr>
            <a:r>
              <a:t>The main cause of climate change is the increasing levels of greenhouse gases in the atmosphere, primarily carbon dioxide, which is released through human activities such as burning fossil fuels, deforestation, and land-use changes. Additionally, natural factors like volcanic eruptions and changes in solar radiation can also impact global temperatures.</a:t>
            </a:r>
          </a:p>
          <a:p>
            <a:pPr>
              <a:lnSpc>
                <a:spcPct val="120000"/>
              </a:lnSpc>
              <a:spcBef>
                <a:spcPts val="300"/>
              </a:spcBef>
              <a:spcAft>
                <a:spcPts val="300"/>
              </a:spcAft>
              <a:defRPr sz="1600">
                <a:solidFill>
                  <a:srgbClr val="0F172A"/>
                </a:solidFill>
              </a:defRPr>
            </a:pPr>
          </a:p>
          <a:p>
            <a:pPr>
              <a:lnSpc>
                <a:spcPct val="120000"/>
              </a:lnSpc>
              <a:spcBef>
                <a:spcPts val="300"/>
              </a:spcBef>
              <a:spcAft>
                <a:spcPts val="300"/>
              </a:spcAft>
              <a:defRPr sz="1600">
                <a:solidFill>
                  <a:srgbClr val="0F172A"/>
                </a:solidFill>
              </a:defRPr>
            </a:pPr>
            <a:r>
              <a:t>• Burning of fossil fuels</a:t>
            </a:r>
          </a:p>
          <a:p>
            <a:pPr>
              <a:lnSpc>
                <a:spcPct val="120000"/>
              </a:lnSpc>
              <a:spcBef>
                <a:spcPts val="300"/>
              </a:spcBef>
              <a:spcAft>
                <a:spcPts val="300"/>
              </a:spcAft>
              <a:defRPr sz="1600">
                <a:solidFill>
                  <a:srgbClr val="0F172A"/>
                </a:solidFill>
              </a:defRPr>
            </a:pPr>
            <a:r>
              <a:t>• Deforestation and land-use changes</a:t>
            </a:r>
          </a:p>
          <a:p>
            <a:pPr>
              <a:lnSpc>
                <a:spcPct val="120000"/>
              </a:lnSpc>
              <a:spcBef>
                <a:spcPts val="300"/>
              </a:spcBef>
              <a:spcAft>
                <a:spcPts val="300"/>
              </a:spcAft>
              <a:defRPr sz="1600">
                <a:solidFill>
                  <a:srgbClr val="0F172A"/>
                </a:solidFill>
              </a:defRPr>
            </a:pPr>
            <a:r>
              <a:t>• Methane emissions from agriculture and industry</a:t>
            </a:r>
          </a:p>
          <a:p>
            <a:pPr>
              <a:lnSpc>
                <a:spcPct val="120000"/>
              </a:lnSpc>
              <a:spcBef>
                <a:spcPts val="300"/>
              </a:spcBef>
              <a:spcAft>
                <a:spcPts val="300"/>
              </a:spcAft>
              <a:defRPr sz="1600">
                <a:solidFill>
                  <a:srgbClr val="0F172A"/>
                </a:solidFill>
              </a:defRPr>
            </a:pPr>
            <a:r>
              <a:t>• Nitrous oxide emissions from agriculture and industrial processes</a:t>
            </a:r>
          </a:p>
          <a:p>
            <a:pPr>
              <a:lnSpc>
                <a:spcPct val="120000"/>
              </a:lnSpc>
              <a:spcBef>
                <a:spcPts val="300"/>
              </a:spcBef>
              <a:spcAft>
                <a:spcPts val="300"/>
              </a:spcAft>
              <a:defRPr sz="1600">
                <a:solidFill>
                  <a:srgbClr val="0F172A"/>
                </a:solidFill>
              </a:defRPr>
            </a:pPr>
            <a:r>
              <a:t>• Ozone-depleting substances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457200"/>
            <a:ext cx="8229600" cy="640080"/>
          </a:xfrm>
          <a:prstGeom prst="rect">
            <a:avLst/>
          </a:prstGeom>
          <a:noFill/>
        </p:spPr>
        <p:txBody>
          <a:bodyPr wrap="square">
            <a:spAutoFit/>
          </a:bodyPr>
          <a:lstStyle/>
          <a:p>
            <a:pPr>
              <a:defRPr sz="2800" b="1">
                <a:solidFill>
                  <a:srgbClr val="1E40AF"/>
                </a:solidFill>
              </a:defRPr>
            </a:pPr>
            <a:r>
              <a:t>Impacts of Climate Change</a:t>
            </a:r>
          </a:p>
        </p:txBody>
      </p:sp>
      <p:sp>
        <p:nvSpPr>
          <p:cNvPr id="4" name="TextBox 3"/>
          <p:cNvSpPr txBox="1"/>
          <p:nvPr/>
        </p:nvSpPr>
        <p:spPr>
          <a:xfrm>
            <a:off x="457200" y="1463040"/>
            <a:ext cx="4114800" cy="4572000"/>
          </a:xfrm>
          <a:prstGeom prst="rect">
            <a:avLst/>
          </a:prstGeom>
          <a:noFill/>
        </p:spPr>
        <p:txBody>
          <a:bodyPr wrap="square">
            <a:spAutoFit/>
          </a:bodyPr>
          <a:lstStyle/>
          <a:p>
            <a:pPr>
              <a:lnSpc>
                <a:spcPct val="115000"/>
              </a:lnSpc>
              <a:spcBef>
                <a:spcPts val="200"/>
              </a:spcBef>
              <a:spcAft>
                <a:spcPts val="200"/>
              </a:spcAft>
              <a:defRPr sz="1500">
                <a:solidFill>
                  <a:srgbClr val="0F172A"/>
                </a:solidFill>
              </a:defRPr>
            </a:pPr>
            <a:r>
              <a:t>Climate change is having significant impacts on the environment, human health, and the economy. Rising temperatures are causing more frequent and severe heatwaves, droughts, and storms, leading to loss of life and property damage. Sea-level rise is also threatening coastal communities and ecosystems.</a:t>
            </a:r>
          </a:p>
          <a:p>
            <a:pPr>
              <a:lnSpc>
                <a:spcPct val="115000"/>
              </a:lnSpc>
              <a:spcBef>
                <a:spcPts val="200"/>
              </a:spcBef>
              <a:spcAft>
                <a:spcPts val="200"/>
              </a:spcAft>
              <a:defRPr sz="1500">
                <a:solidFill>
                  <a:srgbClr val="0F172A"/>
                </a:solidFill>
              </a:defRPr>
            </a:pPr>
          </a:p>
          <a:p>
            <a:pPr>
              <a:lnSpc>
                <a:spcPct val="115000"/>
              </a:lnSpc>
              <a:spcBef>
                <a:spcPts val="200"/>
              </a:spcBef>
              <a:spcAft>
                <a:spcPts val="200"/>
              </a:spcAft>
              <a:defRPr sz="1500">
                <a:solidFill>
                  <a:srgbClr val="0F172A"/>
                </a:solidFill>
              </a:defRPr>
            </a:pPr>
            <a:r>
              <a:t>• Sea-level rise and coastal erosion</a:t>
            </a:r>
          </a:p>
          <a:p>
            <a:pPr>
              <a:lnSpc>
                <a:spcPct val="115000"/>
              </a:lnSpc>
              <a:spcBef>
                <a:spcPts val="200"/>
              </a:spcBef>
              <a:spcAft>
                <a:spcPts val="200"/>
              </a:spcAft>
              <a:defRPr sz="1500">
                <a:solidFill>
                  <a:srgbClr val="0F172A"/>
                </a:solidFill>
              </a:defRPr>
            </a:pPr>
            <a:r>
              <a:t>• Changes in precipitation patterns and extreme weather events</a:t>
            </a:r>
          </a:p>
          <a:p>
            <a:pPr>
              <a:lnSpc>
                <a:spcPct val="115000"/>
              </a:lnSpc>
              <a:spcBef>
                <a:spcPts val="200"/>
              </a:spcBef>
              <a:spcAft>
                <a:spcPts val="200"/>
              </a:spcAft>
              <a:defRPr sz="1500">
                <a:solidFill>
                  <a:srgbClr val="0F172A"/>
                </a:solidFill>
              </a:defRPr>
            </a:pPr>
            <a:r>
              <a:t>• Impacts on human health and well-being</a:t>
            </a:r>
          </a:p>
          <a:p>
            <a:pPr>
              <a:lnSpc>
                <a:spcPct val="115000"/>
              </a:lnSpc>
              <a:spcBef>
                <a:spcPts val="200"/>
              </a:spcBef>
              <a:spcAft>
                <a:spcPts val="200"/>
              </a:spcAft>
              <a:defRPr sz="1500">
                <a:solidFill>
                  <a:srgbClr val="0F172A"/>
                </a:solidFill>
              </a:defRPr>
            </a:pPr>
            <a:r>
              <a:t>• Economic impacts and food insecurity</a:t>
            </a:r>
          </a:p>
          <a:p>
            <a:pPr>
              <a:lnSpc>
                <a:spcPct val="115000"/>
              </a:lnSpc>
              <a:spcBef>
                <a:spcPts val="200"/>
              </a:spcBef>
              <a:spcAft>
                <a:spcPts val="200"/>
              </a:spcAft>
              <a:defRPr sz="1500">
                <a:solidFill>
                  <a:srgbClr val="0F172A"/>
                </a:solidFill>
              </a:defRPr>
            </a:pPr>
            <a:r>
              <a:t>• Loss of biodiversity and ecosystem disruption</a:t>
            </a:r>
          </a:p>
        </p:txBody>
      </p:sp>
      <p:pic>
        <p:nvPicPr>
          <p:cNvPr id="5" name="Picture 4" descr="unsplash_ySt-QUY3LK0.jpg"/>
          <p:cNvPicPr>
            <a:picLocks noChangeAspect="1"/>
          </p:cNvPicPr>
          <p:nvPr/>
        </p:nvPicPr>
        <p:blipFill>
          <a:blip r:embed="rId2"/>
          <a:stretch>
            <a:fillRect/>
          </a:stretch>
        </p:blipFill>
        <p:spPr>
          <a:xfrm>
            <a:off x="4754880" y="1463040"/>
            <a:ext cx="3474720" cy="4572000"/>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274320"/>
            <a:ext cx="9144000" cy="73152"/>
          </a:xfrm>
          <a:prstGeom prst="rect">
            <a:avLst/>
          </a:prstGeom>
          <a:solidFill>
            <a:srgbClr val="F59E0B"/>
          </a:solidFill>
          <a:ln>
            <a:solidFill>
              <a:srgbClr val="F59E0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65760"/>
            <a:ext cx="8229600" cy="914400"/>
          </a:xfrm>
          <a:prstGeom prst="rect">
            <a:avLst/>
          </a:prstGeom>
          <a:noFill/>
        </p:spPr>
        <p:txBody>
          <a:bodyPr wrap="square">
            <a:spAutoFit/>
          </a:bodyPr>
          <a:lstStyle/>
          <a:p>
            <a:pPr>
              <a:defRPr sz="4000" b="1">
                <a:solidFill>
                  <a:srgbClr val="1E40AF"/>
                </a:solidFill>
              </a:defRPr>
            </a:pPr>
            <a:r>
              <a:t>Mitigation and Adaptation Strategies - Mitigation Index (%)</a:t>
            </a:r>
          </a:p>
        </p:txBody>
      </p:sp>
      <p:graphicFrame>
        <p:nvGraphicFramePr>
          <p:cNvPr id="4" name="Chart 3"/>
          <p:cNvGraphicFramePr>
            <a:graphicFrameLocks noGrp="1"/>
          </p:cNvGraphicFramePr>
          <p:nvPr/>
        </p:nvGraphicFramePr>
        <p:xfrm>
          <a:off x="457200" y="1463040"/>
          <a:ext cx="8229600" cy="4572000"/>
        </p:xfrm>
        <a:graphic>
          <a:graphicData uri="http://schemas.openxmlformats.org/drawingml/2006/chart">
            <c:chart xmlns:c="http://schemas.openxmlformats.org/drawingml/2006/chart" r:id="rId2"/>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E40AF"/>
        </a:solidFill>
        <a:effectLst/>
      </p:bgPr>
    </p:bg>
    <p:spTree>
      <p:nvGrpSpPr>
        <p:cNvPr id="1" name=""/>
        <p:cNvGrpSpPr/>
        <p:nvPr/>
      </p:nvGrpSpPr>
      <p:grpSpPr/>
      <p:sp>
        <p:nvSpPr>
          <p:cNvPr id="2" name="TextBox 1"/>
          <p:cNvSpPr txBox="1"/>
          <p:nvPr/>
        </p:nvSpPr>
        <p:spPr>
          <a:xfrm>
            <a:off x="457200" y="731520"/>
            <a:ext cx="8229600" cy="731520"/>
          </a:xfrm>
          <a:prstGeom prst="rect">
            <a:avLst/>
          </a:prstGeom>
          <a:noFill/>
        </p:spPr>
        <p:txBody>
          <a:bodyPr wrap="none">
            <a:spAutoFit/>
          </a:bodyPr>
          <a:lstStyle/>
          <a:p>
            <a:pPr algn="ctr">
              <a:defRPr sz="4400" b="1">
                <a:solidFill>
                  <a:srgbClr val="FFFFFF"/>
                </a:solidFill>
              </a:defRPr>
            </a:pPr>
            <a:r>
              <a:t>Key Takeaways</a:t>
            </a:r>
          </a:p>
        </p:txBody>
      </p:sp>
      <p:sp>
        <p:nvSpPr>
          <p:cNvPr id="3" name="TextBox 2"/>
          <p:cNvSpPr txBox="1"/>
          <p:nvPr/>
        </p:nvSpPr>
        <p:spPr>
          <a:xfrm>
            <a:off x="1371600" y="1828800"/>
            <a:ext cx="6400800" cy="4114800"/>
          </a:xfrm>
          <a:prstGeom prst="rect">
            <a:avLst/>
          </a:prstGeom>
          <a:noFill/>
        </p:spPr>
        <p:txBody>
          <a:bodyPr wrap="square">
            <a:spAutoFit/>
          </a:bodyPr>
          <a:lstStyle/>
          <a:p>
            <a:pPr>
              <a:spcBef>
                <a:spcPts val="800"/>
              </a:spcBef>
              <a:spcAft>
                <a:spcPts val="800"/>
              </a:spcAft>
              <a:defRPr sz="2000">
                <a:solidFill>
                  <a:srgbClr val="F59E0B"/>
                </a:solidFill>
              </a:defRPr>
            </a:pPr>
            <a:r>
              <a:t>✓ Introduction to Climate Change</a:t>
            </a:r>
          </a:p>
          <a:p>
            <a:pPr>
              <a:spcBef>
                <a:spcPts val="800"/>
              </a:spcBef>
              <a:spcAft>
                <a:spcPts val="800"/>
              </a:spcAft>
              <a:defRPr sz="2000">
                <a:solidFill>
                  <a:srgbClr val="F59E0B"/>
                </a:solidFill>
              </a:defRPr>
            </a:pPr>
            <a:r>
              <a:t>✓ Causes of Climate Change</a:t>
            </a:r>
          </a:p>
          <a:p>
            <a:pPr>
              <a:spcBef>
                <a:spcPts val="800"/>
              </a:spcBef>
              <a:spcAft>
                <a:spcPts val="800"/>
              </a:spcAft>
              <a:defRPr sz="2000">
                <a:solidFill>
                  <a:srgbClr val="F59E0B"/>
                </a:solidFill>
              </a:defRPr>
            </a:pPr>
            <a:r>
              <a:t>✓ Impacts of Climate Change</a:t>
            </a:r>
          </a:p>
          <a:p>
            <a:pPr>
              <a:spcBef>
                <a:spcPts val="800"/>
              </a:spcBef>
              <a:spcAft>
                <a:spcPts val="800"/>
              </a:spcAft>
              <a:defRPr sz="2000">
                <a:solidFill>
                  <a:srgbClr val="F59E0B"/>
                </a:solidFill>
              </a:defRPr>
            </a:pPr>
            <a:r>
              <a:t>✓ Mitigation and Adaptation Strategies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