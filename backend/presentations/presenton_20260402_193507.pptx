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Series 1</c:v>
                </c:pt>
              </c:strCache>
            </c:strRef>
          </c:tx>
          <c:cat>
            <c:strRef>
              <c:f>Sheet1!$A$2:$A$5</c:f>
              <c:strCache>
                <c:ptCount val="4"/>
                <c:pt idx="0">
                  <c:v>Q1</c:v>
                </c:pt>
                <c:pt idx="1">
                  <c:v>Q2</c:v>
                </c:pt>
                <c:pt idx="2">
                  <c:v>Q3</c:v>
                </c:pt>
                <c:pt idx="3">
                  <c:v>Q4</c:v>
                </c:pt>
              </c:strCache>
            </c:strRef>
          </c:cat>
          <c:val>
            <c:numRef>
              <c:f>Sheet1!$B$2:$B$5</c:f>
              <c:numCache>
                <c:formatCode>General</c:formatCode>
                <c:ptCount val="4"/>
                <c:pt idx="0">
                  <c:v>70</c:v>
                </c:pt>
                <c:pt idx="1">
                  <c:v>74</c:v>
                </c:pt>
                <c:pt idx="2">
                  <c:v>76</c:v>
                </c:pt>
                <c:pt idx="3">
                  <c:v>49</c:v>
                </c:pt>
              </c:numCache>
            </c:numRef>
          </c:val>
        </c:ser>
        <c:ser>
          <c:idx val="1"/>
          <c:order val="1"/>
          <c:tx>
            <c:strRef>
              <c:f>Sheet1!$C$1</c:f>
              <c:strCache>
                <c:ptCount val="1"/>
                <c:pt idx="0">
                  <c:v>Series 2</c:v>
                </c:pt>
              </c:strCache>
            </c:strRef>
          </c:tx>
          <c:cat>
            <c:strRef>
              <c:f>Sheet1!$A$2:$A$5</c:f>
              <c:strCache>
                <c:ptCount val="4"/>
                <c:pt idx="0">
                  <c:v>Q1</c:v>
                </c:pt>
                <c:pt idx="1">
                  <c:v>Q2</c:v>
                </c:pt>
                <c:pt idx="2">
                  <c:v>Q3</c:v>
                </c:pt>
                <c:pt idx="3">
                  <c:v>Q4</c:v>
                </c:pt>
              </c:strCache>
            </c:strRef>
          </c:cat>
          <c:val>
            <c:numRef>
              <c:f>Sheet1!$C$2:$C$5</c:f>
              <c:numCache>
                <c:formatCode>General</c:formatCode>
                <c:ptCount val="4"/>
                <c:pt idx="0">
                  <c:v>57</c:v>
                </c:pt>
                <c:pt idx="1">
                  <c:v>55</c:v>
                </c:pt>
                <c:pt idx="2">
                  <c:v>70</c:v>
                </c:pt>
                <c:pt idx="3">
                  <c:v>44</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Series 1</c:v>
                </c:pt>
              </c:strCache>
            </c:strRef>
          </c:tx>
          <c:cat>
            <c:strRef>
              <c:f>Sheet1!$A$2:$A$5</c:f>
              <c:strCache>
                <c:ptCount val="4"/>
                <c:pt idx="0">
                  <c:v>Q1</c:v>
                </c:pt>
                <c:pt idx="1">
                  <c:v>Q2</c:v>
                </c:pt>
                <c:pt idx="2">
                  <c:v>Q3</c:v>
                </c:pt>
                <c:pt idx="3">
                  <c:v>Q4</c:v>
                </c:pt>
              </c:strCache>
            </c:strRef>
          </c:cat>
          <c:val>
            <c:numRef>
              <c:f>Sheet1!$B$2:$B$5</c:f>
              <c:numCache>
                <c:formatCode>General</c:formatCode>
                <c:ptCount val="4"/>
                <c:pt idx="0">
                  <c:v>56</c:v>
                </c:pt>
                <c:pt idx="1">
                  <c:v>64</c:v>
                </c:pt>
                <c:pt idx="2">
                  <c:v>50</c:v>
                </c:pt>
                <c:pt idx="3">
                  <c:v>42</c:v>
                </c:pt>
              </c:numCache>
            </c:numRef>
          </c:val>
        </c:ser>
        <c:ser>
          <c:idx val="1"/>
          <c:order val="1"/>
          <c:tx>
            <c:strRef>
              <c:f>Sheet1!$C$1</c:f>
              <c:strCache>
                <c:ptCount val="1"/>
                <c:pt idx="0">
                  <c:v>Series 2</c:v>
                </c:pt>
              </c:strCache>
            </c:strRef>
          </c:tx>
          <c:cat>
            <c:strRef>
              <c:f>Sheet1!$A$2:$A$5</c:f>
              <c:strCache>
                <c:ptCount val="4"/>
                <c:pt idx="0">
                  <c:v>Q1</c:v>
                </c:pt>
                <c:pt idx="1">
                  <c:v>Q2</c:v>
                </c:pt>
                <c:pt idx="2">
                  <c:v>Q3</c:v>
                </c:pt>
                <c:pt idx="3">
                  <c:v>Q4</c:v>
                </c:pt>
              </c:strCache>
            </c:strRef>
          </c:cat>
          <c:val>
            <c:numRef>
              <c:f>Sheet1!$C$2:$C$5</c:f>
              <c:numCache>
                <c:formatCode>General</c:formatCode>
                <c:ptCount val="4"/>
                <c:pt idx="0">
                  <c:v>44</c:v>
                </c:pt>
                <c:pt idx="1">
                  <c:v>49</c:v>
                </c:pt>
                <c:pt idx="2">
                  <c:v>37</c:v>
                </c:pt>
                <c:pt idx="3">
                  <c:v>54</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Series 1</c:v>
                </c:pt>
              </c:strCache>
            </c:strRef>
          </c:tx>
          <c:cat>
            <c:strRef>
              <c:f>Sheet1!$A$2:$A$5</c:f>
              <c:strCache>
                <c:ptCount val="4"/>
                <c:pt idx="0">
                  <c:v>Q1</c:v>
                </c:pt>
                <c:pt idx="1">
                  <c:v>Q2</c:v>
                </c:pt>
                <c:pt idx="2">
                  <c:v>Q3</c:v>
                </c:pt>
                <c:pt idx="3">
                  <c:v>Q4</c:v>
                </c:pt>
              </c:strCache>
            </c:strRef>
          </c:cat>
          <c:val>
            <c:numRef>
              <c:f>Sheet1!$B$2:$B$5</c:f>
              <c:numCache>
                <c:formatCode>General</c:formatCode>
                <c:ptCount val="4"/>
                <c:pt idx="0">
                  <c:v>46</c:v>
                </c:pt>
                <c:pt idx="1">
                  <c:v>40</c:v>
                </c:pt>
                <c:pt idx="2">
                  <c:v>65</c:v>
                </c:pt>
                <c:pt idx="3">
                  <c:v>42</c:v>
                </c:pt>
              </c:numCache>
            </c:numRef>
          </c:val>
        </c:ser>
        <c:ser>
          <c:idx val="1"/>
          <c:order val="1"/>
          <c:tx>
            <c:strRef>
              <c:f>Sheet1!$C$1</c:f>
              <c:strCache>
                <c:ptCount val="1"/>
                <c:pt idx="0">
                  <c:v>Series 2</c:v>
                </c:pt>
              </c:strCache>
            </c:strRef>
          </c:tx>
          <c:cat>
            <c:strRef>
              <c:f>Sheet1!$A$2:$A$5</c:f>
              <c:strCache>
                <c:ptCount val="4"/>
                <c:pt idx="0">
                  <c:v>Q1</c:v>
                </c:pt>
                <c:pt idx="1">
                  <c:v>Q2</c:v>
                </c:pt>
                <c:pt idx="2">
                  <c:v>Q3</c:v>
                </c:pt>
                <c:pt idx="3">
                  <c:v>Q4</c:v>
                </c:pt>
              </c:strCache>
            </c:strRef>
          </c:cat>
          <c:val>
            <c:numRef>
              <c:f>Sheet1!$C$2:$C$5</c:f>
              <c:numCache>
                <c:formatCode>General</c:formatCode>
                <c:ptCount val="4"/>
                <c:pt idx="0">
                  <c:v>56</c:v>
                </c:pt>
                <c:pt idx="1">
                  <c:v>30</c:v>
                </c:pt>
                <c:pt idx="2">
                  <c:v>53</c:v>
                </c:pt>
                <c:pt idx="3">
                  <c:v>61</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Series 1</c:v>
                </c:pt>
              </c:strCache>
            </c:strRef>
          </c:tx>
          <c:cat>
            <c:strRef>
              <c:f>Sheet1!$A$2:$A$5</c:f>
              <c:strCache>
                <c:ptCount val="4"/>
                <c:pt idx="0">
                  <c:v>Q1</c:v>
                </c:pt>
                <c:pt idx="1">
                  <c:v>Q2</c:v>
                </c:pt>
                <c:pt idx="2">
                  <c:v>Q3</c:v>
                </c:pt>
                <c:pt idx="3">
                  <c:v>Q4</c:v>
                </c:pt>
              </c:strCache>
            </c:strRef>
          </c:cat>
          <c:val>
            <c:numRef>
              <c:f>Sheet1!$B$2:$B$5</c:f>
              <c:numCache>
                <c:formatCode>General</c:formatCode>
                <c:ptCount val="4"/>
                <c:pt idx="0">
                  <c:v>68</c:v>
                </c:pt>
                <c:pt idx="1">
                  <c:v>63</c:v>
                </c:pt>
                <c:pt idx="2">
                  <c:v>46</c:v>
                </c:pt>
                <c:pt idx="3">
                  <c:v>73</c:v>
                </c:pt>
              </c:numCache>
            </c:numRef>
          </c:val>
        </c:ser>
        <c:ser>
          <c:idx val="1"/>
          <c:order val="1"/>
          <c:tx>
            <c:strRef>
              <c:f>Sheet1!$C$1</c:f>
              <c:strCache>
                <c:ptCount val="1"/>
                <c:pt idx="0">
                  <c:v>Series 2</c:v>
                </c:pt>
              </c:strCache>
            </c:strRef>
          </c:tx>
          <c:cat>
            <c:strRef>
              <c:f>Sheet1!$A$2:$A$5</c:f>
              <c:strCache>
                <c:ptCount val="4"/>
                <c:pt idx="0">
                  <c:v>Q1</c:v>
                </c:pt>
                <c:pt idx="1">
                  <c:v>Q2</c:v>
                </c:pt>
                <c:pt idx="2">
                  <c:v>Q3</c:v>
                </c:pt>
                <c:pt idx="3">
                  <c:v>Q4</c:v>
                </c:pt>
              </c:strCache>
            </c:strRef>
          </c:cat>
          <c:val>
            <c:numRef>
              <c:f>Sheet1!$C$2:$C$5</c:f>
              <c:numCache>
                <c:formatCode>General</c:formatCode>
                <c:ptCount val="4"/>
                <c:pt idx="0">
                  <c:v>46</c:v>
                </c:pt>
                <c:pt idx="1">
                  <c:v>64</c:v>
                </c:pt>
                <c:pt idx="2">
                  <c:v>68</c:v>
                </c:pt>
                <c:pt idx="3">
                  <c:v>60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Series 1</c:v>
                </c:pt>
              </c:strCache>
            </c:strRef>
          </c:tx>
          <c:cat>
            <c:strRef>
              <c:f>Sheet1!$A$2:$A$5</c:f>
              <c:strCache>
                <c:ptCount val="4"/>
                <c:pt idx="0">
                  <c:v>Q1</c:v>
                </c:pt>
                <c:pt idx="1">
                  <c:v>Q2</c:v>
                </c:pt>
                <c:pt idx="2">
                  <c:v>Q3</c:v>
                </c:pt>
                <c:pt idx="3">
                  <c:v>Q4</c:v>
                </c:pt>
              </c:strCache>
            </c:strRef>
          </c:cat>
          <c:val>
            <c:numRef>
              <c:f>Sheet1!$B$2:$B$5</c:f>
              <c:numCache>
                <c:formatCode>General</c:formatCode>
                <c:ptCount val="4"/>
                <c:pt idx="0">
                  <c:v>73</c:v>
                </c:pt>
                <c:pt idx="1">
                  <c:v>60</c:v>
                </c:pt>
                <c:pt idx="2">
                  <c:v>78</c:v>
                </c:pt>
                <c:pt idx="3">
                  <c:v>65</c:v>
                </c:pt>
              </c:numCache>
            </c:numRef>
          </c:val>
        </c:ser>
        <c:ser>
          <c:idx val="1"/>
          <c:order val="1"/>
          <c:tx>
            <c:strRef>
              <c:f>Sheet1!$C$1</c:f>
              <c:strCache>
                <c:ptCount val="1"/>
                <c:pt idx="0">
                  <c:v>Series 2</c:v>
                </c:pt>
              </c:strCache>
            </c:strRef>
          </c:tx>
          <c:cat>
            <c:strRef>
              <c:f>Sheet1!$A$2:$A$5</c:f>
              <c:strCache>
                <c:ptCount val="4"/>
                <c:pt idx="0">
                  <c:v>Q1</c:v>
                </c:pt>
                <c:pt idx="1">
                  <c:v>Q2</c:v>
                </c:pt>
                <c:pt idx="2">
                  <c:v>Q3</c:v>
                </c:pt>
                <c:pt idx="3">
                  <c:v>Q4</c:v>
                </c:pt>
              </c:strCache>
            </c:strRef>
          </c:cat>
          <c:val>
            <c:numRef>
              <c:f>Sheet1!$C$2:$C$5</c:f>
              <c:numCache>
                <c:formatCode>General</c:formatCode>
                <c:ptCount val="4"/>
                <c:pt idx="0">
                  <c:v>60</c:v>
                </c:pt>
                <c:pt idx="1">
                  <c:v>30</c:v>
                </c:pt>
                <c:pt idx="2">
                  <c:v>38</c:v>
                </c:pt>
                <c:pt idx="3">
                  <c:v>65</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5400" b="1">
                <a:solidFill>
                  <a:srgbClr val="FFFFFF"/>
                </a:solidFill>
              </a:defRPr>
            </a:pPr>
            <a:r>
              <a:t>Oracle: A Comprehensive Overview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Introduction to Oracle</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Oracle's Database Management System (DBMS)</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Oracle Cloud Infrastructure (OCI)</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Oracle Cloud Infrastructure (OCI) offers a comprehensive suite of services that enables organizations to build, deploy, and manage applications in the cloud. At its core, OCI provides a range of infrastructure services including compute, storage, networking, and security capabilities, which can be tailored to meet the specific needs of individual workloads. The platform is also highly versatile, supporting a variety of programming languages such as Java, Python, and Node.js, as well as interfaces with multiple operating systems like Windows, Linux, and macOS. This flexibility, combined with OCI's robust security features, scalability, and reliability, make it an attractive option for organizations of all sizes, from small startups to large-scale enterprises. Furthermore, OCI's seamless integration with Oracle's other products and services enables customers to effortlessly move workloads between on-premises and cloud environments, providing unparalleled flexibility and control in today's modern IT landscape.</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Oracle Cloud Infrastructure is a cloud computing platform that provides infrastructure, platform, and software services to organizations.</a:t>
            </a:r>
          </a:p>
          <a:p>
            <a:pPr>
              <a:lnSpc>
                <a:spcPct val="120000"/>
              </a:lnSpc>
              <a:spcBef>
                <a:spcPts val="300"/>
              </a:spcBef>
              <a:spcAft>
                <a:spcPts val="300"/>
              </a:spcAft>
              <a:defRPr sz="1600">
                <a:solidFill>
                  <a:srgbClr val="0F172A"/>
                </a:solidFill>
              </a:defRPr>
            </a:pPr>
            <a:r>
              <a:t>• OCI offers a range of services including compute, storage, networking, and security, allowing customers to build and deploy applications in the cloud.</a:t>
            </a:r>
          </a:p>
          <a:p>
            <a:pPr>
              <a:lnSpc>
                <a:spcPct val="120000"/>
              </a:lnSpc>
              <a:spcBef>
                <a:spcPts val="300"/>
              </a:spcBef>
              <a:spcAft>
                <a:spcPts val="300"/>
              </a:spcAft>
              <a:defRPr sz="1600">
                <a:solidFill>
                  <a:srgbClr val="0F172A"/>
                </a:solidFill>
              </a:defRPr>
            </a:pPr>
            <a:r>
              <a:t>• The OCI platform supports various programming languages including Java, Python, and Node.js, and has interfaces with multiple operating systems including Windows, Linux, and macOS.</a:t>
            </a:r>
          </a:p>
          <a:p>
            <a:pPr>
              <a:lnSpc>
                <a:spcPct val="120000"/>
              </a:lnSpc>
              <a:spcBef>
                <a:spcPts val="300"/>
              </a:spcBef>
              <a:spcAft>
                <a:spcPts val="300"/>
              </a:spcAft>
              <a:defRPr sz="1600">
                <a:solidFill>
                  <a:srgbClr val="0F172A"/>
                </a:solidFill>
              </a:defRPr>
            </a:pPr>
            <a:r>
              <a:t>• Oracle's OCI is highly secure, scalable, and reliable, making it suitable for a wide range of workloads, from small applications to large-scale enterprise deployments.</a:t>
            </a:r>
          </a:p>
          <a:p>
            <a:pPr>
              <a:lnSpc>
                <a:spcPct val="120000"/>
              </a:lnSpc>
              <a:spcBef>
                <a:spcPts val="300"/>
              </a:spcBef>
              <a:spcAft>
                <a:spcPts val="300"/>
              </a:spcAft>
              <a:defRPr sz="1600">
                <a:solidFill>
                  <a:srgbClr val="0F172A"/>
                </a:solidFill>
              </a:defRPr>
            </a:pPr>
            <a:r>
              <a:t>• OCI is fully integrated with Oracle's other products and services, allowing customers to easily move workloads between on-premises and cloud environments.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Oracle Enterprise Resource Planning (ERP) Software</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Oracle Customer Relationship Management (CRM) Software</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Oracle Java and Middleware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Here is the detailed description:</a:t>
            </a:r>
            <a:br/>
            <a:br/>
            <a:r>
              <a:t>Oracle's Java and Middleware offerings provide a comprehensive suite of tools and technologies for developing and deploying scalable, secure, and reliable applications. At the heart of this ecosystem are the Oracle Java platforms, including WebLogic Server, GlassFish Server, and Coherence, which offer a range of features such as application servers, message queues, and caching capabilities. These platforms support a variety of programming languages, including Java, Python, and C++, and integrate seamlessly with multiple operating systems, including Windows, Linux, and Unix. With its highly scalable, secure, and reliable architecture, Oracle's middleware is well-suited for a broad range of applications, from small web-based deployments to large-scale enterprise environments. Moreover, the software is fully integrated with Oracle's other products and services, enabling customers to easily integrate business processes and systems, thereby streamlining operations and improving overall efficiency.</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Oracle provides a range of Java-based middleware solutions for developing and deploying scalable, secure, and reliable applications.</a:t>
            </a:r>
          </a:p>
          <a:p>
            <a:pPr>
              <a:lnSpc>
                <a:spcPct val="120000"/>
              </a:lnSpc>
              <a:spcBef>
                <a:spcPts val="300"/>
              </a:spcBef>
              <a:spcAft>
                <a:spcPts val="300"/>
              </a:spcAft>
              <a:defRPr sz="1600">
                <a:solidFill>
                  <a:srgbClr val="0F172A"/>
                </a:solidFill>
              </a:defRPr>
            </a:pPr>
            <a:r>
              <a:t>• The Oracle Java platform includes tools such as WebLogic Server, GlassFish Server, and Coherence, which provide features such as application servers, message queues, and caching.</a:t>
            </a:r>
          </a:p>
          <a:p>
            <a:pPr>
              <a:lnSpc>
                <a:spcPct val="120000"/>
              </a:lnSpc>
              <a:spcBef>
                <a:spcPts val="300"/>
              </a:spcBef>
              <a:spcAft>
                <a:spcPts val="300"/>
              </a:spcAft>
              <a:defRPr sz="1600">
                <a:solidFill>
                  <a:srgbClr val="0F172A"/>
                </a:solidFill>
              </a:defRPr>
            </a:pPr>
            <a:r>
              <a:t>• Oracle's middleware solutions support various programming languages including Java, Python, and C++, and have interfaces with multiple operating systems including Windows, Linux, and Unix.</a:t>
            </a:r>
          </a:p>
          <a:p>
            <a:pPr>
              <a:lnSpc>
                <a:spcPct val="120000"/>
              </a:lnSpc>
              <a:spcBef>
                <a:spcPts val="300"/>
              </a:spcBef>
              <a:spcAft>
                <a:spcPts val="300"/>
              </a:spcAft>
              <a:defRPr sz="1600">
                <a:solidFill>
                  <a:srgbClr val="0F172A"/>
                </a:solidFill>
              </a:defRPr>
            </a:pPr>
            <a:r>
              <a:t>• The software is highly scalable, secure, and reliable, making it suitable for a wide range of applications, from small web-based applications to large-scale enterprise deployments.</a:t>
            </a:r>
          </a:p>
          <a:p>
            <a:pPr>
              <a:lnSpc>
                <a:spcPct val="120000"/>
              </a:lnSpc>
              <a:spcBef>
                <a:spcPts val="300"/>
              </a:spcBef>
              <a:spcAft>
                <a:spcPts val="300"/>
              </a:spcAft>
              <a:defRPr sz="1600">
                <a:solidFill>
                  <a:srgbClr val="0F172A"/>
                </a:solidFill>
              </a:defRPr>
            </a:pPr>
            <a:r>
              <a:t>• Oracle's middleware solutions are fully integrated with Oracle's other products and services, allowing customers to easily integrate business processes and systems.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 to Oracle</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Oracle Enterprise Resource Planning (ERP) Software</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Oracle</a:t>
            </a:r>
          </a:p>
          <a:p>
            <a:pPr>
              <a:spcBef>
                <a:spcPts val="800"/>
              </a:spcBef>
              <a:spcAft>
                <a:spcPts val="800"/>
              </a:spcAft>
              <a:defRPr sz="2000">
                <a:solidFill>
                  <a:srgbClr val="F59E0B"/>
                </a:solidFill>
              </a:defRPr>
            </a:pPr>
            <a:r>
              <a:t>✓ Oracle's Database Management System (DBMS)</a:t>
            </a:r>
          </a:p>
          <a:p>
            <a:pPr>
              <a:spcBef>
                <a:spcPts val="800"/>
              </a:spcBef>
              <a:spcAft>
                <a:spcPts val="800"/>
              </a:spcAft>
              <a:defRPr sz="2000">
                <a:solidFill>
                  <a:srgbClr val="F59E0B"/>
                </a:solidFill>
              </a:defRPr>
            </a:pPr>
            <a:r>
              <a:t>✓ Oracle Cloud Infrastructure (OCI)</a:t>
            </a:r>
          </a:p>
          <a:p>
            <a:pPr>
              <a:spcBef>
                <a:spcPts val="800"/>
              </a:spcBef>
              <a:spcAft>
                <a:spcPts val="800"/>
              </a:spcAft>
              <a:defRPr sz="2000">
                <a:solidFill>
                  <a:srgbClr val="F59E0B"/>
                </a:solidFill>
              </a:defRPr>
            </a:pPr>
            <a:r>
              <a:t>✓ Oracle Enterprise Resource Planning (ERP) Software</a:t>
            </a:r>
          </a:p>
          <a:p>
            <a:pPr>
              <a:spcBef>
                <a:spcPts val="800"/>
              </a:spcBef>
              <a:spcAft>
                <a:spcPts val="800"/>
              </a:spcAft>
              <a:defRPr sz="2000">
                <a:solidFill>
                  <a:srgbClr val="F59E0B"/>
                </a:solidFill>
              </a:defRPr>
            </a:pPr>
            <a:r>
              <a:t>✓ Oracle Customer Relationship Management (CRM) Software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