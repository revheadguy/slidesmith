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Adoption (%)</c:v>
                </c:pt>
              </c:strCache>
            </c:strRef>
          </c:tx>
          <c:cat>
            <c:strRef>
              <c:f>Sheet1!$A$2:$A$6</c:f>
              <c:strCache>
                <c:ptCount val="5"/>
                <c:pt idx="0">
                  <c:v>OpenAI</c:v>
                </c:pt>
                <c:pt idx="1">
                  <c:v>Google</c:v>
                </c:pt>
                <c:pt idx="2">
                  <c:v>Meta</c:v>
                </c:pt>
                <c:pt idx="3">
                  <c:v>Anthropic</c:v>
                </c:pt>
                <c:pt idx="4">
                  <c:v>Others</c:v>
                </c:pt>
              </c:strCache>
            </c:strRef>
          </c:cat>
          <c:val>
            <c:numRef>
              <c:f>Sheet1!$B$2:$B$6</c:f>
              <c:numCache>
                <c:formatCode>General</c:formatCode>
                <c:ptCount val="5"/>
                <c:pt idx="0">
                  <c:v>32</c:v>
                </c:pt>
                <c:pt idx="1">
                  <c:v>28</c:v>
                </c:pt>
                <c:pt idx="2">
                  <c:v>18</c:v>
                </c:pt>
                <c:pt idx="3">
                  <c:v>15</c:v>
                </c:pt>
                <c:pt idx="4">
                  <c:v>7</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011680"/>
            <a:ext cx="8229600" cy="2011680"/>
          </a:xfrm>
          <a:prstGeom prst="rect">
            <a:avLst/>
          </a:prstGeom>
          <a:noFill/>
        </p:spPr>
        <p:txBody>
          <a:bodyPr wrap="square">
            <a:normAutofit/>
          </a:bodyPr>
          <a:lstStyle/>
          <a:p>
            <a:pPr algn="ctr">
              <a:lnSpc>
                <a:spcPct val="110000"/>
              </a:lnSpc>
              <a:defRPr sz="4000" b="1">
                <a:solidFill>
                  <a:srgbClr val="FFFFFF"/>
                </a:solidFill>
              </a:defRPr>
            </a:pPr>
            <a:r>
              <a:t>Machine Learning in Day-to-Day Life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Introduction to Machine Learning</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Machine learning is a subset of artificial intelligence that involves training algorithms on data to make predictions or decisions without being explicitly programmed. This technology has become ubiquitous in our daily lives, and it's essential to understand how it works. In this presentation, we'll explore the various applications of machine learning in day-to-day life. From personalized recommendations to image recognition, we'll delve into the fascinating world of machine learning. With its increasing importance, it's crucial to grasp the fundamental concepts of this technology.</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Definition and significance of machine learning</a:t>
            </a:r>
          </a:p>
          <a:p>
            <a:pPr>
              <a:lnSpc>
                <a:spcPct val="120000"/>
              </a:lnSpc>
              <a:spcBef>
                <a:spcPts val="300"/>
              </a:spcBef>
              <a:spcAft>
                <a:spcPts val="300"/>
              </a:spcAft>
              <a:defRPr sz="1600">
                <a:solidFill>
                  <a:srgbClr val="0F172A"/>
                </a:solidFill>
              </a:defRPr>
            </a:pPr>
            <a:r>
              <a:t>• Applications of machine learning</a:t>
            </a:r>
          </a:p>
          <a:p>
            <a:pPr>
              <a:lnSpc>
                <a:spcPct val="120000"/>
              </a:lnSpc>
              <a:spcBef>
                <a:spcPts val="300"/>
              </a:spcBef>
              <a:spcAft>
                <a:spcPts val="300"/>
              </a:spcAft>
              <a:defRPr sz="1600">
                <a:solidFill>
                  <a:srgbClr val="0F172A"/>
                </a:solidFill>
              </a:defRPr>
            </a:pPr>
            <a:r>
              <a:t>• How machine learning differs from traditional programming</a:t>
            </a:r>
          </a:p>
          <a:p>
            <a:pPr>
              <a:lnSpc>
                <a:spcPct val="120000"/>
              </a:lnSpc>
              <a:spcBef>
                <a:spcPts val="300"/>
              </a:spcBef>
              <a:spcAft>
                <a:spcPts val="300"/>
              </a:spcAft>
              <a:defRPr sz="1600">
                <a:solidFill>
                  <a:srgbClr val="0F172A"/>
                </a:solidFill>
              </a:defRPr>
            </a:pPr>
            <a:r>
              <a:t>• Examples of machine learning in daily life</a:t>
            </a:r>
          </a:p>
          <a:p>
            <a:pPr>
              <a:lnSpc>
                <a:spcPct val="120000"/>
              </a:lnSpc>
              <a:spcBef>
                <a:spcPts val="300"/>
              </a:spcBef>
              <a:spcAft>
                <a:spcPts val="300"/>
              </a:spcAft>
              <a:defRPr sz="1600">
                <a:solidFill>
                  <a:srgbClr val="0F172A"/>
                </a:solidFill>
              </a:defRPr>
            </a:pPr>
            <a:r>
              <a:t>• Importance of understanding machine learning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Recommendation Systems</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One of the most popular applications of machine learning is recommendation systems. These algorithms analyze user behavior and provide personalized suggestions for movies, music, products, or even job opportunities. For instance, Netflix uses machine learning to recommend TV shows based on a user's viewing history. Recommendation systems have revolutionized the way we discover new content and make purchasing decisions.</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Definition of recommendation systems</a:t>
            </a:r>
          </a:p>
          <a:p>
            <a:pPr>
              <a:lnSpc>
                <a:spcPct val="115000"/>
              </a:lnSpc>
              <a:spcBef>
                <a:spcPts val="200"/>
              </a:spcBef>
              <a:spcAft>
                <a:spcPts val="200"/>
              </a:spcAft>
              <a:defRPr sz="1500">
                <a:solidFill>
                  <a:srgbClr val="0F172A"/>
                </a:solidFill>
              </a:defRPr>
            </a:pPr>
            <a:r>
              <a:t>• How machine learning is used in recommendation systems</a:t>
            </a:r>
          </a:p>
          <a:p>
            <a:pPr>
              <a:lnSpc>
                <a:spcPct val="115000"/>
              </a:lnSpc>
              <a:spcBef>
                <a:spcPts val="200"/>
              </a:spcBef>
              <a:spcAft>
                <a:spcPts val="200"/>
              </a:spcAft>
              <a:defRPr sz="1500">
                <a:solidFill>
                  <a:srgbClr val="0F172A"/>
                </a:solidFill>
              </a:defRPr>
            </a:pPr>
            <a:r>
              <a:t>• Examples of recommendation systems in daily life</a:t>
            </a:r>
          </a:p>
          <a:p>
            <a:pPr>
              <a:lnSpc>
                <a:spcPct val="115000"/>
              </a:lnSpc>
              <a:spcBef>
                <a:spcPts val="200"/>
              </a:spcBef>
              <a:spcAft>
                <a:spcPts val="200"/>
              </a:spcAft>
              <a:defRPr sz="1500">
                <a:solidFill>
                  <a:srgbClr val="0F172A"/>
                </a:solidFill>
              </a:defRPr>
            </a:pPr>
            <a:r>
              <a:t>• Benefits of personalized recommendations</a:t>
            </a:r>
          </a:p>
          <a:p>
            <a:pPr>
              <a:lnSpc>
                <a:spcPct val="115000"/>
              </a:lnSpc>
              <a:spcBef>
                <a:spcPts val="200"/>
              </a:spcBef>
              <a:spcAft>
                <a:spcPts val="200"/>
              </a:spcAft>
              <a:defRPr sz="1500">
                <a:solidFill>
                  <a:srgbClr val="0F172A"/>
                </a:solidFill>
              </a:defRPr>
            </a:pPr>
            <a:r>
              <a:t>• Challenges faced by recommendation systems</a:t>
            </a:r>
          </a:p>
        </p:txBody>
      </p:sp>
      <p:pic>
        <p:nvPicPr>
          <p:cNvPr id="5" name="Picture 4" descr="unsplash_f57lx37DCM4.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Image Recognition and Object Detection</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Machine learning has also made significant strides in image recognition and object detection. This technology enables self-driving cars to identify pedestrians, animals, or other vehicles on the road. Similarly, facial recognition algorithms are used in security systems to verify identities. These advancements have far-reaching implications for industries like healthcare, finance, and law enforcement.</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Definition of image recognition and object detection</a:t>
            </a:r>
          </a:p>
          <a:p>
            <a:pPr>
              <a:lnSpc>
                <a:spcPct val="120000"/>
              </a:lnSpc>
              <a:spcBef>
                <a:spcPts val="300"/>
              </a:spcBef>
              <a:spcAft>
                <a:spcPts val="300"/>
              </a:spcAft>
              <a:defRPr sz="1600">
                <a:solidFill>
                  <a:srgbClr val="0F172A"/>
                </a:solidFill>
              </a:defRPr>
            </a:pPr>
            <a:r>
              <a:t>• How machine learning is used in image recognition</a:t>
            </a:r>
          </a:p>
          <a:p>
            <a:pPr>
              <a:lnSpc>
                <a:spcPct val="120000"/>
              </a:lnSpc>
              <a:spcBef>
                <a:spcPts val="300"/>
              </a:spcBef>
              <a:spcAft>
                <a:spcPts val="300"/>
              </a:spcAft>
              <a:defRPr sz="1600">
                <a:solidFill>
                  <a:srgbClr val="0F172A"/>
                </a:solidFill>
              </a:defRPr>
            </a:pPr>
            <a:r>
              <a:t>• Examples of image recognition and object detection in daily life</a:t>
            </a:r>
          </a:p>
          <a:p>
            <a:pPr>
              <a:lnSpc>
                <a:spcPct val="120000"/>
              </a:lnSpc>
              <a:spcBef>
                <a:spcPts val="300"/>
              </a:spcBef>
              <a:spcAft>
                <a:spcPts val="300"/>
              </a:spcAft>
              <a:defRPr sz="1600">
                <a:solidFill>
                  <a:srgbClr val="0F172A"/>
                </a:solidFill>
              </a:defRPr>
            </a:pPr>
            <a:r>
              <a:t>• Benefits of improved object detection</a:t>
            </a:r>
          </a:p>
          <a:p>
            <a:pPr>
              <a:lnSpc>
                <a:spcPct val="120000"/>
              </a:lnSpc>
              <a:spcBef>
                <a:spcPts val="300"/>
              </a:spcBef>
              <a:spcAft>
                <a:spcPts val="300"/>
              </a:spcAft>
              <a:defRPr sz="1600">
                <a:solidFill>
                  <a:srgbClr val="0F172A"/>
                </a:solidFill>
              </a:defRPr>
            </a:pPr>
            <a:r>
              <a:t>• Challenges faced by image recognition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Natural Language Processing (NLP)</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Natural language processing (NLP) is another significant application of machine learning. This technology enables computers to understand and generate human-like text, making it possible for virtual assistants like Siri or Alexa to respond to voice commands. NLP has also enabled chatbots to provide customer support and improved language translation capabilities.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Definition of natural language processing</a:t>
            </a:r>
          </a:p>
          <a:p>
            <a:pPr>
              <a:lnSpc>
                <a:spcPct val="120000"/>
              </a:lnSpc>
              <a:spcBef>
                <a:spcPts val="300"/>
              </a:spcBef>
              <a:spcAft>
                <a:spcPts val="300"/>
              </a:spcAft>
              <a:defRPr sz="1600">
                <a:solidFill>
                  <a:srgbClr val="0F172A"/>
                </a:solidFill>
              </a:defRPr>
            </a:pPr>
            <a:r>
              <a:t>• How machine learning is used in NLP</a:t>
            </a:r>
          </a:p>
          <a:p>
            <a:pPr>
              <a:lnSpc>
                <a:spcPct val="120000"/>
              </a:lnSpc>
              <a:spcBef>
                <a:spcPts val="300"/>
              </a:spcBef>
              <a:spcAft>
                <a:spcPts val="300"/>
              </a:spcAft>
              <a:defRPr sz="1600">
                <a:solidFill>
                  <a:srgbClr val="0F172A"/>
                </a:solidFill>
              </a:defRPr>
            </a:pPr>
            <a:r>
              <a:t>• Examples of NLP in daily life</a:t>
            </a:r>
          </a:p>
          <a:p>
            <a:pPr>
              <a:lnSpc>
                <a:spcPct val="120000"/>
              </a:lnSpc>
              <a:spcBef>
                <a:spcPts val="300"/>
              </a:spcBef>
              <a:spcAft>
                <a:spcPts val="300"/>
              </a:spcAft>
              <a:defRPr sz="1600">
                <a:solidFill>
                  <a:srgbClr val="0F172A"/>
                </a:solidFill>
              </a:defRPr>
            </a:pPr>
            <a:r>
              <a:t>• Benefits of improved NLP</a:t>
            </a:r>
          </a:p>
          <a:p>
            <a:pPr>
              <a:lnSpc>
                <a:spcPct val="120000"/>
              </a:lnSpc>
              <a:spcBef>
                <a:spcPts val="300"/>
              </a:spcBef>
              <a:spcAft>
                <a:spcPts val="300"/>
              </a:spcAft>
              <a:defRPr sz="1600">
                <a:solidFill>
                  <a:srgbClr val="0F172A"/>
                </a:solidFill>
              </a:defRPr>
            </a:pPr>
            <a:r>
              <a:t>• Challenges faced by NLP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Predictive Maintenance and Quality Control</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Machine learning has also been instrumental in predictive maintenance and quality control. These algorithms analyze data from sensors and equipment to predict when a machine might fail or require maintenance. This technology has improved efficiency and reduced costs for industries like manufacturing and healthcare.</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Definition of predictive maintenance and quality control</a:t>
            </a:r>
          </a:p>
          <a:p>
            <a:pPr>
              <a:lnSpc>
                <a:spcPct val="115000"/>
              </a:lnSpc>
              <a:spcBef>
                <a:spcPts val="200"/>
              </a:spcBef>
              <a:spcAft>
                <a:spcPts val="200"/>
              </a:spcAft>
              <a:defRPr sz="1500">
                <a:solidFill>
                  <a:srgbClr val="0F172A"/>
                </a:solidFill>
              </a:defRPr>
            </a:pPr>
            <a:r>
              <a:t>• How machine learning is used in predictive maintenance</a:t>
            </a:r>
          </a:p>
          <a:p>
            <a:pPr>
              <a:lnSpc>
                <a:spcPct val="115000"/>
              </a:lnSpc>
              <a:spcBef>
                <a:spcPts val="200"/>
              </a:spcBef>
              <a:spcAft>
                <a:spcPts val="200"/>
              </a:spcAft>
              <a:defRPr sz="1500">
                <a:solidFill>
                  <a:srgbClr val="0F172A"/>
                </a:solidFill>
              </a:defRPr>
            </a:pPr>
            <a:r>
              <a:t>• Examples of predictive maintenance in daily life</a:t>
            </a:r>
          </a:p>
          <a:p>
            <a:pPr>
              <a:lnSpc>
                <a:spcPct val="115000"/>
              </a:lnSpc>
              <a:spcBef>
                <a:spcPts val="200"/>
              </a:spcBef>
              <a:spcAft>
                <a:spcPts val="200"/>
              </a:spcAft>
              <a:defRPr sz="1500">
                <a:solidFill>
                  <a:srgbClr val="0F172A"/>
                </a:solidFill>
              </a:defRPr>
            </a:pPr>
            <a:r>
              <a:t>• Benefits of improved predictive maintenance</a:t>
            </a:r>
          </a:p>
          <a:p>
            <a:pPr>
              <a:lnSpc>
                <a:spcPct val="115000"/>
              </a:lnSpc>
              <a:spcBef>
                <a:spcPts val="200"/>
              </a:spcBef>
              <a:spcAft>
                <a:spcPts val="200"/>
              </a:spcAft>
              <a:defRPr sz="1500">
                <a:solidFill>
                  <a:srgbClr val="0F172A"/>
                </a:solidFill>
              </a:defRPr>
            </a:pPr>
            <a:r>
              <a:t>• Challenges faced by predictive maintenance</a:t>
            </a:r>
          </a:p>
        </p:txBody>
      </p:sp>
      <p:pic>
        <p:nvPicPr>
          <p:cNvPr id="5" name="Picture 4" descr="unsplash_f57lx37DCM4.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Conclusion - Adoption (%)</a:t>
            </a:r>
          </a:p>
        </p:txBody>
      </p:sp>
      <p:graphicFrame>
        <p:nvGraphicFramePr>
          <p:cNvPr id="4" name="Chart 3"/>
          <p:cNvGraphicFramePr>
            <a:graphicFrameLocks noGrp="1"/>
          </p:cNvGraphicFramePr>
          <p:nvPr/>
        </p:nvGraphicFramePr>
        <p:xfrm>
          <a:off x="457200" y="1463040"/>
          <a:ext cx="82296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Presentation Flow</a:t>
            </a:r>
          </a:p>
        </p:txBody>
      </p:sp>
      <p:sp>
        <p:nvSpPr>
          <p:cNvPr id="4" name="Rectangle 3"/>
          <p:cNvSpPr/>
          <p:nvPr/>
        </p:nvSpPr>
        <p:spPr>
          <a:xfrm>
            <a:off x="4572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54480"/>
            <a:ext cx="2225040" cy="457200"/>
          </a:xfrm>
          <a:prstGeom prst="rect">
            <a:avLst/>
          </a:prstGeom>
          <a:noFill/>
        </p:spPr>
        <p:txBody>
          <a:bodyPr wrap="square">
            <a:spAutoFit/>
          </a:bodyPr>
          <a:lstStyle/>
          <a:p>
            <a:pPr algn="ctr">
              <a:defRPr sz="1600" b="1">
                <a:solidFill>
                  <a:srgbClr val="1E40AF"/>
                </a:solidFill>
              </a:defRPr>
            </a:pPr>
            <a:r>
              <a:t>Beginning</a:t>
            </a:r>
          </a:p>
        </p:txBody>
      </p:sp>
      <p:sp>
        <p:nvSpPr>
          <p:cNvPr id="6" name="TextBox 5"/>
          <p:cNvSpPr txBox="1"/>
          <p:nvPr/>
        </p:nvSpPr>
        <p:spPr>
          <a:xfrm>
            <a:off x="594360" y="2194560"/>
            <a:ext cx="2225040" cy="3657600"/>
          </a:xfrm>
          <a:prstGeom prst="rect">
            <a:avLst/>
          </a:prstGeom>
          <a:noFill/>
        </p:spPr>
        <p:txBody>
          <a:bodyPr wrap="square">
            <a:spAutoFit/>
          </a:bodyPr>
          <a:lstStyle/>
          <a:p>
            <a:pPr>
              <a:lnSpc>
                <a:spcPct val="140000"/>
              </a:lnSpc>
              <a:defRPr sz="1300">
                <a:solidFill>
                  <a:srgbClr val="64748B"/>
                </a:solidFill>
              </a:defRPr>
            </a:pPr>
            <a:r>
              <a:t>Introduction to Machine Learning</a:t>
            </a:r>
          </a:p>
        </p:txBody>
      </p:sp>
      <p:sp>
        <p:nvSpPr>
          <p:cNvPr id="7" name="Rectangle 6"/>
          <p:cNvSpPr/>
          <p:nvPr/>
        </p:nvSpPr>
        <p:spPr>
          <a:xfrm>
            <a:off x="30480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5160" y="1554480"/>
            <a:ext cx="2225040" cy="457200"/>
          </a:xfrm>
          <a:prstGeom prst="rect">
            <a:avLst/>
          </a:prstGeom>
          <a:noFill/>
        </p:spPr>
        <p:txBody>
          <a:bodyPr wrap="square">
            <a:spAutoFit/>
          </a:bodyPr>
          <a:lstStyle/>
          <a:p>
            <a:pPr algn="ctr">
              <a:defRPr sz="1600" b="1">
                <a:solidFill>
                  <a:srgbClr val="1E40AF"/>
                </a:solidFill>
              </a:defRPr>
            </a:pPr>
            <a:r>
              <a:t>Middle</a:t>
            </a:r>
          </a:p>
        </p:txBody>
      </p:sp>
      <p:sp>
        <p:nvSpPr>
          <p:cNvPr id="9" name="TextBox 8"/>
          <p:cNvSpPr txBox="1"/>
          <p:nvPr/>
        </p:nvSpPr>
        <p:spPr>
          <a:xfrm>
            <a:off x="3185160" y="2194560"/>
            <a:ext cx="2225040" cy="3657600"/>
          </a:xfrm>
          <a:prstGeom prst="rect">
            <a:avLst/>
          </a:prstGeom>
          <a:noFill/>
        </p:spPr>
        <p:txBody>
          <a:bodyPr wrap="square">
            <a:spAutoFit/>
          </a:bodyPr>
          <a:lstStyle/>
          <a:p>
            <a:pPr>
              <a:lnSpc>
                <a:spcPct val="140000"/>
              </a:lnSpc>
              <a:defRPr sz="1300">
                <a:solidFill>
                  <a:srgbClr val="64748B"/>
                </a:solidFill>
              </a:defRPr>
            </a:pPr>
            <a:r>
              <a:t>Natural Language Processing (NLP)</a:t>
            </a:r>
          </a:p>
        </p:txBody>
      </p:sp>
      <p:sp>
        <p:nvSpPr>
          <p:cNvPr id="10" name="Rectangle 9"/>
          <p:cNvSpPr/>
          <p:nvPr/>
        </p:nvSpPr>
        <p:spPr>
          <a:xfrm>
            <a:off x="56388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5960" y="1554480"/>
            <a:ext cx="2225040" cy="457200"/>
          </a:xfrm>
          <a:prstGeom prst="rect">
            <a:avLst/>
          </a:prstGeom>
          <a:noFill/>
        </p:spPr>
        <p:txBody>
          <a:bodyPr wrap="square">
            <a:spAutoFit/>
          </a:bodyPr>
          <a:lstStyle/>
          <a:p>
            <a:pPr algn="ctr">
              <a:defRPr sz="1600" b="1">
                <a:solidFill>
                  <a:srgbClr val="1E40AF"/>
                </a:solidFill>
              </a:defRPr>
            </a:pPr>
            <a:r>
              <a:t>End</a:t>
            </a:r>
          </a:p>
        </p:txBody>
      </p:sp>
      <p:sp>
        <p:nvSpPr>
          <p:cNvPr id="12" name="TextBox 11"/>
          <p:cNvSpPr txBox="1"/>
          <p:nvPr/>
        </p:nvSpPr>
        <p:spPr>
          <a:xfrm>
            <a:off x="5775960" y="2194560"/>
            <a:ext cx="2225040" cy="3657600"/>
          </a:xfrm>
          <a:prstGeom prst="rect">
            <a:avLst/>
          </a:prstGeom>
          <a:noFill/>
        </p:spPr>
        <p:txBody>
          <a:bodyPr wrap="square">
            <a:spAutoFit/>
          </a:bodyPr>
          <a:lstStyle/>
          <a:p>
            <a:pPr>
              <a:lnSpc>
                <a:spcPct val="140000"/>
              </a:lnSpc>
              <a:defRPr sz="1300">
                <a:solidFill>
                  <a:srgbClr val="64748B"/>
                </a:solidFill>
              </a:defRPr>
            </a:pPr>
            <a:r>
              <a:t>Conclusion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Introduction to Machine Learning</a:t>
            </a:r>
          </a:p>
          <a:p>
            <a:pPr>
              <a:spcBef>
                <a:spcPts val="800"/>
              </a:spcBef>
              <a:spcAft>
                <a:spcPts val="800"/>
              </a:spcAft>
              <a:defRPr sz="2000">
                <a:solidFill>
                  <a:srgbClr val="F59E0B"/>
                </a:solidFill>
              </a:defRPr>
            </a:pPr>
            <a:r>
              <a:t>✓ Recommendation Systems</a:t>
            </a:r>
          </a:p>
          <a:p>
            <a:pPr>
              <a:spcBef>
                <a:spcPts val="800"/>
              </a:spcBef>
              <a:spcAft>
                <a:spcPts val="800"/>
              </a:spcAft>
              <a:defRPr sz="2000">
                <a:solidFill>
                  <a:srgbClr val="F59E0B"/>
                </a:solidFill>
              </a:defRPr>
            </a:pPr>
            <a:r>
              <a:t>✓ Image Recognition and Object Detection</a:t>
            </a:r>
          </a:p>
          <a:p>
            <a:pPr>
              <a:spcBef>
                <a:spcPts val="800"/>
              </a:spcBef>
              <a:spcAft>
                <a:spcPts val="800"/>
              </a:spcAft>
              <a:defRPr sz="2000">
                <a:solidFill>
                  <a:srgbClr val="F59E0B"/>
                </a:solidFill>
              </a:defRPr>
            </a:pPr>
            <a:r>
              <a:t>✓ Natural Language Processing (NLP)</a:t>
            </a:r>
          </a:p>
          <a:p>
            <a:pPr>
              <a:spcBef>
                <a:spcPts val="800"/>
              </a:spcBef>
              <a:spcAft>
                <a:spcPts val="800"/>
              </a:spcAft>
              <a:defRPr sz="2000">
                <a:solidFill>
                  <a:srgbClr val="F59E0B"/>
                </a:solidFill>
              </a:defRPr>
            </a:pPr>
            <a:r>
              <a:t>✓ Predictive Maintenance and Quality Control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