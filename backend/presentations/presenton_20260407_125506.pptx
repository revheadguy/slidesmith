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Future Index (%)</c:v>
                </c:pt>
              </c:strCache>
            </c:strRef>
          </c:tx>
          <c:cat>
            <c:strRef>
              <c:f>Sheet1!$A$2:$A$6</c:f>
              <c:strCache>
                <c:ptCount val="5"/>
                <c:pt idx="0">
                  <c:v>NASA's manned missio</c:v>
                </c:pt>
                <c:pt idx="1">
                  <c:v>Private company inno</c:v>
                </c:pt>
                <c:pt idx="2">
                  <c:v>Reusable rockets</c:v>
                </c:pt>
                <c:pt idx="3">
                  <c:v>Lunar exploration</c:v>
                </c:pt>
                <c:pt idx="4">
                  <c:v>Future breakthroughs</c:v>
                </c:pt>
              </c:strCache>
            </c:strRef>
          </c:cat>
          <c:val>
            <c:numRef>
              <c:f>Sheet1!$B$2:$B$6</c:f>
              <c:numCache>
                <c:formatCode>General</c:formatCode>
                <c:ptCount val="5"/>
                <c:pt idx="0">
                  <c:v>29</c:v>
                </c:pt>
                <c:pt idx="1">
                  <c:v>35</c:v>
                </c:pt>
                <c:pt idx="2">
                  <c:v>48</c:v>
                </c:pt>
                <c:pt idx="3">
                  <c:v>75</c:v>
                </c:pt>
                <c:pt idx="4">
                  <c:v>81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Space Exploration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Space Exploration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Space exploration is a vital aspect of human civilization. It has enabled us to understand the universe, its mysteries, and the potential for life beyond Earth. The history of space exploration dates back to the launch of Sputnik in 1957, marking the beginning of the space age. Since then, numerous space agencies and private companies have been working tirelessly to expand our knowledge and capabilities. This presentation will explore the significance of space exploration and its future prospects.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Understanding the universe</a:t>
            </a:r>
          </a:p>
          <a:p>
            <a:pPr>
              <a:lnSpc>
                <a:spcPct val="120000"/>
              </a:lnSpc>
              <a:spcBef>
                <a:spcPts val="300"/>
              </a:spcBef>
              <a:spcAft>
                <a:spcPts val="300"/>
              </a:spcAft>
              <a:defRPr sz="1600">
                <a:solidFill>
                  <a:srgbClr val="0F172A"/>
                </a:solidFill>
              </a:defRPr>
            </a:pPr>
            <a:r>
              <a:t>• Exploring the mysteries of space</a:t>
            </a:r>
          </a:p>
          <a:p>
            <a:pPr>
              <a:lnSpc>
                <a:spcPct val="120000"/>
              </a:lnSpc>
              <a:spcBef>
                <a:spcPts val="300"/>
              </a:spcBef>
              <a:spcAft>
                <a:spcPts val="300"/>
              </a:spcAft>
              <a:defRPr sz="1600">
                <a:solidFill>
                  <a:srgbClr val="0F172A"/>
                </a:solidFill>
              </a:defRPr>
            </a:pPr>
            <a:r>
              <a:t>• Potential for life beyond Earth</a:t>
            </a:r>
          </a:p>
          <a:p>
            <a:pPr>
              <a:lnSpc>
                <a:spcPct val="120000"/>
              </a:lnSpc>
              <a:spcBef>
                <a:spcPts val="300"/>
              </a:spcBef>
              <a:spcAft>
                <a:spcPts val="300"/>
              </a:spcAft>
              <a:defRPr sz="1600">
                <a:solidFill>
                  <a:srgbClr val="0F172A"/>
                </a:solidFill>
              </a:defRPr>
            </a:pPr>
            <a:r>
              <a:t>• Advancements in technology</a:t>
            </a:r>
          </a:p>
          <a:p>
            <a:pPr>
              <a:lnSpc>
                <a:spcPct val="120000"/>
              </a:lnSpc>
              <a:spcBef>
                <a:spcPts val="300"/>
              </a:spcBef>
              <a:spcAft>
                <a:spcPts val="300"/>
              </a:spcAft>
              <a:defRPr sz="1600">
                <a:solidFill>
                  <a:srgbClr val="0F172A"/>
                </a:solidFill>
              </a:defRPr>
            </a:pPr>
            <a:r>
              <a:t>• Pushing human boundaries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Current State of Space Exploration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Today, space exploration is a highly complex and dynamic field. Governments and private companies are working together to achieve significant milestones. NASA's Artemis program aims to return humans to the Moon by 2024 and establish a sustainable presence on the lunar surface. The European Space Agency's (ESA) BepiColombo mission will explore Mercury in 2025, providing insights into the planet's magnetic field and composition.</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NASA's Artemis program</a:t>
            </a:r>
          </a:p>
          <a:p>
            <a:pPr>
              <a:lnSpc>
                <a:spcPct val="115000"/>
              </a:lnSpc>
              <a:spcBef>
                <a:spcPts val="200"/>
              </a:spcBef>
              <a:spcAft>
                <a:spcPts val="200"/>
              </a:spcAft>
              <a:defRPr sz="1500">
                <a:solidFill>
                  <a:srgbClr val="0F172A"/>
                </a:solidFill>
              </a:defRPr>
            </a:pPr>
            <a:r>
              <a:t>• European Space Agency's (ESA) BepiColombo mission</a:t>
            </a:r>
          </a:p>
          <a:p>
            <a:pPr>
              <a:lnSpc>
                <a:spcPct val="115000"/>
              </a:lnSpc>
              <a:spcBef>
                <a:spcPts val="200"/>
              </a:spcBef>
              <a:spcAft>
                <a:spcPts val="200"/>
              </a:spcAft>
              <a:defRPr sz="1500">
                <a:solidFill>
                  <a:srgbClr val="0F172A"/>
                </a:solidFill>
              </a:defRPr>
            </a:pPr>
            <a:r>
              <a:t>• International collaboration</a:t>
            </a:r>
          </a:p>
          <a:p>
            <a:pPr>
              <a:lnSpc>
                <a:spcPct val="115000"/>
              </a:lnSpc>
              <a:spcBef>
                <a:spcPts val="200"/>
              </a:spcBef>
              <a:spcAft>
                <a:spcPts val="200"/>
              </a:spcAft>
              <a:defRPr sz="1500">
                <a:solidFill>
                  <a:srgbClr val="0F172A"/>
                </a:solidFill>
              </a:defRPr>
            </a:pPr>
            <a:r>
              <a:t>• Technological advancements</a:t>
            </a:r>
          </a:p>
          <a:p>
            <a:pPr>
              <a:lnSpc>
                <a:spcPct val="115000"/>
              </a:lnSpc>
              <a:spcBef>
                <a:spcPts val="200"/>
              </a:spcBef>
              <a:spcAft>
                <a:spcPts val="200"/>
              </a:spcAft>
              <a:defRPr sz="1500">
                <a:solidFill>
                  <a:srgbClr val="0F172A"/>
                </a:solidFill>
              </a:defRPr>
            </a:pPr>
            <a:r>
              <a:t>• Scientific discoveries</a:t>
            </a:r>
          </a:p>
        </p:txBody>
      </p:sp>
      <p:pic>
        <p:nvPicPr>
          <p:cNvPr id="5" name="Picture 4" descr="unsplash_DIcbqbeV08s.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Benefits of Space Exploration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Space exploration has numerous benefits that impact our daily lives. The development of satellite technology has enabled global communication, navigation, and weather forecasting. Space-based telescopes have greatly advanced our understanding of the universe, providing insights into the formation and evolution of galaxies. Moreover, space exploration drives innovation, fostering technological advancements in fields such as medicine, energy, and transportation.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Advancements in satellite technology</a:t>
            </a:r>
          </a:p>
          <a:p>
            <a:pPr>
              <a:lnSpc>
                <a:spcPct val="120000"/>
              </a:lnSpc>
              <a:spcBef>
                <a:spcPts val="300"/>
              </a:spcBef>
              <a:spcAft>
                <a:spcPts val="300"/>
              </a:spcAft>
              <a:defRPr sz="1600">
                <a:solidFill>
                  <a:srgbClr val="0F172A"/>
                </a:solidFill>
              </a:defRPr>
            </a:pPr>
            <a:r>
              <a:t>• Improved communication and navigation</a:t>
            </a:r>
          </a:p>
          <a:p>
            <a:pPr>
              <a:lnSpc>
                <a:spcPct val="120000"/>
              </a:lnSpc>
              <a:spcBef>
                <a:spcPts val="300"/>
              </a:spcBef>
              <a:spcAft>
                <a:spcPts val="300"/>
              </a:spcAft>
              <a:defRPr sz="1600">
                <a:solidFill>
                  <a:srgbClr val="0F172A"/>
                </a:solidFill>
              </a:defRPr>
            </a:pPr>
            <a:r>
              <a:t>• Enhanced weather forecasting</a:t>
            </a:r>
          </a:p>
          <a:p>
            <a:pPr>
              <a:lnSpc>
                <a:spcPct val="120000"/>
              </a:lnSpc>
              <a:spcBef>
                <a:spcPts val="300"/>
              </a:spcBef>
              <a:spcAft>
                <a:spcPts val="300"/>
              </a:spcAft>
              <a:defRPr sz="1600">
                <a:solidFill>
                  <a:srgbClr val="0F172A"/>
                </a:solidFill>
              </a:defRPr>
            </a:pPr>
            <a:r>
              <a:t>• Increased scientific knowledge</a:t>
            </a:r>
          </a:p>
          <a:p>
            <a:pPr>
              <a:lnSpc>
                <a:spcPct val="120000"/>
              </a:lnSpc>
              <a:spcBef>
                <a:spcPts val="300"/>
              </a:spcBef>
              <a:spcAft>
                <a:spcPts val="300"/>
              </a:spcAft>
              <a:defRPr sz="1600">
                <a:solidFill>
                  <a:srgbClr val="0F172A"/>
                </a:solidFill>
              </a:defRPr>
            </a:pPr>
            <a:r>
              <a:t>• Technological spin-offs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and Risks of Space Exploration</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While space exploration offers many benefits, it also presents significant challenges and risks. The harsh environment of space poses numerous technical hurdles, including radiation exposure, extreme temperatures, and the lack of breathable air. Moreover, the vast distances between celestial bodies make long-duration missions a logistical nightmare. Human error and equipment failure can also have catastrophic consequences.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Technical challenges</a:t>
            </a:r>
          </a:p>
          <a:p>
            <a:pPr>
              <a:lnSpc>
                <a:spcPct val="115000"/>
              </a:lnSpc>
              <a:spcBef>
                <a:spcPts val="200"/>
              </a:spcBef>
              <a:spcAft>
                <a:spcPts val="200"/>
              </a:spcAft>
              <a:defRPr sz="1500">
                <a:solidFill>
                  <a:srgbClr val="0F172A"/>
                </a:solidFill>
              </a:defRPr>
            </a:pPr>
            <a:r>
              <a:t>• Radiation exposure</a:t>
            </a:r>
          </a:p>
          <a:p>
            <a:pPr>
              <a:lnSpc>
                <a:spcPct val="115000"/>
              </a:lnSpc>
              <a:spcBef>
                <a:spcPts val="200"/>
              </a:spcBef>
              <a:spcAft>
                <a:spcPts val="200"/>
              </a:spcAft>
              <a:defRPr sz="1500">
                <a:solidFill>
                  <a:srgbClr val="0F172A"/>
                </a:solidFill>
              </a:defRPr>
            </a:pPr>
            <a:r>
              <a:t>• Extreme temperatures</a:t>
            </a:r>
          </a:p>
          <a:p>
            <a:pPr>
              <a:lnSpc>
                <a:spcPct val="115000"/>
              </a:lnSpc>
              <a:spcBef>
                <a:spcPts val="200"/>
              </a:spcBef>
              <a:spcAft>
                <a:spcPts val="200"/>
              </a:spcAft>
              <a:defRPr sz="1500">
                <a:solidFill>
                  <a:srgbClr val="0F172A"/>
                </a:solidFill>
              </a:defRPr>
            </a:pPr>
            <a:r>
              <a:t>• Logistical difficulties</a:t>
            </a:r>
          </a:p>
          <a:p>
            <a:pPr>
              <a:lnSpc>
                <a:spcPct val="115000"/>
              </a:lnSpc>
              <a:spcBef>
                <a:spcPts val="200"/>
              </a:spcBef>
              <a:spcAft>
                <a:spcPts val="200"/>
              </a:spcAft>
              <a:defRPr sz="1500">
                <a:solidFill>
                  <a:srgbClr val="0F172A"/>
                </a:solidFill>
              </a:defRPr>
            </a:pPr>
            <a:r>
              <a:t>• Human error</a:t>
            </a:r>
          </a:p>
        </p:txBody>
      </p:sp>
      <p:pic>
        <p:nvPicPr>
          <p:cNvPr id="5" name="Picture 4" descr="unsplash_I_pzCqLgRd4.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Future Prospects of Space Exploration - Future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Space Exploration</a:t>
            </a:r>
          </a:p>
          <a:p>
            <a:pPr>
              <a:spcBef>
                <a:spcPts val="800"/>
              </a:spcBef>
              <a:spcAft>
                <a:spcPts val="800"/>
              </a:spcAft>
              <a:defRPr sz="2000">
                <a:solidFill>
                  <a:srgbClr val="F59E0B"/>
                </a:solidFill>
              </a:defRPr>
            </a:pPr>
            <a:r>
              <a:t>✓ Current State of Space Exploration</a:t>
            </a:r>
          </a:p>
          <a:p>
            <a:pPr>
              <a:spcBef>
                <a:spcPts val="800"/>
              </a:spcBef>
              <a:spcAft>
                <a:spcPts val="800"/>
              </a:spcAft>
              <a:defRPr sz="2000">
                <a:solidFill>
                  <a:srgbClr val="F59E0B"/>
                </a:solidFill>
              </a:defRPr>
            </a:pPr>
            <a:r>
              <a:t>✓ Benefits of Space Exploration</a:t>
            </a:r>
          </a:p>
          <a:p>
            <a:pPr>
              <a:spcBef>
                <a:spcPts val="800"/>
              </a:spcBef>
              <a:spcAft>
                <a:spcPts val="800"/>
              </a:spcAft>
              <a:defRPr sz="2000">
                <a:solidFill>
                  <a:srgbClr val="F59E0B"/>
                </a:solidFill>
              </a:defRPr>
            </a:pPr>
            <a:r>
              <a:t>✓ Challenges and Risks of Space Exploration</a:t>
            </a:r>
          </a:p>
          <a:p>
            <a:pPr>
              <a:spcBef>
                <a:spcPts val="800"/>
              </a:spcBef>
              <a:spcAft>
                <a:spcPts val="800"/>
              </a:spcAft>
              <a:defRPr sz="2000">
                <a:solidFill>
                  <a:srgbClr val="F59E0B"/>
                </a:solidFill>
              </a:defRPr>
            </a:pPr>
            <a:r>
              <a:t>✓ Future Prospects of Space Exploration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