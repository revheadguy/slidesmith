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Conclusion: Index (%)</c:v>
                </c:pt>
              </c:strCache>
            </c:strRef>
          </c:tx>
          <c:cat>
            <c:strRef>
              <c:f>Sheet1!$A$2:$A$6</c:f>
              <c:strCache>
                <c:ptCount val="5"/>
                <c:pt idx="0">
                  <c:v>Unlock your</c:v>
                </c:pt>
                <c:pt idx="1">
                  <c:v>Drives</c:v>
                </c:pt>
                <c:pt idx="2">
                  <c:v>Prepares</c:v>
                </c:pt>
                <c:pt idx="3">
                  <c:v>Gains competitive</c:v>
                </c:pt>
                <c:pt idx="4">
                  <c:v>Advances career</c:v>
                </c:pt>
              </c:strCache>
            </c:strRef>
          </c:cat>
          <c:val>
            <c:numRef>
              <c:f>Sheet1!$B$2:$B$6</c:f>
              <c:numCache>
                <c:formatCode>General</c:formatCode>
                <c:ptCount val="5"/>
                <c:pt idx="0">
                  <c:v>83</c:v>
                </c:pt>
                <c:pt idx="1">
                  <c:v>74</c:v>
                </c:pt>
                <c:pt idx="2">
                  <c:v>53</c:v>
                </c:pt>
                <c:pt idx="3">
                  <c:v>36</c:v>
                </c:pt>
                <c:pt idx="4">
                  <c:v>30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Unlocking Business Potential: Golden Gate University's MBA Program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11827"/>
                </a:solidFill>
              </a:defRPr>
            </a:pPr>
            <a:r>
              <a:t>Introduction to GGU's MBA</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F3F4F6"/>
                </a:solidFill>
              </a:defRPr>
            </a:pPr>
            <a:r>
              <a:t>Golden Gate University's (GGU) Master of Business Administration (MBA) program is designed for working professionals seeking to advance their careers and gain a competitive edge in the business world. With a focus on practical application, the program prepares students to tackle real-world challenges and drive organizational success.</a:t>
            </a:r>
          </a:p>
          <a:p>
            <a:pPr>
              <a:lnSpc>
                <a:spcPct val="120000"/>
              </a:lnSpc>
              <a:spcBef>
                <a:spcPts val="300"/>
              </a:spcBef>
              <a:spcAft>
                <a:spcPts val="300"/>
              </a:spcAft>
              <a:defRPr sz="1600">
                <a:solidFill>
                  <a:srgbClr val="F3F4F6"/>
                </a:solidFill>
              </a:defRPr>
            </a:pPr>
          </a:p>
          <a:p>
            <a:pPr>
              <a:lnSpc>
                <a:spcPct val="120000"/>
              </a:lnSpc>
              <a:spcBef>
                <a:spcPts val="300"/>
              </a:spcBef>
              <a:spcAft>
                <a:spcPts val="300"/>
              </a:spcAft>
              <a:defRPr sz="1600">
                <a:solidFill>
                  <a:srgbClr val="F3F4F6"/>
                </a:solidFill>
              </a:defRPr>
            </a:pPr>
            <a:r>
              <a:t>• Designed for working professionals</a:t>
            </a:r>
          </a:p>
          <a:p>
            <a:pPr>
              <a:lnSpc>
                <a:spcPct val="120000"/>
              </a:lnSpc>
              <a:spcBef>
                <a:spcPts val="300"/>
              </a:spcBef>
              <a:spcAft>
                <a:spcPts val="300"/>
              </a:spcAft>
              <a:defRPr sz="1600">
                <a:solidFill>
                  <a:srgbClr val="F3F4F6"/>
                </a:solidFill>
              </a:defRPr>
            </a:pPr>
            <a:r>
              <a:t>• Focus on practical application</a:t>
            </a:r>
          </a:p>
          <a:p>
            <a:pPr>
              <a:lnSpc>
                <a:spcPct val="120000"/>
              </a:lnSpc>
              <a:spcBef>
                <a:spcPts val="300"/>
              </a:spcBef>
              <a:spcAft>
                <a:spcPts val="300"/>
              </a:spcAft>
              <a:defRPr sz="1600">
                <a:solidFill>
                  <a:srgbClr val="F3F4F6"/>
                </a:solidFill>
              </a:defRPr>
            </a:pPr>
            <a:r>
              <a:t>• Prepares students for real-world challenges</a:t>
            </a:r>
          </a:p>
          <a:p>
            <a:pPr>
              <a:lnSpc>
                <a:spcPct val="120000"/>
              </a:lnSpc>
              <a:spcBef>
                <a:spcPts val="300"/>
              </a:spcBef>
              <a:spcAft>
                <a:spcPts val="300"/>
              </a:spcAft>
              <a:defRPr sz="1600">
                <a:solidFill>
                  <a:srgbClr val="F3F4F6"/>
                </a:solidFill>
              </a:defRPr>
            </a:pPr>
            <a:r>
              <a:t>• Advances career opportunities</a:t>
            </a:r>
          </a:p>
          <a:p>
            <a:pPr>
              <a:lnSpc>
                <a:spcPct val="120000"/>
              </a:lnSpc>
              <a:spcBef>
                <a:spcPts val="300"/>
              </a:spcBef>
              <a:spcAft>
                <a:spcPts val="300"/>
              </a:spcAft>
              <a:defRPr sz="1600">
                <a:solidFill>
                  <a:srgbClr val="F3F4F6"/>
                </a:solidFill>
              </a:defRPr>
            </a:pPr>
            <a:r>
              <a:t>• Enhances leadership skills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11827"/>
                </a:solidFill>
              </a:defRPr>
            </a:pPr>
            <a:r>
              <a:t>Key Features of GGU's MBA</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F3F4F6"/>
                </a:solidFill>
              </a:defRPr>
            </a:pPr>
            <a:r>
              <a:t>GGU's MBA program offers a unique blend of academic rigor and professional relevance. Students benefit from small class sizes, personalized attention, and flexible scheduling to accommodate busy lifestyles. The curriculum covers essential business topics, including finance, marketing, and operations management.</a:t>
            </a:r>
          </a:p>
          <a:p>
            <a:pPr>
              <a:lnSpc>
                <a:spcPct val="120000"/>
              </a:lnSpc>
              <a:spcBef>
                <a:spcPts val="300"/>
              </a:spcBef>
              <a:spcAft>
                <a:spcPts val="300"/>
              </a:spcAft>
              <a:defRPr sz="1600">
                <a:solidFill>
                  <a:srgbClr val="F3F4F6"/>
                </a:solidFill>
              </a:defRPr>
            </a:pPr>
          </a:p>
          <a:p>
            <a:pPr>
              <a:lnSpc>
                <a:spcPct val="120000"/>
              </a:lnSpc>
              <a:spcBef>
                <a:spcPts val="300"/>
              </a:spcBef>
              <a:spcAft>
                <a:spcPts val="300"/>
              </a:spcAft>
              <a:defRPr sz="1600">
                <a:solidFill>
                  <a:srgbClr val="F3F4F6"/>
                </a:solidFill>
              </a:defRPr>
            </a:pPr>
            <a:r>
              <a:t>• Small class sizes</a:t>
            </a:r>
          </a:p>
          <a:p>
            <a:pPr>
              <a:lnSpc>
                <a:spcPct val="120000"/>
              </a:lnSpc>
              <a:spcBef>
                <a:spcPts val="300"/>
              </a:spcBef>
              <a:spcAft>
                <a:spcPts val="300"/>
              </a:spcAft>
              <a:defRPr sz="1600">
                <a:solidFill>
                  <a:srgbClr val="F3F4F6"/>
                </a:solidFill>
              </a:defRPr>
            </a:pPr>
            <a:r>
              <a:t>• Personalized attention</a:t>
            </a:r>
          </a:p>
          <a:p>
            <a:pPr>
              <a:lnSpc>
                <a:spcPct val="120000"/>
              </a:lnSpc>
              <a:spcBef>
                <a:spcPts val="300"/>
              </a:spcBef>
              <a:spcAft>
                <a:spcPts val="300"/>
              </a:spcAft>
              <a:defRPr sz="1600">
                <a:solidFill>
                  <a:srgbClr val="F3F4F6"/>
                </a:solidFill>
              </a:defRPr>
            </a:pPr>
            <a:r>
              <a:t>• Flexible scheduling</a:t>
            </a:r>
          </a:p>
          <a:p>
            <a:pPr>
              <a:lnSpc>
                <a:spcPct val="120000"/>
              </a:lnSpc>
              <a:spcBef>
                <a:spcPts val="300"/>
              </a:spcBef>
              <a:spcAft>
                <a:spcPts val="300"/>
              </a:spcAft>
              <a:defRPr sz="1600">
                <a:solidFill>
                  <a:srgbClr val="F3F4F6"/>
                </a:solidFill>
              </a:defRPr>
            </a:pPr>
            <a:r>
              <a:t>• Comprehensive curriculum</a:t>
            </a:r>
          </a:p>
          <a:p>
            <a:pPr>
              <a:lnSpc>
                <a:spcPct val="120000"/>
              </a:lnSpc>
              <a:spcBef>
                <a:spcPts val="300"/>
              </a:spcBef>
              <a:spcAft>
                <a:spcPts val="300"/>
              </a:spcAft>
              <a:defRPr sz="1600">
                <a:solidFill>
                  <a:srgbClr val="F3F4F6"/>
                </a:solidFill>
              </a:defRPr>
            </a:pPr>
            <a:r>
              <a:t>• Emphasis on practical application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11827"/>
                </a:solidFill>
              </a:defRPr>
            </a:pPr>
            <a:r>
              <a:t>Curriculum Highlights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F3F4F6"/>
                </a:solidFill>
              </a:defRPr>
            </a:pPr>
            <a:r>
              <a:t>GGU's MBA program features a robust curriculum that covers core business topics and specialized areas. Coursework includes financial management, marketing strategy, operations and supply chain management, and more. Students can choose from elective courses to tailor their education to their career goals.</a:t>
            </a:r>
          </a:p>
          <a:p>
            <a:pPr>
              <a:lnSpc>
                <a:spcPct val="115000"/>
              </a:lnSpc>
              <a:spcBef>
                <a:spcPts val="200"/>
              </a:spcBef>
              <a:spcAft>
                <a:spcPts val="200"/>
              </a:spcAft>
              <a:defRPr sz="1500">
                <a:solidFill>
                  <a:srgbClr val="F3F4F6"/>
                </a:solidFill>
              </a:defRPr>
            </a:pPr>
          </a:p>
          <a:p>
            <a:pPr>
              <a:lnSpc>
                <a:spcPct val="115000"/>
              </a:lnSpc>
              <a:spcBef>
                <a:spcPts val="200"/>
              </a:spcBef>
              <a:spcAft>
                <a:spcPts val="200"/>
              </a:spcAft>
              <a:defRPr sz="1500">
                <a:solidFill>
                  <a:srgbClr val="F3F4F6"/>
                </a:solidFill>
              </a:defRPr>
            </a:pPr>
            <a:r>
              <a:t>• Core business topics</a:t>
            </a:r>
          </a:p>
          <a:p>
            <a:pPr>
              <a:lnSpc>
                <a:spcPct val="115000"/>
              </a:lnSpc>
              <a:spcBef>
                <a:spcPts val="200"/>
              </a:spcBef>
              <a:spcAft>
                <a:spcPts val="200"/>
              </a:spcAft>
              <a:defRPr sz="1500">
                <a:solidFill>
                  <a:srgbClr val="F3F4F6"/>
                </a:solidFill>
              </a:defRPr>
            </a:pPr>
            <a:r>
              <a:t>• Specialized areas</a:t>
            </a:r>
          </a:p>
          <a:p>
            <a:pPr>
              <a:lnSpc>
                <a:spcPct val="115000"/>
              </a:lnSpc>
              <a:spcBef>
                <a:spcPts val="200"/>
              </a:spcBef>
              <a:spcAft>
                <a:spcPts val="200"/>
              </a:spcAft>
              <a:defRPr sz="1500">
                <a:solidFill>
                  <a:srgbClr val="F3F4F6"/>
                </a:solidFill>
              </a:defRPr>
            </a:pPr>
            <a:r>
              <a:t>• Elective course options</a:t>
            </a:r>
          </a:p>
          <a:p>
            <a:pPr>
              <a:lnSpc>
                <a:spcPct val="115000"/>
              </a:lnSpc>
              <a:spcBef>
                <a:spcPts val="200"/>
              </a:spcBef>
              <a:spcAft>
                <a:spcPts val="200"/>
              </a:spcAft>
              <a:defRPr sz="1500">
                <a:solidFill>
                  <a:srgbClr val="F3F4F6"/>
                </a:solidFill>
              </a:defRPr>
            </a:pPr>
            <a:r>
              <a:t>• Financial management</a:t>
            </a:r>
          </a:p>
          <a:p>
            <a:pPr>
              <a:lnSpc>
                <a:spcPct val="115000"/>
              </a:lnSpc>
              <a:spcBef>
                <a:spcPts val="200"/>
              </a:spcBef>
              <a:spcAft>
                <a:spcPts val="200"/>
              </a:spcAft>
              <a:defRPr sz="1500">
                <a:solidFill>
                  <a:srgbClr val="F3F4F6"/>
                </a:solidFill>
              </a:defRPr>
            </a:pPr>
            <a:r>
              <a:t>• Marketing strategy</a:t>
            </a:r>
          </a:p>
        </p:txBody>
      </p:sp>
      <p:pic>
        <p:nvPicPr>
          <p:cNvPr id="5" name="Picture 4" descr="unsplash_OyCl7Y4y0Bk.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11827"/>
                </a:solidFill>
              </a:defRPr>
            </a:pPr>
            <a:r>
              <a:t>Career Advancement Opportunities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F3F4F6"/>
                </a:solidFill>
              </a:defRPr>
            </a:pPr>
            <a:r>
              <a:t>GGU's MBA program prepares students for leadership roles and career advancement opportunities. Graduates have the skills to drive organizational success, make strategic decisions, and navigate complex business environments.</a:t>
            </a:r>
          </a:p>
          <a:p>
            <a:pPr>
              <a:lnSpc>
                <a:spcPct val="120000"/>
              </a:lnSpc>
              <a:spcBef>
                <a:spcPts val="300"/>
              </a:spcBef>
              <a:spcAft>
                <a:spcPts val="300"/>
              </a:spcAft>
              <a:defRPr sz="1600">
                <a:solidFill>
                  <a:srgbClr val="F3F4F6"/>
                </a:solidFill>
              </a:defRPr>
            </a:pPr>
          </a:p>
          <a:p>
            <a:pPr>
              <a:lnSpc>
                <a:spcPct val="120000"/>
              </a:lnSpc>
              <a:spcBef>
                <a:spcPts val="300"/>
              </a:spcBef>
              <a:spcAft>
                <a:spcPts val="300"/>
              </a:spcAft>
              <a:defRPr sz="1600">
                <a:solidFill>
                  <a:srgbClr val="F3F4F6"/>
                </a:solidFill>
              </a:defRPr>
            </a:pPr>
            <a:r>
              <a:t>• Leadership role preparation</a:t>
            </a:r>
          </a:p>
          <a:p>
            <a:pPr>
              <a:lnSpc>
                <a:spcPct val="120000"/>
              </a:lnSpc>
              <a:spcBef>
                <a:spcPts val="300"/>
              </a:spcBef>
              <a:spcAft>
                <a:spcPts val="300"/>
              </a:spcAft>
              <a:defRPr sz="1600">
                <a:solidFill>
                  <a:srgbClr val="F3F4F6"/>
                </a:solidFill>
              </a:defRPr>
            </a:pPr>
            <a:r>
              <a:t>• Career advancement opportunities</a:t>
            </a:r>
          </a:p>
          <a:p>
            <a:pPr>
              <a:lnSpc>
                <a:spcPct val="120000"/>
              </a:lnSpc>
              <a:spcBef>
                <a:spcPts val="300"/>
              </a:spcBef>
              <a:spcAft>
                <a:spcPts val="300"/>
              </a:spcAft>
              <a:defRPr sz="1600">
                <a:solidFill>
                  <a:srgbClr val="F3F4F6"/>
                </a:solidFill>
              </a:defRPr>
            </a:pPr>
            <a:r>
              <a:t>• Strategic decision-making</a:t>
            </a:r>
          </a:p>
          <a:p>
            <a:pPr>
              <a:lnSpc>
                <a:spcPct val="120000"/>
              </a:lnSpc>
              <a:spcBef>
                <a:spcPts val="300"/>
              </a:spcBef>
              <a:spcAft>
                <a:spcPts val="300"/>
              </a:spcAft>
              <a:defRPr sz="1600">
                <a:solidFill>
                  <a:srgbClr val="F3F4F6"/>
                </a:solidFill>
              </a:defRPr>
            </a:pPr>
            <a:r>
              <a:t>• Complex business environment navigation</a:t>
            </a:r>
          </a:p>
          <a:p>
            <a:pPr>
              <a:lnSpc>
                <a:spcPct val="120000"/>
              </a:lnSpc>
              <a:spcBef>
                <a:spcPts val="300"/>
              </a:spcBef>
              <a:spcAft>
                <a:spcPts val="300"/>
              </a:spcAft>
              <a:defRPr sz="1600">
                <a:solidFill>
                  <a:srgbClr val="F3F4F6"/>
                </a:solidFill>
              </a:defRPr>
            </a:pPr>
            <a:r>
              <a:t>• Professional growth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11827"/>
                </a:solidFill>
              </a:defRPr>
            </a:pPr>
            <a:r>
              <a:t>Student Life at GGU</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F3F4F6"/>
                </a:solidFill>
              </a:defRPr>
            </a:pPr>
            <a:r>
              <a:t>GGU's MBA program offers a dynamic student life experience. Students can participate in networking events, professional development workshops, and social activities to build connections with peers and industry professionals.</a:t>
            </a:r>
          </a:p>
          <a:p>
            <a:pPr>
              <a:lnSpc>
                <a:spcPct val="120000"/>
              </a:lnSpc>
              <a:spcBef>
                <a:spcPts val="300"/>
              </a:spcBef>
              <a:spcAft>
                <a:spcPts val="300"/>
              </a:spcAft>
              <a:defRPr sz="1600">
                <a:solidFill>
                  <a:srgbClr val="F3F4F6"/>
                </a:solidFill>
              </a:defRPr>
            </a:pPr>
          </a:p>
          <a:p>
            <a:pPr>
              <a:lnSpc>
                <a:spcPct val="120000"/>
              </a:lnSpc>
              <a:spcBef>
                <a:spcPts val="300"/>
              </a:spcBef>
              <a:spcAft>
                <a:spcPts val="300"/>
              </a:spcAft>
              <a:defRPr sz="1600">
                <a:solidFill>
                  <a:srgbClr val="F3F4F6"/>
                </a:solidFill>
              </a:defRPr>
            </a:pPr>
            <a:r>
              <a:t>• Networking opportunities</a:t>
            </a:r>
          </a:p>
          <a:p>
            <a:pPr>
              <a:lnSpc>
                <a:spcPct val="120000"/>
              </a:lnSpc>
              <a:spcBef>
                <a:spcPts val="300"/>
              </a:spcBef>
              <a:spcAft>
                <a:spcPts val="300"/>
              </a:spcAft>
              <a:defRPr sz="1600">
                <a:solidFill>
                  <a:srgbClr val="F3F4F6"/>
                </a:solidFill>
              </a:defRPr>
            </a:pPr>
            <a:r>
              <a:t>• Professional development</a:t>
            </a:r>
          </a:p>
          <a:p>
            <a:pPr>
              <a:lnSpc>
                <a:spcPct val="120000"/>
              </a:lnSpc>
              <a:spcBef>
                <a:spcPts val="300"/>
              </a:spcBef>
              <a:spcAft>
                <a:spcPts val="300"/>
              </a:spcAft>
              <a:defRPr sz="1600">
                <a:solidFill>
                  <a:srgbClr val="F3F4F6"/>
                </a:solidFill>
              </a:defRPr>
            </a:pPr>
            <a:r>
              <a:t>• Social activities</a:t>
            </a:r>
          </a:p>
          <a:p>
            <a:pPr>
              <a:lnSpc>
                <a:spcPct val="120000"/>
              </a:lnSpc>
              <a:spcBef>
                <a:spcPts val="300"/>
              </a:spcBef>
              <a:spcAft>
                <a:spcPts val="300"/>
              </a:spcAft>
              <a:defRPr sz="1600">
                <a:solidFill>
                  <a:srgbClr val="F3F4F6"/>
                </a:solidFill>
              </a:defRPr>
            </a:pPr>
            <a:r>
              <a:t>• Industry connections</a:t>
            </a:r>
          </a:p>
          <a:p>
            <a:pPr>
              <a:lnSpc>
                <a:spcPct val="120000"/>
              </a:lnSpc>
              <a:spcBef>
                <a:spcPts val="300"/>
              </a:spcBef>
              <a:spcAft>
                <a:spcPts val="300"/>
              </a:spcAft>
              <a:defRPr sz="1600">
                <a:solidFill>
                  <a:srgbClr val="F3F4F6"/>
                </a:solidFill>
              </a:defRPr>
            </a:pPr>
            <a:r>
              <a:t>• Campus community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11827"/>
                </a:solidFill>
              </a:defRPr>
            </a:pPr>
            <a:r>
              <a:t>Why Choose GGU's MBA?</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F3F4F6"/>
                </a:solidFill>
              </a:defRPr>
            </a:pPr>
            <a:r>
              <a:t>GGU's MBA program stands out for its unique blend of academic rigor and professional relevance. Students benefit from a supportive learning environment, flexible scheduling, and personalized attention to achieve their career goals.</a:t>
            </a:r>
          </a:p>
          <a:p>
            <a:pPr>
              <a:lnSpc>
                <a:spcPct val="115000"/>
              </a:lnSpc>
              <a:spcBef>
                <a:spcPts val="200"/>
              </a:spcBef>
              <a:spcAft>
                <a:spcPts val="200"/>
              </a:spcAft>
              <a:defRPr sz="1500">
                <a:solidFill>
                  <a:srgbClr val="F3F4F6"/>
                </a:solidFill>
              </a:defRPr>
            </a:pPr>
          </a:p>
          <a:p>
            <a:pPr>
              <a:lnSpc>
                <a:spcPct val="115000"/>
              </a:lnSpc>
              <a:spcBef>
                <a:spcPts val="200"/>
              </a:spcBef>
              <a:spcAft>
                <a:spcPts val="200"/>
              </a:spcAft>
              <a:defRPr sz="1500">
                <a:solidFill>
                  <a:srgbClr val="F3F4F6"/>
                </a:solidFill>
              </a:defRPr>
            </a:pPr>
            <a:r>
              <a:t>• Academic rigor</a:t>
            </a:r>
          </a:p>
          <a:p>
            <a:pPr>
              <a:lnSpc>
                <a:spcPct val="115000"/>
              </a:lnSpc>
              <a:spcBef>
                <a:spcPts val="200"/>
              </a:spcBef>
              <a:spcAft>
                <a:spcPts val="200"/>
              </a:spcAft>
              <a:defRPr sz="1500">
                <a:solidFill>
                  <a:srgbClr val="F3F4F6"/>
                </a:solidFill>
              </a:defRPr>
            </a:pPr>
            <a:r>
              <a:t>• Professional relevance</a:t>
            </a:r>
          </a:p>
          <a:p>
            <a:pPr>
              <a:lnSpc>
                <a:spcPct val="115000"/>
              </a:lnSpc>
              <a:spcBef>
                <a:spcPts val="200"/>
              </a:spcBef>
              <a:spcAft>
                <a:spcPts val="200"/>
              </a:spcAft>
              <a:defRPr sz="1500">
                <a:solidFill>
                  <a:srgbClr val="F3F4F6"/>
                </a:solidFill>
              </a:defRPr>
            </a:pPr>
            <a:r>
              <a:t>• Supportive learning environment</a:t>
            </a:r>
          </a:p>
          <a:p>
            <a:pPr>
              <a:lnSpc>
                <a:spcPct val="115000"/>
              </a:lnSpc>
              <a:spcBef>
                <a:spcPts val="200"/>
              </a:spcBef>
              <a:spcAft>
                <a:spcPts val="200"/>
              </a:spcAft>
              <a:defRPr sz="1500">
                <a:solidFill>
                  <a:srgbClr val="F3F4F6"/>
                </a:solidFill>
              </a:defRPr>
            </a:pPr>
            <a:r>
              <a:t>• Flexible scheduling</a:t>
            </a:r>
          </a:p>
          <a:p>
            <a:pPr>
              <a:lnSpc>
                <a:spcPct val="115000"/>
              </a:lnSpc>
              <a:spcBef>
                <a:spcPts val="200"/>
              </a:spcBef>
              <a:spcAft>
                <a:spcPts val="200"/>
              </a:spcAft>
              <a:defRPr sz="1500">
                <a:solidFill>
                  <a:srgbClr val="F3F4F6"/>
                </a:solidFill>
              </a:defRPr>
            </a:pPr>
            <a:r>
              <a:t>• Personalized attention</a:t>
            </a:r>
          </a:p>
        </p:txBody>
      </p:sp>
      <p:pic>
        <p:nvPicPr>
          <p:cNvPr id="5" name="Picture 4" descr="unsplash_qSYRsN1x6Ts.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11827"/>
                </a:solidFill>
              </a:defRPr>
            </a:pPr>
            <a:r>
              <a:t>Admission Requirements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F3F4F6"/>
                </a:solidFill>
              </a:defRPr>
            </a:pPr>
            <a:r>
              <a:t>To be considered for GGU's MBA program, applicants must hold a bachelor's degree from an accredited institution and meet specific GPA requirements. Additional requirements include professional experience, letters of recommendation, and a personal statement.</a:t>
            </a:r>
          </a:p>
          <a:p>
            <a:pPr>
              <a:lnSpc>
                <a:spcPct val="120000"/>
              </a:lnSpc>
              <a:spcBef>
                <a:spcPts val="300"/>
              </a:spcBef>
              <a:spcAft>
                <a:spcPts val="300"/>
              </a:spcAft>
              <a:defRPr sz="1600">
                <a:solidFill>
                  <a:srgbClr val="F3F4F6"/>
                </a:solidFill>
              </a:defRPr>
            </a:pPr>
          </a:p>
          <a:p>
            <a:pPr>
              <a:lnSpc>
                <a:spcPct val="120000"/>
              </a:lnSpc>
              <a:spcBef>
                <a:spcPts val="300"/>
              </a:spcBef>
              <a:spcAft>
                <a:spcPts val="300"/>
              </a:spcAft>
              <a:defRPr sz="1600">
                <a:solidFill>
                  <a:srgbClr val="F3F4F6"/>
                </a:solidFill>
              </a:defRPr>
            </a:pPr>
            <a:r>
              <a:t>• Bachelor's degree requirement</a:t>
            </a:r>
          </a:p>
          <a:p>
            <a:pPr>
              <a:lnSpc>
                <a:spcPct val="120000"/>
              </a:lnSpc>
              <a:spcBef>
                <a:spcPts val="300"/>
              </a:spcBef>
              <a:spcAft>
                <a:spcPts val="300"/>
              </a:spcAft>
              <a:defRPr sz="1600">
                <a:solidFill>
                  <a:srgbClr val="F3F4F6"/>
                </a:solidFill>
              </a:defRPr>
            </a:pPr>
            <a:r>
              <a:t>• GPA requirements</a:t>
            </a:r>
          </a:p>
          <a:p>
            <a:pPr>
              <a:lnSpc>
                <a:spcPct val="120000"/>
              </a:lnSpc>
              <a:spcBef>
                <a:spcPts val="300"/>
              </a:spcBef>
              <a:spcAft>
                <a:spcPts val="300"/>
              </a:spcAft>
              <a:defRPr sz="1600">
                <a:solidFill>
                  <a:srgbClr val="F3F4F6"/>
                </a:solidFill>
              </a:defRPr>
            </a:pPr>
            <a:r>
              <a:t>• Professional experience</a:t>
            </a:r>
          </a:p>
          <a:p>
            <a:pPr>
              <a:lnSpc>
                <a:spcPct val="120000"/>
              </a:lnSpc>
              <a:spcBef>
                <a:spcPts val="300"/>
              </a:spcBef>
              <a:spcAft>
                <a:spcPts val="300"/>
              </a:spcAft>
              <a:defRPr sz="1600">
                <a:solidFill>
                  <a:srgbClr val="F3F4F6"/>
                </a:solidFill>
              </a:defRPr>
            </a:pPr>
            <a:r>
              <a:t>• Letters of recommendation</a:t>
            </a:r>
          </a:p>
          <a:p>
            <a:pPr>
              <a:lnSpc>
                <a:spcPct val="120000"/>
              </a:lnSpc>
              <a:spcBef>
                <a:spcPts val="300"/>
              </a:spcBef>
              <a:spcAft>
                <a:spcPts val="300"/>
              </a:spcAft>
              <a:defRPr sz="1600">
                <a:solidFill>
                  <a:srgbClr val="F3F4F6"/>
                </a:solidFill>
              </a:defRPr>
            </a:pPr>
            <a:r>
              <a:t>• Personal statement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11827"/>
                </a:solidFill>
              </a:defRPr>
            </a:pPr>
            <a:r>
              <a:t>Conclusion: Unlock Your Potential with GGU's MBA - Conclusion: Index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11827"/>
                </a:solidFill>
              </a:defRPr>
            </a:pPr>
            <a:r>
              <a:t>Conclusion: Unlock Your Potential with GGU's MBA - Conclusion: Index (%)</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F3F4F6"/>
                </a:solidFill>
              </a:defRPr>
            </a:pPr>
            <a:r>
              <a:t>Chart data: {'Conclusion: Index (%)': [83, 74, 53, 36,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11827"/>
                </a:solidFill>
              </a:defRPr>
            </a:pPr>
            <a:r>
              <a:t>Presentation Flow</a:t>
            </a:r>
          </a:p>
        </p:txBody>
      </p:sp>
      <p:sp>
        <p:nvSpPr>
          <p:cNvPr id="4" name="Rectangle 3"/>
          <p:cNvSpPr/>
          <p:nvPr/>
        </p:nvSpPr>
        <p:spPr>
          <a:xfrm>
            <a:off x="457200" y="1371600"/>
            <a:ext cx="2499360" cy="4572000"/>
          </a:xfrm>
          <a:prstGeom prst="rect">
            <a:avLst/>
          </a:prstGeom>
          <a:solidFill>
            <a:srgbClr val="141C28"/>
          </a:solidFill>
          <a:ln w="1270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11827"/>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D1D5DB"/>
                </a:solidFill>
              </a:defRPr>
            </a:pPr>
            <a:r>
              <a:t>Introduction to GGU's MBA</a:t>
            </a:r>
          </a:p>
        </p:txBody>
      </p:sp>
      <p:sp>
        <p:nvSpPr>
          <p:cNvPr id="7" name="Rectangle 6"/>
          <p:cNvSpPr/>
          <p:nvPr/>
        </p:nvSpPr>
        <p:spPr>
          <a:xfrm>
            <a:off x="3048000" y="1371600"/>
            <a:ext cx="2499360" cy="4572000"/>
          </a:xfrm>
          <a:prstGeom prst="rect">
            <a:avLst/>
          </a:prstGeom>
          <a:solidFill>
            <a:srgbClr val="141C28"/>
          </a:solidFill>
          <a:ln w="1270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11827"/>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D1D5DB"/>
                </a:solidFill>
              </a:defRPr>
            </a:pPr>
            <a:r>
              <a:t>Student Life at GGU</a:t>
            </a:r>
          </a:p>
        </p:txBody>
      </p:sp>
      <p:sp>
        <p:nvSpPr>
          <p:cNvPr id="10" name="Rectangle 9"/>
          <p:cNvSpPr/>
          <p:nvPr/>
        </p:nvSpPr>
        <p:spPr>
          <a:xfrm>
            <a:off x="5638800" y="1371600"/>
            <a:ext cx="2499360" cy="4572000"/>
          </a:xfrm>
          <a:prstGeom prst="rect">
            <a:avLst/>
          </a:prstGeom>
          <a:solidFill>
            <a:srgbClr val="141C28"/>
          </a:solidFill>
          <a:ln w="1270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11827"/>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D1D5DB"/>
                </a:solidFill>
              </a:defRPr>
            </a:pPr>
            <a:r>
              <a:t>Conclusion: Unlock Your Potential with GGU's MBA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3F4F6"/>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22C55E"/>
                </a:solidFill>
              </a:defRPr>
            </a:pPr>
            <a:r>
              <a:t>✓ Introduction to GGU's MBA</a:t>
            </a:r>
          </a:p>
          <a:p>
            <a:pPr>
              <a:spcBef>
                <a:spcPts val="800"/>
              </a:spcBef>
              <a:spcAft>
                <a:spcPts val="800"/>
              </a:spcAft>
              <a:defRPr sz="2000">
                <a:solidFill>
                  <a:srgbClr val="22C55E"/>
                </a:solidFill>
              </a:defRPr>
            </a:pPr>
            <a:r>
              <a:t>✓ Key Features of GGU's MBA</a:t>
            </a:r>
          </a:p>
          <a:p>
            <a:pPr>
              <a:spcBef>
                <a:spcPts val="800"/>
              </a:spcBef>
              <a:spcAft>
                <a:spcPts val="800"/>
              </a:spcAft>
              <a:defRPr sz="2000">
                <a:solidFill>
                  <a:srgbClr val="22C55E"/>
                </a:solidFill>
              </a:defRPr>
            </a:pPr>
            <a:r>
              <a:t>✓ Curriculum Highlights</a:t>
            </a:r>
          </a:p>
          <a:p>
            <a:pPr>
              <a:spcBef>
                <a:spcPts val="800"/>
              </a:spcBef>
              <a:spcAft>
                <a:spcPts val="800"/>
              </a:spcAft>
              <a:defRPr sz="2000">
                <a:solidFill>
                  <a:srgbClr val="22C55E"/>
                </a:solidFill>
              </a:defRPr>
            </a:pPr>
            <a:r>
              <a:t>✓ Career Advancement Opportunities</a:t>
            </a:r>
          </a:p>
          <a:p>
            <a:pPr>
              <a:spcBef>
                <a:spcPts val="800"/>
              </a:spcBef>
              <a:spcAft>
                <a:spcPts val="800"/>
              </a:spcAft>
              <a:defRPr sz="2000">
                <a:solidFill>
                  <a:srgbClr val="22C55E"/>
                </a:solidFill>
              </a:defRPr>
            </a:pPr>
            <a:r>
              <a:t>✓ Student Life at GGU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