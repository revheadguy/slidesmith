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3F51B5"/>
        </a:solidFill>
        <a:effectLst/>
      </p:bgPr>
    </p:bg>
    <p:spTree>
      <p:nvGrpSpPr>
        <p:cNvPr id="1" name=""/>
        <p:cNvGrpSpPr/>
        <p:nvPr/>
      </p:nvGrpSpPr>
      <p:grpSpPr/>
      <p:sp>
        <p:nvSpPr>
          <p:cNvPr id="2" name="Oval 1"/>
          <p:cNvSpPr/>
          <p:nvPr/>
        </p:nvSpPr>
        <p:spPr>
          <a:xfrm>
            <a:off x="6355079" y="-1143000"/>
            <a:ext cx="4114800" cy="4114800"/>
          </a:xfrm>
          <a:prstGeom prst="ellipse">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1440" y="4754880"/>
            <a:ext cx="2011680" cy="2011680"/>
          </a:xfrm>
          <a:prstGeom prst="ellipse">
            <a:avLst/>
          </a:prstGeom>
          <a:noFill/>
          <a:ln w="31750">
            <a:solidFill>
              <a:srgbClr val="5C6B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377440"/>
            <a:ext cx="7680960" cy="2011680"/>
          </a:xfrm>
          <a:prstGeom prst="rect">
            <a:avLst/>
          </a:prstGeom>
          <a:noFill/>
        </p:spPr>
        <p:txBody>
          <a:bodyPr wrap="square">
            <a:spAutoFit/>
          </a:bodyPr>
          <a:lstStyle/>
          <a:p>
            <a:pPr algn="ctr">
              <a:lnSpc>
                <a:spcPct val="115000"/>
              </a:lnSpc>
              <a:defRPr sz="4000" b="1">
                <a:solidFill>
                  <a:srgbClr val="FFFFFF"/>
                </a:solidFill>
              </a:defRPr>
            </a:pPr>
            <a:r>
              <a:t>Clinical Supply Chain Overview</a:t>
            </a:r>
          </a:p>
        </p:txBody>
      </p:sp>
      <p:sp>
        <p:nvSpPr>
          <p:cNvPr id="5" name="Rectangle 4"/>
          <p:cNvSpPr/>
          <p:nvPr/>
        </p:nvSpPr>
        <p:spPr>
          <a:xfrm>
            <a:off x="0" y="6748272"/>
            <a:ext cx="9144000" cy="109728"/>
          </a:xfrm>
          <a:prstGeom prst="rect">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What is Clinical Supply Chain?</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30000"/>
              </a:lnSpc>
              <a:spcBef>
                <a:spcPts val="800"/>
              </a:spcBef>
              <a:spcAft>
                <a:spcPts val="800"/>
              </a:spcAft>
              <a:defRPr sz="1600" b="0" i="0">
                <a:solidFill>
                  <a:srgbClr val="0F172A"/>
                </a:solidFill>
              </a:defRPr>
            </a:pPr>
            <a:r>
              <a:t>The clinical supply chain refers to the process of planning, sourcing, and delivering medical supplies and equipment to healthcare providers. This complex network involves multiple stakeholders, including manufacturers, distributors, and healthcare facilities.</a:t>
            </a:r>
          </a:p>
          <a:p>
            <a:pPr>
              <a:lnSpc>
                <a:spcPct val="130000"/>
              </a:lnSpc>
              <a:spcBef>
                <a:spcPts val="800"/>
              </a:spcBef>
              <a:spcAft>
                <a:spcPts val="800"/>
              </a:spcAft>
              <a:defRPr sz="800"/>
            </a:pPr>
          </a:p>
          <a:p>
            <a:pPr>
              <a:lnSpc>
                <a:spcPct val="130000"/>
              </a:lnSpc>
              <a:spcBef>
                <a:spcPts val="800"/>
              </a:spcBef>
              <a:spcAft>
                <a:spcPts val="800"/>
              </a:spcAft>
              <a:defRPr sz="1600" b="0" i="0">
                <a:solidFill>
                  <a:srgbClr val="0F172A"/>
                </a:solidFill>
              </a:defRPr>
            </a:pPr>
            <a:r>
              <a:t>• Definition</a:t>
            </a:r>
          </a:p>
          <a:p>
            <a:pPr>
              <a:lnSpc>
                <a:spcPct val="130000"/>
              </a:lnSpc>
              <a:spcBef>
                <a:spcPts val="800"/>
              </a:spcBef>
              <a:spcAft>
                <a:spcPts val="800"/>
              </a:spcAft>
              <a:defRPr sz="1600" b="0" i="0">
                <a:solidFill>
                  <a:srgbClr val="0F172A"/>
                </a:solidFill>
              </a:defRPr>
            </a:pPr>
            <a:r>
              <a:t>• Complexity</a:t>
            </a:r>
          </a:p>
          <a:p>
            <a:pPr>
              <a:lnSpc>
                <a:spcPct val="130000"/>
              </a:lnSpc>
              <a:spcBef>
                <a:spcPts val="800"/>
              </a:spcBef>
              <a:spcAft>
                <a:spcPts val="800"/>
              </a:spcAft>
              <a:defRPr sz="1600" b="0" i="0">
                <a:solidFill>
                  <a:srgbClr val="0F172A"/>
                </a:solidFill>
              </a:defRPr>
            </a:pPr>
            <a:r>
              <a:t>• Stakeholders</a:t>
            </a:r>
          </a:p>
          <a:p>
            <a:pPr>
              <a:lnSpc>
                <a:spcPct val="130000"/>
              </a:lnSpc>
              <a:spcBef>
                <a:spcPts val="800"/>
              </a:spcBef>
              <a:spcAft>
                <a:spcPts val="800"/>
              </a:spcAft>
              <a:defRPr sz="1600" b="0" i="0">
                <a:solidFill>
                  <a:srgbClr val="0F172A"/>
                </a:solidFill>
              </a:defRPr>
            </a:pPr>
            <a:r>
              <a:t>• Goals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Clinical Supply Chain Components</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30000"/>
              </a:lnSpc>
              <a:spcBef>
                <a:spcPts val="800"/>
              </a:spcBef>
              <a:spcAft>
                <a:spcPts val="800"/>
              </a:spcAft>
              <a:defRPr sz="1600" b="0" i="0">
                <a:solidFill>
                  <a:srgbClr val="0F172A"/>
                </a:solidFill>
              </a:defRPr>
            </a:pPr>
            <a:r>
              <a:t>The clinical supply chain comprises several key components, including procurement, inventory management, transportation, and warehousing. Each component plays a crucial role in ensuring the smooth flow of medical supplies from manufacturers to healthcare providers.</a:t>
            </a:r>
          </a:p>
          <a:p>
            <a:pPr>
              <a:lnSpc>
                <a:spcPct val="130000"/>
              </a:lnSpc>
              <a:spcBef>
                <a:spcPts val="800"/>
              </a:spcBef>
              <a:spcAft>
                <a:spcPts val="800"/>
              </a:spcAft>
              <a:defRPr sz="800"/>
            </a:pPr>
          </a:p>
          <a:p>
            <a:pPr>
              <a:lnSpc>
                <a:spcPct val="130000"/>
              </a:lnSpc>
              <a:spcBef>
                <a:spcPts val="800"/>
              </a:spcBef>
              <a:spcAft>
                <a:spcPts val="800"/>
              </a:spcAft>
              <a:defRPr sz="1600" b="0" i="0">
                <a:solidFill>
                  <a:srgbClr val="0F172A"/>
                </a:solidFill>
              </a:defRPr>
            </a:pPr>
            <a:r>
              <a:t>• Procurement</a:t>
            </a:r>
          </a:p>
          <a:p>
            <a:pPr>
              <a:lnSpc>
                <a:spcPct val="130000"/>
              </a:lnSpc>
              <a:spcBef>
                <a:spcPts val="800"/>
              </a:spcBef>
              <a:spcAft>
                <a:spcPts val="800"/>
              </a:spcAft>
              <a:defRPr sz="1600" b="0" i="0">
                <a:solidFill>
                  <a:srgbClr val="0F172A"/>
                </a:solidFill>
              </a:defRPr>
            </a:pPr>
            <a:r>
              <a:t>• Inventory Management</a:t>
            </a:r>
          </a:p>
          <a:p>
            <a:pPr>
              <a:lnSpc>
                <a:spcPct val="130000"/>
              </a:lnSpc>
              <a:spcBef>
                <a:spcPts val="800"/>
              </a:spcBef>
              <a:spcAft>
                <a:spcPts val="800"/>
              </a:spcAft>
              <a:defRPr sz="1600" b="0" i="0">
                <a:solidFill>
                  <a:srgbClr val="0F172A"/>
                </a:solidFill>
              </a:defRPr>
            </a:pPr>
            <a:r>
              <a:t>• Transportation</a:t>
            </a:r>
          </a:p>
          <a:p>
            <a:pPr>
              <a:lnSpc>
                <a:spcPct val="130000"/>
              </a:lnSpc>
              <a:spcBef>
                <a:spcPts val="800"/>
              </a:spcBef>
              <a:spcAft>
                <a:spcPts val="800"/>
              </a:spcAft>
              <a:defRPr sz="1600" b="0" i="0">
                <a:solidFill>
                  <a:srgbClr val="0F172A"/>
                </a:solidFill>
              </a:defRPr>
            </a:pPr>
            <a:r>
              <a:t>• Warehousing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Supply Chain Risks and Challenges</a:t>
            </a:r>
          </a:p>
        </p:txBody>
      </p:sp>
      <p:sp>
        <p:nvSpPr>
          <p:cNvPr id="4" name="TextBox 3"/>
          <p:cNvSpPr txBox="1"/>
          <p:nvPr/>
        </p:nvSpPr>
        <p:spPr>
          <a:xfrm>
            <a:off x="457200" y="1463040"/>
            <a:ext cx="4114800" cy="4572000"/>
          </a:xfrm>
          <a:prstGeom prst="rect">
            <a:avLst/>
          </a:prstGeom>
          <a:noFill/>
        </p:spPr>
        <p:txBody>
          <a:bodyPr wrap="square">
            <a:spAutoFit/>
          </a:bodyPr>
          <a:lstStyle/>
          <a:p>
            <a:pPr>
              <a:lnSpc>
                <a:spcPct val="130000"/>
              </a:lnSpc>
              <a:spcBef>
                <a:spcPts val="800"/>
              </a:spcBef>
              <a:spcAft>
                <a:spcPts val="800"/>
              </a:spcAft>
              <a:defRPr sz="1500" b="0" i="0">
                <a:solidFill>
                  <a:srgbClr val="0F172A"/>
                </a:solidFill>
              </a:defRPr>
            </a:pPr>
            <a:r>
              <a:t>The clinical supply chain faces various risks and challenges, including product recalls, inventory management issues, and transportation disruptions. These challenges can have significant impacts on patient care and healthcare provider operations.</a:t>
            </a:r>
          </a:p>
          <a:p>
            <a:pPr>
              <a:lnSpc>
                <a:spcPct val="130000"/>
              </a:lnSpc>
              <a:spcBef>
                <a:spcPts val="800"/>
              </a:spcBef>
              <a:spcAft>
                <a:spcPts val="800"/>
              </a:spcAft>
              <a:defRPr sz="800"/>
            </a:pPr>
          </a:p>
          <a:p>
            <a:pPr>
              <a:lnSpc>
                <a:spcPct val="130000"/>
              </a:lnSpc>
              <a:spcBef>
                <a:spcPts val="800"/>
              </a:spcBef>
              <a:spcAft>
                <a:spcPts val="800"/>
              </a:spcAft>
              <a:defRPr sz="1500" b="0" i="0">
                <a:solidFill>
                  <a:srgbClr val="0F172A"/>
                </a:solidFill>
              </a:defRPr>
            </a:pPr>
            <a:r>
              <a:t>• Product Recalls</a:t>
            </a:r>
          </a:p>
          <a:p>
            <a:pPr>
              <a:lnSpc>
                <a:spcPct val="130000"/>
              </a:lnSpc>
              <a:spcBef>
                <a:spcPts val="800"/>
              </a:spcBef>
              <a:spcAft>
                <a:spcPts val="800"/>
              </a:spcAft>
              <a:defRPr sz="1500" b="0" i="0">
                <a:solidFill>
                  <a:srgbClr val="0F172A"/>
                </a:solidFill>
              </a:defRPr>
            </a:pPr>
            <a:r>
              <a:t>• Inventory Management Issues</a:t>
            </a:r>
          </a:p>
          <a:p>
            <a:pPr>
              <a:lnSpc>
                <a:spcPct val="130000"/>
              </a:lnSpc>
              <a:spcBef>
                <a:spcPts val="800"/>
              </a:spcBef>
              <a:spcAft>
                <a:spcPts val="800"/>
              </a:spcAft>
              <a:defRPr sz="1500" b="0" i="0">
                <a:solidFill>
                  <a:srgbClr val="0F172A"/>
                </a:solidFill>
              </a:defRPr>
            </a:pPr>
            <a:r>
              <a:t>• Transportation Disruptions</a:t>
            </a:r>
          </a:p>
          <a:p>
            <a:pPr>
              <a:lnSpc>
                <a:spcPct val="130000"/>
              </a:lnSpc>
              <a:spcBef>
                <a:spcPts val="800"/>
              </a:spcBef>
              <a:spcAft>
                <a:spcPts val="800"/>
              </a:spcAft>
              <a:defRPr sz="1500" b="0" i="0">
                <a:solidFill>
                  <a:srgbClr val="0F172A"/>
                </a:solidFill>
              </a:defRPr>
            </a:pPr>
            <a:r>
              <a:t>• Quality Control</a:t>
            </a:r>
          </a:p>
        </p:txBody>
      </p:sp>
      <p:pic>
        <p:nvPicPr>
          <p:cNvPr id="5" name="Picture 4" descr="unsplash_BNBA1h-NgdY.jpg"/>
          <p:cNvPicPr>
            <a:picLocks noChangeAspect="1"/>
          </p:cNvPicPr>
          <p:nvPr/>
        </p:nvPicPr>
        <p:blipFill>
          <a:blip r:embed="rId2"/>
          <a:stretch>
            <a:fillRect/>
          </a:stretch>
        </p:blipFill>
        <p:spPr>
          <a:xfrm>
            <a:off x="4754880" y="1463040"/>
            <a:ext cx="3474720" cy="4572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Best Practices for Clinical Supply Chain Management</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30000"/>
              </a:lnSpc>
              <a:spcBef>
                <a:spcPts val="800"/>
              </a:spcBef>
              <a:spcAft>
                <a:spcPts val="800"/>
              </a:spcAft>
              <a:defRPr sz="1600" b="0" i="0">
                <a:solidFill>
                  <a:srgbClr val="0F172A"/>
                </a:solidFill>
              </a:defRPr>
            </a:pPr>
            <a:r>
              <a:t>To ensure optimal clinical supply chain management, healthcare providers and manufacturers can implement various best practices. These include implementing effective inventory management systems, optimizing transportation routes, and leveraging technology to improve visibility and control.</a:t>
            </a:r>
          </a:p>
          <a:p>
            <a:pPr>
              <a:lnSpc>
                <a:spcPct val="130000"/>
              </a:lnSpc>
              <a:spcBef>
                <a:spcPts val="800"/>
              </a:spcBef>
              <a:spcAft>
                <a:spcPts val="800"/>
              </a:spcAft>
              <a:defRPr sz="800"/>
            </a:pPr>
          </a:p>
          <a:p>
            <a:pPr>
              <a:lnSpc>
                <a:spcPct val="130000"/>
              </a:lnSpc>
              <a:spcBef>
                <a:spcPts val="800"/>
              </a:spcBef>
              <a:spcAft>
                <a:spcPts val="800"/>
              </a:spcAft>
              <a:defRPr sz="1600" b="0" i="0">
                <a:solidFill>
                  <a:srgbClr val="0F172A"/>
                </a:solidFill>
              </a:defRPr>
            </a:pPr>
            <a:r>
              <a:t>• Inventory Management</a:t>
            </a:r>
          </a:p>
          <a:p>
            <a:pPr>
              <a:lnSpc>
                <a:spcPct val="130000"/>
              </a:lnSpc>
              <a:spcBef>
                <a:spcPts val="800"/>
              </a:spcBef>
              <a:spcAft>
                <a:spcPts val="800"/>
              </a:spcAft>
              <a:defRPr sz="1600" b="0" i="0">
                <a:solidFill>
                  <a:srgbClr val="0F172A"/>
                </a:solidFill>
              </a:defRPr>
            </a:pPr>
            <a:r>
              <a:t>• Transportation Optimization</a:t>
            </a:r>
          </a:p>
          <a:p>
            <a:pPr>
              <a:lnSpc>
                <a:spcPct val="130000"/>
              </a:lnSpc>
              <a:spcBef>
                <a:spcPts val="800"/>
              </a:spcBef>
              <a:spcAft>
                <a:spcPts val="800"/>
              </a:spcAft>
              <a:defRPr sz="1600" b="0" i="0">
                <a:solidFill>
                  <a:srgbClr val="0F172A"/>
                </a:solidFill>
              </a:defRPr>
            </a:pPr>
            <a:r>
              <a:t>• Technology Leverage</a:t>
            </a:r>
          </a:p>
          <a:p>
            <a:pPr>
              <a:lnSpc>
                <a:spcPct val="130000"/>
              </a:lnSpc>
              <a:spcBef>
                <a:spcPts val="800"/>
              </a:spcBef>
              <a:spcAft>
                <a:spcPts val="800"/>
              </a:spcAft>
              <a:defRPr sz="1600" b="0" i="0">
                <a:solidFill>
                  <a:srgbClr val="0F172A"/>
                </a:solidFill>
              </a:defRPr>
            </a:pPr>
            <a:r>
              <a:t>• Visibility Control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Clinical Supply Chain Opportunities for Improvement</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30000"/>
              </a:lnSpc>
              <a:spcBef>
                <a:spcPts val="800"/>
              </a:spcBef>
              <a:spcAft>
                <a:spcPts val="800"/>
              </a:spcAft>
              <a:defRPr sz="1600" b="0" i="0">
                <a:solidFill>
                  <a:srgbClr val="0F172A"/>
                </a:solidFill>
              </a:defRPr>
            </a:pPr>
            <a:r>
              <a:t>The clinical supply chain presents opportunities for improvement through process optimization, technology adoption, and collaboration. By streamlining processes and leveraging data analytics, healthcare providers and manufacturers can reduce costs, improve patient care, and enhance operational efficiency.</a:t>
            </a:r>
          </a:p>
          <a:p>
            <a:pPr>
              <a:lnSpc>
                <a:spcPct val="130000"/>
              </a:lnSpc>
              <a:spcBef>
                <a:spcPts val="800"/>
              </a:spcBef>
              <a:spcAft>
                <a:spcPts val="800"/>
              </a:spcAft>
              <a:defRPr sz="800"/>
            </a:pPr>
          </a:p>
          <a:p>
            <a:pPr>
              <a:lnSpc>
                <a:spcPct val="130000"/>
              </a:lnSpc>
              <a:spcBef>
                <a:spcPts val="800"/>
              </a:spcBef>
              <a:spcAft>
                <a:spcPts val="800"/>
              </a:spcAft>
              <a:defRPr sz="1600" b="0" i="0">
                <a:solidFill>
                  <a:srgbClr val="0F172A"/>
                </a:solidFill>
              </a:defRPr>
            </a:pPr>
            <a:r>
              <a:t>• Process Optimization</a:t>
            </a:r>
          </a:p>
          <a:p>
            <a:pPr>
              <a:lnSpc>
                <a:spcPct val="130000"/>
              </a:lnSpc>
              <a:spcBef>
                <a:spcPts val="800"/>
              </a:spcBef>
              <a:spcAft>
                <a:spcPts val="800"/>
              </a:spcAft>
              <a:defRPr sz="1600" b="0" i="0">
                <a:solidFill>
                  <a:srgbClr val="0F172A"/>
                </a:solidFill>
              </a:defRPr>
            </a:pPr>
            <a:r>
              <a:t>• Technology Adoption</a:t>
            </a:r>
          </a:p>
          <a:p>
            <a:pPr>
              <a:lnSpc>
                <a:spcPct val="130000"/>
              </a:lnSpc>
              <a:spcBef>
                <a:spcPts val="800"/>
              </a:spcBef>
              <a:spcAft>
                <a:spcPts val="800"/>
              </a:spcAft>
              <a:defRPr sz="1600" b="0" i="0">
                <a:solidFill>
                  <a:srgbClr val="0F172A"/>
                </a:solidFill>
              </a:defRPr>
            </a:pPr>
            <a:r>
              <a:t>• Collaboration</a:t>
            </a:r>
          </a:p>
          <a:p>
            <a:pPr>
              <a:lnSpc>
                <a:spcPct val="130000"/>
              </a:lnSpc>
              <a:spcBef>
                <a:spcPts val="800"/>
              </a:spcBef>
              <a:spcAft>
                <a:spcPts val="800"/>
              </a:spcAft>
              <a:defRPr sz="1600" b="0" i="0">
                <a:solidFill>
                  <a:srgbClr val="0F172A"/>
                </a:solidFill>
              </a:defRPr>
            </a:pPr>
            <a:r>
              <a:t>• Data Analytics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Clinical Supply Chain Strategies for Success</a:t>
            </a:r>
          </a:p>
        </p:txBody>
      </p:sp>
      <p:sp>
        <p:nvSpPr>
          <p:cNvPr id="4" name="TextBox 3"/>
          <p:cNvSpPr txBox="1"/>
          <p:nvPr/>
        </p:nvSpPr>
        <p:spPr>
          <a:xfrm>
            <a:off x="457200" y="1463040"/>
            <a:ext cx="4114800" cy="4572000"/>
          </a:xfrm>
          <a:prstGeom prst="rect">
            <a:avLst/>
          </a:prstGeom>
          <a:noFill/>
        </p:spPr>
        <p:txBody>
          <a:bodyPr wrap="square">
            <a:spAutoFit/>
          </a:bodyPr>
          <a:lstStyle/>
          <a:p>
            <a:pPr>
              <a:lnSpc>
                <a:spcPct val="130000"/>
              </a:lnSpc>
              <a:spcBef>
                <a:spcPts val="800"/>
              </a:spcBef>
              <a:spcAft>
                <a:spcPts val="800"/>
              </a:spcAft>
              <a:defRPr sz="1500" b="0" i="0">
                <a:solidFill>
                  <a:srgbClr val="0F172A"/>
                </a:solidFill>
              </a:defRPr>
            </a:pPr>
            <a:r>
              <a:t>To achieve success in the clinical supply chain, healthcare providers and manufacturers must develop effective strategies. These include prioritizing patient care, leveraging data analytics, and fostering collaboration across the supply chain.</a:t>
            </a:r>
          </a:p>
          <a:p>
            <a:pPr>
              <a:lnSpc>
                <a:spcPct val="130000"/>
              </a:lnSpc>
              <a:spcBef>
                <a:spcPts val="800"/>
              </a:spcBef>
              <a:spcAft>
                <a:spcPts val="800"/>
              </a:spcAft>
              <a:defRPr sz="800"/>
            </a:pPr>
          </a:p>
          <a:p>
            <a:pPr>
              <a:lnSpc>
                <a:spcPct val="130000"/>
              </a:lnSpc>
              <a:spcBef>
                <a:spcPts val="800"/>
              </a:spcBef>
              <a:spcAft>
                <a:spcPts val="800"/>
              </a:spcAft>
              <a:defRPr sz="1500" b="0" i="0">
                <a:solidFill>
                  <a:srgbClr val="0F172A"/>
                </a:solidFill>
              </a:defRPr>
            </a:pPr>
            <a:r>
              <a:t>• Patient-Centric Approach</a:t>
            </a:r>
          </a:p>
          <a:p>
            <a:pPr>
              <a:lnSpc>
                <a:spcPct val="130000"/>
              </a:lnSpc>
              <a:spcBef>
                <a:spcPts val="800"/>
              </a:spcBef>
              <a:spcAft>
                <a:spcPts val="800"/>
              </a:spcAft>
              <a:defRPr sz="1500" b="0" i="0">
                <a:solidFill>
                  <a:srgbClr val="0F172A"/>
                </a:solidFill>
              </a:defRPr>
            </a:pPr>
            <a:r>
              <a:t>• Data-Driven Decision Making</a:t>
            </a:r>
          </a:p>
          <a:p>
            <a:pPr>
              <a:lnSpc>
                <a:spcPct val="130000"/>
              </a:lnSpc>
              <a:spcBef>
                <a:spcPts val="800"/>
              </a:spcBef>
              <a:spcAft>
                <a:spcPts val="800"/>
              </a:spcAft>
              <a:defRPr sz="1500" b="0" i="0">
                <a:solidFill>
                  <a:srgbClr val="0F172A"/>
                </a:solidFill>
              </a:defRPr>
            </a:pPr>
            <a:r>
              <a:t>• Collaboration</a:t>
            </a:r>
          </a:p>
          <a:p>
            <a:pPr>
              <a:lnSpc>
                <a:spcPct val="130000"/>
              </a:lnSpc>
              <a:spcBef>
                <a:spcPts val="800"/>
              </a:spcBef>
              <a:spcAft>
                <a:spcPts val="800"/>
              </a:spcAft>
              <a:defRPr sz="1500" b="0" i="0">
                <a:solidFill>
                  <a:srgbClr val="0F172A"/>
                </a:solidFill>
              </a:defRPr>
            </a:pPr>
            <a:r>
              <a:t>• Risk Management</a:t>
            </a:r>
          </a:p>
        </p:txBody>
      </p:sp>
      <p:pic>
        <p:nvPicPr>
          <p:cNvPr id="5" name="Picture 4" descr="unsplash_tvP6pCnq9iI.jpg"/>
          <p:cNvPicPr>
            <a:picLocks noChangeAspect="1"/>
          </p:cNvPicPr>
          <p:nvPr/>
        </p:nvPicPr>
        <p:blipFill>
          <a:blip r:embed="rId2"/>
          <a:stretch>
            <a:fillRect/>
          </a:stretch>
        </p:blipFill>
        <p:spPr>
          <a:xfrm>
            <a:off x="4754880" y="1463040"/>
            <a:ext cx="3474720" cy="4572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ctr">
              <a:defRPr sz="3200" b="1">
                <a:solidFill>
                  <a:srgbClr val="1E40AF"/>
                </a:solidFill>
              </a:defRPr>
            </a:pPr>
            <a:r>
              <a:t>Conclusion: Clinical Supply Chain Overview</a:t>
            </a:r>
          </a:p>
        </p:txBody>
      </p:sp>
      <p:sp>
        <p:nvSpPr>
          <p:cNvPr id="4" name="Rectangle 3"/>
          <p:cNvSpPr/>
          <p:nvPr/>
        </p:nvSpPr>
        <p:spPr>
          <a:xfrm>
            <a:off x="3200400" y="1188720"/>
            <a:ext cx="18288" cy="3840480"/>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0" y="1188720"/>
            <a:ext cx="18288" cy="3840480"/>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188720"/>
            <a:ext cx="2560320" cy="548640"/>
          </a:xfrm>
          <a:prstGeom prst="rect">
            <a:avLst/>
          </a:prstGeom>
          <a:noFill/>
        </p:spPr>
        <p:txBody>
          <a:bodyPr wrap="square">
            <a:spAutoFit/>
          </a:bodyPr>
          <a:lstStyle/>
          <a:p>
            <a:pPr algn="ctr">
              <a:defRPr sz="1400" b="1">
                <a:solidFill>
                  <a:srgbClr val="F59E0B"/>
                </a:solidFill>
              </a:defRPr>
            </a:pPr>
            <a:r>
              <a:t>What We</a:t>
            </a:r>
            <a:br/>
            <a:r>
              <a:t>Learned</a:t>
            </a:r>
          </a:p>
        </p:txBody>
      </p:sp>
      <p:sp>
        <p:nvSpPr>
          <p:cNvPr id="7" name="TextBox 6"/>
          <p:cNvSpPr txBox="1"/>
          <p:nvPr/>
        </p:nvSpPr>
        <p:spPr>
          <a:xfrm>
            <a:off x="822960" y="1920240"/>
            <a:ext cx="2377439" cy="3474720"/>
          </a:xfrm>
          <a:prstGeom prst="rect">
            <a:avLst/>
          </a:prstGeom>
          <a:noFill/>
        </p:spPr>
        <p:txBody>
          <a:bodyPr wrap="square">
            <a:spAutoFit/>
          </a:bodyPr>
          <a:lstStyle/>
          <a:p>
            <a:pPr>
              <a:lnSpc>
                <a:spcPct val="120000"/>
              </a:lnSpc>
              <a:spcBef>
                <a:spcPts val="600"/>
              </a:spcBef>
              <a:spcAft>
                <a:spcPts val="600"/>
              </a:spcAft>
              <a:defRPr sz="1200">
                <a:solidFill>
                  <a:srgbClr val="0F172A"/>
                </a:solidFill>
              </a:defRPr>
            </a:pPr>
            <a:r>
              <a:t>• Summary</a:t>
            </a:r>
          </a:p>
        </p:txBody>
      </p:sp>
      <p:sp>
        <p:nvSpPr>
          <p:cNvPr id="8" name="TextBox 7"/>
          <p:cNvSpPr txBox="1"/>
          <p:nvPr/>
        </p:nvSpPr>
        <p:spPr>
          <a:xfrm>
            <a:off x="3474720" y="1188720"/>
            <a:ext cx="2560320" cy="548640"/>
          </a:xfrm>
          <a:prstGeom prst="rect">
            <a:avLst/>
          </a:prstGeom>
          <a:noFill/>
        </p:spPr>
        <p:txBody>
          <a:bodyPr wrap="square">
            <a:spAutoFit/>
          </a:bodyPr>
          <a:lstStyle/>
          <a:p>
            <a:pPr algn="ctr">
              <a:defRPr sz="1400" b="1">
                <a:solidFill>
                  <a:srgbClr val="F59E0B"/>
                </a:solidFill>
              </a:defRPr>
            </a:pPr>
            <a:r>
              <a:t>Key</a:t>
            </a:r>
            <a:br/>
            <a:r>
              <a:t>Actions</a:t>
            </a:r>
          </a:p>
        </p:txBody>
      </p:sp>
      <p:sp>
        <p:nvSpPr>
          <p:cNvPr id="9" name="TextBox 8"/>
          <p:cNvSpPr txBox="1"/>
          <p:nvPr/>
        </p:nvSpPr>
        <p:spPr>
          <a:xfrm>
            <a:off x="3566160" y="1920240"/>
            <a:ext cx="2377439" cy="3474720"/>
          </a:xfrm>
          <a:prstGeom prst="rect">
            <a:avLst/>
          </a:prstGeom>
          <a:noFill/>
        </p:spPr>
        <p:txBody>
          <a:bodyPr wrap="square">
            <a:spAutoFit/>
          </a:bodyPr>
          <a:lstStyle/>
          <a:p>
            <a:pPr>
              <a:lnSpc>
                <a:spcPct val="120000"/>
              </a:lnSpc>
              <a:spcBef>
                <a:spcPts val="600"/>
              </a:spcBef>
              <a:spcAft>
                <a:spcPts val="600"/>
              </a:spcAft>
              <a:defRPr sz="1200">
                <a:solidFill>
                  <a:srgbClr val="0F172A"/>
                </a:solidFill>
              </a:defRPr>
            </a:pPr>
            <a:r>
              <a:t>• Key Takeaways</a:t>
            </a:r>
          </a:p>
        </p:txBody>
      </p:sp>
      <p:sp>
        <p:nvSpPr>
          <p:cNvPr id="10" name="TextBox 9"/>
          <p:cNvSpPr txBox="1"/>
          <p:nvPr/>
        </p:nvSpPr>
        <p:spPr>
          <a:xfrm>
            <a:off x="6217920" y="1188720"/>
            <a:ext cx="2560320" cy="548640"/>
          </a:xfrm>
          <a:prstGeom prst="rect">
            <a:avLst/>
          </a:prstGeom>
          <a:noFill/>
        </p:spPr>
        <p:txBody>
          <a:bodyPr wrap="square">
            <a:spAutoFit/>
          </a:bodyPr>
          <a:lstStyle/>
          <a:p>
            <a:pPr algn="ctr">
              <a:defRPr sz="1400" b="1">
                <a:solidFill>
                  <a:srgbClr val="F59E0B"/>
                </a:solidFill>
              </a:defRPr>
            </a:pPr>
            <a:r>
              <a:t>What's</a:t>
            </a:r>
            <a:br/>
            <a:r>
              <a:t>Next</a:t>
            </a:r>
          </a:p>
        </p:txBody>
      </p:sp>
      <p:sp>
        <p:nvSpPr>
          <p:cNvPr id="11" name="TextBox 10"/>
          <p:cNvSpPr txBox="1"/>
          <p:nvPr/>
        </p:nvSpPr>
        <p:spPr>
          <a:xfrm>
            <a:off x="6309359" y="1920240"/>
            <a:ext cx="2377439" cy="3474720"/>
          </a:xfrm>
          <a:prstGeom prst="rect">
            <a:avLst/>
          </a:prstGeom>
          <a:noFill/>
        </p:spPr>
        <p:txBody>
          <a:bodyPr wrap="square">
            <a:spAutoFit/>
          </a:bodyPr>
          <a:lstStyle/>
          <a:p>
            <a:pPr>
              <a:lnSpc>
                <a:spcPct val="120000"/>
              </a:lnSpc>
              <a:spcBef>
                <a:spcPts val="600"/>
              </a:spcBef>
              <a:spcAft>
                <a:spcPts val="600"/>
              </a:spcAft>
              <a:defRPr sz="1200">
                <a:solidFill>
                  <a:srgbClr val="0F172A"/>
                </a:solidFill>
              </a:defRPr>
            </a:pPr>
            <a:r>
              <a:t>• Action Items</a:t>
            </a:r>
          </a:p>
          <a:p>
            <a:pPr>
              <a:lnSpc>
                <a:spcPct val="120000"/>
              </a:lnSpc>
              <a:spcBef>
                <a:spcPts val="600"/>
              </a:spcBef>
              <a:spcAft>
                <a:spcPts val="600"/>
              </a:spcAft>
              <a:defRPr sz="1200">
                <a:solidFill>
                  <a:srgbClr val="0F172A"/>
                </a:solidFill>
              </a:defRPr>
            </a:pPr>
            <a:r>
              <a:t>• Best Practices</a:t>
            </a:r>
          </a:p>
          <a:p>
            <a:pPr>
              <a:lnSpc>
                <a:spcPct val="120000"/>
              </a:lnSpc>
              <a:spcBef>
                <a:spcPts val="600"/>
              </a:spcBef>
              <a:spcAft>
                <a:spcPts val="600"/>
              </a:spcAft>
              <a:defRPr sz="1200">
                <a:solidFill>
                  <a:srgbClr val="0F172A"/>
                </a:solidFill>
              </a:defRPr>
            </a:pPr>
            <a:r>
              <a:t>• Future Directions</a:t>
            </a:r>
          </a:p>
        </p:txBody>
      </p:sp>
      <p:sp>
        <p:nvSpPr>
          <p:cNvPr id="12" name="Rectangle 11"/>
          <p:cNvSpPr/>
          <p:nvPr/>
        </p:nvSpPr>
        <p:spPr>
          <a:xfrm>
            <a:off x="457200" y="5120640"/>
            <a:ext cx="822960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5303520"/>
            <a:ext cx="8229600" cy="457200"/>
          </a:xfrm>
          <a:prstGeom prst="rect">
            <a:avLst/>
          </a:prstGeom>
          <a:noFill/>
        </p:spPr>
        <p:txBody>
          <a:bodyPr wrap="none">
            <a:spAutoFit/>
          </a:bodyPr>
          <a:lstStyle/>
          <a:p>
            <a:pPr algn="ctr">
              <a:defRPr sz="1100">
                <a:solidFill>
                  <a:srgbClr val="64748B"/>
                </a:solidFill>
              </a:defRPr>
            </a:pPr>
            <a:r>
              <a:t>Thank you for your attention | Questions?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256032"/>
            <a:ext cx="9144000" cy="54864"/>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9184"/>
            <a:ext cx="8229600" cy="658368"/>
          </a:xfrm>
          <a:prstGeom prst="rect">
            <a:avLst/>
          </a:prstGeom>
          <a:noFill/>
        </p:spPr>
        <p:txBody>
          <a:bodyPr wrap="square">
            <a:spAutoFit/>
          </a:bodyPr>
          <a:lstStyle/>
          <a:p>
            <a:pPr>
              <a:defRPr sz="2600" b="1">
                <a:solidFill>
                  <a:srgbClr val="1E40AF"/>
                </a:solidFill>
              </a:defRPr>
            </a:pPr>
            <a:r>
              <a:t>Presentation Flow</a:t>
            </a:r>
          </a:p>
        </p:txBody>
      </p:sp>
      <p:cxnSp>
        <p:nvCxnSpPr>
          <p:cNvPr id="900" name="DiagConnector"/>
          <p:cNvCxnSpPr/>
          <p:nvPr/>
        </p:nvCxnSpPr>
        <p:spPr>
          <a:xfrm>
            <a:off x="758952" y="1444752"/>
            <a:ext cx="5029200" cy="2743200"/>
          </a:xfrm>
          <a:prstGeom prst="line">
            <a:avLst/>
          </a:prstGeom>
          <a:ln w="18000">
            <a:solidFill>
              <a:srgbClr val="CBD5E1"/>
            </a:solidFill>
            <a:prstDash val="sysDash"/>
          </a:ln>
        </p:spPr>
      </p:cxnSp>
      <p:sp>
        <p:nvSpPr>
          <p:cNvPr id="901" name="Rectangle 900"/>
          <p:cNvSpPr/>
          <p:nvPr/>
        </p:nvSpPr>
        <p:spPr>
          <a:xfrm>
            <a:off x="557784" y="1152144"/>
            <a:ext cx="3108960" cy="19202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2" name="Rectangle 901"/>
          <p:cNvSpPr/>
          <p:nvPr/>
        </p:nvSpPr>
        <p:spPr>
          <a:xfrm>
            <a:off x="502920" y="1097280"/>
            <a:ext cx="3108960" cy="192024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3" name="Rectangle 902"/>
          <p:cNvSpPr/>
          <p:nvPr/>
        </p:nvSpPr>
        <p:spPr>
          <a:xfrm>
            <a:off x="502920" y="1097280"/>
            <a:ext cx="54864" cy="19202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4" name="Oval 903"/>
          <p:cNvSpPr/>
          <p:nvPr/>
        </p:nvSpPr>
        <p:spPr>
          <a:xfrm>
            <a:off x="502920" y="1188720"/>
            <a:ext cx="512064" cy="512064"/>
          </a:xfrm>
          <a:prstGeom prst="ellipse">
            <a:avLst/>
          </a:prstGeom>
          <a:solidFill>
            <a:srgbClr val="1E40AF"/>
          </a:solidFill>
          <a:ln>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1</a:t>
            </a:r>
          </a:p>
        </p:txBody>
      </p:sp>
      <p:sp>
        <p:nvSpPr>
          <p:cNvPr id="905" name="TextBox 904"/>
          <p:cNvSpPr txBox="1"/>
          <p:nvPr/>
        </p:nvSpPr>
        <p:spPr>
          <a:xfrm>
            <a:off x="1271016" y="1261872"/>
            <a:ext cx="2176272" cy="384048"/>
          </a:xfrm>
          <a:prstGeom prst="rect">
            <a:avLst/>
          </a:prstGeom>
          <a:noFill/>
        </p:spPr>
        <p:txBody>
          <a:bodyPr wrap="square">
            <a:spAutoFit/>
          </a:bodyPr>
          <a:lstStyle/>
          <a:p>
            <a:pPr>
              <a:defRPr sz="1400" b="1">
                <a:solidFill>
                  <a:srgbClr val="1E40AF"/>
                </a:solidFill>
              </a:defRPr>
            </a:pPr>
            <a:r>
              <a:t>What is Clinical Supply Chain?</a:t>
            </a:r>
          </a:p>
        </p:txBody>
      </p:sp>
      <p:sp>
        <p:nvSpPr>
          <p:cNvPr id="906" name="Rectangle 905"/>
          <p:cNvSpPr/>
          <p:nvPr/>
        </p:nvSpPr>
        <p:spPr>
          <a:xfrm>
            <a:off x="667512" y="1700784"/>
            <a:ext cx="2779776"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7" name="TextBox 906"/>
          <p:cNvSpPr txBox="1"/>
          <p:nvPr/>
        </p:nvSpPr>
        <p:spPr>
          <a:xfrm>
            <a:off x="704088" y="1773936"/>
            <a:ext cx="2743200" cy="1188720"/>
          </a:xfrm>
          <a:prstGeom prst="rect">
            <a:avLst/>
          </a:prstGeom>
          <a:noFill/>
        </p:spPr>
        <p:txBody>
          <a:bodyPr wrap="square">
            <a:spAutoFit/>
          </a:bodyPr>
          <a:lstStyle/>
          <a:p>
            <a:pPr>
              <a:lnSpc>
                <a:spcPct val="120000"/>
              </a:lnSpc>
              <a:spcBef>
                <a:spcPts val="300"/>
              </a:spcBef>
              <a:spcAft>
                <a:spcPts val="300"/>
              </a:spcAft>
              <a:defRPr sz="1100">
                <a:solidFill>
                  <a:srgbClr val="64748B"/>
                </a:solidFill>
              </a:defRPr>
            </a:pPr>
            <a:r>
              <a:t>• Definition</a:t>
            </a:r>
          </a:p>
          <a:p>
            <a:pPr>
              <a:lnSpc>
                <a:spcPct val="120000"/>
              </a:lnSpc>
              <a:spcBef>
                <a:spcPts val="300"/>
              </a:spcBef>
              <a:spcAft>
                <a:spcPts val="300"/>
              </a:spcAft>
              <a:defRPr sz="1100">
                <a:solidFill>
                  <a:srgbClr val="64748B"/>
                </a:solidFill>
              </a:defRPr>
            </a:pPr>
            <a:r>
              <a:t>• Complexity</a:t>
            </a:r>
          </a:p>
          <a:p>
            <a:pPr>
              <a:lnSpc>
                <a:spcPct val="120000"/>
              </a:lnSpc>
              <a:spcBef>
                <a:spcPts val="300"/>
              </a:spcBef>
              <a:spcAft>
                <a:spcPts val="300"/>
              </a:spcAft>
              <a:defRPr sz="1100">
                <a:solidFill>
                  <a:srgbClr val="64748B"/>
                </a:solidFill>
              </a:defRPr>
            </a:pPr>
            <a:r>
              <a:t>• Stakeholders</a:t>
            </a:r>
          </a:p>
        </p:txBody>
      </p:sp>
      <p:sp>
        <p:nvSpPr>
          <p:cNvPr id="908" name="Rectangle 907"/>
          <p:cNvSpPr/>
          <p:nvPr/>
        </p:nvSpPr>
        <p:spPr>
          <a:xfrm>
            <a:off x="3072384" y="2523744"/>
            <a:ext cx="3108960" cy="19202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9" name="Rectangle 908"/>
          <p:cNvSpPr/>
          <p:nvPr/>
        </p:nvSpPr>
        <p:spPr>
          <a:xfrm>
            <a:off x="3017520" y="2468880"/>
            <a:ext cx="3108960" cy="192024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0" name="Rectangle 909"/>
          <p:cNvSpPr/>
          <p:nvPr/>
        </p:nvSpPr>
        <p:spPr>
          <a:xfrm>
            <a:off x="3017520" y="2468880"/>
            <a:ext cx="54864" cy="19202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1" name="Oval 910"/>
          <p:cNvSpPr/>
          <p:nvPr/>
        </p:nvSpPr>
        <p:spPr>
          <a:xfrm>
            <a:off x="3017520" y="2560320"/>
            <a:ext cx="512064" cy="512064"/>
          </a:xfrm>
          <a:prstGeom prst="ellipse">
            <a:avLst/>
          </a:prstGeom>
          <a:solidFill>
            <a:srgbClr val="1E40AF"/>
          </a:solidFill>
          <a:ln>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2</a:t>
            </a:r>
          </a:p>
        </p:txBody>
      </p:sp>
      <p:sp>
        <p:nvSpPr>
          <p:cNvPr id="912" name="TextBox 911"/>
          <p:cNvSpPr txBox="1"/>
          <p:nvPr/>
        </p:nvSpPr>
        <p:spPr>
          <a:xfrm>
            <a:off x="3785615" y="2633472"/>
            <a:ext cx="2176272" cy="384048"/>
          </a:xfrm>
          <a:prstGeom prst="rect">
            <a:avLst/>
          </a:prstGeom>
          <a:noFill/>
        </p:spPr>
        <p:txBody>
          <a:bodyPr wrap="square">
            <a:spAutoFit/>
          </a:bodyPr>
          <a:lstStyle/>
          <a:p>
            <a:pPr>
              <a:defRPr sz="1400" b="1">
                <a:solidFill>
                  <a:srgbClr val="1E40AF"/>
                </a:solidFill>
              </a:defRPr>
            </a:pPr>
            <a:r>
              <a:t>Clinical Supply Chain Components</a:t>
            </a:r>
          </a:p>
        </p:txBody>
      </p:sp>
      <p:sp>
        <p:nvSpPr>
          <p:cNvPr id="913" name="Rectangle 912"/>
          <p:cNvSpPr/>
          <p:nvPr/>
        </p:nvSpPr>
        <p:spPr>
          <a:xfrm>
            <a:off x="3182112" y="3072384"/>
            <a:ext cx="2779776"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4" name="TextBox 913"/>
          <p:cNvSpPr txBox="1"/>
          <p:nvPr/>
        </p:nvSpPr>
        <p:spPr>
          <a:xfrm>
            <a:off x="3218688" y="3145536"/>
            <a:ext cx="2743200" cy="1188720"/>
          </a:xfrm>
          <a:prstGeom prst="rect">
            <a:avLst/>
          </a:prstGeom>
          <a:noFill/>
        </p:spPr>
        <p:txBody>
          <a:bodyPr wrap="square">
            <a:spAutoFit/>
          </a:bodyPr>
          <a:lstStyle/>
          <a:p>
            <a:pPr>
              <a:lnSpc>
                <a:spcPct val="120000"/>
              </a:lnSpc>
              <a:spcBef>
                <a:spcPts val="300"/>
              </a:spcBef>
              <a:spcAft>
                <a:spcPts val="300"/>
              </a:spcAft>
              <a:defRPr sz="1100">
                <a:solidFill>
                  <a:srgbClr val="64748B"/>
                </a:solidFill>
              </a:defRPr>
            </a:pPr>
            <a:r>
              <a:t>• Procurement</a:t>
            </a:r>
          </a:p>
          <a:p>
            <a:pPr>
              <a:lnSpc>
                <a:spcPct val="120000"/>
              </a:lnSpc>
              <a:spcBef>
                <a:spcPts val="300"/>
              </a:spcBef>
              <a:spcAft>
                <a:spcPts val="300"/>
              </a:spcAft>
              <a:defRPr sz="1100">
                <a:solidFill>
                  <a:srgbClr val="64748B"/>
                </a:solidFill>
              </a:defRPr>
            </a:pPr>
            <a:r>
              <a:t>• Inventory Management</a:t>
            </a:r>
          </a:p>
          <a:p>
            <a:pPr>
              <a:lnSpc>
                <a:spcPct val="120000"/>
              </a:lnSpc>
              <a:spcBef>
                <a:spcPts val="300"/>
              </a:spcBef>
              <a:spcAft>
                <a:spcPts val="300"/>
              </a:spcAft>
              <a:defRPr sz="1100">
                <a:solidFill>
                  <a:srgbClr val="64748B"/>
                </a:solidFill>
              </a:defRPr>
            </a:pPr>
            <a:r>
              <a:t>• Transportation</a:t>
            </a:r>
          </a:p>
        </p:txBody>
      </p:sp>
      <p:sp>
        <p:nvSpPr>
          <p:cNvPr id="915" name="Rectangle 914"/>
          <p:cNvSpPr/>
          <p:nvPr/>
        </p:nvSpPr>
        <p:spPr>
          <a:xfrm>
            <a:off x="5586983" y="3895344"/>
            <a:ext cx="3108960" cy="19202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6" name="Rectangle 915"/>
          <p:cNvSpPr/>
          <p:nvPr/>
        </p:nvSpPr>
        <p:spPr>
          <a:xfrm>
            <a:off x="5532120" y="3840480"/>
            <a:ext cx="3108960" cy="192024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7" name="Rectangle 916"/>
          <p:cNvSpPr/>
          <p:nvPr/>
        </p:nvSpPr>
        <p:spPr>
          <a:xfrm>
            <a:off x="5532120" y="3840480"/>
            <a:ext cx="54864" cy="19202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8" name="Oval 917"/>
          <p:cNvSpPr/>
          <p:nvPr/>
        </p:nvSpPr>
        <p:spPr>
          <a:xfrm>
            <a:off x="5532120" y="3931920"/>
            <a:ext cx="512064" cy="512064"/>
          </a:xfrm>
          <a:prstGeom prst="ellipse">
            <a:avLst/>
          </a:prstGeom>
          <a:solidFill>
            <a:srgbClr val="1E40AF"/>
          </a:solidFill>
          <a:ln>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3</a:t>
            </a:r>
          </a:p>
        </p:txBody>
      </p:sp>
      <p:sp>
        <p:nvSpPr>
          <p:cNvPr id="919" name="TextBox 918"/>
          <p:cNvSpPr txBox="1"/>
          <p:nvPr/>
        </p:nvSpPr>
        <p:spPr>
          <a:xfrm>
            <a:off x="6300215" y="4005072"/>
            <a:ext cx="2176272" cy="384048"/>
          </a:xfrm>
          <a:prstGeom prst="rect">
            <a:avLst/>
          </a:prstGeom>
          <a:noFill/>
        </p:spPr>
        <p:txBody>
          <a:bodyPr wrap="square">
            <a:spAutoFit/>
          </a:bodyPr>
          <a:lstStyle/>
          <a:p>
            <a:pPr>
              <a:defRPr sz="1400" b="1">
                <a:solidFill>
                  <a:srgbClr val="1E40AF"/>
                </a:solidFill>
              </a:defRPr>
            </a:pPr>
            <a:r>
              <a:t>Supply Chain Risks and Challenges</a:t>
            </a:r>
          </a:p>
        </p:txBody>
      </p:sp>
      <p:sp>
        <p:nvSpPr>
          <p:cNvPr id="920" name="Rectangle 919"/>
          <p:cNvSpPr/>
          <p:nvPr/>
        </p:nvSpPr>
        <p:spPr>
          <a:xfrm>
            <a:off x="5696712" y="4443984"/>
            <a:ext cx="2779776"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1" name="TextBox 920"/>
          <p:cNvSpPr txBox="1"/>
          <p:nvPr/>
        </p:nvSpPr>
        <p:spPr>
          <a:xfrm>
            <a:off x="5733288" y="4517136"/>
            <a:ext cx="2743200" cy="1188720"/>
          </a:xfrm>
          <a:prstGeom prst="rect">
            <a:avLst/>
          </a:prstGeom>
          <a:noFill/>
        </p:spPr>
        <p:txBody>
          <a:bodyPr wrap="square">
            <a:spAutoFit/>
          </a:bodyPr>
          <a:lstStyle/>
          <a:p>
            <a:pPr>
              <a:lnSpc>
                <a:spcPct val="120000"/>
              </a:lnSpc>
              <a:spcBef>
                <a:spcPts val="300"/>
              </a:spcBef>
              <a:spcAft>
                <a:spcPts val="300"/>
              </a:spcAft>
              <a:defRPr sz="1100">
                <a:solidFill>
                  <a:srgbClr val="64748B"/>
                </a:solidFill>
              </a:defRPr>
            </a:pPr>
            <a:r>
              <a:t>• Product Recalls</a:t>
            </a:r>
          </a:p>
          <a:p>
            <a:pPr>
              <a:lnSpc>
                <a:spcPct val="120000"/>
              </a:lnSpc>
              <a:spcBef>
                <a:spcPts val="300"/>
              </a:spcBef>
              <a:spcAft>
                <a:spcPts val="300"/>
              </a:spcAft>
              <a:defRPr sz="1100">
                <a:solidFill>
                  <a:srgbClr val="64748B"/>
                </a:solidFill>
              </a:defRPr>
            </a:pPr>
            <a:r>
              <a:t>• Inventory Management Issues</a:t>
            </a:r>
          </a:p>
          <a:p>
            <a:pPr>
              <a:lnSpc>
                <a:spcPct val="120000"/>
              </a:lnSpc>
              <a:spcBef>
                <a:spcPts val="300"/>
              </a:spcBef>
              <a:spcAft>
                <a:spcPts val="300"/>
              </a:spcAft>
              <a:defRPr sz="1100">
                <a:solidFill>
                  <a:srgbClr val="64748B"/>
                </a:solidFill>
              </a:defRPr>
            </a:pPr>
            <a:r>
              <a:t>• Transportation Disruptions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731520"/>
            <a:ext cx="8229600" cy="731520"/>
          </a:xfrm>
          <a:prstGeom prst="rect">
            <a:avLst/>
          </a:prstGeom>
          <a:noFill/>
        </p:spPr>
        <p:txBody>
          <a:bodyPr wrap="none">
            <a:spAutoFit/>
          </a:bodyPr>
          <a:lstStyle/>
          <a:p>
            <a:pPr algn="ctr">
              <a:defRPr sz="4400" b="1">
                <a:solidFill>
                  <a:srgbClr val="FFFFFF"/>
                </a:solidFill>
              </a:defRPr>
            </a:pPr>
            <a:r>
              <a:t>Key Takeaways</a:t>
            </a:r>
          </a:p>
        </p:txBody>
      </p:sp>
      <p:sp>
        <p:nvSpPr>
          <p:cNvPr id="3" name="TextBox 2"/>
          <p:cNvSpPr txBox="1"/>
          <p:nvPr/>
        </p:nvSpPr>
        <p:spPr>
          <a:xfrm>
            <a:off x="1371600" y="1828800"/>
            <a:ext cx="6400800" cy="4114800"/>
          </a:xfrm>
          <a:prstGeom prst="rect">
            <a:avLst/>
          </a:prstGeom>
          <a:noFill/>
        </p:spPr>
        <p:txBody>
          <a:bodyPr wrap="square">
            <a:spAutoFit/>
          </a:bodyPr>
          <a:lstStyle/>
          <a:p>
            <a:pPr>
              <a:spcBef>
                <a:spcPts val="800"/>
              </a:spcBef>
              <a:spcAft>
                <a:spcPts val="800"/>
              </a:spcAft>
              <a:defRPr sz="2000">
                <a:solidFill>
                  <a:srgbClr val="F59E0B"/>
                </a:solidFill>
              </a:defRPr>
            </a:pPr>
            <a:r>
              <a:t>✓ What is Clinical Supply Chain?</a:t>
            </a:r>
          </a:p>
          <a:p>
            <a:pPr>
              <a:spcBef>
                <a:spcPts val="800"/>
              </a:spcBef>
              <a:spcAft>
                <a:spcPts val="800"/>
              </a:spcAft>
              <a:defRPr sz="2000">
                <a:solidFill>
                  <a:srgbClr val="F59E0B"/>
                </a:solidFill>
              </a:defRPr>
            </a:pPr>
            <a:r>
              <a:t>✓ Clinical Supply Chain Components</a:t>
            </a:r>
          </a:p>
          <a:p>
            <a:pPr>
              <a:spcBef>
                <a:spcPts val="800"/>
              </a:spcBef>
              <a:spcAft>
                <a:spcPts val="800"/>
              </a:spcAft>
              <a:defRPr sz="2000">
                <a:solidFill>
                  <a:srgbClr val="F59E0B"/>
                </a:solidFill>
              </a:defRPr>
            </a:pPr>
            <a:r>
              <a:t>✓ Supply Chain Risks and Challenges</a:t>
            </a:r>
          </a:p>
          <a:p>
            <a:pPr>
              <a:spcBef>
                <a:spcPts val="800"/>
              </a:spcBef>
              <a:spcAft>
                <a:spcPts val="800"/>
              </a:spcAft>
              <a:defRPr sz="2000">
                <a:solidFill>
                  <a:srgbClr val="F59E0B"/>
                </a:solidFill>
              </a:defRPr>
            </a:pPr>
            <a:r>
              <a:t>✓ Best Practices for Clinical Supply Chain Management</a:t>
            </a:r>
          </a:p>
          <a:p>
            <a:pPr>
              <a:spcBef>
                <a:spcPts val="800"/>
              </a:spcBef>
              <a:spcAft>
                <a:spcPts val="800"/>
              </a:spcAft>
              <a:defRPr sz="2000">
                <a:solidFill>
                  <a:srgbClr val="F59E0B"/>
                </a:solidFill>
              </a:defRPr>
            </a:pPr>
            <a:r>
              <a:t>✓ Clinical Supply Chain Opportunities for Improvement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