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3F51B5"/>
        </a:solidFill>
        <a:effectLst/>
      </p:bgPr>
    </p:bg>
    <p:spTree>
      <p:nvGrpSpPr>
        <p:cNvPr id="1" name=""/>
        <p:cNvGrpSpPr/>
        <p:nvPr/>
      </p:nvGrpSpPr>
      <p:grpSpPr/>
      <p:sp>
        <p:nvSpPr>
          <p:cNvPr id="2" name="Oval 1"/>
          <p:cNvSpPr/>
          <p:nvPr/>
        </p:nvSpPr>
        <p:spPr>
          <a:xfrm>
            <a:off x="6355079" y="-1143000"/>
            <a:ext cx="4114800" cy="4114800"/>
          </a:xfrm>
          <a:prstGeom prst="ellipse">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1440" y="4754880"/>
            <a:ext cx="2011680" cy="2011680"/>
          </a:xfrm>
          <a:prstGeom prst="ellipse">
            <a:avLst/>
          </a:prstGeom>
          <a:noFill/>
          <a:ln w="31750">
            <a:solidFill>
              <a:srgbClr val="5C6B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377440"/>
            <a:ext cx="7680960" cy="2011680"/>
          </a:xfrm>
          <a:prstGeom prst="rect">
            <a:avLst/>
          </a:prstGeom>
          <a:noFill/>
        </p:spPr>
        <p:txBody>
          <a:bodyPr wrap="square">
            <a:spAutoFit/>
          </a:bodyPr>
          <a:lstStyle/>
          <a:p>
            <a:pPr algn="ctr">
              <a:lnSpc>
                <a:spcPct val="115000"/>
              </a:lnSpc>
              <a:defRPr sz="4000" b="1">
                <a:solidFill>
                  <a:srgbClr val="FFFFFF"/>
                </a:solidFill>
              </a:defRPr>
            </a:pPr>
            <a:r>
              <a:t>Revenue and Finance of Microsoft</a:t>
            </a:r>
          </a:p>
        </p:txBody>
      </p:sp>
      <p:sp>
        <p:nvSpPr>
          <p:cNvPr id="5" name="Rectangle 4"/>
          <p:cNvSpPr/>
          <p:nvPr/>
        </p:nvSpPr>
        <p:spPr>
          <a:xfrm>
            <a:off x="0" y="6748272"/>
            <a:ext cx="9144000" cy="109728"/>
          </a:xfrm>
          <a:prstGeom prst="rect">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Introduction to Microsoft's Revenue</a:t>
            </a:r>
          </a:p>
        </p:txBody>
      </p:sp>
      <p:sp>
        <p:nvSpPr>
          <p:cNvPr id="4" name="TextBox 3"/>
          <p:cNvSpPr txBox="1"/>
          <p:nvPr/>
        </p:nvSpPr>
        <p:spPr>
          <a:xfrm>
            <a:off x="731520" y="1417320"/>
            <a:ext cx="7680960" cy="960119"/>
          </a:xfrm>
          <a:prstGeom prst="rect">
            <a:avLst/>
          </a:prstGeom>
          <a:noFill/>
        </p:spPr>
        <p:txBody>
          <a:bodyPr wrap="square">
            <a:spAutoFit/>
          </a:bodyPr>
          <a:lstStyle/>
          <a:p>
            <a:pPr>
              <a:lnSpc>
                <a:spcPct val="130000"/>
              </a:lnSpc>
              <a:defRPr sz="1600">
                <a:solidFill>
                  <a:srgbClr val="0F172A"/>
                </a:solidFill>
              </a:defRPr>
            </a:pPr>
            <a:r>
              <a:t>Microsoft is one of the largest and most successful technology companies in the world. The company's revenue streams are diverse, with a significant portion coming from its software and services division.</a:t>
            </a:r>
          </a:p>
        </p:txBody>
      </p:sp>
      <p:sp>
        <p:nvSpPr>
          <p:cNvPr id="5" name="Oval 4"/>
          <p:cNvSpPr/>
          <p:nvPr/>
        </p:nvSpPr>
        <p:spPr>
          <a:xfrm>
            <a:off x="502920" y="2697479"/>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651760"/>
            <a:ext cx="7589520" cy="868680"/>
          </a:xfrm>
          <a:prstGeom prst="rect">
            <a:avLst/>
          </a:prstGeom>
          <a:noFill/>
        </p:spPr>
        <p:txBody>
          <a:bodyPr wrap="square">
            <a:spAutoFit/>
          </a:bodyPr>
          <a:lstStyle/>
          <a:p>
            <a:pPr>
              <a:lnSpc>
                <a:spcPct val="130000"/>
              </a:lnSpc>
              <a:defRPr sz="1600">
                <a:solidFill>
                  <a:srgbClr val="0F172A"/>
                </a:solidFill>
              </a:defRPr>
            </a:pPr>
            <a:r>
              <a:t>Microsoft is a leading technology company</a:t>
            </a:r>
          </a:p>
        </p:txBody>
      </p:sp>
      <p:sp>
        <p:nvSpPr>
          <p:cNvPr id="7" name="Oval 6"/>
          <p:cNvSpPr/>
          <p:nvPr/>
        </p:nvSpPr>
        <p:spPr>
          <a:xfrm>
            <a:off x="502920" y="3447287"/>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401568"/>
            <a:ext cx="7589520" cy="868680"/>
          </a:xfrm>
          <a:prstGeom prst="rect">
            <a:avLst/>
          </a:prstGeom>
          <a:noFill/>
        </p:spPr>
        <p:txBody>
          <a:bodyPr wrap="square">
            <a:spAutoFit/>
          </a:bodyPr>
          <a:lstStyle/>
          <a:p>
            <a:pPr>
              <a:lnSpc>
                <a:spcPct val="130000"/>
              </a:lnSpc>
              <a:defRPr sz="1600">
                <a:solidFill>
                  <a:srgbClr val="0F172A"/>
                </a:solidFill>
              </a:defRPr>
            </a:pPr>
            <a:r>
              <a:t>Diverse revenue streams</a:t>
            </a:r>
          </a:p>
        </p:txBody>
      </p:sp>
      <p:sp>
        <p:nvSpPr>
          <p:cNvPr id="9" name="Oval 8"/>
          <p:cNvSpPr/>
          <p:nvPr/>
        </p:nvSpPr>
        <p:spPr>
          <a:xfrm>
            <a:off x="502920" y="4197096"/>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51376"/>
            <a:ext cx="7589520" cy="868680"/>
          </a:xfrm>
          <a:prstGeom prst="rect">
            <a:avLst/>
          </a:prstGeom>
          <a:noFill/>
        </p:spPr>
        <p:txBody>
          <a:bodyPr wrap="square">
            <a:spAutoFit/>
          </a:bodyPr>
          <a:lstStyle/>
          <a:p>
            <a:pPr>
              <a:lnSpc>
                <a:spcPct val="130000"/>
              </a:lnSpc>
              <a:defRPr sz="1600">
                <a:solidFill>
                  <a:srgbClr val="0F172A"/>
                </a:solidFill>
              </a:defRPr>
            </a:pPr>
            <a:r>
              <a:t>Software and services division drives revenue</a:t>
            </a:r>
          </a:p>
        </p:txBody>
      </p:sp>
      <p:sp>
        <p:nvSpPr>
          <p:cNvPr id="11" name="Oval 10"/>
          <p:cNvSpPr/>
          <p:nvPr/>
        </p:nvSpPr>
        <p:spPr>
          <a:xfrm>
            <a:off x="502920" y="4946904"/>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901184"/>
            <a:ext cx="7589520" cy="868680"/>
          </a:xfrm>
          <a:prstGeom prst="rect">
            <a:avLst/>
          </a:prstGeom>
          <a:noFill/>
        </p:spPr>
        <p:txBody>
          <a:bodyPr wrap="square">
            <a:spAutoFit/>
          </a:bodyPr>
          <a:lstStyle/>
          <a:p>
            <a:pPr>
              <a:lnSpc>
                <a:spcPct val="130000"/>
              </a:lnSpc>
              <a:defRPr sz="1600">
                <a:solidFill>
                  <a:srgbClr val="0F172A"/>
                </a:solidFill>
              </a:defRPr>
            </a:pPr>
            <a:r>
              <a:t>Consistent growth</a:t>
            </a:r>
          </a:p>
        </p:txBody>
      </p:sp>
      <p:sp>
        <p:nvSpPr>
          <p:cNvPr id="13" name="Rectangle 12"/>
          <p:cNvSpPr/>
          <p:nvPr/>
        </p:nvSpPr>
        <p:spPr>
          <a:xfrm>
            <a:off x="457200" y="6537960"/>
            <a:ext cx="8229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6565392"/>
            <a:ext cx="6400800" cy="256032"/>
          </a:xfrm>
          <a:prstGeom prst="rect">
            <a:avLst/>
          </a:prstGeom>
          <a:noFill/>
        </p:spPr>
        <p:txBody>
          <a:bodyPr wrap="none">
            <a:spAutoFit/>
          </a:bodyPr>
          <a:lstStyle/>
          <a:p>
            <a:pPr>
              <a:defRPr sz="900">
                <a:solidFill>
                  <a:srgbClr val="64748B"/>
                </a:solidFill>
              </a:defRPr>
            </a:pPr>
            <a:r>
              <a:t>Revenue and Finance of Microsoft</a:t>
            </a:r>
          </a:p>
        </p:txBody>
      </p:sp>
      <p:sp>
        <p:nvSpPr>
          <p:cNvPr id="15" name="TextBox 14"/>
          <p:cNvSpPr txBox="1"/>
          <p:nvPr/>
        </p:nvSpPr>
        <p:spPr>
          <a:xfrm>
            <a:off x="7772400" y="6565392"/>
            <a:ext cx="914400" cy="256032"/>
          </a:xfrm>
          <a:prstGeom prst="rect">
            <a:avLst/>
          </a:prstGeom>
          <a:noFill/>
        </p:spPr>
        <p:txBody>
          <a:bodyPr wrap="none">
            <a:spAutoFit/>
          </a:bodyPr>
          <a:lstStyle/>
          <a:p>
            <a:pPr algn="r">
              <a:defRPr sz="900">
                <a:solidFill>
                  <a:srgbClr val="64748B"/>
                </a:solidFill>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85800"/>
          </a:xfrm>
          <a:prstGeom prst="rect">
            <a:avLst/>
          </a:prstGeom>
          <a:noFill/>
        </p:spPr>
        <p:txBody>
          <a:bodyPr wrap="square">
            <a:spAutoFit/>
          </a:bodyPr>
          <a:lstStyle/>
          <a:p>
            <a:pPr>
              <a:defRPr sz="2800" b="1">
                <a:solidFill>
                  <a:srgbClr val="1E40AF"/>
                </a:solidFill>
              </a:defRPr>
            </a:pPr>
            <a:r>
              <a:t>Revenue Streams of Microsoft</a:t>
            </a:r>
          </a:p>
        </p:txBody>
      </p:sp>
      <p:sp>
        <p:nvSpPr>
          <p:cNvPr id="4" name="TextBox 3"/>
          <p:cNvSpPr txBox="1"/>
          <p:nvPr/>
        </p:nvSpPr>
        <p:spPr>
          <a:xfrm>
            <a:off x="731520" y="1417320"/>
            <a:ext cx="7680960" cy="914399"/>
          </a:xfrm>
          <a:prstGeom prst="rect">
            <a:avLst/>
          </a:prstGeom>
          <a:noFill/>
        </p:spPr>
        <p:txBody>
          <a:bodyPr wrap="square">
            <a:spAutoFit/>
          </a:bodyPr>
          <a:lstStyle/>
          <a:p>
            <a:pPr>
              <a:lnSpc>
                <a:spcPct val="130000"/>
              </a:lnSpc>
              <a:defRPr sz="1400">
                <a:solidFill>
                  <a:srgbClr val="64748B"/>
                </a:solidFill>
              </a:defRPr>
            </a:pPr>
            <a:r>
              <a:t>Microsoft generates revenue from a range of sources, including its software and services division, licensing fees, and hardware sales. The company's cloud-based services, such as Azure and Office 365, are significant contributors to its revenue.</a:t>
            </a:r>
          </a:p>
        </p:txBody>
      </p:sp>
      <p:sp>
        <p:nvSpPr>
          <p:cNvPr id="5" name="Oval 4"/>
          <p:cNvSpPr/>
          <p:nvPr/>
        </p:nvSpPr>
        <p:spPr>
          <a:xfrm>
            <a:off x="502920" y="2606039"/>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560320"/>
            <a:ext cx="7589520" cy="868680"/>
          </a:xfrm>
          <a:prstGeom prst="rect">
            <a:avLst/>
          </a:prstGeom>
          <a:noFill/>
        </p:spPr>
        <p:txBody>
          <a:bodyPr wrap="square">
            <a:spAutoFit/>
          </a:bodyPr>
          <a:lstStyle/>
          <a:p>
            <a:pPr>
              <a:lnSpc>
                <a:spcPct val="130000"/>
              </a:lnSpc>
              <a:defRPr sz="1600">
                <a:solidFill>
                  <a:srgbClr val="0F172A"/>
                </a:solidFill>
              </a:defRPr>
            </a:pPr>
            <a:r>
              <a:t>Software and services</a:t>
            </a:r>
          </a:p>
        </p:txBody>
      </p:sp>
      <p:sp>
        <p:nvSpPr>
          <p:cNvPr id="7" name="Oval 6"/>
          <p:cNvSpPr/>
          <p:nvPr/>
        </p:nvSpPr>
        <p:spPr>
          <a:xfrm>
            <a:off x="502920" y="3337559"/>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291839"/>
            <a:ext cx="7589520" cy="868680"/>
          </a:xfrm>
          <a:prstGeom prst="rect">
            <a:avLst/>
          </a:prstGeom>
          <a:noFill/>
        </p:spPr>
        <p:txBody>
          <a:bodyPr wrap="square">
            <a:spAutoFit/>
          </a:bodyPr>
          <a:lstStyle/>
          <a:p>
            <a:pPr>
              <a:lnSpc>
                <a:spcPct val="130000"/>
              </a:lnSpc>
              <a:defRPr sz="1600">
                <a:solidFill>
                  <a:srgbClr val="0F172A"/>
                </a:solidFill>
              </a:defRPr>
            </a:pPr>
            <a:r>
              <a:t>Licensing fees</a:t>
            </a:r>
          </a:p>
        </p:txBody>
      </p:sp>
      <p:sp>
        <p:nvSpPr>
          <p:cNvPr id="9" name="Oval 8"/>
          <p:cNvSpPr/>
          <p:nvPr/>
        </p:nvSpPr>
        <p:spPr>
          <a:xfrm>
            <a:off x="502920" y="4069079"/>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023359"/>
            <a:ext cx="7589520" cy="868680"/>
          </a:xfrm>
          <a:prstGeom prst="rect">
            <a:avLst/>
          </a:prstGeom>
          <a:noFill/>
        </p:spPr>
        <p:txBody>
          <a:bodyPr wrap="square">
            <a:spAutoFit/>
          </a:bodyPr>
          <a:lstStyle/>
          <a:p>
            <a:pPr>
              <a:lnSpc>
                <a:spcPct val="130000"/>
              </a:lnSpc>
              <a:defRPr sz="1600">
                <a:solidFill>
                  <a:srgbClr val="0F172A"/>
                </a:solidFill>
              </a:defRPr>
            </a:pPr>
            <a:r>
              <a:t>Hardware sales</a:t>
            </a:r>
          </a:p>
        </p:txBody>
      </p:sp>
      <p:sp>
        <p:nvSpPr>
          <p:cNvPr id="11" name="Rectangle 10"/>
          <p:cNvSpPr/>
          <p:nvPr/>
        </p:nvSpPr>
        <p:spPr>
          <a:xfrm>
            <a:off x="457200" y="6537960"/>
            <a:ext cx="8229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65392"/>
            <a:ext cx="6400800" cy="256032"/>
          </a:xfrm>
          <a:prstGeom prst="rect">
            <a:avLst/>
          </a:prstGeom>
          <a:noFill/>
        </p:spPr>
        <p:txBody>
          <a:bodyPr wrap="none">
            <a:spAutoFit/>
          </a:bodyPr>
          <a:lstStyle/>
          <a:p>
            <a:pPr>
              <a:defRPr sz="900">
                <a:solidFill>
                  <a:srgbClr val="64748B"/>
                </a:solidFill>
              </a:defRPr>
            </a:pPr>
            <a:r>
              <a:t>Revenue and Finance of Microsoft</a:t>
            </a:r>
          </a:p>
        </p:txBody>
      </p:sp>
      <p:sp>
        <p:nvSpPr>
          <p:cNvPr id="13" name="TextBox 12"/>
          <p:cNvSpPr txBox="1"/>
          <p:nvPr/>
        </p:nvSpPr>
        <p:spPr>
          <a:xfrm>
            <a:off x="7772400" y="6565392"/>
            <a:ext cx="914400" cy="256032"/>
          </a:xfrm>
          <a:prstGeom prst="rect">
            <a:avLst/>
          </a:prstGeom>
          <a:noFill/>
        </p:spPr>
        <p:txBody>
          <a:bodyPr wrap="none">
            <a:spAutoFit/>
          </a:bodyPr>
          <a:lstStyle/>
          <a:p>
            <a:pPr algn="r">
              <a:defRPr sz="900">
                <a:solidFill>
                  <a:srgbClr val="64748B"/>
                </a:solidFill>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Financial Performance of Microsoft</a:t>
            </a:r>
          </a:p>
        </p:txBody>
      </p:sp>
      <p:sp>
        <p:nvSpPr>
          <p:cNvPr id="4" name="TextBox 3"/>
          <p:cNvSpPr txBox="1"/>
          <p:nvPr/>
        </p:nvSpPr>
        <p:spPr>
          <a:xfrm>
            <a:off x="457200" y="1417320"/>
            <a:ext cx="4114800" cy="1307592"/>
          </a:xfrm>
          <a:prstGeom prst="rect">
            <a:avLst/>
          </a:prstGeom>
          <a:noFill/>
        </p:spPr>
        <p:txBody>
          <a:bodyPr wrap="square">
            <a:spAutoFit/>
          </a:bodyPr>
          <a:lstStyle/>
          <a:p>
            <a:pPr>
              <a:lnSpc>
                <a:spcPct val="130000"/>
              </a:lnSpc>
              <a:defRPr sz="1400">
                <a:solidFill>
                  <a:srgbClr val="0F172A"/>
                </a:solidFill>
              </a:defRPr>
            </a:pPr>
            <a:r>
              <a:t>Microsoft's financial performance has been strong in recent years. The company's revenue has consistently grown, driven by the increasing demand for its products and services.</a:t>
            </a:r>
          </a:p>
        </p:txBody>
      </p:sp>
      <p:sp>
        <p:nvSpPr>
          <p:cNvPr id="5" name="Oval 4"/>
          <p:cNvSpPr/>
          <p:nvPr/>
        </p:nvSpPr>
        <p:spPr>
          <a:xfrm>
            <a:off x="457200" y="3099816"/>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3044952"/>
            <a:ext cx="3858768" cy="658368"/>
          </a:xfrm>
          <a:prstGeom prst="rect">
            <a:avLst/>
          </a:prstGeom>
          <a:noFill/>
        </p:spPr>
        <p:txBody>
          <a:bodyPr wrap="square">
            <a:spAutoFit/>
          </a:bodyPr>
          <a:lstStyle/>
          <a:p>
            <a:pPr>
              <a:lnSpc>
                <a:spcPct val="130000"/>
              </a:lnSpc>
              <a:defRPr sz="1500">
                <a:solidFill>
                  <a:srgbClr val="0F172A"/>
                </a:solidFill>
              </a:defRPr>
            </a:pPr>
            <a:r>
              <a:t>Consistent revenue growth</a:t>
            </a:r>
          </a:p>
        </p:txBody>
      </p:sp>
      <p:sp>
        <p:nvSpPr>
          <p:cNvPr id="7" name="Oval 6"/>
          <p:cNvSpPr/>
          <p:nvPr/>
        </p:nvSpPr>
        <p:spPr>
          <a:xfrm>
            <a:off x="457200" y="3831335"/>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4944" y="3776472"/>
            <a:ext cx="3858768" cy="658368"/>
          </a:xfrm>
          <a:prstGeom prst="rect">
            <a:avLst/>
          </a:prstGeom>
          <a:noFill/>
        </p:spPr>
        <p:txBody>
          <a:bodyPr wrap="square">
            <a:spAutoFit/>
          </a:bodyPr>
          <a:lstStyle/>
          <a:p>
            <a:pPr>
              <a:lnSpc>
                <a:spcPct val="130000"/>
              </a:lnSpc>
              <a:defRPr sz="1500">
                <a:solidFill>
                  <a:srgbClr val="0F172A"/>
                </a:solidFill>
              </a:defRPr>
            </a:pPr>
            <a:r>
              <a:t>Increasing net income</a:t>
            </a:r>
          </a:p>
        </p:txBody>
      </p:sp>
      <p:sp>
        <p:nvSpPr>
          <p:cNvPr id="9" name="Oval 8"/>
          <p:cNvSpPr/>
          <p:nvPr/>
        </p:nvSpPr>
        <p:spPr>
          <a:xfrm>
            <a:off x="457200" y="4562855"/>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 y="4507992"/>
            <a:ext cx="3858768" cy="658368"/>
          </a:xfrm>
          <a:prstGeom prst="rect">
            <a:avLst/>
          </a:prstGeom>
          <a:noFill/>
        </p:spPr>
        <p:txBody>
          <a:bodyPr wrap="square">
            <a:spAutoFit/>
          </a:bodyPr>
          <a:lstStyle/>
          <a:p>
            <a:pPr>
              <a:lnSpc>
                <a:spcPct val="130000"/>
              </a:lnSpc>
              <a:defRPr sz="1500">
                <a:solidFill>
                  <a:srgbClr val="0F172A"/>
                </a:solidFill>
              </a:defRPr>
            </a:pPr>
            <a:r>
              <a:t>Cost management</a:t>
            </a:r>
          </a:p>
        </p:txBody>
      </p:sp>
      <p:sp>
        <p:nvSpPr>
          <p:cNvPr id="11" name="Oval 10"/>
          <p:cNvSpPr/>
          <p:nvPr/>
        </p:nvSpPr>
        <p:spPr>
          <a:xfrm>
            <a:off x="457200" y="5294375"/>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944" y="5239512"/>
            <a:ext cx="3858768" cy="658368"/>
          </a:xfrm>
          <a:prstGeom prst="rect">
            <a:avLst/>
          </a:prstGeom>
          <a:noFill/>
        </p:spPr>
        <p:txBody>
          <a:bodyPr wrap="square">
            <a:spAutoFit/>
          </a:bodyPr>
          <a:lstStyle/>
          <a:p>
            <a:pPr>
              <a:lnSpc>
                <a:spcPct val="130000"/>
              </a:lnSpc>
              <a:defRPr sz="1500">
                <a:solidFill>
                  <a:srgbClr val="0F172A"/>
                </a:solidFill>
              </a:defRPr>
            </a:pPr>
            <a:r>
              <a:t>Strategic investments</a:t>
            </a:r>
          </a:p>
        </p:txBody>
      </p:sp>
      <p:pic>
        <p:nvPicPr>
          <p:cNvPr id="13" name="Picture 12" descr="unsplash_wIBDrEv73xY.jpg"/>
          <p:cNvPicPr>
            <a:picLocks noChangeAspect="1"/>
          </p:cNvPicPr>
          <p:nvPr/>
        </p:nvPicPr>
        <p:blipFill>
          <a:blip r:embed="rId2"/>
          <a:stretch>
            <a:fillRect/>
          </a:stretch>
        </p:blipFill>
        <p:spPr>
          <a:xfrm>
            <a:off x="4754880" y="1280160"/>
            <a:ext cx="3840480" cy="4937760"/>
          </a:xfrm>
          <a:prstGeom prst="rect">
            <a:avLst/>
          </a:prstGeom>
        </p:spPr>
      </p:pic>
      <p:sp>
        <p:nvSpPr>
          <p:cNvPr id="14" name="Rectangle 13"/>
          <p:cNvSpPr/>
          <p:nvPr/>
        </p:nvSpPr>
        <p:spPr>
          <a:xfrm>
            <a:off x="457200" y="6537960"/>
            <a:ext cx="8229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6565392"/>
            <a:ext cx="6400800" cy="256032"/>
          </a:xfrm>
          <a:prstGeom prst="rect">
            <a:avLst/>
          </a:prstGeom>
          <a:noFill/>
        </p:spPr>
        <p:txBody>
          <a:bodyPr wrap="none">
            <a:spAutoFit/>
          </a:bodyPr>
          <a:lstStyle/>
          <a:p>
            <a:pPr>
              <a:defRPr sz="900">
                <a:solidFill>
                  <a:srgbClr val="64748B"/>
                </a:solidFill>
              </a:defRPr>
            </a:pPr>
            <a:r>
              <a:t>Revenue and Finance of Microsoft</a:t>
            </a:r>
          </a:p>
        </p:txBody>
      </p:sp>
      <p:sp>
        <p:nvSpPr>
          <p:cNvPr id="16" name="TextBox 15"/>
          <p:cNvSpPr txBox="1"/>
          <p:nvPr/>
        </p:nvSpPr>
        <p:spPr>
          <a:xfrm>
            <a:off x="7772400" y="6565392"/>
            <a:ext cx="914400" cy="256032"/>
          </a:xfrm>
          <a:prstGeom prst="rect">
            <a:avLst/>
          </a:prstGeom>
          <a:noFill/>
        </p:spPr>
        <p:txBody>
          <a:bodyPr wrap="none">
            <a:spAutoFit/>
          </a:bodyPr>
          <a:lstStyle/>
          <a:p>
            <a:pPr algn="r">
              <a:defRPr sz="900">
                <a:solidFill>
                  <a:srgbClr val="64748B"/>
                </a:solidFill>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Microsoft's Revenue Breakdown</a:t>
            </a:r>
          </a:p>
        </p:txBody>
      </p:sp>
      <p:sp>
        <p:nvSpPr>
          <p:cNvPr id="4" name="TextBox 3"/>
          <p:cNvSpPr txBox="1"/>
          <p:nvPr/>
        </p:nvSpPr>
        <p:spPr>
          <a:xfrm>
            <a:off x="731520" y="1417320"/>
            <a:ext cx="7680960" cy="960119"/>
          </a:xfrm>
          <a:prstGeom prst="rect">
            <a:avLst/>
          </a:prstGeom>
          <a:noFill/>
        </p:spPr>
        <p:txBody>
          <a:bodyPr wrap="square">
            <a:spAutoFit/>
          </a:bodyPr>
          <a:lstStyle/>
          <a:p>
            <a:pPr>
              <a:lnSpc>
                <a:spcPct val="130000"/>
              </a:lnSpc>
              <a:defRPr sz="1600">
                <a:solidFill>
                  <a:srgbClr val="0F172A"/>
                </a:solidFill>
              </a:defRPr>
            </a:pPr>
            <a:r>
              <a:t>This slide provides a breakdown of Microsoft's revenue by segment. The company generates the majority of its revenue from its software and services division, which includes its cloud-based services.</a:t>
            </a:r>
          </a:p>
        </p:txBody>
      </p:sp>
      <p:sp>
        <p:nvSpPr>
          <p:cNvPr id="5" name="Oval 4"/>
          <p:cNvSpPr/>
          <p:nvPr/>
        </p:nvSpPr>
        <p:spPr>
          <a:xfrm>
            <a:off x="502920" y="2697479"/>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651760"/>
            <a:ext cx="7589520" cy="868680"/>
          </a:xfrm>
          <a:prstGeom prst="rect">
            <a:avLst/>
          </a:prstGeom>
          <a:noFill/>
        </p:spPr>
        <p:txBody>
          <a:bodyPr wrap="square">
            <a:spAutoFit/>
          </a:bodyPr>
          <a:lstStyle/>
          <a:p>
            <a:pPr>
              <a:lnSpc>
                <a:spcPct val="130000"/>
              </a:lnSpc>
              <a:defRPr sz="1600">
                <a:solidFill>
                  <a:srgbClr val="0F172A"/>
                </a:solidFill>
              </a:defRPr>
            </a:pPr>
            <a:r>
              <a:t>Software and services</a:t>
            </a:r>
          </a:p>
        </p:txBody>
      </p:sp>
      <p:sp>
        <p:nvSpPr>
          <p:cNvPr id="7" name="Oval 6"/>
          <p:cNvSpPr/>
          <p:nvPr/>
        </p:nvSpPr>
        <p:spPr>
          <a:xfrm>
            <a:off x="502920" y="3447287"/>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401568"/>
            <a:ext cx="7589520" cy="868680"/>
          </a:xfrm>
          <a:prstGeom prst="rect">
            <a:avLst/>
          </a:prstGeom>
          <a:noFill/>
        </p:spPr>
        <p:txBody>
          <a:bodyPr wrap="square">
            <a:spAutoFit/>
          </a:bodyPr>
          <a:lstStyle/>
          <a:p>
            <a:pPr>
              <a:lnSpc>
                <a:spcPct val="130000"/>
              </a:lnSpc>
              <a:defRPr sz="1600">
                <a:solidFill>
                  <a:srgbClr val="0F172A"/>
                </a:solidFill>
              </a:defRPr>
            </a:pPr>
            <a:r>
              <a:t>Licensing fees</a:t>
            </a:r>
          </a:p>
        </p:txBody>
      </p:sp>
      <p:sp>
        <p:nvSpPr>
          <p:cNvPr id="9" name="Oval 8"/>
          <p:cNvSpPr/>
          <p:nvPr/>
        </p:nvSpPr>
        <p:spPr>
          <a:xfrm>
            <a:off x="502920" y="4197096"/>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51376"/>
            <a:ext cx="7589520" cy="868680"/>
          </a:xfrm>
          <a:prstGeom prst="rect">
            <a:avLst/>
          </a:prstGeom>
          <a:noFill/>
        </p:spPr>
        <p:txBody>
          <a:bodyPr wrap="square">
            <a:spAutoFit/>
          </a:bodyPr>
          <a:lstStyle/>
          <a:p>
            <a:pPr>
              <a:lnSpc>
                <a:spcPct val="130000"/>
              </a:lnSpc>
              <a:defRPr sz="1600">
                <a:solidFill>
                  <a:srgbClr val="0F172A"/>
                </a:solidFill>
              </a:defRPr>
            </a:pPr>
            <a:r>
              <a:t>Hardware sales</a:t>
            </a:r>
          </a:p>
        </p:txBody>
      </p:sp>
      <p:sp>
        <p:nvSpPr>
          <p:cNvPr id="11" name="Oval 10"/>
          <p:cNvSpPr/>
          <p:nvPr/>
        </p:nvSpPr>
        <p:spPr>
          <a:xfrm>
            <a:off x="502920" y="4946904"/>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901184"/>
            <a:ext cx="7589520" cy="868680"/>
          </a:xfrm>
          <a:prstGeom prst="rect">
            <a:avLst/>
          </a:prstGeom>
          <a:noFill/>
        </p:spPr>
        <p:txBody>
          <a:bodyPr wrap="square">
            <a:spAutoFit/>
          </a:bodyPr>
          <a:lstStyle/>
          <a:p>
            <a:pPr>
              <a:lnSpc>
                <a:spcPct val="130000"/>
              </a:lnSpc>
              <a:defRPr sz="1600">
                <a:solidFill>
                  <a:srgbClr val="0F172A"/>
                </a:solidFill>
              </a:defRPr>
            </a:pPr>
            <a:r>
              <a:t>Cloud-based services</a:t>
            </a:r>
          </a:p>
        </p:txBody>
      </p:sp>
      <p:sp>
        <p:nvSpPr>
          <p:cNvPr id="13" name="Rectangle 12"/>
          <p:cNvSpPr/>
          <p:nvPr/>
        </p:nvSpPr>
        <p:spPr>
          <a:xfrm>
            <a:off x="457200" y="6537960"/>
            <a:ext cx="8229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6565392"/>
            <a:ext cx="6400800" cy="256032"/>
          </a:xfrm>
          <a:prstGeom prst="rect">
            <a:avLst/>
          </a:prstGeom>
          <a:noFill/>
        </p:spPr>
        <p:txBody>
          <a:bodyPr wrap="none">
            <a:spAutoFit/>
          </a:bodyPr>
          <a:lstStyle/>
          <a:p>
            <a:pPr>
              <a:defRPr sz="900">
                <a:solidFill>
                  <a:srgbClr val="64748B"/>
                </a:solidFill>
              </a:defRPr>
            </a:pPr>
            <a:r>
              <a:t>Revenue and Finance of Microsoft</a:t>
            </a:r>
          </a:p>
        </p:txBody>
      </p:sp>
      <p:sp>
        <p:nvSpPr>
          <p:cNvPr id="15" name="TextBox 14"/>
          <p:cNvSpPr txBox="1"/>
          <p:nvPr/>
        </p:nvSpPr>
        <p:spPr>
          <a:xfrm>
            <a:off x="7772400" y="6565392"/>
            <a:ext cx="914400" cy="256032"/>
          </a:xfrm>
          <a:prstGeom prst="rect">
            <a:avLst/>
          </a:prstGeom>
          <a:noFill/>
        </p:spPr>
        <p:txBody>
          <a:bodyPr wrap="none">
            <a:spAutoFit/>
          </a:bodyPr>
          <a:lstStyle/>
          <a:p>
            <a:pPr algn="r">
              <a:defRPr sz="900">
                <a:solidFill>
                  <a:srgbClr val="64748B"/>
                </a:solidFill>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Microsoft's Cost Structure</a:t>
            </a:r>
          </a:p>
        </p:txBody>
      </p:sp>
      <p:sp>
        <p:nvSpPr>
          <p:cNvPr id="4" name="TextBox 3"/>
          <p:cNvSpPr txBox="1"/>
          <p:nvPr/>
        </p:nvSpPr>
        <p:spPr>
          <a:xfrm>
            <a:off x="731520" y="1417320"/>
            <a:ext cx="7680960" cy="960119"/>
          </a:xfrm>
          <a:prstGeom prst="rect">
            <a:avLst/>
          </a:prstGeom>
          <a:noFill/>
        </p:spPr>
        <p:txBody>
          <a:bodyPr wrap="square">
            <a:spAutoFit/>
          </a:bodyPr>
          <a:lstStyle/>
          <a:p>
            <a:pPr>
              <a:lnSpc>
                <a:spcPct val="130000"/>
              </a:lnSpc>
              <a:defRPr sz="1600">
                <a:solidFill>
                  <a:srgbClr val="0F172A"/>
                </a:solidFill>
              </a:defRPr>
            </a:pPr>
            <a:r>
              <a:t>Microsoft's cost structure is primarily driven by research and development expenses, as well as marketing and sales costs. The company also incurs significant costs related to the development and maintenance of its cloud-based services.</a:t>
            </a:r>
          </a:p>
        </p:txBody>
      </p:sp>
      <p:sp>
        <p:nvSpPr>
          <p:cNvPr id="5" name="Oval 4"/>
          <p:cNvSpPr/>
          <p:nvPr/>
        </p:nvSpPr>
        <p:spPr>
          <a:xfrm>
            <a:off x="502920" y="2697479"/>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651760"/>
            <a:ext cx="7589520" cy="868680"/>
          </a:xfrm>
          <a:prstGeom prst="rect">
            <a:avLst/>
          </a:prstGeom>
          <a:noFill/>
        </p:spPr>
        <p:txBody>
          <a:bodyPr wrap="square">
            <a:spAutoFit/>
          </a:bodyPr>
          <a:lstStyle/>
          <a:p>
            <a:pPr>
              <a:lnSpc>
                <a:spcPct val="130000"/>
              </a:lnSpc>
              <a:defRPr sz="1600">
                <a:solidFill>
                  <a:srgbClr val="0F172A"/>
                </a:solidFill>
              </a:defRPr>
            </a:pPr>
            <a:r>
              <a:t>Research and development</a:t>
            </a:r>
          </a:p>
        </p:txBody>
      </p:sp>
      <p:sp>
        <p:nvSpPr>
          <p:cNvPr id="7" name="Oval 6"/>
          <p:cNvSpPr/>
          <p:nvPr/>
        </p:nvSpPr>
        <p:spPr>
          <a:xfrm>
            <a:off x="502920" y="3447287"/>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401568"/>
            <a:ext cx="7589520" cy="868680"/>
          </a:xfrm>
          <a:prstGeom prst="rect">
            <a:avLst/>
          </a:prstGeom>
          <a:noFill/>
        </p:spPr>
        <p:txBody>
          <a:bodyPr wrap="square">
            <a:spAutoFit/>
          </a:bodyPr>
          <a:lstStyle/>
          <a:p>
            <a:pPr>
              <a:lnSpc>
                <a:spcPct val="130000"/>
              </a:lnSpc>
              <a:defRPr sz="1600">
                <a:solidFill>
                  <a:srgbClr val="0F172A"/>
                </a:solidFill>
              </a:defRPr>
            </a:pPr>
            <a:r>
              <a:t>Marketing and sales</a:t>
            </a:r>
          </a:p>
        </p:txBody>
      </p:sp>
      <p:sp>
        <p:nvSpPr>
          <p:cNvPr id="9" name="Oval 8"/>
          <p:cNvSpPr/>
          <p:nvPr/>
        </p:nvSpPr>
        <p:spPr>
          <a:xfrm>
            <a:off x="502920" y="4197096"/>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51376"/>
            <a:ext cx="7589520" cy="868680"/>
          </a:xfrm>
          <a:prstGeom prst="rect">
            <a:avLst/>
          </a:prstGeom>
          <a:noFill/>
        </p:spPr>
        <p:txBody>
          <a:bodyPr wrap="square">
            <a:spAutoFit/>
          </a:bodyPr>
          <a:lstStyle/>
          <a:p>
            <a:pPr>
              <a:lnSpc>
                <a:spcPct val="130000"/>
              </a:lnSpc>
              <a:defRPr sz="1600">
                <a:solidFill>
                  <a:srgbClr val="0F172A"/>
                </a:solidFill>
              </a:defRPr>
            </a:pPr>
            <a:r>
              <a:t>Cloud-based services</a:t>
            </a:r>
          </a:p>
        </p:txBody>
      </p:sp>
      <p:sp>
        <p:nvSpPr>
          <p:cNvPr id="11" name="Oval 10"/>
          <p:cNvSpPr/>
          <p:nvPr/>
        </p:nvSpPr>
        <p:spPr>
          <a:xfrm>
            <a:off x="502920" y="4946904"/>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901184"/>
            <a:ext cx="7589520" cy="868680"/>
          </a:xfrm>
          <a:prstGeom prst="rect">
            <a:avLst/>
          </a:prstGeom>
          <a:noFill/>
        </p:spPr>
        <p:txBody>
          <a:bodyPr wrap="square">
            <a:spAutoFit/>
          </a:bodyPr>
          <a:lstStyle/>
          <a:p>
            <a:pPr>
              <a:lnSpc>
                <a:spcPct val="130000"/>
              </a:lnSpc>
              <a:defRPr sz="1600">
                <a:solidFill>
                  <a:srgbClr val="0F172A"/>
                </a:solidFill>
              </a:defRPr>
            </a:pPr>
            <a:r>
              <a:t>General and administrative</a:t>
            </a:r>
          </a:p>
        </p:txBody>
      </p:sp>
      <p:sp>
        <p:nvSpPr>
          <p:cNvPr id="13" name="Rectangle 12"/>
          <p:cNvSpPr/>
          <p:nvPr/>
        </p:nvSpPr>
        <p:spPr>
          <a:xfrm>
            <a:off x="457200" y="6537960"/>
            <a:ext cx="8229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6565392"/>
            <a:ext cx="6400800" cy="256032"/>
          </a:xfrm>
          <a:prstGeom prst="rect">
            <a:avLst/>
          </a:prstGeom>
          <a:noFill/>
        </p:spPr>
        <p:txBody>
          <a:bodyPr wrap="none">
            <a:spAutoFit/>
          </a:bodyPr>
          <a:lstStyle/>
          <a:p>
            <a:pPr>
              <a:defRPr sz="900">
                <a:solidFill>
                  <a:srgbClr val="64748B"/>
                </a:solidFill>
              </a:defRPr>
            </a:pPr>
            <a:r>
              <a:t>Revenue and Finance of Microsoft</a:t>
            </a:r>
          </a:p>
        </p:txBody>
      </p:sp>
      <p:sp>
        <p:nvSpPr>
          <p:cNvPr id="15" name="TextBox 14"/>
          <p:cNvSpPr txBox="1"/>
          <p:nvPr/>
        </p:nvSpPr>
        <p:spPr>
          <a:xfrm>
            <a:off x="7772400" y="6565392"/>
            <a:ext cx="914400" cy="256032"/>
          </a:xfrm>
          <a:prstGeom prst="rect">
            <a:avLst/>
          </a:prstGeom>
          <a:noFill/>
        </p:spPr>
        <p:txBody>
          <a:bodyPr wrap="none">
            <a:spAutoFit/>
          </a:bodyPr>
          <a:lstStyle/>
          <a:p>
            <a:pPr algn="r">
              <a:defRPr sz="900">
                <a:solidFill>
                  <a:srgbClr val="64748B"/>
                </a:solidFill>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Microsoft's Financial Strategy</a:t>
            </a:r>
          </a:p>
        </p:txBody>
      </p:sp>
      <p:sp>
        <p:nvSpPr>
          <p:cNvPr id="4" name="TextBox 3"/>
          <p:cNvSpPr txBox="1"/>
          <p:nvPr/>
        </p:nvSpPr>
        <p:spPr>
          <a:xfrm>
            <a:off x="457200" y="1417320"/>
            <a:ext cx="4114800" cy="1600200"/>
          </a:xfrm>
          <a:prstGeom prst="rect">
            <a:avLst/>
          </a:prstGeom>
          <a:noFill/>
        </p:spPr>
        <p:txBody>
          <a:bodyPr wrap="square">
            <a:spAutoFit/>
          </a:bodyPr>
          <a:lstStyle/>
          <a:p>
            <a:pPr>
              <a:lnSpc>
                <a:spcPct val="130000"/>
              </a:lnSpc>
              <a:defRPr sz="1400">
                <a:solidFill>
                  <a:srgbClr val="0F172A"/>
                </a:solidFill>
              </a:defRPr>
            </a:pPr>
            <a:r>
              <a:t>Microsoft's financial strategy is focused on driving growth through strategic investments in its cloud-based services and gaming business. The company is also committed to returning value to shareholders through dividends and share repurchases.</a:t>
            </a:r>
          </a:p>
        </p:txBody>
      </p:sp>
      <p:sp>
        <p:nvSpPr>
          <p:cNvPr id="5" name="Oval 4"/>
          <p:cNvSpPr/>
          <p:nvPr/>
        </p:nvSpPr>
        <p:spPr>
          <a:xfrm>
            <a:off x="457200" y="3392424"/>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3337560"/>
            <a:ext cx="3858768" cy="658368"/>
          </a:xfrm>
          <a:prstGeom prst="rect">
            <a:avLst/>
          </a:prstGeom>
          <a:noFill/>
        </p:spPr>
        <p:txBody>
          <a:bodyPr wrap="square">
            <a:spAutoFit/>
          </a:bodyPr>
          <a:lstStyle/>
          <a:p>
            <a:pPr>
              <a:lnSpc>
                <a:spcPct val="130000"/>
              </a:lnSpc>
              <a:defRPr sz="1500">
                <a:solidFill>
                  <a:srgbClr val="0F172A"/>
                </a:solidFill>
              </a:defRPr>
            </a:pPr>
            <a:r>
              <a:t>Strategic investments</a:t>
            </a:r>
          </a:p>
        </p:txBody>
      </p:sp>
      <p:sp>
        <p:nvSpPr>
          <p:cNvPr id="7" name="Oval 6"/>
          <p:cNvSpPr/>
          <p:nvPr/>
        </p:nvSpPr>
        <p:spPr>
          <a:xfrm>
            <a:off x="457200" y="4123944"/>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4944" y="4069080"/>
            <a:ext cx="3858768" cy="658368"/>
          </a:xfrm>
          <a:prstGeom prst="rect">
            <a:avLst/>
          </a:prstGeom>
          <a:noFill/>
        </p:spPr>
        <p:txBody>
          <a:bodyPr wrap="square">
            <a:spAutoFit/>
          </a:bodyPr>
          <a:lstStyle/>
          <a:p>
            <a:pPr>
              <a:lnSpc>
                <a:spcPct val="130000"/>
              </a:lnSpc>
              <a:defRPr sz="1500">
                <a:solidFill>
                  <a:srgbClr val="0F172A"/>
                </a:solidFill>
              </a:defRPr>
            </a:pPr>
            <a:r>
              <a:t>Cloud-based services</a:t>
            </a:r>
          </a:p>
        </p:txBody>
      </p:sp>
      <p:sp>
        <p:nvSpPr>
          <p:cNvPr id="9" name="Oval 8"/>
          <p:cNvSpPr/>
          <p:nvPr/>
        </p:nvSpPr>
        <p:spPr>
          <a:xfrm>
            <a:off x="457200" y="4855464"/>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 y="4800600"/>
            <a:ext cx="3858768" cy="658368"/>
          </a:xfrm>
          <a:prstGeom prst="rect">
            <a:avLst/>
          </a:prstGeom>
          <a:noFill/>
        </p:spPr>
        <p:txBody>
          <a:bodyPr wrap="square">
            <a:spAutoFit/>
          </a:bodyPr>
          <a:lstStyle/>
          <a:p>
            <a:pPr>
              <a:lnSpc>
                <a:spcPct val="130000"/>
              </a:lnSpc>
              <a:defRPr sz="1500">
                <a:solidFill>
                  <a:srgbClr val="0F172A"/>
                </a:solidFill>
              </a:defRPr>
            </a:pPr>
            <a:r>
              <a:t>Gaming business</a:t>
            </a:r>
          </a:p>
        </p:txBody>
      </p:sp>
      <p:sp>
        <p:nvSpPr>
          <p:cNvPr id="11" name="Oval 10"/>
          <p:cNvSpPr/>
          <p:nvPr/>
        </p:nvSpPr>
        <p:spPr>
          <a:xfrm>
            <a:off x="457200" y="5586983"/>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944" y="5532120"/>
            <a:ext cx="3858768" cy="658368"/>
          </a:xfrm>
          <a:prstGeom prst="rect">
            <a:avLst/>
          </a:prstGeom>
          <a:noFill/>
        </p:spPr>
        <p:txBody>
          <a:bodyPr wrap="square">
            <a:spAutoFit/>
          </a:bodyPr>
          <a:lstStyle/>
          <a:p>
            <a:pPr>
              <a:lnSpc>
                <a:spcPct val="130000"/>
              </a:lnSpc>
              <a:defRPr sz="1500">
                <a:solidFill>
                  <a:srgbClr val="0F172A"/>
                </a:solidFill>
              </a:defRPr>
            </a:pPr>
            <a:r>
              <a:t>Shareholder returns</a:t>
            </a:r>
          </a:p>
        </p:txBody>
      </p:sp>
      <p:pic>
        <p:nvPicPr>
          <p:cNvPr id="13" name="Picture 12" descr="unsplash_wIBDrEv73xY.jpg"/>
          <p:cNvPicPr>
            <a:picLocks noChangeAspect="1"/>
          </p:cNvPicPr>
          <p:nvPr/>
        </p:nvPicPr>
        <p:blipFill>
          <a:blip r:embed="rId2"/>
          <a:stretch>
            <a:fillRect/>
          </a:stretch>
        </p:blipFill>
        <p:spPr>
          <a:xfrm>
            <a:off x="4754880" y="1280160"/>
            <a:ext cx="3840480" cy="4937760"/>
          </a:xfrm>
          <a:prstGeom prst="rect">
            <a:avLst/>
          </a:prstGeom>
        </p:spPr>
      </p:pic>
      <p:sp>
        <p:nvSpPr>
          <p:cNvPr id="14" name="Rectangle 13"/>
          <p:cNvSpPr/>
          <p:nvPr/>
        </p:nvSpPr>
        <p:spPr>
          <a:xfrm>
            <a:off x="457200" y="6537960"/>
            <a:ext cx="8229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6565392"/>
            <a:ext cx="6400800" cy="256032"/>
          </a:xfrm>
          <a:prstGeom prst="rect">
            <a:avLst/>
          </a:prstGeom>
          <a:noFill/>
        </p:spPr>
        <p:txBody>
          <a:bodyPr wrap="none">
            <a:spAutoFit/>
          </a:bodyPr>
          <a:lstStyle/>
          <a:p>
            <a:pPr>
              <a:defRPr sz="900">
                <a:solidFill>
                  <a:srgbClr val="64748B"/>
                </a:solidFill>
              </a:defRPr>
            </a:pPr>
            <a:r>
              <a:t>Revenue and Finance of Microsoft</a:t>
            </a:r>
          </a:p>
        </p:txBody>
      </p:sp>
      <p:sp>
        <p:nvSpPr>
          <p:cNvPr id="16" name="TextBox 15"/>
          <p:cNvSpPr txBox="1"/>
          <p:nvPr/>
        </p:nvSpPr>
        <p:spPr>
          <a:xfrm>
            <a:off x="7772400" y="6565392"/>
            <a:ext cx="914400" cy="256032"/>
          </a:xfrm>
          <a:prstGeom prst="rect">
            <a:avLst/>
          </a:prstGeom>
          <a:noFill/>
        </p:spPr>
        <p:txBody>
          <a:bodyPr wrap="none">
            <a:spAutoFit/>
          </a:bodyPr>
          <a:lstStyle/>
          <a:p>
            <a:pPr algn="r">
              <a:defRPr sz="900">
                <a:solidFill>
                  <a:srgbClr val="64748B"/>
                </a:solidFill>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Challenges Facing Microsoft's Revenue</a:t>
            </a:r>
          </a:p>
        </p:txBody>
      </p:sp>
      <p:sp>
        <p:nvSpPr>
          <p:cNvPr id="4" name="TextBox 3"/>
          <p:cNvSpPr txBox="1"/>
          <p:nvPr/>
        </p:nvSpPr>
        <p:spPr>
          <a:xfrm>
            <a:off x="731520" y="1417320"/>
            <a:ext cx="7680960" cy="960119"/>
          </a:xfrm>
          <a:prstGeom prst="rect">
            <a:avLst/>
          </a:prstGeom>
          <a:noFill/>
        </p:spPr>
        <p:txBody>
          <a:bodyPr wrap="square">
            <a:spAutoFit/>
          </a:bodyPr>
          <a:lstStyle/>
          <a:p>
            <a:pPr>
              <a:lnSpc>
                <a:spcPct val="130000"/>
              </a:lnSpc>
              <a:defRPr sz="1600">
                <a:solidFill>
                  <a:srgbClr val="0F172A"/>
                </a:solidFill>
              </a:defRPr>
            </a:pPr>
            <a:r>
              <a:t>Microsoft faces several challenges that could impact its revenue growth. These include increasing competition in the cloud computing market, as well as potential disruptions to its gaming business.</a:t>
            </a:r>
          </a:p>
        </p:txBody>
      </p:sp>
      <p:sp>
        <p:nvSpPr>
          <p:cNvPr id="5" name="Oval 4"/>
          <p:cNvSpPr/>
          <p:nvPr/>
        </p:nvSpPr>
        <p:spPr>
          <a:xfrm>
            <a:off x="502920" y="2697479"/>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651760"/>
            <a:ext cx="7589520" cy="868680"/>
          </a:xfrm>
          <a:prstGeom prst="rect">
            <a:avLst/>
          </a:prstGeom>
          <a:noFill/>
        </p:spPr>
        <p:txBody>
          <a:bodyPr wrap="square">
            <a:spAutoFit/>
          </a:bodyPr>
          <a:lstStyle/>
          <a:p>
            <a:pPr>
              <a:lnSpc>
                <a:spcPct val="130000"/>
              </a:lnSpc>
              <a:defRPr sz="1600">
                <a:solidFill>
                  <a:srgbClr val="0F172A"/>
                </a:solidFill>
              </a:defRPr>
            </a:pPr>
            <a:r>
              <a:t>Increasing competition</a:t>
            </a:r>
          </a:p>
        </p:txBody>
      </p:sp>
      <p:sp>
        <p:nvSpPr>
          <p:cNvPr id="7" name="Oval 6"/>
          <p:cNvSpPr/>
          <p:nvPr/>
        </p:nvSpPr>
        <p:spPr>
          <a:xfrm>
            <a:off x="502920" y="3447287"/>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401568"/>
            <a:ext cx="7589520" cy="868680"/>
          </a:xfrm>
          <a:prstGeom prst="rect">
            <a:avLst/>
          </a:prstGeom>
          <a:noFill/>
        </p:spPr>
        <p:txBody>
          <a:bodyPr wrap="square">
            <a:spAutoFit/>
          </a:bodyPr>
          <a:lstStyle/>
          <a:p>
            <a:pPr>
              <a:lnSpc>
                <a:spcPct val="130000"/>
              </a:lnSpc>
              <a:defRPr sz="1600">
                <a:solidFill>
                  <a:srgbClr val="0F172A"/>
                </a:solidFill>
              </a:defRPr>
            </a:pPr>
            <a:r>
              <a:t>Cloud computing market</a:t>
            </a:r>
          </a:p>
        </p:txBody>
      </p:sp>
      <p:sp>
        <p:nvSpPr>
          <p:cNvPr id="9" name="Oval 8"/>
          <p:cNvSpPr/>
          <p:nvPr/>
        </p:nvSpPr>
        <p:spPr>
          <a:xfrm>
            <a:off x="502920" y="4197096"/>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51376"/>
            <a:ext cx="7589520" cy="868680"/>
          </a:xfrm>
          <a:prstGeom prst="rect">
            <a:avLst/>
          </a:prstGeom>
          <a:noFill/>
        </p:spPr>
        <p:txBody>
          <a:bodyPr wrap="square">
            <a:spAutoFit/>
          </a:bodyPr>
          <a:lstStyle/>
          <a:p>
            <a:pPr>
              <a:lnSpc>
                <a:spcPct val="130000"/>
              </a:lnSpc>
              <a:defRPr sz="1600">
                <a:solidFill>
                  <a:srgbClr val="0F172A"/>
                </a:solidFill>
              </a:defRPr>
            </a:pPr>
            <a:r>
              <a:t>Gaming industry disruption</a:t>
            </a:r>
          </a:p>
        </p:txBody>
      </p:sp>
      <p:sp>
        <p:nvSpPr>
          <p:cNvPr id="11" name="Oval 10"/>
          <p:cNvSpPr/>
          <p:nvPr/>
        </p:nvSpPr>
        <p:spPr>
          <a:xfrm>
            <a:off x="502920" y="4946904"/>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901184"/>
            <a:ext cx="7589520" cy="868680"/>
          </a:xfrm>
          <a:prstGeom prst="rect">
            <a:avLst/>
          </a:prstGeom>
          <a:noFill/>
        </p:spPr>
        <p:txBody>
          <a:bodyPr wrap="square">
            <a:spAutoFit/>
          </a:bodyPr>
          <a:lstStyle/>
          <a:p>
            <a:pPr>
              <a:lnSpc>
                <a:spcPct val="130000"/>
              </a:lnSpc>
              <a:defRPr sz="1600">
                <a:solidFill>
                  <a:srgbClr val="0F172A"/>
                </a:solidFill>
              </a:defRPr>
            </a:pPr>
            <a:r>
              <a:t>Economic uncertainty</a:t>
            </a:r>
          </a:p>
        </p:txBody>
      </p:sp>
      <p:sp>
        <p:nvSpPr>
          <p:cNvPr id="13" name="Rectangle 12"/>
          <p:cNvSpPr/>
          <p:nvPr/>
        </p:nvSpPr>
        <p:spPr>
          <a:xfrm>
            <a:off x="457200" y="6537960"/>
            <a:ext cx="8229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6565392"/>
            <a:ext cx="6400800" cy="256032"/>
          </a:xfrm>
          <a:prstGeom prst="rect">
            <a:avLst/>
          </a:prstGeom>
          <a:noFill/>
        </p:spPr>
        <p:txBody>
          <a:bodyPr wrap="none">
            <a:spAutoFit/>
          </a:bodyPr>
          <a:lstStyle/>
          <a:p>
            <a:pPr>
              <a:defRPr sz="900">
                <a:solidFill>
                  <a:srgbClr val="64748B"/>
                </a:solidFill>
              </a:defRPr>
            </a:pPr>
            <a:r>
              <a:t>Revenue and Finance of Microsoft</a:t>
            </a:r>
          </a:p>
        </p:txBody>
      </p:sp>
      <p:sp>
        <p:nvSpPr>
          <p:cNvPr id="15" name="TextBox 14"/>
          <p:cNvSpPr txBox="1"/>
          <p:nvPr/>
        </p:nvSpPr>
        <p:spPr>
          <a:xfrm>
            <a:off x="7772400" y="6565392"/>
            <a:ext cx="914400" cy="256032"/>
          </a:xfrm>
          <a:prstGeom prst="rect">
            <a:avLst/>
          </a:prstGeom>
          <a:noFill/>
        </p:spPr>
        <p:txBody>
          <a:bodyPr wrap="none">
            <a:spAutoFit/>
          </a:bodyPr>
          <a:lstStyle/>
          <a:p>
            <a:pPr algn="r">
              <a:defRPr sz="900">
                <a:solidFill>
                  <a:srgbClr val="64748B"/>
                </a:solidFill>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ctr">
              <a:defRPr sz="3200" b="1">
                <a:solidFill>
                  <a:srgbClr val="1E40AF"/>
                </a:solidFill>
              </a:defRPr>
            </a:pPr>
            <a:r>
              <a:t>Conclusion and Outlook</a:t>
            </a:r>
          </a:p>
        </p:txBody>
      </p:sp>
      <p:sp>
        <p:nvSpPr>
          <p:cNvPr id="4" name="Rectangle 3"/>
          <p:cNvSpPr/>
          <p:nvPr/>
        </p:nvSpPr>
        <p:spPr>
          <a:xfrm>
            <a:off x="3200400" y="1188720"/>
            <a:ext cx="18288" cy="3840480"/>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0" y="1188720"/>
            <a:ext cx="18288" cy="3840480"/>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188720"/>
            <a:ext cx="2560320" cy="548640"/>
          </a:xfrm>
          <a:prstGeom prst="rect">
            <a:avLst/>
          </a:prstGeom>
          <a:noFill/>
        </p:spPr>
        <p:txBody>
          <a:bodyPr wrap="square">
            <a:spAutoFit/>
          </a:bodyPr>
          <a:lstStyle/>
          <a:p>
            <a:pPr algn="ctr">
              <a:defRPr sz="1400" b="1">
                <a:solidFill>
                  <a:srgbClr val="F59E0B"/>
                </a:solidFill>
              </a:defRPr>
            </a:pPr>
            <a:r>
              <a:t>What We</a:t>
            </a:r>
            <a:br/>
            <a:r>
              <a:t>Learned</a:t>
            </a:r>
          </a:p>
        </p:txBody>
      </p:sp>
      <p:sp>
        <p:nvSpPr>
          <p:cNvPr id="7" name="TextBox 6"/>
          <p:cNvSpPr txBox="1"/>
          <p:nvPr/>
        </p:nvSpPr>
        <p:spPr>
          <a:xfrm>
            <a:off x="822960" y="1920240"/>
            <a:ext cx="2377439" cy="3474720"/>
          </a:xfrm>
          <a:prstGeom prst="rect">
            <a:avLst/>
          </a:prstGeom>
          <a:noFill/>
        </p:spPr>
        <p:txBody>
          <a:bodyPr wrap="square">
            <a:spAutoFit/>
          </a:bodyPr>
          <a:lstStyle/>
          <a:p>
            <a:pPr>
              <a:lnSpc>
                <a:spcPct val="120000"/>
              </a:lnSpc>
              <a:spcBef>
                <a:spcPts val="600"/>
              </a:spcBef>
              <a:spcAft>
                <a:spcPts val="600"/>
              </a:spcAft>
              <a:defRPr sz="1200">
                <a:solidFill>
                  <a:srgbClr val="0F172A"/>
                </a:solidFill>
              </a:defRPr>
            </a:pPr>
            <a:r>
              <a:t>• Strong revenue and financial performance</a:t>
            </a:r>
          </a:p>
        </p:txBody>
      </p:sp>
      <p:sp>
        <p:nvSpPr>
          <p:cNvPr id="8" name="TextBox 7"/>
          <p:cNvSpPr txBox="1"/>
          <p:nvPr/>
        </p:nvSpPr>
        <p:spPr>
          <a:xfrm>
            <a:off x="3474720" y="1188720"/>
            <a:ext cx="2560320" cy="548640"/>
          </a:xfrm>
          <a:prstGeom prst="rect">
            <a:avLst/>
          </a:prstGeom>
          <a:noFill/>
        </p:spPr>
        <p:txBody>
          <a:bodyPr wrap="square">
            <a:spAutoFit/>
          </a:bodyPr>
          <a:lstStyle/>
          <a:p>
            <a:pPr algn="ctr">
              <a:defRPr sz="1400" b="1">
                <a:solidFill>
                  <a:srgbClr val="F59E0B"/>
                </a:solidFill>
              </a:defRPr>
            </a:pPr>
            <a:r>
              <a:t>Key</a:t>
            </a:r>
            <a:br/>
            <a:r>
              <a:t>Actions</a:t>
            </a:r>
          </a:p>
        </p:txBody>
      </p:sp>
      <p:sp>
        <p:nvSpPr>
          <p:cNvPr id="9" name="TextBox 8"/>
          <p:cNvSpPr txBox="1"/>
          <p:nvPr/>
        </p:nvSpPr>
        <p:spPr>
          <a:xfrm>
            <a:off x="3566160" y="1920240"/>
            <a:ext cx="2377439" cy="3474720"/>
          </a:xfrm>
          <a:prstGeom prst="rect">
            <a:avLst/>
          </a:prstGeom>
          <a:noFill/>
        </p:spPr>
        <p:txBody>
          <a:bodyPr wrap="square">
            <a:spAutoFit/>
          </a:bodyPr>
          <a:lstStyle/>
          <a:p>
            <a:pPr>
              <a:lnSpc>
                <a:spcPct val="120000"/>
              </a:lnSpc>
              <a:spcBef>
                <a:spcPts val="600"/>
              </a:spcBef>
              <a:spcAft>
                <a:spcPts val="600"/>
              </a:spcAft>
              <a:defRPr sz="1200">
                <a:solidFill>
                  <a:srgbClr val="0F172A"/>
                </a:solidFill>
              </a:defRPr>
            </a:pPr>
            <a:r>
              <a:t>• Strategic investments</a:t>
            </a:r>
          </a:p>
        </p:txBody>
      </p:sp>
      <p:sp>
        <p:nvSpPr>
          <p:cNvPr id="10" name="TextBox 9"/>
          <p:cNvSpPr txBox="1"/>
          <p:nvPr/>
        </p:nvSpPr>
        <p:spPr>
          <a:xfrm>
            <a:off x="6217920" y="1188720"/>
            <a:ext cx="2560320" cy="548640"/>
          </a:xfrm>
          <a:prstGeom prst="rect">
            <a:avLst/>
          </a:prstGeom>
          <a:noFill/>
        </p:spPr>
        <p:txBody>
          <a:bodyPr wrap="square">
            <a:spAutoFit/>
          </a:bodyPr>
          <a:lstStyle/>
          <a:p>
            <a:pPr algn="ctr">
              <a:defRPr sz="1400" b="1">
                <a:solidFill>
                  <a:srgbClr val="F59E0B"/>
                </a:solidFill>
              </a:defRPr>
            </a:pPr>
            <a:r>
              <a:t>What's</a:t>
            </a:r>
            <a:br/>
            <a:r>
              <a:t>Next</a:t>
            </a:r>
          </a:p>
        </p:txBody>
      </p:sp>
      <p:sp>
        <p:nvSpPr>
          <p:cNvPr id="11" name="TextBox 10"/>
          <p:cNvSpPr txBox="1"/>
          <p:nvPr/>
        </p:nvSpPr>
        <p:spPr>
          <a:xfrm>
            <a:off x="6309359" y="1920240"/>
            <a:ext cx="2377439" cy="3474720"/>
          </a:xfrm>
          <a:prstGeom prst="rect">
            <a:avLst/>
          </a:prstGeom>
          <a:noFill/>
        </p:spPr>
        <p:txBody>
          <a:bodyPr wrap="square">
            <a:spAutoFit/>
          </a:bodyPr>
          <a:lstStyle/>
          <a:p>
            <a:pPr>
              <a:lnSpc>
                <a:spcPct val="120000"/>
              </a:lnSpc>
              <a:spcBef>
                <a:spcPts val="600"/>
              </a:spcBef>
              <a:spcAft>
                <a:spcPts val="600"/>
              </a:spcAft>
              <a:defRPr sz="1200">
                <a:solidFill>
                  <a:srgbClr val="0F172A"/>
                </a:solidFill>
              </a:defRPr>
            </a:pPr>
            <a:r>
              <a:t>• Growth opportunities</a:t>
            </a:r>
          </a:p>
          <a:p>
            <a:pPr>
              <a:lnSpc>
                <a:spcPct val="120000"/>
              </a:lnSpc>
              <a:spcBef>
                <a:spcPts val="600"/>
              </a:spcBef>
              <a:spcAft>
                <a:spcPts val="600"/>
              </a:spcAft>
              <a:defRPr sz="1200">
                <a:solidFill>
                  <a:srgbClr val="0F172A"/>
                </a:solidFill>
              </a:defRPr>
            </a:pPr>
            <a:r>
              <a:t>• Challenges ahead</a:t>
            </a:r>
          </a:p>
          <a:p>
            <a:pPr>
              <a:lnSpc>
                <a:spcPct val="120000"/>
              </a:lnSpc>
              <a:spcBef>
                <a:spcPts val="600"/>
              </a:spcBef>
              <a:spcAft>
                <a:spcPts val="600"/>
              </a:spcAft>
              <a:defRPr sz="1200">
                <a:solidFill>
                  <a:srgbClr val="0F172A"/>
                </a:solidFill>
              </a:defRPr>
            </a:pPr>
            <a:r>
              <a:t>• Positive outlook</a:t>
            </a:r>
          </a:p>
        </p:txBody>
      </p:sp>
      <p:sp>
        <p:nvSpPr>
          <p:cNvPr id="12" name="Rectangle 11"/>
          <p:cNvSpPr/>
          <p:nvPr/>
        </p:nvSpPr>
        <p:spPr>
          <a:xfrm>
            <a:off x="457200" y="5120640"/>
            <a:ext cx="822960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5303520"/>
            <a:ext cx="8229600" cy="457200"/>
          </a:xfrm>
          <a:prstGeom prst="rect">
            <a:avLst/>
          </a:prstGeom>
          <a:noFill/>
        </p:spPr>
        <p:txBody>
          <a:bodyPr wrap="none">
            <a:spAutoFit/>
          </a:bodyPr>
          <a:lstStyle/>
          <a:p>
            <a:pPr algn="ctr">
              <a:defRPr sz="1100">
                <a:solidFill>
                  <a:srgbClr val="64748B"/>
                </a:solidFill>
              </a:defRPr>
            </a:pPr>
            <a:r>
              <a:t>Thank you for your attention | Questions?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256032"/>
            <a:ext cx="9144000" cy="54864"/>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9184"/>
            <a:ext cx="8229600" cy="658368"/>
          </a:xfrm>
          <a:prstGeom prst="rect">
            <a:avLst/>
          </a:prstGeom>
          <a:noFill/>
        </p:spPr>
        <p:txBody>
          <a:bodyPr wrap="square">
            <a:spAutoFit/>
          </a:bodyPr>
          <a:lstStyle/>
          <a:p>
            <a:pPr>
              <a:defRPr sz="2600" b="1">
                <a:solidFill>
                  <a:srgbClr val="1E40AF"/>
                </a:solidFill>
              </a:defRPr>
            </a:pPr>
            <a:r>
              <a:t>Presentation Flow</a:t>
            </a:r>
          </a:p>
        </p:txBody>
      </p:sp>
      <p:cxnSp>
        <p:nvCxnSpPr>
          <p:cNvPr id="900" name="DiagConnector"/>
          <p:cNvCxnSpPr/>
          <p:nvPr/>
        </p:nvCxnSpPr>
        <p:spPr>
          <a:xfrm>
            <a:off x="758952" y="1444752"/>
            <a:ext cx="5029200" cy="2743200"/>
          </a:xfrm>
          <a:prstGeom prst="line">
            <a:avLst/>
          </a:prstGeom>
          <a:ln w="18000">
            <a:solidFill>
              <a:srgbClr val="CBD5E1"/>
            </a:solidFill>
            <a:prstDash val="sysDash"/>
          </a:ln>
        </p:spPr>
      </p:cxnSp>
      <p:sp>
        <p:nvSpPr>
          <p:cNvPr id="901" name="Rectangle 900"/>
          <p:cNvSpPr/>
          <p:nvPr/>
        </p:nvSpPr>
        <p:spPr>
          <a:xfrm>
            <a:off x="557784" y="1152144"/>
            <a:ext cx="3108960" cy="19202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 name="Rectangle 901"/>
          <p:cNvSpPr/>
          <p:nvPr/>
        </p:nvSpPr>
        <p:spPr>
          <a:xfrm>
            <a:off x="502920" y="1097280"/>
            <a:ext cx="3108960" cy="192024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Rectangle 902"/>
          <p:cNvSpPr/>
          <p:nvPr/>
        </p:nvSpPr>
        <p:spPr>
          <a:xfrm>
            <a:off x="502920" y="1097280"/>
            <a:ext cx="54864" cy="1920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Oval 903"/>
          <p:cNvSpPr/>
          <p:nvPr/>
        </p:nvSpPr>
        <p:spPr>
          <a:xfrm>
            <a:off x="502920" y="1188720"/>
            <a:ext cx="512064" cy="512064"/>
          </a:xfrm>
          <a:prstGeom prst="ellipse">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1</a:t>
            </a:r>
          </a:p>
        </p:txBody>
      </p:sp>
      <p:sp>
        <p:nvSpPr>
          <p:cNvPr id="905" name="TextBox 904"/>
          <p:cNvSpPr txBox="1"/>
          <p:nvPr/>
        </p:nvSpPr>
        <p:spPr>
          <a:xfrm>
            <a:off x="1271016" y="1261872"/>
            <a:ext cx="2176272" cy="384048"/>
          </a:xfrm>
          <a:prstGeom prst="rect">
            <a:avLst/>
          </a:prstGeom>
          <a:noFill/>
        </p:spPr>
        <p:txBody>
          <a:bodyPr wrap="square">
            <a:spAutoFit/>
          </a:bodyPr>
          <a:lstStyle/>
          <a:p>
            <a:pPr>
              <a:defRPr sz="1400" b="1">
                <a:solidFill>
                  <a:srgbClr val="1E40AF"/>
                </a:solidFill>
              </a:defRPr>
            </a:pPr>
            <a:r>
              <a:t>Introduction to Microsoft's Revenue</a:t>
            </a:r>
          </a:p>
        </p:txBody>
      </p:sp>
      <p:sp>
        <p:nvSpPr>
          <p:cNvPr id="906" name="Rectangle 905"/>
          <p:cNvSpPr/>
          <p:nvPr/>
        </p:nvSpPr>
        <p:spPr>
          <a:xfrm>
            <a:off x="667512" y="1700784"/>
            <a:ext cx="2779776"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TextBox 906"/>
          <p:cNvSpPr txBox="1"/>
          <p:nvPr/>
        </p:nvSpPr>
        <p:spPr>
          <a:xfrm>
            <a:off x="704088" y="1773936"/>
            <a:ext cx="2743200" cy="1188720"/>
          </a:xfrm>
          <a:prstGeom prst="rect">
            <a:avLst/>
          </a:prstGeom>
          <a:noFill/>
        </p:spPr>
        <p:txBody>
          <a:bodyPr wrap="square">
            <a:spAutoFit/>
          </a:bodyPr>
          <a:lstStyle/>
          <a:p>
            <a:pPr>
              <a:lnSpc>
                <a:spcPct val="120000"/>
              </a:lnSpc>
              <a:spcBef>
                <a:spcPts val="300"/>
              </a:spcBef>
              <a:spcAft>
                <a:spcPts val="300"/>
              </a:spcAft>
              <a:defRPr sz="1100">
                <a:solidFill>
                  <a:srgbClr val="64748B"/>
                </a:solidFill>
              </a:defRPr>
            </a:pPr>
            <a:r>
              <a:t>• Microsoft is a leading technology company</a:t>
            </a:r>
          </a:p>
          <a:p>
            <a:pPr>
              <a:lnSpc>
                <a:spcPct val="120000"/>
              </a:lnSpc>
              <a:spcBef>
                <a:spcPts val="300"/>
              </a:spcBef>
              <a:spcAft>
                <a:spcPts val="300"/>
              </a:spcAft>
              <a:defRPr sz="1100">
                <a:solidFill>
                  <a:srgbClr val="64748B"/>
                </a:solidFill>
              </a:defRPr>
            </a:pPr>
            <a:r>
              <a:t>• Diverse revenue streams</a:t>
            </a:r>
          </a:p>
          <a:p>
            <a:pPr>
              <a:lnSpc>
                <a:spcPct val="120000"/>
              </a:lnSpc>
              <a:spcBef>
                <a:spcPts val="300"/>
              </a:spcBef>
              <a:spcAft>
                <a:spcPts val="300"/>
              </a:spcAft>
              <a:defRPr sz="1100">
                <a:solidFill>
                  <a:srgbClr val="64748B"/>
                </a:solidFill>
              </a:defRPr>
            </a:pPr>
            <a:r>
              <a:t>• Software and services division drives revenue</a:t>
            </a:r>
          </a:p>
        </p:txBody>
      </p:sp>
      <p:sp>
        <p:nvSpPr>
          <p:cNvPr id="908" name="Rectangle 907"/>
          <p:cNvSpPr/>
          <p:nvPr/>
        </p:nvSpPr>
        <p:spPr>
          <a:xfrm>
            <a:off x="3072384" y="2523744"/>
            <a:ext cx="3108960" cy="19202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9" name="Rectangle 908"/>
          <p:cNvSpPr/>
          <p:nvPr/>
        </p:nvSpPr>
        <p:spPr>
          <a:xfrm>
            <a:off x="3017520" y="2468880"/>
            <a:ext cx="3108960" cy="192024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Rectangle 909"/>
          <p:cNvSpPr/>
          <p:nvPr/>
        </p:nvSpPr>
        <p:spPr>
          <a:xfrm>
            <a:off x="3017520" y="2468880"/>
            <a:ext cx="54864" cy="1920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Oval 910"/>
          <p:cNvSpPr/>
          <p:nvPr/>
        </p:nvSpPr>
        <p:spPr>
          <a:xfrm>
            <a:off x="3017520" y="2560320"/>
            <a:ext cx="512064" cy="512064"/>
          </a:xfrm>
          <a:prstGeom prst="ellipse">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2</a:t>
            </a:r>
          </a:p>
        </p:txBody>
      </p:sp>
      <p:sp>
        <p:nvSpPr>
          <p:cNvPr id="912" name="TextBox 911"/>
          <p:cNvSpPr txBox="1"/>
          <p:nvPr/>
        </p:nvSpPr>
        <p:spPr>
          <a:xfrm>
            <a:off x="3785615" y="2633472"/>
            <a:ext cx="2176272" cy="384048"/>
          </a:xfrm>
          <a:prstGeom prst="rect">
            <a:avLst/>
          </a:prstGeom>
          <a:noFill/>
        </p:spPr>
        <p:txBody>
          <a:bodyPr wrap="square">
            <a:spAutoFit/>
          </a:bodyPr>
          <a:lstStyle/>
          <a:p>
            <a:pPr>
              <a:defRPr sz="1400" b="1">
                <a:solidFill>
                  <a:srgbClr val="1E40AF"/>
                </a:solidFill>
              </a:defRPr>
            </a:pPr>
            <a:r>
              <a:t>Revenue Streams of Microsoft</a:t>
            </a:r>
          </a:p>
        </p:txBody>
      </p:sp>
      <p:sp>
        <p:nvSpPr>
          <p:cNvPr id="913" name="Rectangle 912"/>
          <p:cNvSpPr/>
          <p:nvPr/>
        </p:nvSpPr>
        <p:spPr>
          <a:xfrm>
            <a:off x="3182112" y="3072384"/>
            <a:ext cx="2779776"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4" name="TextBox 913"/>
          <p:cNvSpPr txBox="1"/>
          <p:nvPr/>
        </p:nvSpPr>
        <p:spPr>
          <a:xfrm>
            <a:off x="3218688" y="3145536"/>
            <a:ext cx="2743200" cy="1188720"/>
          </a:xfrm>
          <a:prstGeom prst="rect">
            <a:avLst/>
          </a:prstGeom>
          <a:noFill/>
        </p:spPr>
        <p:txBody>
          <a:bodyPr wrap="square">
            <a:spAutoFit/>
          </a:bodyPr>
          <a:lstStyle/>
          <a:p>
            <a:pPr>
              <a:lnSpc>
                <a:spcPct val="120000"/>
              </a:lnSpc>
              <a:spcBef>
                <a:spcPts val="300"/>
              </a:spcBef>
              <a:spcAft>
                <a:spcPts val="300"/>
              </a:spcAft>
              <a:defRPr sz="1100">
                <a:solidFill>
                  <a:srgbClr val="64748B"/>
                </a:solidFill>
              </a:defRPr>
            </a:pPr>
            <a:r>
              <a:t>• Software and services</a:t>
            </a:r>
          </a:p>
          <a:p>
            <a:pPr>
              <a:lnSpc>
                <a:spcPct val="120000"/>
              </a:lnSpc>
              <a:spcBef>
                <a:spcPts val="300"/>
              </a:spcBef>
              <a:spcAft>
                <a:spcPts val="300"/>
              </a:spcAft>
              <a:defRPr sz="1100">
                <a:solidFill>
                  <a:srgbClr val="64748B"/>
                </a:solidFill>
              </a:defRPr>
            </a:pPr>
            <a:r>
              <a:t>• Licensing fees</a:t>
            </a:r>
          </a:p>
          <a:p>
            <a:pPr>
              <a:lnSpc>
                <a:spcPct val="120000"/>
              </a:lnSpc>
              <a:spcBef>
                <a:spcPts val="300"/>
              </a:spcBef>
              <a:spcAft>
                <a:spcPts val="300"/>
              </a:spcAft>
              <a:defRPr sz="1100">
                <a:solidFill>
                  <a:srgbClr val="64748B"/>
                </a:solidFill>
              </a:defRPr>
            </a:pPr>
            <a:r>
              <a:t>• Hardware sales</a:t>
            </a:r>
          </a:p>
        </p:txBody>
      </p:sp>
      <p:sp>
        <p:nvSpPr>
          <p:cNvPr id="915" name="Rectangle 914"/>
          <p:cNvSpPr/>
          <p:nvPr/>
        </p:nvSpPr>
        <p:spPr>
          <a:xfrm>
            <a:off x="5586983" y="3895344"/>
            <a:ext cx="3108960" cy="19202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Rectangle 915"/>
          <p:cNvSpPr/>
          <p:nvPr/>
        </p:nvSpPr>
        <p:spPr>
          <a:xfrm>
            <a:off x="5532120" y="3840480"/>
            <a:ext cx="3108960" cy="192024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7" name="Rectangle 916"/>
          <p:cNvSpPr/>
          <p:nvPr/>
        </p:nvSpPr>
        <p:spPr>
          <a:xfrm>
            <a:off x="5532120" y="3840480"/>
            <a:ext cx="54864" cy="1920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8" name="Oval 917"/>
          <p:cNvSpPr/>
          <p:nvPr/>
        </p:nvSpPr>
        <p:spPr>
          <a:xfrm>
            <a:off x="5532120" y="3931920"/>
            <a:ext cx="512064" cy="512064"/>
          </a:xfrm>
          <a:prstGeom prst="ellipse">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3</a:t>
            </a:r>
          </a:p>
        </p:txBody>
      </p:sp>
      <p:sp>
        <p:nvSpPr>
          <p:cNvPr id="919" name="TextBox 918"/>
          <p:cNvSpPr txBox="1"/>
          <p:nvPr/>
        </p:nvSpPr>
        <p:spPr>
          <a:xfrm>
            <a:off x="6300215" y="4005072"/>
            <a:ext cx="2176272" cy="384048"/>
          </a:xfrm>
          <a:prstGeom prst="rect">
            <a:avLst/>
          </a:prstGeom>
          <a:noFill/>
        </p:spPr>
        <p:txBody>
          <a:bodyPr wrap="square">
            <a:spAutoFit/>
          </a:bodyPr>
          <a:lstStyle/>
          <a:p>
            <a:pPr>
              <a:defRPr sz="1400" b="1">
                <a:solidFill>
                  <a:srgbClr val="1E40AF"/>
                </a:solidFill>
              </a:defRPr>
            </a:pPr>
            <a:r>
              <a:t>Financial Performance of Microsoft</a:t>
            </a:r>
          </a:p>
        </p:txBody>
      </p:sp>
      <p:sp>
        <p:nvSpPr>
          <p:cNvPr id="920" name="Rectangle 919"/>
          <p:cNvSpPr/>
          <p:nvPr/>
        </p:nvSpPr>
        <p:spPr>
          <a:xfrm>
            <a:off x="5696712" y="4443984"/>
            <a:ext cx="2779776"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TextBox 920"/>
          <p:cNvSpPr txBox="1"/>
          <p:nvPr/>
        </p:nvSpPr>
        <p:spPr>
          <a:xfrm>
            <a:off x="5733288" y="4517136"/>
            <a:ext cx="2743200" cy="1188720"/>
          </a:xfrm>
          <a:prstGeom prst="rect">
            <a:avLst/>
          </a:prstGeom>
          <a:noFill/>
        </p:spPr>
        <p:txBody>
          <a:bodyPr wrap="square">
            <a:spAutoFit/>
          </a:bodyPr>
          <a:lstStyle/>
          <a:p>
            <a:pPr>
              <a:lnSpc>
                <a:spcPct val="120000"/>
              </a:lnSpc>
              <a:spcBef>
                <a:spcPts val="300"/>
              </a:spcBef>
              <a:spcAft>
                <a:spcPts val="300"/>
              </a:spcAft>
              <a:defRPr sz="1100">
                <a:solidFill>
                  <a:srgbClr val="64748B"/>
                </a:solidFill>
              </a:defRPr>
            </a:pPr>
            <a:r>
              <a:t>• Consistent revenue growth</a:t>
            </a:r>
          </a:p>
          <a:p>
            <a:pPr>
              <a:lnSpc>
                <a:spcPct val="120000"/>
              </a:lnSpc>
              <a:spcBef>
                <a:spcPts val="300"/>
              </a:spcBef>
              <a:spcAft>
                <a:spcPts val="300"/>
              </a:spcAft>
              <a:defRPr sz="1100">
                <a:solidFill>
                  <a:srgbClr val="64748B"/>
                </a:solidFill>
              </a:defRPr>
            </a:pPr>
            <a:r>
              <a:t>• Increasing net income</a:t>
            </a:r>
          </a:p>
          <a:p>
            <a:pPr>
              <a:lnSpc>
                <a:spcPct val="120000"/>
              </a:lnSpc>
              <a:spcBef>
                <a:spcPts val="300"/>
              </a:spcBef>
              <a:spcAft>
                <a:spcPts val="300"/>
              </a:spcAft>
              <a:defRPr sz="1100">
                <a:solidFill>
                  <a:srgbClr val="64748B"/>
                </a:solidFill>
              </a:defRPr>
            </a:pPr>
            <a:r>
              <a:t>• Cost management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274320"/>
            <a:ext cx="8229600" cy="594360"/>
          </a:xfrm>
          <a:prstGeom prst="rect">
            <a:avLst/>
          </a:prstGeom>
          <a:noFill/>
        </p:spPr>
        <p:txBody>
          <a:bodyPr wrap="none">
            <a:spAutoFit/>
          </a:bodyPr>
          <a:lstStyle/>
          <a:p>
            <a:pPr algn="ctr">
              <a:defRPr sz="3200" b="1">
                <a:solidFill>
                  <a:srgbClr val="FFFFFF"/>
                </a:solidFill>
              </a:defRPr>
            </a:pPr>
            <a:r>
              <a:t>Key Takeaways</a:t>
            </a:r>
          </a:p>
        </p:txBody>
      </p:sp>
      <p:sp>
        <p:nvSpPr>
          <p:cNvPr id="3" name="Rectangle 2"/>
          <p:cNvSpPr/>
          <p:nvPr/>
        </p:nvSpPr>
        <p:spPr>
          <a:xfrm>
            <a:off x="3200400" y="896112"/>
            <a:ext cx="274320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0120" y="1097280"/>
            <a:ext cx="7315200" cy="7772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400" y="1051560"/>
            <a:ext cx="7315200" cy="77724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15568" y="1293876"/>
            <a:ext cx="292608" cy="29260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1</a:t>
            </a:r>
          </a:p>
        </p:txBody>
      </p:sp>
      <p:sp>
        <p:nvSpPr>
          <p:cNvPr id="7" name="TextBox 6"/>
          <p:cNvSpPr txBox="1"/>
          <p:nvPr/>
        </p:nvSpPr>
        <p:spPr>
          <a:xfrm>
            <a:off x="1554480" y="1216151"/>
            <a:ext cx="6565392" cy="457200"/>
          </a:xfrm>
          <a:prstGeom prst="rect">
            <a:avLst/>
          </a:prstGeom>
          <a:noFill/>
        </p:spPr>
        <p:txBody>
          <a:bodyPr wrap="square">
            <a:spAutoFit/>
          </a:bodyPr>
          <a:lstStyle/>
          <a:p>
            <a:pPr>
              <a:lnSpc>
                <a:spcPct val="120000"/>
              </a:lnSpc>
              <a:defRPr sz="1600" b="1">
                <a:solidFill>
                  <a:srgbClr val="1E40AF"/>
                </a:solidFill>
              </a:defRPr>
            </a:pPr>
            <a:r>
              <a:t>Introduction to Microsoft's Revenue</a:t>
            </a:r>
          </a:p>
        </p:txBody>
      </p:sp>
      <p:sp>
        <p:nvSpPr>
          <p:cNvPr id="8" name="Rectangle 7"/>
          <p:cNvSpPr/>
          <p:nvPr/>
        </p:nvSpPr>
        <p:spPr>
          <a:xfrm>
            <a:off x="960120" y="1984248"/>
            <a:ext cx="7315200" cy="7772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14400" y="1938528"/>
            <a:ext cx="7315200" cy="77724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15568" y="2180844"/>
            <a:ext cx="292608" cy="29260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2</a:t>
            </a:r>
          </a:p>
        </p:txBody>
      </p:sp>
      <p:sp>
        <p:nvSpPr>
          <p:cNvPr id="11" name="TextBox 10"/>
          <p:cNvSpPr txBox="1"/>
          <p:nvPr/>
        </p:nvSpPr>
        <p:spPr>
          <a:xfrm>
            <a:off x="1554480" y="2103120"/>
            <a:ext cx="6565392" cy="457200"/>
          </a:xfrm>
          <a:prstGeom prst="rect">
            <a:avLst/>
          </a:prstGeom>
          <a:noFill/>
        </p:spPr>
        <p:txBody>
          <a:bodyPr wrap="square">
            <a:spAutoFit/>
          </a:bodyPr>
          <a:lstStyle/>
          <a:p>
            <a:pPr>
              <a:lnSpc>
                <a:spcPct val="120000"/>
              </a:lnSpc>
              <a:defRPr sz="1600" b="1">
                <a:solidFill>
                  <a:srgbClr val="1E40AF"/>
                </a:solidFill>
              </a:defRPr>
            </a:pPr>
            <a:r>
              <a:t>Revenue Streams of Microsoft</a:t>
            </a:r>
          </a:p>
        </p:txBody>
      </p:sp>
      <p:sp>
        <p:nvSpPr>
          <p:cNvPr id="12" name="Rectangle 11"/>
          <p:cNvSpPr/>
          <p:nvPr/>
        </p:nvSpPr>
        <p:spPr>
          <a:xfrm>
            <a:off x="960120" y="2871215"/>
            <a:ext cx="7315200" cy="7772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14400" y="2825496"/>
            <a:ext cx="7315200" cy="77724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15568" y="3067812"/>
            <a:ext cx="292608" cy="29260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3</a:t>
            </a:r>
          </a:p>
        </p:txBody>
      </p:sp>
      <p:sp>
        <p:nvSpPr>
          <p:cNvPr id="15" name="TextBox 14"/>
          <p:cNvSpPr txBox="1"/>
          <p:nvPr/>
        </p:nvSpPr>
        <p:spPr>
          <a:xfrm>
            <a:off x="1554480" y="2990088"/>
            <a:ext cx="6565392" cy="457200"/>
          </a:xfrm>
          <a:prstGeom prst="rect">
            <a:avLst/>
          </a:prstGeom>
          <a:noFill/>
        </p:spPr>
        <p:txBody>
          <a:bodyPr wrap="square">
            <a:spAutoFit/>
          </a:bodyPr>
          <a:lstStyle/>
          <a:p>
            <a:pPr>
              <a:lnSpc>
                <a:spcPct val="120000"/>
              </a:lnSpc>
              <a:defRPr sz="1600" b="1">
                <a:solidFill>
                  <a:srgbClr val="1E40AF"/>
                </a:solidFill>
              </a:defRPr>
            </a:pPr>
            <a:r>
              <a:t>Financial Performance of Microsoft</a:t>
            </a:r>
          </a:p>
        </p:txBody>
      </p:sp>
      <p:sp>
        <p:nvSpPr>
          <p:cNvPr id="16" name="Rectangle 15"/>
          <p:cNvSpPr/>
          <p:nvPr/>
        </p:nvSpPr>
        <p:spPr>
          <a:xfrm>
            <a:off x="960120" y="3758184"/>
            <a:ext cx="7315200" cy="7772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14400" y="3712464"/>
            <a:ext cx="7315200" cy="77724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15568" y="3954780"/>
            <a:ext cx="292608" cy="29260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4</a:t>
            </a:r>
          </a:p>
        </p:txBody>
      </p:sp>
      <p:sp>
        <p:nvSpPr>
          <p:cNvPr id="19" name="TextBox 18"/>
          <p:cNvSpPr txBox="1"/>
          <p:nvPr/>
        </p:nvSpPr>
        <p:spPr>
          <a:xfrm>
            <a:off x="1554480" y="3877056"/>
            <a:ext cx="6565392" cy="457200"/>
          </a:xfrm>
          <a:prstGeom prst="rect">
            <a:avLst/>
          </a:prstGeom>
          <a:noFill/>
        </p:spPr>
        <p:txBody>
          <a:bodyPr wrap="square">
            <a:spAutoFit/>
          </a:bodyPr>
          <a:lstStyle/>
          <a:p>
            <a:pPr>
              <a:lnSpc>
                <a:spcPct val="120000"/>
              </a:lnSpc>
              <a:defRPr sz="1600" b="1">
                <a:solidFill>
                  <a:srgbClr val="1E40AF"/>
                </a:solidFill>
              </a:defRPr>
            </a:pPr>
            <a:r>
              <a:t>Microsoft's Revenue Breakdown</a:t>
            </a:r>
          </a:p>
        </p:txBody>
      </p:sp>
      <p:sp>
        <p:nvSpPr>
          <p:cNvPr id="20" name="Rectangle 19"/>
          <p:cNvSpPr/>
          <p:nvPr/>
        </p:nvSpPr>
        <p:spPr>
          <a:xfrm>
            <a:off x="960120" y="4645151"/>
            <a:ext cx="7315200" cy="7772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14400" y="4599431"/>
            <a:ext cx="7315200" cy="77724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15568" y="4841747"/>
            <a:ext cx="292608" cy="29260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5</a:t>
            </a:r>
          </a:p>
        </p:txBody>
      </p:sp>
      <p:sp>
        <p:nvSpPr>
          <p:cNvPr id="23" name="TextBox 22"/>
          <p:cNvSpPr txBox="1"/>
          <p:nvPr/>
        </p:nvSpPr>
        <p:spPr>
          <a:xfrm>
            <a:off x="1554480" y="4764023"/>
            <a:ext cx="6565392" cy="457200"/>
          </a:xfrm>
          <a:prstGeom prst="rect">
            <a:avLst/>
          </a:prstGeom>
          <a:noFill/>
        </p:spPr>
        <p:txBody>
          <a:bodyPr wrap="square">
            <a:spAutoFit/>
          </a:bodyPr>
          <a:lstStyle/>
          <a:p>
            <a:pPr>
              <a:lnSpc>
                <a:spcPct val="120000"/>
              </a:lnSpc>
              <a:defRPr sz="1600" b="1">
                <a:solidFill>
                  <a:srgbClr val="1E40AF"/>
                </a:solidFill>
              </a:defRPr>
            </a:pPr>
            <a:r>
              <a:t>Microsoft's Cost Structure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