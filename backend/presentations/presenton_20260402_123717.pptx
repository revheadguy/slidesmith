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The Importance of Testing in Software Development</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Test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Testing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Why testing is essential</a:t>
            </a:r>
          </a:p>
          <a:p>
            <a:pPr>
              <a:spcBef>
                <a:spcPts val="600"/>
              </a:spcBef>
              <a:spcAft>
                <a:spcPts val="600"/>
              </a:spcAft>
              <a:defRPr sz="1800">
                <a:solidFill>
                  <a:srgbClr val="0F172A"/>
                </a:solidFill>
              </a:defRPr>
            </a:pPr>
            <a:r>
              <a:t>• What we will cover</a:t>
            </a:r>
          </a:p>
          <a:p>
            <a:br/>
            <a:pPr>
              <a:spcBef>
                <a:spcPts val="600"/>
              </a:spcBef>
              <a:spcAft>
                <a:spcPts val="600"/>
              </a:spcAft>
              <a:defRPr sz="1800">
                <a:solidFill>
                  <a:srgbClr val="0F172A"/>
                </a:solidFill>
              </a:defRPr>
            </a:pPr>
            <a:r>
              <a:t>Testing is an integral part of software development, ensuring that applications meet the required standards and are free from defects before being released to end-users. In this introduction, we'll explore the importance of testing in software development, highlighting its role in identifying bugs, improving quality, and reducing costs associated with rework or patching issues post-release.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Benefits of Testing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Improved quality</a:t>
            </a:r>
          </a:p>
          <a:p>
            <a:pPr>
              <a:spcBef>
                <a:spcPts val="600"/>
              </a:spcBef>
              <a:spcAft>
                <a:spcPts val="600"/>
              </a:spcAft>
              <a:defRPr sz="1800">
                <a:solidFill>
                  <a:srgbClr val="0F172A"/>
                </a:solidFill>
              </a:defRPr>
            </a:pPr>
            <a:r>
              <a:t>• Reduced bugs</a:t>
            </a:r>
          </a:p>
          <a:p>
            <a:pPr>
              <a:spcBef>
                <a:spcPts val="600"/>
              </a:spcBef>
              <a:spcAft>
                <a:spcPts val="600"/>
              </a:spcAft>
              <a:defRPr sz="1800">
                <a:solidFill>
                  <a:srgbClr val="0F172A"/>
                </a:solidFill>
              </a:defRPr>
            </a:pPr>
            <a:r>
              <a:t>• Increased confidence in code</a:t>
            </a:r>
          </a:p>
          <a:p>
            <a:br/>
            <a:pPr>
              <a:spcBef>
                <a:spcPts val="600"/>
              </a:spcBef>
              <a:spcAft>
                <a:spcPts val="600"/>
              </a:spcAft>
              <a:defRPr sz="1800">
                <a:solidFill>
                  <a:srgbClr val="0F172A"/>
                </a:solidFill>
              </a:defRPr>
            </a:pPr>
            <a:r>
              <a:t>By incorporating testing into your development process, you can significantly improve the overall quality of your software by catching and fixing errors earlier on, resulting in a more stable and reliable final product. Additionally, rigorous testing helps to reduce the number of bugs that make it through to production, minimizing the risk of customer complaints and negative reviews.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Types of Testing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Unit testing</a:t>
            </a:r>
          </a:p>
          <a:p>
            <a:pPr>
              <a:spcBef>
                <a:spcPts val="600"/>
              </a:spcBef>
              <a:spcAft>
                <a:spcPts val="600"/>
              </a:spcAft>
              <a:defRPr sz="1800">
                <a:solidFill>
                  <a:srgbClr val="0F172A"/>
                </a:solidFill>
              </a:defRPr>
            </a:pPr>
            <a:r>
              <a:t>• Integration testing</a:t>
            </a:r>
          </a:p>
          <a:p>
            <a:pPr>
              <a:spcBef>
                <a:spcPts val="600"/>
              </a:spcBef>
              <a:spcAft>
                <a:spcPts val="600"/>
              </a:spcAft>
              <a:defRPr sz="1800">
                <a:solidFill>
                  <a:srgbClr val="0F172A"/>
                </a:solidFill>
              </a:defRPr>
            </a:pPr>
            <a:r>
              <a:t>• System testing</a:t>
            </a:r>
          </a:p>
          <a:p>
            <a:pPr>
              <a:spcBef>
                <a:spcPts val="600"/>
              </a:spcBef>
              <a:spcAft>
                <a:spcPts val="600"/>
              </a:spcAft>
              <a:defRPr sz="1800">
                <a:solidFill>
                  <a:srgbClr val="0F172A"/>
                </a:solidFill>
              </a:defRPr>
            </a:pPr>
            <a:r>
              <a:t>• Acceptance testing</a:t>
            </a:r>
          </a:p>
          <a:p>
            <a:br/>
            <a:pPr>
              <a:spcBef>
                <a:spcPts val="600"/>
              </a:spcBef>
              <a:spcAft>
                <a:spcPts val="600"/>
              </a:spcAft>
              <a:defRPr sz="1800">
                <a:solidFill>
                  <a:srgbClr val="0F172A"/>
                </a:solidFill>
              </a:defRPr>
            </a:pPr>
            <a:r>
              <a:t>Here is the description:</a:t>
            </a:r>
            <a:br/>
            <a:br/>
            <a:r>
              <a:t>Unit testing involves writing small code segments to isolate and test individual components or modules, ensuring they function as intended. Integration testing focuses on verifying how different components interact with each other, simulating real-world scenarios. System testing and acceptance testing involve comprehensive evaluations of the entire system, validating that it meets requirements and behaves correctly in a production-like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Why Manual Testing is Important</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Manual testing is still necessary</a:t>
            </a:r>
          </a:p>
          <a:p>
            <a:pPr>
              <a:spcBef>
                <a:spcPts val="600"/>
              </a:spcBef>
              <a:spcAft>
                <a:spcPts val="600"/>
              </a:spcAft>
              <a:defRPr sz="1800">
                <a:solidFill>
                  <a:srgbClr val="0F172A"/>
                </a:solidFill>
              </a:defRPr>
            </a:pPr>
            <a:r>
              <a:t>• Automation can't replace human judgment</a:t>
            </a:r>
          </a:p>
          <a:p>
            <a:pPr>
              <a:spcBef>
                <a:spcPts val="600"/>
              </a:spcBef>
              <a:spcAft>
                <a:spcPts val="600"/>
              </a:spcAft>
              <a:defRPr sz="1800">
                <a:solidFill>
                  <a:srgbClr val="0F172A"/>
                </a:solidFill>
              </a:defRPr>
            </a:pPr>
            <a:r>
              <a:t>• Human perspective in testing</a:t>
            </a:r>
          </a:p>
          <a:p>
            <a:br/>
            <a:pPr>
              <a:spcBef>
                <a:spcPts val="600"/>
              </a:spcBef>
              <a:spcAft>
                <a:spcPts val="600"/>
              </a:spcAft>
              <a:defRPr sz="1800">
                <a:solidFill>
                  <a:srgbClr val="0F172A"/>
                </a:solidFill>
              </a:defRPr>
            </a:pPr>
            <a:r>
              <a:t>Manual testing is crucial because it allows for comprehensive testing of complex scenarios and edge cases that may not be fully captured by automated tests alone. Additionally, manual testing provides a human perspective on the software or application being tested, enabling testers to identify subtle issues and nuances that may not be detected through automation. This human judgment is essential in ensuring the overall quality and reliability of the product.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Best Practices for Writing Tests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Test isolation</a:t>
            </a:r>
          </a:p>
          <a:p>
            <a:pPr>
              <a:spcBef>
                <a:spcPts val="600"/>
              </a:spcBef>
              <a:spcAft>
                <a:spcPts val="600"/>
              </a:spcAft>
              <a:defRPr sz="1800">
                <a:solidFill>
                  <a:srgbClr val="0F172A"/>
                </a:solidFill>
              </a:defRPr>
            </a:pPr>
            <a:r>
              <a:t>• Use of mocking and stubbing</a:t>
            </a:r>
          </a:p>
          <a:p>
            <a:pPr>
              <a:spcBef>
                <a:spcPts val="600"/>
              </a:spcBef>
              <a:spcAft>
                <a:spcPts val="600"/>
              </a:spcAft>
              <a:defRPr sz="1800">
                <a:solidFill>
                  <a:srgbClr val="0F172A"/>
                </a:solidFill>
              </a:defRPr>
            </a:pPr>
            <a:r>
              <a:t>• Make tests easy to understand</a:t>
            </a:r>
          </a:p>
          <a:p>
            <a:br/>
            <a:pPr>
              <a:spcBef>
                <a:spcPts val="600"/>
              </a:spcBef>
              <a:spcAft>
                <a:spcPts val="600"/>
              </a:spcAft>
              <a:defRPr sz="1800">
                <a:solidFill>
                  <a:srgbClr val="0F172A"/>
                </a:solidFill>
              </a:defRPr>
            </a:pPr>
            <a:r>
              <a:t>When writing effective tests, it is essential to ensure that each test remains isolated from one another and any external factors that could influence its outcome. To achieve this, developers can utilize techniques such as mocking and stubbing to control dependencies and simulate various scenarios, allowing for more predictable and repeatable results. By keeping tests easy to understand, developers can quickly identify issues and make necessary adjustments, reducing the overall time and effort required to maintain a robust testing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Common Testing Challenges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Difficulty in writing effective tests</a:t>
            </a:r>
          </a:p>
          <a:p>
            <a:pPr>
              <a:spcBef>
                <a:spcPts val="600"/>
              </a:spcBef>
              <a:spcAft>
                <a:spcPts val="600"/>
              </a:spcAft>
              <a:defRPr sz="1800">
                <a:solidFill>
                  <a:srgbClr val="0F172A"/>
                </a:solidFill>
              </a:defRPr>
            </a:pPr>
            <a:r>
              <a:t>• Test maintenance and updates</a:t>
            </a:r>
          </a:p>
          <a:p>
            <a:pPr>
              <a:spcBef>
                <a:spcPts val="600"/>
              </a:spcBef>
              <a:spcAft>
                <a:spcPts val="600"/>
              </a:spcAft>
              <a:defRPr sz="1800">
                <a:solidFill>
                  <a:srgbClr val="0F172A"/>
                </a:solidFill>
              </a:defRPr>
            </a:pPr>
            <a:r>
              <a:t>• Integration with other teams</a:t>
            </a:r>
          </a:p>
          <a:p>
            <a:br/>
            <a:pPr>
              <a:spcBef>
                <a:spcPts val="600"/>
              </a:spcBef>
              <a:spcAft>
                <a:spcPts val="600"/>
              </a:spcAft>
              <a:defRPr sz="1800">
                <a:solidFill>
                  <a:srgbClr val="0F172A"/>
                </a:solidFill>
              </a:defRPr>
            </a:pPr>
            <a:r>
              <a:t>Writing effective tests can be a daunting task, as it requires a deep understanding of the code being tested and the ability to anticipate various scenarios that may arise during execution. Additionally, test maintenance and updates can be time-consuming and costly, especially if not done properly. Furthermore, integrating testing with other teams' workflows can also pose challenges, such as aligning testing strategies and schedules with development and deployment timelines.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How to Get Started with Testing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Start small</a:t>
            </a:r>
          </a:p>
          <a:p>
            <a:pPr>
              <a:spcBef>
                <a:spcPts val="600"/>
              </a:spcBef>
              <a:spcAft>
                <a:spcPts val="600"/>
              </a:spcAft>
              <a:defRPr sz="1800">
                <a:solidFill>
                  <a:srgbClr val="0F172A"/>
                </a:solidFill>
              </a:defRPr>
            </a:pPr>
            <a:r>
              <a:t>• Focus on high-risk areas</a:t>
            </a:r>
          </a:p>
          <a:p>
            <a:pPr>
              <a:spcBef>
                <a:spcPts val="600"/>
              </a:spcBef>
              <a:spcAft>
                <a:spcPts val="600"/>
              </a:spcAft>
              <a:defRPr sz="1800">
                <a:solidFill>
                  <a:srgbClr val="0F172A"/>
                </a:solidFill>
              </a:defRPr>
            </a:pPr>
            <a:r>
              <a:t>• Use of testing frameworks and libraries</a:t>
            </a:r>
          </a:p>
          <a:p>
            <a:br/>
            <a:pPr>
              <a:spcBef>
                <a:spcPts val="600"/>
              </a:spcBef>
              <a:spcAft>
                <a:spcPts val="600"/>
              </a:spcAft>
              <a:defRPr sz="1800">
                <a:solidFill>
                  <a:srgbClr val="0F172A"/>
                </a:solidFill>
              </a:defRPr>
            </a:pPr>
            <a:r>
              <a:t>When starting with testing, it's essential to begin with a manageable scope by focusing on specific modules or features that have the greatest impact on the application's overall functionality. This approach allows you to quickly gain confidence in your testing abilities while minimizing the complexity of the task at hand. By targeting high-risk areas first, you can identify and address potential issues early on, setting yourself up for a more successful and efficient testing process.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Role of CI/CD in Testing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Continuous Integration</a:t>
            </a:r>
          </a:p>
          <a:p>
            <a:pPr>
              <a:spcBef>
                <a:spcPts val="600"/>
              </a:spcBef>
              <a:spcAft>
                <a:spcPts val="600"/>
              </a:spcAft>
              <a:defRPr sz="1800">
                <a:solidFill>
                  <a:srgbClr val="0F172A"/>
                </a:solidFill>
              </a:defRPr>
            </a:pPr>
            <a:r>
              <a:t>• Continuous Deployment</a:t>
            </a:r>
          </a:p>
          <a:p>
            <a:pPr>
              <a:spcBef>
                <a:spcPts val="600"/>
              </a:spcBef>
              <a:spcAft>
                <a:spcPts val="600"/>
              </a:spcAft>
              <a:defRPr sz="1800">
                <a:solidFill>
                  <a:srgbClr val="0F172A"/>
                </a:solidFill>
              </a:defRPr>
            </a:pPr>
            <a:r>
              <a:t>• Automated testing and deployment</a:t>
            </a:r>
          </a:p>
          <a:p>
            <a:br/>
            <a:pPr>
              <a:spcBef>
                <a:spcPts val="600"/>
              </a:spcBef>
              <a:spcAft>
                <a:spcPts val="600"/>
              </a:spcAft>
              <a:defRPr sz="1800">
                <a:solidFill>
                  <a:srgbClr val="0F172A"/>
                </a:solidFill>
              </a:defRPr>
            </a:pPr>
            <a:r>
              <a:t>In today's fast-paced software development landscape, Continuous Integration (CI) and Continuous Deployment (CD) play a vital role in ensuring that code changes are thoroughly tested and validated at every stage of the development life cycle. CI enables automated integration and testing of code changes, while CD automates the deployment process to production, allowing for quicker time-to-market and reduced risk of errors or defects. Through this seamless integration, teams can accelerate their testing and validation processes, ensuring high-quality software releases with minimal manual intervention.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Importance of testing</a:t>
            </a:r>
          </a:p>
          <a:p>
            <a:pPr>
              <a:spcBef>
                <a:spcPts val="600"/>
              </a:spcBef>
              <a:spcAft>
                <a:spcPts val="600"/>
              </a:spcAft>
              <a:defRPr sz="1800">
                <a:solidFill>
                  <a:srgbClr val="0F172A"/>
                </a:solidFill>
              </a:defRPr>
            </a:pPr>
            <a:r>
              <a:t>• Best practices</a:t>
            </a:r>
          </a:p>
          <a:p>
            <a:pPr>
              <a:spcBef>
                <a:spcPts val="600"/>
              </a:spcBef>
              <a:spcAft>
                <a:spcPts val="600"/>
              </a:spcAft>
              <a:defRPr sz="1800">
                <a:solidFill>
                  <a:srgbClr val="0F172A"/>
                </a:solidFill>
              </a:defRPr>
            </a:pPr>
            <a:r>
              <a:t>• Future directions</a:t>
            </a:r>
          </a:p>
          <a:p>
            <a:br/>
            <a:pPr>
              <a:spcBef>
                <a:spcPts val="600"/>
              </a:spcBef>
              <a:spcAft>
                <a:spcPts val="600"/>
              </a:spcAft>
              <a:defRPr sz="1800">
                <a:solidFill>
                  <a:srgbClr val="0F172A"/>
                </a:solidFill>
              </a:defRPr>
            </a:pPr>
            <a:r>
              <a:t>In conclusion, it is essential to emphasize the significance of testing in software development, as it enables the identification and rectification of defects, thereby ensuring a higher level of quality and reliability. Furthermore, adherence to best practices, such as thorough planning, execution, and reporting, is crucial for effective testing.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Additional Resources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Recommended reading</a:t>
            </a:r>
          </a:p>
          <a:p>
            <a:pPr>
              <a:spcBef>
                <a:spcPts val="600"/>
              </a:spcBef>
              <a:spcAft>
                <a:spcPts val="600"/>
              </a:spcAft>
              <a:defRPr sz="1800">
                <a:solidFill>
                  <a:srgbClr val="0F172A"/>
                </a:solidFill>
              </a:defRPr>
            </a:pPr>
            <a:r>
              <a:t>• Online courses and tutorials</a:t>
            </a:r>
          </a:p>
          <a:p>
            <a:pPr>
              <a:spcBef>
                <a:spcPts val="600"/>
              </a:spcBef>
              <a:spcAft>
                <a:spcPts val="600"/>
              </a:spcAft>
              <a:defRPr sz="1800">
                <a:solidFill>
                  <a:srgbClr val="0F172A"/>
                </a:solidFill>
              </a:defRPr>
            </a:pPr>
            <a:r>
              <a:t>• Industry-recognized testing certifications</a:t>
            </a:r>
          </a:p>
          <a:p>
            <a:br/>
            <a:pPr>
              <a:spcBef>
                <a:spcPts val="600"/>
              </a:spcBef>
              <a:spcAft>
                <a:spcPts val="600"/>
              </a:spcAft>
              <a:defRPr sz="1800">
                <a:solidFill>
                  <a:srgbClr val="0F172A"/>
                </a:solidFill>
              </a:defRPr>
            </a:pPr>
            <a:r>
              <a:t>To further your learning and professional development, we recommend exploring additional resources such as recommended reading materials that provide in-depth insights into industry trends and best practices, online courses and tutorials that offer hands-on training and skill-building opportunities, and industry-recognized testing certifications that demonstrate your expertise and commitment to staying current.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Testing</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Common Testing Challenges</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Additional Resources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Testing</a:t>
            </a:r>
          </a:p>
          <a:p>
            <a:pPr>
              <a:spcBef>
                <a:spcPts val="800"/>
              </a:spcBef>
              <a:spcAft>
                <a:spcPts val="800"/>
              </a:spcAft>
              <a:defRPr sz="2000">
                <a:solidFill>
                  <a:srgbClr val="F59E0B"/>
                </a:solidFill>
              </a:defRPr>
            </a:pPr>
            <a:r>
              <a:t>✓ Benefits of Testing</a:t>
            </a:r>
          </a:p>
          <a:p>
            <a:pPr>
              <a:spcBef>
                <a:spcPts val="800"/>
              </a:spcBef>
              <a:spcAft>
                <a:spcPts val="800"/>
              </a:spcAft>
              <a:defRPr sz="2000">
                <a:solidFill>
                  <a:srgbClr val="F59E0B"/>
                </a:solidFill>
              </a:defRPr>
            </a:pPr>
            <a:r>
              <a:t>✓ Types of Testing</a:t>
            </a:r>
          </a:p>
          <a:p>
            <a:pPr>
              <a:spcBef>
                <a:spcPts val="800"/>
              </a:spcBef>
              <a:spcAft>
                <a:spcPts val="800"/>
              </a:spcAft>
              <a:defRPr sz="2000">
                <a:solidFill>
                  <a:srgbClr val="F59E0B"/>
                </a:solidFill>
              </a:defRPr>
            </a:pPr>
            <a:r>
              <a:t>✓ Why Manual Testing is Important</a:t>
            </a:r>
          </a:p>
          <a:p>
            <a:pPr>
              <a:spcBef>
                <a:spcPts val="800"/>
              </a:spcBef>
              <a:spcAft>
                <a:spcPts val="800"/>
              </a:spcAft>
              <a:defRPr sz="2000">
                <a:solidFill>
                  <a:srgbClr val="F59E0B"/>
                </a:solidFill>
              </a:defRPr>
            </a:pPr>
            <a:r>
              <a:t>✓ Best Practices for Writing Tests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