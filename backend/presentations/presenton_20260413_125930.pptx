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Key takeaway 1:</c:v>
                </c:pt>
                <c:pt idx="1">
                  <c:v>Key takeaway 2:</c:v>
                </c:pt>
                <c:pt idx="2">
                  <c:v>Key takeaway 3:</c:v>
                </c:pt>
                <c:pt idx="3">
                  <c:v>Key takeaway 4:</c:v>
                </c:pt>
                <c:pt idx="4">
                  <c:v>Key takeaway 5:</c:v>
                </c:pt>
              </c:strCache>
            </c:strRef>
          </c:cat>
          <c:val>
            <c:numRef>
              <c:f>Sheet1!$B$2:$B$6</c:f>
              <c:numCache>
                <c:formatCode>General</c:formatCode>
                <c:ptCount val="5"/>
                <c:pt idx="0">
                  <c:v>30</c:v>
                </c:pt>
                <c:pt idx="1">
                  <c:v>45</c:v>
                </c:pt>
                <c:pt idx="2">
                  <c:v>57</c:v>
                </c:pt>
                <c:pt idx="3">
                  <c:v>72</c:v>
                </c:pt>
                <c:pt idx="4">
                  <c:v>80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Usage of Agent Sally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this presentation, we will be discussing the importance and benefits of using Agent Sally. With her vast experience and expertise, she has been instrumental in streamlining processes and improving efficiency within our organization. Her exceptional communication skills have also enabled seamless collaboration with clients and stakeholders. We will be exploring specific examples of how Agent Sally's usage has positively impacted our business operations. In this first slide, we will set the stage for a comprehensive overview of her capabilities.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Comprehensive point 1: Improved process efficiency</a:t>
            </a:r>
          </a:p>
          <a:p>
            <a:pPr>
              <a:lnSpc>
                <a:spcPct val="120000"/>
              </a:lnSpc>
              <a:spcBef>
                <a:spcPts val="300"/>
              </a:spcBef>
              <a:spcAft>
                <a:spcPts val="300"/>
              </a:spcAft>
              <a:defRPr sz="1600">
                <a:solidFill>
                  <a:srgbClr val="0F172A"/>
                </a:solidFill>
              </a:defRPr>
            </a:pPr>
            <a:r>
              <a:t>• Comprehensive point 2: Enhanced communication skills</a:t>
            </a:r>
          </a:p>
          <a:p>
            <a:pPr>
              <a:lnSpc>
                <a:spcPct val="120000"/>
              </a:lnSpc>
              <a:spcBef>
                <a:spcPts val="300"/>
              </a:spcBef>
              <a:spcAft>
                <a:spcPts val="300"/>
              </a:spcAft>
              <a:defRPr sz="1600">
                <a:solidFill>
                  <a:srgbClr val="0F172A"/>
                </a:solidFill>
              </a:defRPr>
            </a:pPr>
            <a:r>
              <a:t>• Comprehensive point 3: Streamlined client relationships</a:t>
            </a:r>
          </a:p>
          <a:p>
            <a:pPr>
              <a:lnSpc>
                <a:spcPct val="120000"/>
              </a:lnSpc>
              <a:spcBef>
                <a:spcPts val="300"/>
              </a:spcBef>
              <a:spcAft>
                <a:spcPts val="300"/>
              </a:spcAft>
              <a:defRPr sz="1600">
                <a:solidFill>
                  <a:srgbClr val="0F172A"/>
                </a:solidFill>
              </a:defRPr>
            </a:pPr>
            <a:r>
              <a:t>• Comprehensive point 4: Data-driven decision making</a:t>
            </a:r>
          </a:p>
          <a:p>
            <a:pPr>
              <a:lnSpc>
                <a:spcPct val="120000"/>
              </a:lnSpc>
              <a:spcBef>
                <a:spcPts val="300"/>
              </a:spcBef>
              <a:spcAft>
                <a:spcPts val="300"/>
              </a:spcAft>
              <a:defRPr sz="1600">
                <a:solidFill>
                  <a:srgbClr val="0F172A"/>
                </a:solidFill>
              </a:defRPr>
            </a:pPr>
            <a:r>
              <a:t>• Comprehensive point 5: Increased customer satisfaction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Key Features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Agent Sally's key features include her ability to handle multiple tasks simultaneously, ensuring timely completion of projects. Her proficiency in data analysis enables informed decision-making and strategic planning. Additionally, she is skilled in conflict resolution, minimizing potential issues and maximizing client satisfaction. With Agent Sally on our team, we have experienced a significant reduction in project timelines and an increase in overall productivity.</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Point 1: Multitasking capabilities</a:t>
            </a:r>
          </a:p>
          <a:p>
            <a:pPr>
              <a:lnSpc>
                <a:spcPct val="115000"/>
              </a:lnSpc>
              <a:spcBef>
                <a:spcPts val="200"/>
              </a:spcBef>
              <a:spcAft>
                <a:spcPts val="200"/>
              </a:spcAft>
              <a:defRPr sz="1500">
                <a:solidFill>
                  <a:srgbClr val="0F172A"/>
                </a:solidFill>
              </a:defRPr>
            </a:pPr>
            <a:r>
              <a:t>• Point 2: Data analysis skills</a:t>
            </a:r>
          </a:p>
          <a:p>
            <a:pPr>
              <a:lnSpc>
                <a:spcPct val="115000"/>
              </a:lnSpc>
              <a:spcBef>
                <a:spcPts val="200"/>
              </a:spcBef>
              <a:spcAft>
                <a:spcPts val="200"/>
              </a:spcAft>
              <a:defRPr sz="1500">
                <a:solidFill>
                  <a:srgbClr val="0F172A"/>
                </a:solidFill>
              </a:defRPr>
            </a:pPr>
            <a:r>
              <a:t>• Point 3: Conflict resolution expertise</a:t>
            </a:r>
          </a:p>
          <a:p>
            <a:pPr>
              <a:lnSpc>
                <a:spcPct val="115000"/>
              </a:lnSpc>
              <a:spcBef>
                <a:spcPts val="200"/>
              </a:spcBef>
              <a:spcAft>
                <a:spcPts val="200"/>
              </a:spcAft>
              <a:defRPr sz="1500">
                <a:solidFill>
                  <a:srgbClr val="0F172A"/>
                </a:solidFill>
              </a:defRPr>
            </a:pPr>
            <a:r>
              <a:t>• Point 4: Project timeline optimization</a:t>
            </a:r>
          </a:p>
          <a:p>
            <a:pPr>
              <a:lnSpc>
                <a:spcPct val="115000"/>
              </a:lnSpc>
              <a:spcBef>
                <a:spcPts val="200"/>
              </a:spcBef>
              <a:spcAft>
                <a:spcPts val="200"/>
              </a:spcAft>
              <a:defRPr sz="1500">
                <a:solidFill>
                  <a:srgbClr val="0F172A"/>
                </a:solidFill>
              </a:defRPr>
            </a:pPr>
            <a:r>
              <a:t>• Point 5: Increased team productivity</a:t>
            </a:r>
          </a:p>
        </p:txBody>
      </p:sp>
      <p:pic>
        <p:nvPicPr>
          <p:cNvPr id="5" name="Picture 4" descr="unsplash_Adr9X1luQng.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Benefits of Usage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benefits of using Agent Sally are numerous. Her exceptional organizational skills have enabled us to streamline our workflow and reduce the risk of errors. Additionally, her ability to adapt to changing circumstances has been invaluable in ensuring the successful completion of projects. Furthermore, her expertise in client relationship management has fostered strong partnerships and increased customer loyalty.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Benefit 1: Improved organizational skills</a:t>
            </a:r>
          </a:p>
          <a:p>
            <a:pPr>
              <a:lnSpc>
                <a:spcPct val="120000"/>
              </a:lnSpc>
              <a:spcBef>
                <a:spcPts val="300"/>
              </a:spcBef>
              <a:spcAft>
                <a:spcPts val="300"/>
              </a:spcAft>
              <a:defRPr sz="1600">
                <a:solidFill>
                  <a:srgbClr val="0F172A"/>
                </a:solidFill>
              </a:defRPr>
            </a:pPr>
            <a:r>
              <a:t>• Benefit 2: Adaptability in project management</a:t>
            </a:r>
          </a:p>
          <a:p>
            <a:pPr>
              <a:lnSpc>
                <a:spcPct val="120000"/>
              </a:lnSpc>
              <a:spcBef>
                <a:spcPts val="300"/>
              </a:spcBef>
              <a:spcAft>
                <a:spcPts val="300"/>
              </a:spcAft>
              <a:defRPr sz="1600">
                <a:solidFill>
                  <a:srgbClr val="0F172A"/>
                </a:solidFill>
              </a:defRPr>
            </a:pPr>
            <a:r>
              <a:t>• Benefit 3: Stronger client relationships</a:t>
            </a:r>
          </a:p>
          <a:p>
            <a:pPr>
              <a:lnSpc>
                <a:spcPct val="120000"/>
              </a:lnSpc>
              <a:spcBef>
                <a:spcPts val="300"/>
              </a:spcBef>
              <a:spcAft>
                <a:spcPts val="300"/>
              </a:spcAft>
              <a:defRPr sz="1600">
                <a:solidFill>
                  <a:srgbClr val="0F172A"/>
                </a:solidFill>
              </a:defRPr>
            </a:pPr>
            <a:r>
              <a:t>• Benefit 4: Enhanced workflow efficiency</a:t>
            </a:r>
          </a:p>
          <a:p>
            <a:pPr>
              <a:lnSpc>
                <a:spcPct val="120000"/>
              </a:lnSpc>
              <a:spcBef>
                <a:spcPts val="300"/>
              </a:spcBef>
              <a:spcAft>
                <a:spcPts val="300"/>
              </a:spcAft>
              <a:defRPr sz="1600">
                <a:solidFill>
                  <a:srgbClr val="0F172A"/>
                </a:solidFill>
              </a:defRPr>
            </a:pPr>
            <a:r>
              <a:t>• Benefit 5: Increased customer satisfaction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and Limitations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While Agent Sally has been a valuable asset to our organization, we have encountered some challenges and limitations. For instance, she requires regular training and updates to stay current with industry trends and best practices. Additionally, her exceptional workload can lead to burnout if not managed properly. Nevertheless, these challenges do not detract from the overall value she brings to our team.</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Challenge 1: Training and update requirements</a:t>
            </a:r>
          </a:p>
          <a:p>
            <a:pPr>
              <a:lnSpc>
                <a:spcPct val="120000"/>
              </a:lnSpc>
              <a:spcBef>
                <a:spcPts val="300"/>
              </a:spcBef>
              <a:spcAft>
                <a:spcPts val="300"/>
              </a:spcAft>
              <a:defRPr sz="1600">
                <a:solidFill>
                  <a:srgbClr val="0F172A"/>
                </a:solidFill>
              </a:defRPr>
            </a:pPr>
            <a:r>
              <a:t>• Challenge 2: Risk of burnout</a:t>
            </a:r>
          </a:p>
          <a:p>
            <a:pPr>
              <a:lnSpc>
                <a:spcPct val="120000"/>
              </a:lnSpc>
              <a:spcBef>
                <a:spcPts val="300"/>
              </a:spcBef>
              <a:spcAft>
                <a:spcPts val="300"/>
              </a:spcAft>
              <a:defRPr sz="1600">
                <a:solidFill>
                  <a:srgbClr val="0F172A"/>
                </a:solidFill>
              </a:defRPr>
            </a:pPr>
            <a:r>
              <a:t>• Limitation 1: Dependence on a single agent</a:t>
            </a:r>
          </a:p>
          <a:p>
            <a:pPr>
              <a:lnSpc>
                <a:spcPct val="120000"/>
              </a:lnSpc>
              <a:spcBef>
                <a:spcPts val="300"/>
              </a:spcBef>
              <a:spcAft>
                <a:spcPts val="300"/>
              </a:spcAft>
              <a:defRPr sz="1600">
                <a:solidFill>
                  <a:srgbClr val="0F172A"/>
                </a:solidFill>
              </a:defRPr>
            </a:pPr>
            <a:r>
              <a:t>• Limitation 2: Limited scalability</a:t>
            </a:r>
          </a:p>
          <a:p>
            <a:pPr>
              <a:lnSpc>
                <a:spcPct val="120000"/>
              </a:lnSpc>
              <a:spcBef>
                <a:spcPts val="300"/>
              </a:spcBef>
              <a:spcAft>
                <a:spcPts val="300"/>
              </a:spcAft>
              <a:defRPr sz="1600">
                <a:solidFill>
                  <a:srgbClr val="0F172A"/>
                </a:solidFill>
              </a:defRPr>
            </a:pPr>
            <a:r>
              <a:t>• Limitation 3: Need for ongoing support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Future Directions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we move forward, we plan to continue investing in Agent Sally's capabilities and exploring new ways to leverage her expertise. We will be focusing on optimizing her workload, developing more effective training programs, and expanding our team's skills and knowledge. This will enable us to further enhance our competitiveness and drive business growth.</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Direction 1: Workload optimization</a:t>
            </a:r>
          </a:p>
          <a:p>
            <a:pPr>
              <a:lnSpc>
                <a:spcPct val="120000"/>
              </a:lnSpc>
              <a:spcBef>
                <a:spcPts val="300"/>
              </a:spcBef>
              <a:spcAft>
                <a:spcPts val="300"/>
              </a:spcAft>
              <a:defRPr sz="1600">
                <a:solidFill>
                  <a:srgbClr val="0F172A"/>
                </a:solidFill>
              </a:defRPr>
            </a:pPr>
            <a:r>
              <a:t>• Direction 2: Training program development</a:t>
            </a:r>
          </a:p>
          <a:p>
            <a:pPr>
              <a:lnSpc>
                <a:spcPct val="120000"/>
              </a:lnSpc>
              <a:spcBef>
                <a:spcPts val="300"/>
              </a:spcBef>
              <a:spcAft>
                <a:spcPts val="300"/>
              </a:spcAft>
              <a:defRPr sz="1600">
                <a:solidFill>
                  <a:srgbClr val="0F172A"/>
                </a:solidFill>
              </a:defRPr>
            </a:pPr>
            <a:r>
              <a:t>• Direction 3: Team skill enhancement</a:t>
            </a:r>
          </a:p>
          <a:p>
            <a:pPr>
              <a:lnSpc>
                <a:spcPct val="120000"/>
              </a:lnSpc>
              <a:spcBef>
                <a:spcPts val="300"/>
              </a:spcBef>
              <a:spcAft>
                <a:spcPts val="300"/>
              </a:spcAft>
              <a:defRPr sz="1600">
                <a:solidFill>
                  <a:srgbClr val="0F172A"/>
                </a:solidFill>
              </a:defRPr>
            </a:pPr>
            <a:r>
              <a:t>• Direction 4: Business growth strategy implementation</a:t>
            </a:r>
          </a:p>
          <a:p>
            <a:pPr>
              <a:lnSpc>
                <a:spcPct val="120000"/>
              </a:lnSpc>
              <a:spcBef>
                <a:spcPts val="300"/>
              </a:spcBef>
              <a:spcAft>
                <a:spcPts val="300"/>
              </a:spcAft>
              <a:defRPr sz="1600">
                <a:solidFill>
                  <a:srgbClr val="0F172A"/>
                </a:solidFill>
              </a:defRPr>
            </a:pPr>
            <a:r>
              <a:t>• Direction 5: Ongoing support and evaluation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Challenges and Limitations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Future Directions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a:t>
            </a:r>
          </a:p>
          <a:p>
            <a:pPr>
              <a:spcBef>
                <a:spcPts val="800"/>
              </a:spcBef>
              <a:spcAft>
                <a:spcPts val="800"/>
              </a:spcAft>
              <a:defRPr sz="2000">
                <a:solidFill>
                  <a:srgbClr val="F59E0B"/>
                </a:solidFill>
              </a:defRPr>
            </a:pPr>
            <a:r>
              <a:t>✓ Key Features</a:t>
            </a:r>
          </a:p>
          <a:p>
            <a:pPr>
              <a:spcBef>
                <a:spcPts val="800"/>
              </a:spcBef>
              <a:spcAft>
                <a:spcPts val="800"/>
              </a:spcAft>
              <a:defRPr sz="2000">
                <a:solidFill>
                  <a:srgbClr val="F59E0B"/>
                </a:solidFill>
              </a:defRPr>
            </a:pPr>
            <a:r>
              <a:t>✓ Benefits of Usage</a:t>
            </a:r>
          </a:p>
          <a:p>
            <a:pPr>
              <a:spcBef>
                <a:spcPts val="800"/>
              </a:spcBef>
              <a:spcAft>
                <a:spcPts val="800"/>
              </a:spcAft>
              <a:defRPr sz="2000">
                <a:solidFill>
                  <a:srgbClr val="F59E0B"/>
                </a:solidFill>
              </a:defRPr>
            </a:pPr>
            <a:r>
              <a:t>✓ Challenges and Limitations</a:t>
            </a:r>
          </a:p>
          <a:p>
            <a:pPr>
              <a:spcBef>
                <a:spcPts val="800"/>
              </a:spcBef>
              <a:spcAft>
                <a:spcPts val="800"/>
              </a:spcAft>
              <a:defRPr sz="2000">
                <a:solidFill>
                  <a:srgbClr val="F59E0B"/>
                </a:solidFill>
              </a:defRPr>
            </a:pPr>
            <a:r>
              <a:t>✓ 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