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VLSI: Designing Integrated Circuits for Modern Applications</a:t>
            </a:r>
          </a:p>
        </p:txBody>
      </p:sp>
      <p:sp>
        <p:nvSpPr>
          <p:cNvPr id="3" name="TextBox 2"/>
          <p:cNvSpPr txBox="1"/>
          <p:nvPr/>
        </p:nvSpPr>
        <p:spPr>
          <a:xfrm>
            <a:off x="457200" y="3840480"/>
            <a:ext cx="8229600" cy="914400"/>
          </a:xfrm>
          <a:prstGeom prst="rect">
            <a:avLst/>
          </a:prstGeom>
          <a:noFill/>
        </p:spPr>
        <p:txBody>
          <a:bodyPr wrap="none">
            <a:spAutoFit/>
          </a:bodyPr>
          <a:lstStyle/>
          <a:p>
            <a:pPr algn="ctr">
              <a:defRPr sz="2400">
                <a:solidFill>
                  <a:srgbClr val="F59E0B"/>
                </a:solidFill>
              </a:defRPr>
            </a:pPr>
            <a:r>
              <a:t>Generated Presentation for VLSI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Introduction to VLSI</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Definition of VLSI</a:t>
            </a:r>
          </a:p>
          <a:p>
            <a:pPr>
              <a:spcBef>
                <a:spcPts val="600"/>
              </a:spcBef>
              <a:spcAft>
                <a:spcPts val="600"/>
              </a:spcAft>
              <a:defRPr sz="1800">
                <a:solidFill>
                  <a:srgbClr val="0F172A"/>
                </a:solidFill>
              </a:defRPr>
            </a:pPr>
            <a:r>
              <a:t>• History and Evolution</a:t>
            </a:r>
          </a:p>
          <a:p>
            <a:pPr>
              <a:spcBef>
                <a:spcPts val="600"/>
              </a:spcBef>
              <a:spcAft>
                <a:spcPts val="600"/>
              </a:spcAft>
              <a:defRPr sz="1800">
                <a:solidFill>
                  <a:srgbClr val="0F172A"/>
                </a:solidFill>
              </a:defRPr>
            </a:pPr>
            <a:r>
              <a:t>• Importance in Modern Electronics</a:t>
            </a:r>
          </a:p>
          <a:p>
            <a:br/>
            <a:pPr>
              <a:spcBef>
                <a:spcPts val="600"/>
              </a:spcBef>
              <a:spcAft>
                <a:spcPts val="600"/>
              </a:spcAft>
              <a:defRPr sz="1800">
                <a:solidFill>
                  <a:srgbClr val="0F172A"/>
                </a:solidFill>
              </a:defRPr>
            </a:pPr>
            <a:r>
              <a:t>VLSI, or Very Large Scale Integration, refers to the design and manufacturing process of electronic circuits that combine thousands of transistors on a single chip of semiconductor material, allowing for increased performance, reduced size, and lower power consumption. The history of VLSI dates back to the 1960s, with significant advancements in the 1970s and 1980s leading to the widespread adoption of microprocessors and other complex electronic systems. As technology continues to evolve, the importance of VLSI lies in its ability to enable the development of smaller, faster, and more efficient electronic devices that power modern computing, communication, and other industries.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VLSI Design Flow</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Design Entry</a:t>
            </a:r>
          </a:p>
          <a:p>
            <a:pPr>
              <a:spcBef>
                <a:spcPts val="600"/>
              </a:spcBef>
              <a:spcAft>
                <a:spcPts val="600"/>
              </a:spcAft>
              <a:defRPr sz="1800">
                <a:solidFill>
                  <a:srgbClr val="0F172A"/>
                </a:solidFill>
              </a:defRPr>
            </a:pPr>
            <a:r>
              <a:t>• Logic Synthesis</a:t>
            </a:r>
          </a:p>
          <a:p>
            <a:pPr>
              <a:spcBef>
                <a:spcPts val="600"/>
              </a:spcBef>
              <a:spcAft>
                <a:spcPts val="600"/>
              </a:spcAft>
              <a:defRPr sz="1800">
                <a:solidFill>
                  <a:srgbClr val="0F172A"/>
                </a:solidFill>
              </a:defRPr>
            </a:pPr>
            <a:r>
              <a:t>• Placement and Routing</a:t>
            </a:r>
          </a:p>
          <a:p>
            <a:pPr>
              <a:spcBef>
                <a:spcPts val="600"/>
              </a:spcBef>
              <a:spcAft>
                <a:spcPts val="600"/>
              </a:spcAft>
              <a:defRPr sz="1800">
                <a:solidFill>
                  <a:srgbClr val="0F172A"/>
                </a:solidFill>
              </a:defRPr>
            </a:pPr>
            <a:r>
              <a:t>• Physical Verification</a:t>
            </a:r>
          </a:p>
          <a:p>
            <a:pPr>
              <a:spcBef>
                <a:spcPts val="600"/>
              </a:spcBef>
              <a:spcAft>
                <a:spcPts val="600"/>
              </a:spcAft>
              <a:defRPr sz="1800">
                <a:solidFill>
                  <a:srgbClr val="0F172A"/>
                </a:solidFill>
              </a:defRPr>
            </a:pPr>
            <a:r>
              <a:t>• Fabrication</a:t>
            </a:r>
          </a:p>
          <a:p>
            <a:br/>
            <a:pPr>
              <a:spcBef>
                <a:spcPts val="600"/>
              </a:spcBef>
              <a:spcAft>
                <a:spcPts val="600"/>
              </a:spcAft>
              <a:defRPr sz="1800">
                <a:solidFill>
                  <a:srgbClr val="0F172A"/>
                </a:solidFill>
              </a:defRPr>
            </a:pPr>
            <a:r>
              <a:t>The design entry stage begins with the creation of a high-level design specification, which is then converted into a netlist format that can be processed by VLSI design tools. The logic synthesis step maps this netlist into a gate-level representation, taking into account factors such as timing and power consumption.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VLSI CAD Tools</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ESD (Electronic System Design) Tools</a:t>
            </a:r>
          </a:p>
          <a:p>
            <a:pPr>
              <a:spcBef>
                <a:spcPts val="600"/>
              </a:spcBef>
              <a:spcAft>
                <a:spcPts val="600"/>
              </a:spcAft>
              <a:defRPr sz="1800">
                <a:solidFill>
                  <a:srgbClr val="0F172A"/>
                </a:solidFill>
              </a:defRPr>
            </a:pPr>
            <a:r>
              <a:t>• TCL (Tool Command Language)</a:t>
            </a:r>
          </a:p>
          <a:p>
            <a:pPr>
              <a:spcBef>
                <a:spcPts val="600"/>
              </a:spcBef>
              <a:spcAft>
                <a:spcPts val="600"/>
              </a:spcAft>
              <a:defRPr sz="1800">
                <a:solidFill>
                  <a:srgbClr val="0F172A"/>
                </a:solidFill>
              </a:defRPr>
            </a:pPr>
            <a:r>
              <a:t>• Verilog/ VHDL Programming</a:t>
            </a:r>
          </a:p>
          <a:p>
            <a:br/>
            <a:pPr>
              <a:spcBef>
                <a:spcPts val="600"/>
              </a:spcBef>
              <a:spcAft>
                <a:spcPts val="600"/>
              </a:spcAft>
              <a:defRPr sz="1800">
                <a:solidFill>
                  <a:srgbClr val="0F172A"/>
                </a:solidFill>
              </a:defRPr>
            </a:pPr>
            <a:r>
              <a:t>VLSI CAD tools enable the design and verification of complex integrated circuits by providing a suite of software applications that aid in the creation, simulation, synthesis, and physical implementation of digital electronic systems. These tools facilitate the development of electronic system designs through various functionalities such as ESD (Electronic System Design) tools, which provide a comprehensive environment for designing and analyzing electronic systems. Additionally, TCL scripting language allows users to automate tasks and customize workflows within the design process, while Verilog/VHDL programming languages are used to describe the behavior and structure of digital circuits.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VLSI Challenges and Limitations</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Power Consumption</a:t>
            </a:r>
          </a:p>
          <a:p>
            <a:pPr>
              <a:spcBef>
                <a:spcPts val="600"/>
              </a:spcBef>
              <a:spcAft>
                <a:spcPts val="600"/>
              </a:spcAft>
              <a:defRPr sz="1800">
                <a:solidFill>
                  <a:srgbClr val="0F172A"/>
                </a:solidFill>
              </a:defRPr>
            </a:pPr>
            <a:r>
              <a:t>• Thermal Management</a:t>
            </a:r>
          </a:p>
          <a:p>
            <a:pPr>
              <a:spcBef>
                <a:spcPts val="600"/>
              </a:spcBef>
              <a:spcAft>
                <a:spcPts val="600"/>
              </a:spcAft>
              <a:defRPr sz="1800">
                <a:solidFill>
                  <a:srgbClr val="0F172A"/>
                </a:solidFill>
              </a:defRPr>
            </a:pPr>
            <a:r>
              <a:t>• Signal Integrity</a:t>
            </a:r>
          </a:p>
          <a:p>
            <a:pPr>
              <a:spcBef>
                <a:spcPts val="600"/>
              </a:spcBef>
              <a:spcAft>
                <a:spcPts val="600"/>
              </a:spcAft>
              <a:defRPr sz="1800">
                <a:solidFill>
                  <a:srgbClr val="0F172A"/>
                </a:solidFill>
              </a:defRPr>
            </a:pPr>
            <a:r>
              <a:t>• Manufacturing Yield</a:t>
            </a:r>
          </a:p>
          <a:p>
            <a:br/>
            <a:pPr>
              <a:spcBef>
                <a:spcPts val="600"/>
              </a:spcBef>
              <a:spcAft>
                <a:spcPts val="600"/>
              </a:spcAft>
              <a:defRPr sz="1800">
                <a:solidFill>
                  <a:srgbClr val="0F172A"/>
                </a:solidFill>
              </a:defRPr>
            </a:pPr>
            <a:r>
              <a:t>As we continue to push the boundaries of digital electronics, VLSI design is hindered by several significant challenges that must be addressed. Firstly, power consumption poses a major concern as it directly impacts battery life and heat generation; this necessitates careful management through techniques such as voltage and frequency scaling.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Advantages of VLSI</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Increased Computing Power</a:t>
            </a:r>
          </a:p>
          <a:p>
            <a:pPr>
              <a:spcBef>
                <a:spcPts val="600"/>
              </a:spcBef>
              <a:spcAft>
                <a:spcPts val="600"/>
              </a:spcAft>
              <a:defRPr sz="1800">
                <a:solidFill>
                  <a:srgbClr val="0F172A"/>
                </a:solidFill>
              </a:defRPr>
            </a:pPr>
            <a:r>
              <a:t>• Reduced Cost</a:t>
            </a:r>
          </a:p>
          <a:p>
            <a:pPr>
              <a:spcBef>
                <a:spcPts val="600"/>
              </a:spcBef>
              <a:spcAft>
                <a:spcPts val="600"/>
              </a:spcAft>
              <a:defRPr sz="1800">
                <a:solidFill>
                  <a:srgbClr val="0F172A"/>
                </a:solidFill>
              </a:defRPr>
            </a:pPr>
            <a:r>
              <a:t>• Improved Performance</a:t>
            </a:r>
          </a:p>
          <a:p>
            <a:pPr>
              <a:spcBef>
                <a:spcPts val="600"/>
              </a:spcBef>
              <a:spcAft>
                <a:spcPts val="600"/>
              </a:spcAft>
              <a:defRPr sz="1800">
                <a:solidFill>
                  <a:srgbClr val="0F172A"/>
                </a:solidFill>
              </a:defRPr>
            </a:pPr>
            <a:r>
              <a:t>• Compact Form Factor</a:t>
            </a:r>
          </a:p>
          <a:p>
            <a:br/>
            <a:pPr>
              <a:spcBef>
                <a:spcPts val="600"/>
              </a:spcBef>
              <a:spcAft>
                <a:spcPts val="600"/>
              </a:spcAft>
              <a:defRPr sz="1800">
                <a:solidFill>
                  <a:srgbClr val="0F172A"/>
                </a:solidFill>
              </a:defRPr>
            </a:pPr>
            <a:r>
              <a:t>The adoption of Very Large Scale Integration (VLSI) design allows for significant advantages in computing systems. Firstly, it enables increased computing power by integrating millions of transistors onto a single chip, leading to faster processing speeds and improved system performance. Additionally, VLSI design reduces production costs by minimizing the number of components required and improving manufacturing efficiency, making it an attractive option for companies looking to streamline their operations.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Applications of VLSI</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Digital Signal Processing</a:t>
            </a:r>
          </a:p>
          <a:p>
            <a:pPr>
              <a:spcBef>
                <a:spcPts val="600"/>
              </a:spcBef>
              <a:spcAft>
                <a:spcPts val="600"/>
              </a:spcAft>
              <a:defRPr sz="1800">
                <a:solidFill>
                  <a:srgbClr val="0F172A"/>
                </a:solidFill>
              </a:defRPr>
            </a:pPr>
            <a:r>
              <a:t>• Image and Video Processing</a:t>
            </a:r>
          </a:p>
          <a:p>
            <a:pPr>
              <a:spcBef>
                <a:spcPts val="600"/>
              </a:spcBef>
              <a:spcAft>
                <a:spcPts val="600"/>
              </a:spcAft>
              <a:defRPr sz="1800">
                <a:solidFill>
                  <a:srgbClr val="0F172A"/>
                </a:solidFill>
              </a:defRPr>
            </a:pPr>
            <a:r>
              <a:t>• Artificial Intelligence and Machine Learning</a:t>
            </a:r>
          </a:p>
          <a:p>
            <a:pPr>
              <a:spcBef>
                <a:spcPts val="600"/>
              </a:spcBef>
              <a:spcAft>
                <a:spcPts val="600"/>
              </a:spcAft>
              <a:defRPr sz="1800">
                <a:solidFill>
                  <a:srgbClr val="0F172A"/>
                </a:solidFill>
              </a:defRPr>
            </a:pPr>
            <a:r>
              <a:t>• Internet of Things (IoT)</a:t>
            </a:r>
          </a:p>
          <a:p>
            <a:br/>
            <a:pPr>
              <a:spcBef>
                <a:spcPts val="600"/>
              </a:spcBef>
              <a:spcAft>
                <a:spcPts val="600"/>
              </a:spcAft>
              <a:defRPr sz="1800">
                <a:solidFill>
                  <a:srgbClr val="0F172A"/>
                </a:solidFill>
              </a:defRPr>
            </a:pPr>
            <a:r>
              <a:t>The applications of Very Large Scale Integration (VLSI) technology are diverse and far-reaching. In the field of digital signal processing, VLSI enables the development of high-performance accelerators for tasks such as audio and image filtering, allowing for real-time processing of large datasets. Additionally, VLSI's ability to integrate complex algorithms and processing units has led to breakthroughs in areas like image and video processing, artificial intelligence and machine learning, and the Internet of Things (IoT), where it is used to enable low-power and high-performance processing in a wide range of applications.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Future Directions in VLSI</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3D Stacked ICs</a:t>
            </a:r>
          </a:p>
          <a:p>
            <a:pPr>
              <a:spcBef>
                <a:spcPts val="600"/>
              </a:spcBef>
              <a:spcAft>
                <a:spcPts val="600"/>
              </a:spcAft>
              <a:defRPr sz="1800">
                <a:solidFill>
                  <a:srgbClr val="0F172A"/>
                </a:solidFill>
              </a:defRPr>
            </a:pPr>
            <a:r>
              <a:t>• Quantum Computing</a:t>
            </a:r>
          </a:p>
          <a:p>
            <a:pPr>
              <a:spcBef>
                <a:spcPts val="600"/>
              </a:spcBef>
              <a:spcAft>
                <a:spcPts val="600"/>
              </a:spcAft>
              <a:defRPr sz="1800">
                <a:solidFill>
                  <a:srgbClr val="0F172A"/>
                </a:solidFill>
              </a:defRPr>
            </a:pPr>
            <a:r>
              <a:t>•  Neuromorphic Computing</a:t>
            </a:r>
          </a:p>
          <a:p>
            <a:pPr>
              <a:spcBef>
                <a:spcPts val="600"/>
              </a:spcBef>
              <a:spcAft>
                <a:spcPts val="600"/>
              </a:spcAft>
              <a:defRPr sz="1800">
                <a:solidFill>
                  <a:srgbClr val="0F172A"/>
                </a:solidFill>
              </a:defRPr>
            </a:pPr>
            <a:r>
              <a:t>• New Materials and Processes</a:t>
            </a:r>
          </a:p>
          <a:p>
            <a:br/>
            <a:pPr>
              <a:spcBef>
                <a:spcPts val="600"/>
              </a:spcBef>
              <a:spcAft>
                <a:spcPts val="600"/>
              </a:spcAft>
              <a:defRPr sz="1800">
                <a:solidFill>
                  <a:srgbClr val="0F172A"/>
                </a:solidFill>
              </a:defRPr>
            </a:pPr>
            <a:r>
              <a:t>As we move forward in the era of VLSI, several emerging trends are poised to revolutionize the field. This slide highlights three key areas that will shape the future of VLSI: 3D stacked ICs, which enable increased performance and reduced power consumption by stacking multiple layers of transistors; quantum computing, which leverages the principles of quantum mechanics to solve complex problems exponentially faster than classical computers; and neuromorphic computing, which mimics the human brain's neural networks to develop more efficient and adaptive AI systems.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and Final Thoughts</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Summary of Key Points</a:t>
            </a:r>
          </a:p>
          <a:p>
            <a:pPr>
              <a:spcBef>
                <a:spcPts val="600"/>
              </a:spcBef>
              <a:spcAft>
                <a:spcPts val="600"/>
              </a:spcAft>
              <a:defRPr sz="1800">
                <a:solidFill>
                  <a:srgbClr val="0F172A"/>
                </a:solidFill>
              </a:defRPr>
            </a:pPr>
            <a:r>
              <a:t>• Impact on Society</a:t>
            </a:r>
          </a:p>
          <a:p>
            <a:pPr>
              <a:spcBef>
                <a:spcPts val="600"/>
              </a:spcBef>
              <a:spcAft>
                <a:spcPts val="600"/>
              </a:spcAft>
              <a:defRPr sz="1800">
                <a:solidFill>
                  <a:srgbClr val="0F172A"/>
                </a:solidFill>
              </a:defRPr>
            </a:pPr>
            <a:r>
              <a:t>• Future Opportunities and Challenges</a:t>
            </a:r>
          </a:p>
          <a:p>
            <a:br/>
            <a:pPr>
              <a:spcBef>
                <a:spcPts val="600"/>
              </a:spcBef>
              <a:spcAft>
                <a:spcPts val="600"/>
              </a:spcAft>
              <a:defRPr sz="1800">
                <a:solidFill>
                  <a:srgbClr val="0F172A"/>
                </a:solidFill>
              </a:defRPr>
            </a:pPr>
            <a:r>
              <a:t>In conclusion, this presentation highlights the most critical takeaways from our discussion, emphasizing the significant impact that these key points will have on society as a whole. The future holds both opportunities for growth and challenges to overcome, underscoring the importance of continued innovation and collaboration in driving progress forward. By summarizing the main points, we underscore the significance of this work and its potential to shape the direction of our collective future.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VLSI</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Advantages of VLSI</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 and Final Thoughts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VLSI</a:t>
            </a:r>
          </a:p>
          <a:p>
            <a:pPr>
              <a:spcBef>
                <a:spcPts val="800"/>
              </a:spcBef>
              <a:spcAft>
                <a:spcPts val="800"/>
              </a:spcAft>
              <a:defRPr sz="2000">
                <a:solidFill>
                  <a:srgbClr val="F59E0B"/>
                </a:solidFill>
              </a:defRPr>
            </a:pPr>
            <a:r>
              <a:t>✓ VLSI Design Flow</a:t>
            </a:r>
          </a:p>
          <a:p>
            <a:pPr>
              <a:spcBef>
                <a:spcPts val="800"/>
              </a:spcBef>
              <a:spcAft>
                <a:spcPts val="800"/>
              </a:spcAft>
              <a:defRPr sz="2000">
                <a:solidFill>
                  <a:srgbClr val="F59E0B"/>
                </a:solidFill>
              </a:defRPr>
            </a:pPr>
            <a:r>
              <a:t>✓ VLSI CAD Tools</a:t>
            </a:r>
          </a:p>
          <a:p>
            <a:pPr>
              <a:spcBef>
                <a:spcPts val="800"/>
              </a:spcBef>
              <a:spcAft>
                <a:spcPts val="800"/>
              </a:spcAft>
              <a:defRPr sz="2000">
                <a:solidFill>
                  <a:srgbClr val="F59E0B"/>
                </a:solidFill>
              </a:defRPr>
            </a:pPr>
            <a:r>
              <a:t>✓ VLSI Challenges and Limitations</a:t>
            </a:r>
          </a:p>
          <a:p>
            <a:pPr>
              <a:spcBef>
                <a:spcPts val="800"/>
              </a:spcBef>
              <a:spcAft>
                <a:spcPts val="800"/>
              </a:spcAft>
              <a:defRPr sz="2000">
                <a:solidFill>
                  <a:srgbClr val="F59E0B"/>
                </a:solidFill>
              </a:defRPr>
            </a:pPr>
            <a:r>
              <a:t>✓ Advantages of VLSI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