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Adoption (%)</c:v>
                </c:pt>
              </c:strCache>
            </c:strRef>
          </c:tx>
          <c:cat>
            <c:strRef>
              <c:f>Sheet1!$A$2:$A$6</c:f>
              <c:strCache>
                <c:ptCount val="5"/>
                <c:pt idx="0">
                  <c:v>OpenAI</c:v>
                </c:pt>
                <c:pt idx="1">
                  <c:v>Google</c:v>
                </c:pt>
                <c:pt idx="2">
                  <c:v>Meta</c:v>
                </c:pt>
                <c:pt idx="3">
                  <c:v>Anthropic</c:v>
                </c:pt>
                <c:pt idx="4">
                  <c:v>Others</c:v>
                </c:pt>
              </c:strCache>
            </c:strRef>
          </c:cat>
          <c:val>
            <c:numRef>
              <c:f>Sheet1!$B$2:$B$6</c:f>
              <c:numCache>
                <c:formatCode>General</c:formatCode>
                <c:ptCount val="5"/>
                <c:pt idx="0">
                  <c:v>32</c:v>
                </c:pt>
                <c:pt idx="1">
                  <c:v>28</c:v>
                </c:pt>
                <c:pt idx="2">
                  <c:v>18</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Machine Learning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Machine Learning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Machine learning is a subset of artificial intelligence that involves training algorithms on data to make predictions or take actions. It's based on the idea that machines can learn from experience and improve their performance over time. There are three main types of machine learning: supervised, unsupervised, and reinforcement learning. Supervised learning involves training an algorithm on labeled data to make predictions on new, unseen data. Unsupervised learning involves discovering patterns or relationships in unlabeled data. Reinforcement learning involves training an algorithm to take actions in an environment to maximize a reward.</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What is machine learning?</a:t>
            </a:r>
          </a:p>
          <a:p>
            <a:pPr>
              <a:lnSpc>
                <a:spcPct val="120000"/>
              </a:lnSpc>
              <a:spcBef>
                <a:spcPts val="300"/>
              </a:spcBef>
              <a:spcAft>
                <a:spcPts val="300"/>
              </a:spcAft>
              <a:defRPr sz="1600">
                <a:solidFill>
                  <a:srgbClr val="0F172A"/>
                </a:solidFill>
              </a:defRPr>
            </a:pPr>
            <a:r>
              <a:t>• Types of machine learning</a:t>
            </a:r>
          </a:p>
          <a:p>
            <a:pPr>
              <a:lnSpc>
                <a:spcPct val="120000"/>
              </a:lnSpc>
              <a:spcBef>
                <a:spcPts val="300"/>
              </a:spcBef>
              <a:spcAft>
                <a:spcPts val="300"/>
              </a:spcAft>
              <a:defRPr sz="1600">
                <a:solidFill>
                  <a:srgbClr val="0F172A"/>
                </a:solidFill>
              </a:defRPr>
            </a:pPr>
            <a:r>
              <a:t>• Supervised learning</a:t>
            </a:r>
          </a:p>
          <a:p>
            <a:pPr>
              <a:lnSpc>
                <a:spcPct val="120000"/>
              </a:lnSpc>
              <a:spcBef>
                <a:spcPts val="300"/>
              </a:spcBef>
              <a:spcAft>
                <a:spcPts val="300"/>
              </a:spcAft>
              <a:defRPr sz="1600">
                <a:solidFill>
                  <a:srgbClr val="0F172A"/>
                </a:solidFill>
              </a:defRPr>
            </a:pPr>
            <a:r>
              <a:t>• Unsupervised learning</a:t>
            </a:r>
          </a:p>
          <a:p>
            <a:pPr>
              <a:lnSpc>
                <a:spcPct val="120000"/>
              </a:lnSpc>
              <a:spcBef>
                <a:spcPts val="300"/>
              </a:spcBef>
              <a:spcAft>
                <a:spcPts val="300"/>
              </a:spcAft>
              <a:defRPr sz="1600">
                <a:solidFill>
                  <a:srgbClr val="0F172A"/>
                </a:solidFill>
              </a:defRPr>
            </a:pPr>
            <a:r>
              <a:t>• Reinforcement learning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Machine Learning Algorithms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Some common machine learning algorithms include linear regression, logistic regression, decision trees, random forests, and neural networks. Linear regression is used for predicting a continuous value based on one or more input features. Logistic regression is used for binary classification problems. Decision trees and random forests are used for both classification and regression tasks.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Linear regression</a:t>
            </a:r>
          </a:p>
          <a:p>
            <a:pPr>
              <a:lnSpc>
                <a:spcPct val="115000"/>
              </a:lnSpc>
              <a:spcBef>
                <a:spcPts val="200"/>
              </a:spcBef>
              <a:spcAft>
                <a:spcPts val="200"/>
              </a:spcAft>
              <a:defRPr sz="1500">
                <a:solidFill>
                  <a:srgbClr val="0F172A"/>
                </a:solidFill>
              </a:defRPr>
            </a:pPr>
            <a:r>
              <a:t>• Logistic regression</a:t>
            </a:r>
          </a:p>
          <a:p>
            <a:pPr>
              <a:lnSpc>
                <a:spcPct val="115000"/>
              </a:lnSpc>
              <a:spcBef>
                <a:spcPts val="200"/>
              </a:spcBef>
              <a:spcAft>
                <a:spcPts val="200"/>
              </a:spcAft>
              <a:defRPr sz="1500">
                <a:solidFill>
                  <a:srgbClr val="0F172A"/>
                </a:solidFill>
              </a:defRPr>
            </a:pPr>
            <a:r>
              <a:t>• Decision trees</a:t>
            </a:r>
          </a:p>
          <a:p>
            <a:pPr>
              <a:lnSpc>
                <a:spcPct val="115000"/>
              </a:lnSpc>
              <a:spcBef>
                <a:spcPts val="200"/>
              </a:spcBef>
              <a:spcAft>
                <a:spcPts val="200"/>
              </a:spcAft>
              <a:defRPr sz="1500">
                <a:solidFill>
                  <a:srgbClr val="0F172A"/>
                </a:solidFill>
              </a:defRPr>
            </a:pPr>
            <a:r>
              <a:t>• Random forests</a:t>
            </a:r>
          </a:p>
          <a:p>
            <a:pPr>
              <a:lnSpc>
                <a:spcPct val="115000"/>
              </a:lnSpc>
              <a:spcBef>
                <a:spcPts val="200"/>
              </a:spcBef>
              <a:spcAft>
                <a:spcPts val="200"/>
              </a:spcAft>
              <a:defRPr sz="1500">
                <a:solidFill>
                  <a:srgbClr val="0F172A"/>
                </a:solidFill>
              </a:defRPr>
            </a:pPr>
            <a:r>
              <a:t>• Neural networks</a:t>
            </a:r>
          </a:p>
        </p:txBody>
      </p:sp>
      <p:pic>
        <p:nvPicPr>
          <p:cNvPr id="5" name="Picture 4" descr="unsplash_w7ZyuGYNpRQ.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Machine Learning Applications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Machine learning is used in a wide range of applications, including image and speech recognition, natural language processing, recommender systems, and predictive maintenance. For example, facial recognition algorithms use machine learning to identify faces in images. Siri and Alexa use machine learning to understand voice commands.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Image recognition</a:t>
            </a:r>
          </a:p>
          <a:p>
            <a:pPr>
              <a:lnSpc>
                <a:spcPct val="120000"/>
              </a:lnSpc>
              <a:spcBef>
                <a:spcPts val="300"/>
              </a:spcBef>
              <a:spcAft>
                <a:spcPts val="300"/>
              </a:spcAft>
              <a:defRPr sz="1600">
                <a:solidFill>
                  <a:srgbClr val="0F172A"/>
                </a:solidFill>
              </a:defRPr>
            </a:pPr>
            <a:r>
              <a:t>• Speech recognition</a:t>
            </a:r>
          </a:p>
          <a:p>
            <a:pPr>
              <a:lnSpc>
                <a:spcPct val="120000"/>
              </a:lnSpc>
              <a:spcBef>
                <a:spcPts val="300"/>
              </a:spcBef>
              <a:spcAft>
                <a:spcPts val="300"/>
              </a:spcAft>
              <a:defRPr sz="1600">
                <a:solidFill>
                  <a:srgbClr val="0F172A"/>
                </a:solidFill>
              </a:defRPr>
            </a:pPr>
            <a:r>
              <a:t>• Natural language processing</a:t>
            </a:r>
          </a:p>
          <a:p>
            <a:pPr>
              <a:lnSpc>
                <a:spcPct val="120000"/>
              </a:lnSpc>
              <a:spcBef>
                <a:spcPts val="300"/>
              </a:spcBef>
              <a:spcAft>
                <a:spcPts val="300"/>
              </a:spcAft>
              <a:defRPr sz="1600">
                <a:solidFill>
                  <a:srgbClr val="0F172A"/>
                </a:solidFill>
              </a:defRPr>
            </a:pPr>
            <a:r>
              <a:t>• Recommender systems</a:t>
            </a:r>
          </a:p>
          <a:p>
            <a:pPr>
              <a:lnSpc>
                <a:spcPct val="120000"/>
              </a:lnSpc>
              <a:spcBef>
                <a:spcPts val="300"/>
              </a:spcBef>
              <a:spcAft>
                <a:spcPts val="300"/>
              </a:spcAft>
              <a:defRPr sz="1600">
                <a:solidFill>
                  <a:srgbClr val="0F172A"/>
                </a:solidFill>
              </a:defRPr>
            </a:pPr>
            <a:r>
              <a:t>• Predictive maintenance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Machine Learning Challenges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Some common challenges in machine learning include dealing with biased data, handling missing values, and preventing overfitting. Biased data can lead to unfair or inaccurate predictions. Missing values can cause algorithms to make incorrect predictions. Overfitting occurs when an algorithm becomes too specialized to the training data.</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Biased data</a:t>
            </a:r>
          </a:p>
          <a:p>
            <a:pPr>
              <a:lnSpc>
                <a:spcPct val="115000"/>
              </a:lnSpc>
              <a:spcBef>
                <a:spcPts val="200"/>
              </a:spcBef>
              <a:spcAft>
                <a:spcPts val="200"/>
              </a:spcAft>
              <a:defRPr sz="1500">
                <a:solidFill>
                  <a:srgbClr val="0F172A"/>
                </a:solidFill>
              </a:defRPr>
            </a:pPr>
            <a:r>
              <a:t>• Missing values</a:t>
            </a:r>
          </a:p>
          <a:p>
            <a:pPr>
              <a:lnSpc>
                <a:spcPct val="115000"/>
              </a:lnSpc>
              <a:spcBef>
                <a:spcPts val="200"/>
              </a:spcBef>
              <a:spcAft>
                <a:spcPts val="200"/>
              </a:spcAft>
              <a:defRPr sz="1500">
                <a:solidFill>
                  <a:srgbClr val="0F172A"/>
                </a:solidFill>
              </a:defRPr>
            </a:pPr>
            <a:r>
              <a:t>• Overfitting</a:t>
            </a:r>
          </a:p>
          <a:p>
            <a:pPr>
              <a:lnSpc>
                <a:spcPct val="115000"/>
              </a:lnSpc>
              <a:spcBef>
                <a:spcPts val="200"/>
              </a:spcBef>
              <a:spcAft>
                <a:spcPts val="200"/>
              </a:spcAft>
              <a:defRPr sz="1500">
                <a:solidFill>
                  <a:srgbClr val="0F172A"/>
                </a:solidFill>
              </a:defRPr>
            </a:pPr>
            <a:r>
              <a:t>• Underfitting</a:t>
            </a:r>
          </a:p>
          <a:p>
            <a:pPr>
              <a:lnSpc>
                <a:spcPct val="115000"/>
              </a:lnSpc>
              <a:spcBef>
                <a:spcPts val="200"/>
              </a:spcBef>
              <a:spcAft>
                <a:spcPts val="200"/>
              </a:spcAft>
              <a:defRPr sz="1500">
                <a:solidFill>
                  <a:srgbClr val="0F172A"/>
                </a:solidFill>
              </a:defRPr>
            </a:pPr>
            <a:r>
              <a:t>• Handling imbalanced datasets</a:t>
            </a:r>
          </a:p>
        </p:txBody>
      </p:sp>
      <p:pic>
        <p:nvPicPr>
          <p:cNvPr id="5" name="Picture 4" descr="unsplash_w7ZyuGYNpRQ.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Adoption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Machine Learning</a:t>
            </a:r>
          </a:p>
          <a:p>
            <a:pPr>
              <a:spcBef>
                <a:spcPts val="800"/>
              </a:spcBef>
              <a:spcAft>
                <a:spcPts val="800"/>
              </a:spcAft>
              <a:defRPr sz="2000">
                <a:solidFill>
                  <a:srgbClr val="F59E0B"/>
                </a:solidFill>
              </a:defRPr>
            </a:pPr>
            <a:r>
              <a:t>✓ Machine Learning Algorithms</a:t>
            </a:r>
          </a:p>
          <a:p>
            <a:pPr>
              <a:spcBef>
                <a:spcPts val="800"/>
              </a:spcBef>
              <a:spcAft>
                <a:spcPts val="800"/>
              </a:spcAft>
              <a:defRPr sz="2000">
                <a:solidFill>
                  <a:srgbClr val="F59E0B"/>
                </a:solidFill>
              </a:defRPr>
            </a:pPr>
            <a:r>
              <a:t>✓ Machine Learning Applications</a:t>
            </a:r>
          </a:p>
          <a:p>
            <a:pPr>
              <a:spcBef>
                <a:spcPts val="800"/>
              </a:spcBef>
              <a:spcAft>
                <a:spcPts val="800"/>
              </a:spcAft>
              <a:defRPr sz="2000">
                <a:solidFill>
                  <a:srgbClr val="F59E0B"/>
                </a:solidFill>
              </a:defRPr>
            </a:pPr>
            <a:r>
              <a:t>✓ Machine Learning Challenges</a:t>
            </a:r>
          </a:p>
          <a:p>
            <a:pPr>
              <a:spcBef>
                <a:spcPts val="800"/>
              </a:spcBef>
              <a:spcAft>
                <a:spcPts val="800"/>
              </a:spcAft>
              <a:defRPr sz="2000">
                <a:solidFill>
                  <a:srgbClr val="F59E0B"/>
                </a:solidFill>
              </a:defRPr>
            </a:pPr>
            <a:r>
              <a:t>✓ 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