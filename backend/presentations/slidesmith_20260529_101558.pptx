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Master's Program at Northwestern University</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the Master's Program</a:t>
            </a:r>
          </a:p>
        </p:txBody>
      </p:sp>
      <p:sp>
        <p:nvSpPr>
          <p:cNvPr id="4" name="TextBox 3"/>
          <p:cNvSpPr txBox="1"/>
          <p:nvPr/>
        </p:nvSpPr>
        <p:spPr>
          <a:xfrm>
            <a:off x="731520" y="1417320"/>
            <a:ext cx="7680960" cy="1234439"/>
          </a:xfrm>
          <a:prstGeom prst="rect">
            <a:avLst/>
          </a:prstGeom>
          <a:noFill/>
        </p:spPr>
        <p:txBody>
          <a:bodyPr wrap="square">
            <a:spAutoFit/>
          </a:bodyPr>
          <a:lstStyle/>
          <a:p>
            <a:pPr>
              <a:lnSpc>
                <a:spcPct val="130000"/>
              </a:lnSpc>
              <a:defRPr sz="1600">
                <a:solidFill>
                  <a:srgbClr val="0F172A"/>
                </a:solidFill>
              </a:defRPr>
            </a:pPr>
            <a:r>
              <a:t>The Master of Arts (MA) program at Northwestern University is a highly respected and rigorous academic program designed for students who have completed their undergraduate degree. The program provides advanced training in a specific field or discipline, equipping students with the skills and knowledge needed to succeed in their chosen profession.</a:t>
            </a:r>
          </a:p>
        </p:txBody>
      </p:sp>
      <p:sp>
        <p:nvSpPr>
          <p:cNvPr id="5" name="Oval 4"/>
          <p:cNvSpPr/>
          <p:nvPr/>
        </p:nvSpPr>
        <p:spPr>
          <a:xfrm>
            <a:off x="502920" y="297180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26080"/>
            <a:ext cx="7589520" cy="685800"/>
          </a:xfrm>
          <a:prstGeom prst="rect">
            <a:avLst/>
          </a:prstGeom>
          <a:noFill/>
        </p:spPr>
        <p:txBody>
          <a:bodyPr wrap="square">
            <a:spAutoFit/>
          </a:bodyPr>
          <a:lstStyle/>
          <a:p>
            <a:pPr>
              <a:lnSpc>
                <a:spcPct val="130000"/>
              </a:lnSpc>
              <a:defRPr sz="1600">
                <a:solidFill>
                  <a:srgbClr val="0F172A"/>
                </a:solidFill>
              </a:defRPr>
            </a:pPr>
            <a:r>
              <a:t>Established reputation</a:t>
            </a:r>
          </a:p>
        </p:txBody>
      </p:sp>
      <p:sp>
        <p:nvSpPr>
          <p:cNvPr id="7" name="Oval 6"/>
          <p:cNvSpPr/>
          <p:nvPr/>
        </p:nvSpPr>
        <p:spPr>
          <a:xfrm>
            <a:off x="502920" y="3721608"/>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675888"/>
            <a:ext cx="7589520" cy="685800"/>
          </a:xfrm>
          <a:prstGeom prst="rect">
            <a:avLst/>
          </a:prstGeom>
          <a:noFill/>
        </p:spPr>
        <p:txBody>
          <a:bodyPr wrap="square">
            <a:spAutoFit/>
          </a:bodyPr>
          <a:lstStyle/>
          <a:p>
            <a:pPr>
              <a:lnSpc>
                <a:spcPct val="130000"/>
              </a:lnSpc>
              <a:defRPr sz="1600">
                <a:solidFill>
                  <a:srgbClr val="0F172A"/>
                </a:solidFill>
              </a:defRPr>
            </a:pPr>
            <a:r>
              <a:t>Research-focused curriculum</a:t>
            </a:r>
          </a:p>
        </p:txBody>
      </p:sp>
      <p:sp>
        <p:nvSpPr>
          <p:cNvPr id="9" name="Oval 8"/>
          <p:cNvSpPr/>
          <p:nvPr/>
        </p:nvSpPr>
        <p:spPr>
          <a:xfrm>
            <a:off x="502920" y="447141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425696"/>
            <a:ext cx="7589520" cy="685800"/>
          </a:xfrm>
          <a:prstGeom prst="rect">
            <a:avLst/>
          </a:prstGeom>
          <a:noFill/>
        </p:spPr>
        <p:txBody>
          <a:bodyPr wrap="square">
            <a:spAutoFit/>
          </a:bodyPr>
          <a:lstStyle/>
          <a:p>
            <a:pPr>
              <a:lnSpc>
                <a:spcPct val="130000"/>
              </a:lnSpc>
              <a:defRPr sz="1600">
                <a:solidFill>
                  <a:srgbClr val="0F172A"/>
                </a:solidFill>
              </a:defRPr>
            </a:pPr>
            <a:r>
              <a:t>Interdisciplinary approaches</a:t>
            </a:r>
          </a:p>
        </p:txBody>
      </p:sp>
      <p:sp>
        <p:nvSpPr>
          <p:cNvPr id="11" name="Oval 10"/>
          <p:cNvSpPr/>
          <p:nvPr/>
        </p:nvSpPr>
        <p:spPr>
          <a:xfrm>
            <a:off x="502920" y="522122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175504"/>
            <a:ext cx="7589520" cy="685800"/>
          </a:xfrm>
          <a:prstGeom prst="rect">
            <a:avLst/>
          </a:prstGeom>
          <a:noFill/>
        </p:spPr>
        <p:txBody>
          <a:bodyPr wrap="square">
            <a:spAutoFit/>
          </a:bodyPr>
          <a:lstStyle/>
          <a:p>
            <a:pPr>
              <a:lnSpc>
                <a:spcPct val="130000"/>
              </a:lnSpc>
              <a:defRPr sz="1600">
                <a:solidFill>
                  <a:srgbClr val="0F172A"/>
                </a:solidFill>
              </a:defRPr>
            </a:pPr>
            <a:r>
              <a:t>Small class sizes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Master's Program at Northwestern University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Program Structure and Duration</a:t>
            </a:r>
          </a:p>
        </p:txBody>
      </p:sp>
      <p:sp>
        <p:nvSpPr>
          <p:cNvPr id="4" name="Rectangle 3"/>
          <p:cNvSpPr/>
          <p:nvPr/>
        </p:nvSpPr>
        <p:spPr>
          <a:xfrm>
            <a:off x="3291840" y="1234440"/>
            <a:ext cx="256032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91840" y="1234440"/>
            <a:ext cx="25603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1344168"/>
            <a:ext cx="2377439" cy="822960"/>
          </a:xfrm>
          <a:prstGeom prst="rect">
            <a:avLst/>
          </a:prstGeom>
          <a:noFill/>
        </p:spPr>
        <p:txBody>
          <a:bodyPr wrap="none">
            <a:spAutoFit/>
          </a:bodyPr>
          <a:lstStyle/>
          <a:p>
            <a:pPr algn="ctr">
              <a:defRPr sz="3600" b="1">
                <a:solidFill>
                  <a:srgbClr val="1E40AF"/>
                </a:solidFill>
              </a:defRPr>
            </a:pPr>
            <a:r>
              <a:t>30</a:t>
            </a:r>
          </a:p>
        </p:txBody>
      </p:sp>
      <p:sp>
        <p:nvSpPr>
          <p:cNvPr id="7" name="TextBox 6"/>
          <p:cNvSpPr txBox="1"/>
          <p:nvPr/>
        </p:nvSpPr>
        <p:spPr>
          <a:xfrm>
            <a:off x="3383280" y="2194560"/>
            <a:ext cx="2377439" cy="685800"/>
          </a:xfrm>
          <a:prstGeom prst="rect">
            <a:avLst/>
          </a:prstGeom>
          <a:noFill/>
        </p:spPr>
        <p:txBody>
          <a:bodyPr wrap="square">
            <a:spAutoFit/>
          </a:bodyPr>
          <a:lstStyle/>
          <a:p>
            <a:pPr algn="ctr">
              <a:lnSpc>
                <a:spcPct val="120000"/>
              </a:lnSpc>
              <a:defRPr sz="1200">
                <a:solidFill>
                  <a:srgbClr val="64748B"/>
                </a:solidFill>
              </a:defRPr>
            </a:pPr>
            <a:r>
              <a:t>credit-hour program</a:t>
            </a:r>
          </a:p>
        </p:txBody>
      </p:sp>
      <p:sp>
        <p:nvSpPr>
          <p:cNvPr id="8" name="TextBox 7"/>
          <p:cNvSpPr txBox="1"/>
          <p:nvPr/>
        </p:nvSpPr>
        <p:spPr>
          <a:xfrm>
            <a:off x="731520" y="3154680"/>
            <a:ext cx="7680960" cy="1188720"/>
          </a:xfrm>
          <a:prstGeom prst="rect">
            <a:avLst/>
          </a:prstGeom>
          <a:noFill/>
        </p:spPr>
        <p:txBody>
          <a:bodyPr wrap="square">
            <a:spAutoFit/>
          </a:bodyPr>
          <a:lstStyle/>
          <a:p>
            <a:pPr>
              <a:lnSpc>
                <a:spcPct val="130000"/>
              </a:lnSpc>
              <a:defRPr sz="1400">
                <a:solidFill>
                  <a:srgbClr val="64748B"/>
                </a:solidFill>
              </a:defRPr>
            </a:pPr>
            <a:r>
              <a:t>The MA program at Northwestern University is typically a two-year, 30-credit-hour program that can be completed on a full-time or part-time basis. The curriculum is designed to provide students with a comprehensive understanding of their chosen field, including advanced coursework, research methods, and project-based learning experiences.</a:t>
            </a:r>
          </a:p>
        </p:txBody>
      </p:sp>
      <p:sp>
        <p:nvSpPr>
          <p:cNvPr id="9" name="Oval 8"/>
          <p:cNvSpPr/>
          <p:nvPr/>
        </p:nvSpPr>
        <p:spPr>
          <a:xfrm>
            <a:off x="502920" y="461772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572000"/>
            <a:ext cx="7589520" cy="685800"/>
          </a:xfrm>
          <a:prstGeom prst="rect">
            <a:avLst/>
          </a:prstGeom>
          <a:noFill/>
        </p:spPr>
        <p:txBody>
          <a:bodyPr wrap="square">
            <a:spAutoFit/>
          </a:bodyPr>
          <a:lstStyle/>
          <a:p>
            <a:pPr>
              <a:lnSpc>
                <a:spcPct val="130000"/>
              </a:lnSpc>
              <a:defRPr sz="1600">
                <a:solidFill>
                  <a:srgbClr val="0F172A"/>
                </a:solidFill>
              </a:defRPr>
            </a:pPr>
            <a:r>
              <a:t>Two-year duration</a:t>
            </a:r>
          </a:p>
        </p:txBody>
      </p:sp>
      <p:sp>
        <p:nvSpPr>
          <p:cNvPr id="11" name="Oval 10"/>
          <p:cNvSpPr/>
          <p:nvPr/>
        </p:nvSpPr>
        <p:spPr>
          <a:xfrm>
            <a:off x="502920" y="534924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303520"/>
            <a:ext cx="7589520" cy="685800"/>
          </a:xfrm>
          <a:prstGeom prst="rect">
            <a:avLst/>
          </a:prstGeom>
          <a:noFill/>
        </p:spPr>
        <p:txBody>
          <a:bodyPr wrap="square">
            <a:spAutoFit/>
          </a:bodyPr>
          <a:lstStyle/>
          <a:p>
            <a:pPr>
              <a:lnSpc>
                <a:spcPct val="130000"/>
              </a:lnSpc>
              <a:defRPr sz="1600">
                <a:solidFill>
                  <a:srgbClr val="0F172A"/>
                </a:solidFill>
              </a:defRPr>
            </a:pPr>
            <a:r>
              <a:t>Full-time or part-time study</a:t>
            </a:r>
          </a:p>
        </p:txBody>
      </p:sp>
      <p:sp>
        <p:nvSpPr>
          <p:cNvPr id="13" name="Oval 12"/>
          <p:cNvSpPr/>
          <p:nvPr/>
        </p:nvSpPr>
        <p:spPr>
          <a:xfrm>
            <a:off x="502920" y="608075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6035040"/>
            <a:ext cx="7589520" cy="685800"/>
          </a:xfrm>
          <a:prstGeom prst="rect">
            <a:avLst/>
          </a:prstGeom>
          <a:noFill/>
        </p:spPr>
        <p:txBody>
          <a:bodyPr wrap="square">
            <a:spAutoFit/>
          </a:bodyPr>
          <a:lstStyle/>
          <a:p>
            <a:pPr>
              <a:lnSpc>
                <a:spcPct val="130000"/>
              </a:lnSpc>
              <a:defRPr sz="1600">
                <a:solidFill>
                  <a:srgbClr val="0F172A"/>
                </a:solidFill>
              </a:defRPr>
            </a:pPr>
            <a:r>
              <a:t>Flexible scheduling</a:t>
            </a:r>
          </a:p>
        </p:txBody>
      </p:sp>
      <p:sp>
        <p:nvSpPr>
          <p:cNvPr id="15" name="Rectangle 14"/>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Master's Program at Northwestern University</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Admission Requirements and Deadlines</a:t>
            </a:r>
          </a:p>
        </p:txBody>
      </p:sp>
      <p:sp>
        <p:nvSpPr>
          <p:cNvPr id="4" name="TextBox 3"/>
          <p:cNvSpPr txBox="1"/>
          <p:nvPr/>
        </p:nvSpPr>
        <p:spPr>
          <a:xfrm>
            <a:off x="457200" y="1417320"/>
            <a:ext cx="4114800" cy="1307592"/>
          </a:xfrm>
          <a:prstGeom prst="rect">
            <a:avLst/>
          </a:prstGeom>
          <a:noFill/>
        </p:spPr>
        <p:txBody>
          <a:bodyPr wrap="square">
            <a:spAutoFit/>
          </a:bodyPr>
          <a:lstStyle/>
          <a:p>
            <a:pPr>
              <a:lnSpc>
                <a:spcPct val="130000"/>
              </a:lnSpc>
              <a:defRPr sz="1400">
                <a:solidFill>
                  <a:srgbClr val="0F172A"/>
                </a:solidFill>
              </a:defRPr>
            </a:pPr>
            <a:r>
              <a:t>To be considered for admission to the MA program at Northwestern University, applicants must hold a bachelor's degree from an accredited institution. A minimum GPA of 3.</a:t>
            </a:r>
          </a:p>
        </p:txBody>
      </p:sp>
      <p:sp>
        <p:nvSpPr>
          <p:cNvPr id="5" name="Oval 4"/>
          <p:cNvSpPr/>
          <p:nvPr/>
        </p:nvSpPr>
        <p:spPr>
          <a:xfrm>
            <a:off x="457200" y="3099816"/>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044952"/>
            <a:ext cx="3858768" cy="658368"/>
          </a:xfrm>
          <a:prstGeom prst="rect">
            <a:avLst/>
          </a:prstGeom>
          <a:noFill/>
        </p:spPr>
        <p:txBody>
          <a:bodyPr wrap="square">
            <a:spAutoFit/>
          </a:bodyPr>
          <a:lstStyle/>
          <a:p>
            <a:pPr>
              <a:lnSpc>
                <a:spcPct val="130000"/>
              </a:lnSpc>
              <a:defRPr sz="1500">
                <a:solidFill>
                  <a:srgbClr val="0F172A"/>
                </a:solidFill>
              </a:defRPr>
            </a:pPr>
            <a:r>
              <a:t>Bachelor's degree required</a:t>
            </a:r>
          </a:p>
        </p:txBody>
      </p:sp>
      <p:sp>
        <p:nvSpPr>
          <p:cNvPr id="7" name="Oval 6"/>
          <p:cNvSpPr/>
          <p:nvPr/>
        </p:nvSpPr>
        <p:spPr>
          <a:xfrm>
            <a:off x="457200" y="383133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3776472"/>
            <a:ext cx="3858768" cy="658368"/>
          </a:xfrm>
          <a:prstGeom prst="rect">
            <a:avLst/>
          </a:prstGeom>
          <a:noFill/>
        </p:spPr>
        <p:txBody>
          <a:bodyPr wrap="square">
            <a:spAutoFit/>
          </a:bodyPr>
          <a:lstStyle/>
          <a:p>
            <a:pPr>
              <a:lnSpc>
                <a:spcPct val="130000"/>
              </a:lnSpc>
              <a:defRPr sz="1500">
                <a:solidFill>
                  <a:srgbClr val="0F172A"/>
                </a:solidFill>
              </a:defRPr>
            </a:pPr>
            <a:r>
              <a:t>Minimum GPA of 3.0</a:t>
            </a:r>
          </a:p>
        </p:txBody>
      </p:sp>
      <p:sp>
        <p:nvSpPr>
          <p:cNvPr id="9" name="Oval 8"/>
          <p:cNvSpPr/>
          <p:nvPr/>
        </p:nvSpPr>
        <p:spPr>
          <a:xfrm>
            <a:off x="457200" y="456285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507992"/>
            <a:ext cx="3858768" cy="658368"/>
          </a:xfrm>
          <a:prstGeom prst="rect">
            <a:avLst/>
          </a:prstGeom>
          <a:noFill/>
        </p:spPr>
        <p:txBody>
          <a:bodyPr wrap="square">
            <a:spAutoFit/>
          </a:bodyPr>
          <a:lstStyle/>
          <a:p>
            <a:pPr>
              <a:lnSpc>
                <a:spcPct val="130000"/>
              </a:lnSpc>
              <a:defRPr sz="1500">
                <a:solidFill>
                  <a:srgbClr val="0F172A"/>
                </a:solidFill>
              </a:defRPr>
            </a:pPr>
            <a:r>
              <a:t>Application deadline varies</a:t>
            </a:r>
          </a:p>
        </p:txBody>
      </p:sp>
      <p:sp>
        <p:nvSpPr>
          <p:cNvPr id="11" name="Oval 10"/>
          <p:cNvSpPr/>
          <p:nvPr/>
        </p:nvSpPr>
        <p:spPr>
          <a:xfrm>
            <a:off x="457200" y="529437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239512"/>
            <a:ext cx="3858768" cy="658368"/>
          </a:xfrm>
          <a:prstGeom prst="rect">
            <a:avLst/>
          </a:prstGeom>
          <a:noFill/>
        </p:spPr>
        <p:txBody>
          <a:bodyPr wrap="square">
            <a:spAutoFit/>
          </a:bodyPr>
          <a:lstStyle/>
          <a:p>
            <a:pPr>
              <a:lnSpc>
                <a:spcPct val="130000"/>
              </a:lnSpc>
              <a:defRPr sz="1500">
                <a:solidFill>
                  <a:srgbClr val="0F172A"/>
                </a:solidFill>
              </a:defRPr>
            </a:pPr>
            <a:r>
              <a:t>Transcripts and letters of recommendation</a:t>
            </a:r>
          </a:p>
        </p:txBody>
      </p:sp>
      <p:pic>
        <p:nvPicPr>
          <p:cNvPr id="13" name="Picture 12" descr="unsplash_6YjVT_wqDH4.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Master's Program at Northwestern University</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Tuition and Financial Aid</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The cost of tuition at Northwestern University is competitive with other top-ranked universities in the country. The university offers a range of financial aid options to support students' educational pursuits, including scholarships, grants, loans, and work-study programs.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685800"/>
          </a:xfrm>
          <a:prstGeom prst="rect">
            <a:avLst/>
          </a:prstGeom>
          <a:noFill/>
        </p:spPr>
        <p:txBody>
          <a:bodyPr wrap="square">
            <a:spAutoFit/>
          </a:bodyPr>
          <a:lstStyle/>
          <a:p>
            <a:pPr>
              <a:lnSpc>
                <a:spcPct val="130000"/>
              </a:lnSpc>
              <a:defRPr sz="1600">
                <a:solidFill>
                  <a:srgbClr val="0F172A"/>
                </a:solidFill>
              </a:defRPr>
            </a:pPr>
            <a:r>
              <a:t>Competitive tuition rates</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685800"/>
          </a:xfrm>
          <a:prstGeom prst="rect">
            <a:avLst/>
          </a:prstGeom>
          <a:noFill/>
        </p:spPr>
        <p:txBody>
          <a:bodyPr wrap="square">
            <a:spAutoFit/>
          </a:bodyPr>
          <a:lstStyle/>
          <a:p>
            <a:pPr>
              <a:lnSpc>
                <a:spcPct val="130000"/>
              </a:lnSpc>
              <a:defRPr sz="1600">
                <a:solidFill>
                  <a:srgbClr val="0F172A"/>
                </a:solidFill>
              </a:defRPr>
            </a:pPr>
            <a:r>
              <a:t>Range of financial aid options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685800"/>
          </a:xfrm>
          <a:prstGeom prst="rect">
            <a:avLst/>
          </a:prstGeom>
          <a:noFill/>
        </p:spPr>
        <p:txBody>
          <a:bodyPr wrap="square">
            <a:spAutoFit/>
          </a:bodyPr>
          <a:lstStyle/>
          <a:p>
            <a:pPr>
              <a:lnSpc>
                <a:spcPct val="130000"/>
              </a:lnSpc>
              <a:defRPr sz="1600">
                <a:solidFill>
                  <a:srgbClr val="0F172A"/>
                </a:solidFill>
              </a:defRPr>
            </a:pPr>
            <a:r>
              <a:t>Scholarships and grants available</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685800"/>
          </a:xfrm>
          <a:prstGeom prst="rect">
            <a:avLst/>
          </a:prstGeom>
          <a:noFill/>
        </p:spPr>
        <p:txBody>
          <a:bodyPr wrap="square">
            <a:spAutoFit/>
          </a:bodyPr>
          <a:lstStyle/>
          <a:p>
            <a:pPr>
              <a:lnSpc>
                <a:spcPct val="130000"/>
              </a:lnSpc>
              <a:defRPr sz="1600">
                <a:solidFill>
                  <a:srgbClr val="0F172A"/>
                </a:solidFill>
              </a:defRPr>
            </a:pPr>
            <a:r>
              <a:t>Federal work-study program</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Master's Program at Northwestern University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Career Opportunities and Outcomes</a:t>
            </a:r>
          </a:p>
        </p:txBody>
      </p:sp>
      <p:sp>
        <p:nvSpPr>
          <p:cNvPr id="4" name="TextBox 3"/>
          <p:cNvSpPr txBox="1"/>
          <p:nvPr/>
        </p:nvSpPr>
        <p:spPr>
          <a:xfrm>
            <a:off x="731520" y="1417320"/>
            <a:ext cx="7680960" cy="1234439"/>
          </a:xfrm>
          <a:prstGeom prst="rect">
            <a:avLst/>
          </a:prstGeom>
          <a:noFill/>
        </p:spPr>
        <p:txBody>
          <a:bodyPr wrap="square">
            <a:spAutoFit/>
          </a:bodyPr>
          <a:lstStyle/>
          <a:p>
            <a:pPr>
              <a:lnSpc>
                <a:spcPct val="130000"/>
              </a:lnSpc>
              <a:defRPr sz="1600">
                <a:solidFill>
                  <a:srgbClr val="0F172A"/>
                </a:solidFill>
              </a:defRPr>
            </a:pPr>
            <a:r>
              <a:t>Graduates of the MA program at Northwestern University go on to pursue successful careers in a wide range of fields, from academia and research to industry and government. The program's strong focus on skills development, critical thinking, and effective communication prepares students for leadership roles and further education.</a:t>
            </a:r>
          </a:p>
        </p:txBody>
      </p:sp>
      <p:sp>
        <p:nvSpPr>
          <p:cNvPr id="5" name="Oval 4"/>
          <p:cNvSpPr/>
          <p:nvPr/>
        </p:nvSpPr>
        <p:spPr>
          <a:xfrm>
            <a:off x="502920" y="297180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26080"/>
            <a:ext cx="7589520" cy="685800"/>
          </a:xfrm>
          <a:prstGeom prst="rect">
            <a:avLst/>
          </a:prstGeom>
          <a:noFill/>
        </p:spPr>
        <p:txBody>
          <a:bodyPr wrap="square">
            <a:spAutoFit/>
          </a:bodyPr>
          <a:lstStyle/>
          <a:p>
            <a:pPr>
              <a:lnSpc>
                <a:spcPct val="130000"/>
              </a:lnSpc>
              <a:defRPr sz="1600">
                <a:solidFill>
                  <a:srgbClr val="0F172A"/>
                </a:solidFill>
              </a:defRPr>
            </a:pPr>
            <a:r>
              <a:t>Varied career paths</a:t>
            </a:r>
          </a:p>
        </p:txBody>
      </p:sp>
      <p:sp>
        <p:nvSpPr>
          <p:cNvPr id="7" name="Oval 6"/>
          <p:cNvSpPr/>
          <p:nvPr/>
        </p:nvSpPr>
        <p:spPr>
          <a:xfrm>
            <a:off x="502920" y="3721608"/>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675888"/>
            <a:ext cx="7589520" cy="685800"/>
          </a:xfrm>
          <a:prstGeom prst="rect">
            <a:avLst/>
          </a:prstGeom>
          <a:noFill/>
        </p:spPr>
        <p:txBody>
          <a:bodyPr wrap="square">
            <a:spAutoFit/>
          </a:bodyPr>
          <a:lstStyle/>
          <a:p>
            <a:pPr>
              <a:lnSpc>
                <a:spcPct val="130000"/>
              </a:lnSpc>
              <a:defRPr sz="1600">
                <a:solidFill>
                  <a:srgbClr val="0F172A"/>
                </a:solidFill>
              </a:defRPr>
            </a:pPr>
            <a:r>
              <a:t>Leadership roles available</a:t>
            </a:r>
          </a:p>
        </p:txBody>
      </p:sp>
      <p:sp>
        <p:nvSpPr>
          <p:cNvPr id="9" name="Oval 8"/>
          <p:cNvSpPr/>
          <p:nvPr/>
        </p:nvSpPr>
        <p:spPr>
          <a:xfrm>
            <a:off x="502920" y="447141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425696"/>
            <a:ext cx="7589520" cy="685800"/>
          </a:xfrm>
          <a:prstGeom prst="rect">
            <a:avLst/>
          </a:prstGeom>
          <a:noFill/>
        </p:spPr>
        <p:txBody>
          <a:bodyPr wrap="square">
            <a:spAutoFit/>
          </a:bodyPr>
          <a:lstStyle/>
          <a:p>
            <a:pPr>
              <a:lnSpc>
                <a:spcPct val="130000"/>
              </a:lnSpc>
              <a:defRPr sz="1600">
                <a:solidFill>
                  <a:srgbClr val="0F172A"/>
                </a:solidFill>
              </a:defRPr>
            </a:pPr>
            <a:r>
              <a:t>Further education options</a:t>
            </a:r>
          </a:p>
        </p:txBody>
      </p:sp>
      <p:sp>
        <p:nvSpPr>
          <p:cNvPr id="11" name="Oval 10"/>
          <p:cNvSpPr/>
          <p:nvPr/>
        </p:nvSpPr>
        <p:spPr>
          <a:xfrm>
            <a:off x="502920" y="522122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175504"/>
            <a:ext cx="7589520" cy="685800"/>
          </a:xfrm>
          <a:prstGeom prst="rect">
            <a:avLst/>
          </a:prstGeom>
          <a:noFill/>
        </p:spPr>
        <p:txBody>
          <a:bodyPr wrap="square">
            <a:spAutoFit/>
          </a:bodyPr>
          <a:lstStyle/>
          <a:p>
            <a:pPr>
              <a:lnSpc>
                <a:spcPct val="130000"/>
              </a:lnSpc>
              <a:defRPr sz="1600">
                <a:solidFill>
                  <a:srgbClr val="0F172A"/>
                </a:solidFill>
              </a:defRPr>
            </a:pPr>
            <a:r>
              <a:t>Networking opportunities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Master's Program at Northwestern University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Student Life and Resources</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The university offers a range of student services and resources to support students' academic and personal success. These include counseling services, career guidance, and academic advising, as well as recreational facilities, cultural events, and social activities.</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Student services and resources</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Counseling and career guidance</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Recreational facilities</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Cultural events</a:t>
            </a:r>
          </a:p>
        </p:txBody>
      </p:sp>
      <p:pic>
        <p:nvPicPr>
          <p:cNvPr id="13" name="Picture 12" descr="unsplash__y4FqRhxkR8.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Master's Program at Northwestern University</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Alumni Network and Community</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The university's strong alumni network provides graduates with a lifelong connection to the institution and its community. This network offers opportunities for professional development, mentorship, and networking, as well as access to exclusive events and resources.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685800"/>
          </a:xfrm>
          <a:prstGeom prst="rect">
            <a:avLst/>
          </a:prstGeom>
          <a:noFill/>
        </p:spPr>
        <p:txBody>
          <a:bodyPr wrap="square">
            <a:spAutoFit/>
          </a:bodyPr>
          <a:lstStyle/>
          <a:p>
            <a:pPr>
              <a:lnSpc>
                <a:spcPct val="130000"/>
              </a:lnSpc>
              <a:defRPr sz="1600">
                <a:solidFill>
                  <a:srgbClr val="0F172A"/>
                </a:solidFill>
              </a:defRPr>
            </a:pPr>
            <a:r>
              <a:t>Strong alumni network</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685800"/>
          </a:xfrm>
          <a:prstGeom prst="rect">
            <a:avLst/>
          </a:prstGeom>
          <a:noFill/>
        </p:spPr>
        <p:txBody>
          <a:bodyPr wrap="square">
            <a:spAutoFit/>
          </a:bodyPr>
          <a:lstStyle/>
          <a:p>
            <a:pPr>
              <a:lnSpc>
                <a:spcPct val="130000"/>
              </a:lnSpc>
              <a:defRPr sz="1600">
                <a:solidFill>
                  <a:srgbClr val="0F172A"/>
                </a:solidFill>
              </a:defRPr>
            </a:pPr>
            <a:r>
              <a:t>Professional development opportunities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685800"/>
          </a:xfrm>
          <a:prstGeom prst="rect">
            <a:avLst/>
          </a:prstGeom>
          <a:noFill/>
        </p:spPr>
        <p:txBody>
          <a:bodyPr wrap="square">
            <a:spAutoFit/>
          </a:bodyPr>
          <a:lstStyle/>
          <a:p>
            <a:pPr>
              <a:lnSpc>
                <a:spcPct val="130000"/>
              </a:lnSpc>
              <a:defRPr sz="1600">
                <a:solidFill>
                  <a:srgbClr val="0F172A"/>
                </a:solidFill>
              </a:defRPr>
            </a:pPr>
            <a:r>
              <a:t>Mentorship and networking</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685800"/>
          </a:xfrm>
          <a:prstGeom prst="rect">
            <a:avLst/>
          </a:prstGeom>
          <a:noFill/>
        </p:spPr>
        <p:txBody>
          <a:bodyPr wrap="square">
            <a:spAutoFit/>
          </a:bodyPr>
          <a:lstStyle/>
          <a:p>
            <a:pPr>
              <a:lnSpc>
                <a:spcPct val="130000"/>
              </a:lnSpc>
              <a:defRPr sz="1600">
                <a:solidFill>
                  <a:srgbClr val="0F172A"/>
                </a:solidFill>
              </a:defRPr>
            </a:pPr>
            <a:r>
              <a:t>Exclusive events and resources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Master's Program at Northwestern University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 and Next Steps</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Exceptional opportunity</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Comprehensive curriculum</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Supportive community</a:t>
            </a:r>
          </a:p>
          <a:p>
            <a:pPr>
              <a:lnSpc>
                <a:spcPct val="120000"/>
              </a:lnSpc>
              <a:spcBef>
                <a:spcPts val="600"/>
              </a:spcBef>
              <a:spcAft>
                <a:spcPts val="600"/>
              </a:spcAft>
              <a:defRPr sz="1200">
                <a:solidFill>
                  <a:srgbClr val="0F172A"/>
                </a:solidFill>
              </a:defRPr>
            </a:pPr>
            <a:r>
              <a:t>• Unique and enriching experience</a:t>
            </a:r>
          </a:p>
          <a:p>
            <a:pPr>
              <a:lnSpc>
                <a:spcPct val="120000"/>
              </a:lnSpc>
              <a:spcBef>
                <a:spcPts val="600"/>
              </a:spcBef>
              <a:spcAft>
                <a:spcPts val="600"/>
              </a:spcAft>
              <a:defRPr sz="1200">
                <a:solidFill>
                  <a:srgbClr val="0F172A"/>
                </a:solidFill>
              </a:defRPr>
            </a:pPr>
            <a:r>
              <a:t>• Next steps available</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Introduction to the Master's Program</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Established reputation</a:t>
            </a:r>
          </a:p>
          <a:p>
            <a:pPr>
              <a:lnSpc>
                <a:spcPct val="120000"/>
              </a:lnSpc>
              <a:spcBef>
                <a:spcPts val="300"/>
              </a:spcBef>
              <a:spcAft>
                <a:spcPts val="300"/>
              </a:spcAft>
              <a:defRPr sz="1100">
                <a:solidFill>
                  <a:srgbClr val="64748B"/>
                </a:solidFill>
              </a:defRPr>
            </a:pPr>
            <a:r>
              <a:t>• Research-focused curriculum</a:t>
            </a:r>
          </a:p>
          <a:p>
            <a:pPr>
              <a:lnSpc>
                <a:spcPct val="120000"/>
              </a:lnSpc>
              <a:spcBef>
                <a:spcPts val="300"/>
              </a:spcBef>
              <a:spcAft>
                <a:spcPts val="300"/>
              </a:spcAft>
              <a:defRPr sz="1100">
                <a:solidFill>
                  <a:srgbClr val="64748B"/>
                </a:solidFill>
              </a:defRPr>
            </a:pPr>
            <a:r>
              <a:t>• Interdisciplinary approaches</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Program Structure and Duration</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Two-year duration</a:t>
            </a:r>
          </a:p>
          <a:p>
            <a:pPr>
              <a:lnSpc>
                <a:spcPct val="120000"/>
              </a:lnSpc>
              <a:spcBef>
                <a:spcPts val="300"/>
              </a:spcBef>
              <a:spcAft>
                <a:spcPts val="300"/>
              </a:spcAft>
              <a:defRPr sz="1100">
                <a:solidFill>
                  <a:srgbClr val="64748B"/>
                </a:solidFill>
              </a:defRPr>
            </a:pPr>
            <a:r>
              <a:t>• 30-credit-hour program</a:t>
            </a:r>
          </a:p>
          <a:p>
            <a:pPr>
              <a:lnSpc>
                <a:spcPct val="120000"/>
              </a:lnSpc>
              <a:spcBef>
                <a:spcPts val="300"/>
              </a:spcBef>
              <a:spcAft>
                <a:spcPts val="300"/>
              </a:spcAft>
              <a:defRPr sz="1100">
                <a:solidFill>
                  <a:srgbClr val="64748B"/>
                </a:solidFill>
              </a:defRPr>
            </a:pPr>
            <a:r>
              <a:t>• Full-time or part-time study</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Admission Requirements and Deadlines</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Bachelor's degree required</a:t>
            </a:r>
          </a:p>
          <a:p>
            <a:pPr>
              <a:lnSpc>
                <a:spcPct val="120000"/>
              </a:lnSpc>
              <a:spcBef>
                <a:spcPts val="300"/>
              </a:spcBef>
              <a:spcAft>
                <a:spcPts val="300"/>
              </a:spcAft>
              <a:defRPr sz="1100">
                <a:solidFill>
                  <a:srgbClr val="64748B"/>
                </a:solidFill>
              </a:defRPr>
            </a:pPr>
            <a:r>
              <a:t>• Minimum GPA of 3.0</a:t>
            </a:r>
          </a:p>
          <a:p>
            <a:pPr>
              <a:lnSpc>
                <a:spcPct val="120000"/>
              </a:lnSpc>
              <a:spcBef>
                <a:spcPts val="300"/>
              </a:spcBef>
              <a:spcAft>
                <a:spcPts val="300"/>
              </a:spcAft>
              <a:defRPr sz="1100">
                <a:solidFill>
                  <a:srgbClr val="64748B"/>
                </a:solidFill>
              </a:defRPr>
            </a:pPr>
            <a:r>
              <a:t>• Application deadline varies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E40AF"/>
                </a:solidFill>
              </a:defRPr>
            </a:pPr>
            <a:r>
              <a:t>Introduction to the Master's Program</a:t>
            </a:r>
          </a:p>
        </p:txBody>
      </p:sp>
      <p:sp>
        <p:nvSpPr>
          <p:cNvPr id="8" name="Rectangle 7"/>
          <p:cNvSpPr/>
          <p:nvPr/>
        </p:nvSpPr>
        <p:spPr>
          <a:xfrm>
            <a:off x="960120" y="1984248"/>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E40AF"/>
                </a:solidFill>
              </a:defRPr>
            </a:pPr>
            <a:r>
              <a:t>Program Structure and Duration</a:t>
            </a:r>
          </a:p>
        </p:txBody>
      </p:sp>
      <p:sp>
        <p:nvSpPr>
          <p:cNvPr id="12" name="Rectangle 11"/>
          <p:cNvSpPr/>
          <p:nvPr/>
        </p:nvSpPr>
        <p:spPr>
          <a:xfrm>
            <a:off x="960120" y="2871215"/>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E40AF"/>
                </a:solidFill>
              </a:defRPr>
            </a:pPr>
            <a:r>
              <a:t>Admission Requirements and Deadlines</a:t>
            </a:r>
          </a:p>
        </p:txBody>
      </p:sp>
      <p:sp>
        <p:nvSpPr>
          <p:cNvPr id="16" name="Rectangle 15"/>
          <p:cNvSpPr/>
          <p:nvPr/>
        </p:nvSpPr>
        <p:spPr>
          <a:xfrm>
            <a:off x="960120" y="3758184"/>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E40AF"/>
                </a:solidFill>
              </a:defRPr>
            </a:pPr>
            <a:r>
              <a:t>Tuition and Financial Aid</a:t>
            </a:r>
          </a:p>
        </p:txBody>
      </p:sp>
      <p:sp>
        <p:nvSpPr>
          <p:cNvPr id="20" name="Rectangle 19"/>
          <p:cNvSpPr/>
          <p:nvPr/>
        </p:nvSpPr>
        <p:spPr>
          <a:xfrm>
            <a:off x="960120" y="4645151"/>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E40AF"/>
                </a:solidFill>
              </a:defRPr>
            </a:pPr>
            <a:r>
              <a:t>Career Opportunities and Outcomes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