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Sheet1!$A$2:$A$6</c:f>
              <c:strCache>
                <c:ptCount val="5"/>
                <c:pt idx="0">
                  <c:v>Memory</c:v>
                </c:pt>
                <c:pt idx="1">
                  <c:v>System performance</c:v>
                </c:pt>
                <c:pt idx="2">
                  <c:v>Developers'</c:v>
                </c:pt>
                <c:pt idx="3">
                  <c:v>Applications'</c:v>
                </c:pt>
                <c:pt idx="4">
                  <c:v>Efficiency boost</c:v>
                </c:pt>
              </c:strCache>
            </c:strRef>
          </c:cat>
          <c:val>
            <c:numRef>
              <c:f>Sheet1!$B$2:$B$6</c:f>
              <c:numCache>
                <c:formatCode>General</c:formatCode>
                <c:ptCount val="5"/>
                <c:pt idx="0">
                  <c:v>24</c:v>
                </c:pt>
                <c:pt idx="1">
                  <c:v>40</c:v>
                </c:pt>
                <c:pt idx="2">
                  <c:v>51</c:v>
                </c:pt>
                <c:pt idx="3">
                  <c:v>72</c:v>
                </c:pt>
                <c:pt idx="4">
                  <c:v>85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Cache Memory Mapping Technique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Cache Memory Mapping Technique is a method used to optimize memory usage in computer systems. It involves mapping cache memory locations to main memory locations to improve data access efficiency. This technique is particularly useful in systems where cache memory is limited or shared among multiple processes. The goal of the Cache Memory Mapping Technique is to minimize cache misses and reduce memory access latency.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Improves data access efficiency</a:t>
            </a:r>
          </a:p>
          <a:p>
            <a:pPr>
              <a:lnSpc>
                <a:spcPct val="120000"/>
              </a:lnSpc>
              <a:spcBef>
                <a:spcPts val="300"/>
              </a:spcBef>
              <a:spcAft>
                <a:spcPts val="300"/>
              </a:spcAft>
              <a:defRPr sz="1600">
                <a:solidFill>
                  <a:srgbClr val="0F172A"/>
                </a:solidFill>
              </a:defRPr>
            </a:pPr>
            <a:r>
              <a:t>• Optimizes memory usage</a:t>
            </a:r>
          </a:p>
          <a:p>
            <a:pPr>
              <a:lnSpc>
                <a:spcPct val="120000"/>
              </a:lnSpc>
              <a:spcBef>
                <a:spcPts val="300"/>
              </a:spcBef>
              <a:spcAft>
                <a:spcPts val="300"/>
              </a:spcAft>
              <a:defRPr sz="1600">
                <a:solidFill>
                  <a:srgbClr val="0F172A"/>
                </a:solidFill>
              </a:defRPr>
            </a:pPr>
            <a:r>
              <a:t>• Minimizes cache misses</a:t>
            </a:r>
          </a:p>
          <a:p>
            <a:pPr>
              <a:lnSpc>
                <a:spcPct val="120000"/>
              </a:lnSpc>
              <a:spcBef>
                <a:spcPts val="300"/>
              </a:spcBef>
              <a:spcAft>
                <a:spcPts val="300"/>
              </a:spcAft>
              <a:defRPr sz="1600">
                <a:solidFill>
                  <a:srgbClr val="0F172A"/>
                </a:solidFill>
              </a:defRPr>
            </a:pPr>
            <a:r>
              <a:t>• Reduces memory access latency</a:t>
            </a:r>
          </a:p>
          <a:p>
            <a:pPr>
              <a:lnSpc>
                <a:spcPct val="120000"/>
              </a:lnSpc>
              <a:spcBef>
                <a:spcPts val="300"/>
              </a:spcBef>
              <a:spcAft>
                <a:spcPts val="300"/>
              </a:spcAft>
              <a:defRPr sz="1600">
                <a:solidFill>
                  <a:srgbClr val="0F172A"/>
                </a:solidFill>
              </a:defRPr>
            </a:pPr>
            <a:r>
              <a:t>• Enhances system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Cache Hierarchy</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Cache Memory Mapping Technique operates on a hierarchical structure of caches. This hierarchy consists of multiple levels of cache memory with varying sizes and access times. The technique maps main memory locations to the most suitable cache level based on the accessed data's frequency and recency.</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Multi-level cache hierarchy</a:t>
            </a:r>
          </a:p>
          <a:p>
            <a:pPr>
              <a:lnSpc>
                <a:spcPct val="115000"/>
              </a:lnSpc>
              <a:spcBef>
                <a:spcPts val="200"/>
              </a:spcBef>
              <a:spcAft>
                <a:spcPts val="200"/>
              </a:spcAft>
              <a:defRPr sz="1500">
                <a:solidFill>
                  <a:srgbClr val="0F172A"/>
                </a:solidFill>
              </a:defRPr>
            </a:pPr>
            <a:r>
              <a:t>• Variable cache sizes and access times</a:t>
            </a:r>
          </a:p>
          <a:p>
            <a:pPr>
              <a:lnSpc>
                <a:spcPct val="115000"/>
              </a:lnSpc>
              <a:spcBef>
                <a:spcPts val="200"/>
              </a:spcBef>
              <a:spcAft>
                <a:spcPts val="200"/>
              </a:spcAft>
              <a:defRPr sz="1500">
                <a:solidFill>
                  <a:srgbClr val="0F172A"/>
                </a:solidFill>
              </a:defRPr>
            </a:pPr>
            <a:r>
              <a:t>• Data-driven mapping decisions</a:t>
            </a:r>
          </a:p>
          <a:p>
            <a:pPr>
              <a:lnSpc>
                <a:spcPct val="115000"/>
              </a:lnSpc>
              <a:spcBef>
                <a:spcPts val="200"/>
              </a:spcBef>
              <a:spcAft>
                <a:spcPts val="200"/>
              </a:spcAft>
              <a:defRPr sz="1500">
                <a:solidFill>
                  <a:srgbClr val="0F172A"/>
                </a:solidFill>
              </a:defRPr>
            </a:pPr>
            <a:r>
              <a:t>• Improved cache locality</a:t>
            </a:r>
          </a:p>
          <a:p>
            <a:pPr>
              <a:lnSpc>
                <a:spcPct val="115000"/>
              </a:lnSpc>
              <a:spcBef>
                <a:spcPts val="200"/>
              </a:spcBef>
              <a:spcAft>
                <a:spcPts val="200"/>
              </a:spcAft>
              <a:defRPr sz="1500">
                <a:solidFill>
                  <a:srgbClr val="0F172A"/>
                </a:solidFill>
              </a:defRPr>
            </a:pPr>
            <a:r>
              <a:t>• Enhanced system performance</a:t>
            </a:r>
          </a:p>
        </p:txBody>
      </p:sp>
      <p:pic>
        <p:nvPicPr>
          <p:cNvPr id="5" name="Picture 4" descr="unsplash_qmd2JlxWZNk.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Mapping Algorithm</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Cache Memory Mapping Technique employs a specific algorithm to map main memory locations to cache memory. This algorithm takes into account the accessed data's frequency and recency, as well as the available cache space. The goal is to maximize cache hits and minimize cache misses.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Frequency-based mapping</a:t>
            </a:r>
          </a:p>
          <a:p>
            <a:pPr>
              <a:lnSpc>
                <a:spcPct val="120000"/>
              </a:lnSpc>
              <a:spcBef>
                <a:spcPts val="300"/>
              </a:spcBef>
              <a:spcAft>
                <a:spcPts val="300"/>
              </a:spcAft>
              <a:defRPr sz="1600">
                <a:solidFill>
                  <a:srgbClr val="0F172A"/>
                </a:solidFill>
              </a:defRPr>
            </a:pPr>
            <a:r>
              <a:t>• Recency-based mapping</a:t>
            </a:r>
          </a:p>
          <a:p>
            <a:pPr>
              <a:lnSpc>
                <a:spcPct val="120000"/>
              </a:lnSpc>
              <a:spcBef>
                <a:spcPts val="300"/>
              </a:spcBef>
              <a:spcAft>
                <a:spcPts val="300"/>
              </a:spcAft>
              <a:defRPr sz="1600">
                <a:solidFill>
                  <a:srgbClr val="0F172A"/>
                </a:solidFill>
              </a:defRPr>
            </a:pPr>
            <a:r>
              <a:t>• Available cache space consideration</a:t>
            </a:r>
          </a:p>
          <a:p>
            <a:pPr>
              <a:lnSpc>
                <a:spcPct val="120000"/>
              </a:lnSpc>
              <a:spcBef>
                <a:spcPts val="300"/>
              </a:spcBef>
              <a:spcAft>
                <a:spcPts val="300"/>
              </a:spcAft>
              <a:defRPr sz="1600">
                <a:solidFill>
                  <a:srgbClr val="0F172A"/>
                </a:solidFill>
              </a:defRPr>
            </a:pPr>
            <a:r>
              <a:t>• Cache hit maximization</a:t>
            </a:r>
          </a:p>
          <a:p>
            <a:pPr>
              <a:lnSpc>
                <a:spcPct val="120000"/>
              </a:lnSpc>
              <a:spcBef>
                <a:spcPts val="300"/>
              </a:spcBef>
              <a:spcAft>
                <a:spcPts val="300"/>
              </a:spcAft>
              <a:defRPr sz="1600">
                <a:solidFill>
                  <a:srgbClr val="0F172A"/>
                </a:solidFill>
              </a:defRPr>
            </a:pPr>
            <a:r>
              <a:t>• Cache miss minimization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Advantages and Limitations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Cache Memory Mapping Technique offers several advantages, including improved data access efficiency, optimized memory usage, and enhanced system performance. However, it also has limitations, such as increased complexity, higher latency for cache misses, and potential conflicts with other caching mechanisms.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Improved data access efficiency</a:t>
            </a:r>
          </a:p>
          <a:p>
            <a:pPr>
              <a:lnSpc>
                <a:spcPct val="120000"/>
              </a:lnSpc>
              <a:spcBef>
                <a:spcPts val="300"/>
              </a:spcBef>
              <a:spcAft>
                <a:spcPts val="300"/>
              </a:spcAft>
              <a:defRPr sz="1600">
                <a:solidFill>
                  <a:srgbClr val="0F172A"/>
                </a:solidFill>
              </a:defRPr>
            </a:pPr>
            <a:r>
              <a:t>• Optimized memory usage</a:t>
            </a:r>
          </a:p>
          <a:p>
            <a:pPr>
              <a:lnSpc>
                <a:spcPct val="120000"/>
              </a:lnSpc>
              <a:spcBef>
                <a:spcPts val="300"/>
              </a:spcBef>
              <a:spcAft>
                <a:spcPts val="300"/>
              </a:spcAft>
              <a:defRPr sz="1600">
                <a:solidFill>
                  <a:srgbClr val="0F172A"/>
                </a:solidFill>
              </a:defRPr>
            </a:pPr>
            <a:r>
              <a:t>• Enhanced system performance</a:t>
            </a:r>
          </a:p>
          <a:p>
            <a:pPr>
              <a:lnSpc>
                <a:spcPct val="120000"/>
              </a:lnSpc>
              <a:spcBef>
                <a:spcPts val="300"/>
              </a:spcBef>
              <a:spcAft>
                <a:spcPts val="300"/>
              </a:spcAft>
              <a:defRPr sz="1600">
                <a:solidFill>
                  <a:srgbClr val="0F172A"/>
                </a:solidFill>
              </a:defRPr>
            </a:pPr>
            <a:r>
              <a:t>• Increased complexity</a:t>
            </a:r>
          </a:p>
          <a:p>
            <a:pPr>
              <a:lnSpc>
                <a:spcPct val="120000"/>
              </a:lnSpc>
              <a:spcBef>
                <a:spcPts val="300"/>
              </a:spcBef>
              <a:spcAft>
                <a:spcPts val="300"/>
              </a:spcAft>
              <a:defRPr sz="1600">
                <a:solidFill>
                  <a:srgbClr val="0F172A"/>
                </a:solidFill>
              </a:defRPr>
            </a:pPr>
            <a:r>
              <a:t>• Higher cache miss latency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Real-World Applications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Cache Memory Mapping Technique has numerous real-world applications in various fields. For instance, it can be used to optimize database query performance, improve web page loading times, and enhance the overall user experience.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Database query optimization</a:t>
            </a:r>
          </a:p>
          <a:p>
            <a:pPr>
              <a:lnSpc>
                <a:spcPct val="115000"/>
              </a:lnSpc>
              <a:spcBef>
                <a:spcPts val="200"/>
              </a:spcBef>
              <a:spcAft>
                <a:spcPts val="200"/>
              </a:spcAft>
              <a:defRPr sz="1500">
                <a:solidFill>
                  <a:srgbClr val="0F172A"/>
                </a:solidFill>
              </a:defRPr>
            </a:pPr>
            <a:r>
              <a:t>• Web page loading time improvement</a:t>
            </a:r>
          </a:p>
          <a:p>
            <a:pPr>
              <a:lnSpc>
                <a:spcPct val="115000"/>
              </a:lnSpc>
              <a:spcBef>
                <a:spcPts val="200"/>
              </a:spcBef>
              <a:spcAft>
                <a:spcPts val="200"/>
              </a:spcAft>
              <a:defRPr sz="1500">
                <a:solidFill>
                  <a:srgbClr val="0F172A"/>
                </a:solidFill>
              </a:defRPr>
            </a:pPr>
            <a:r>
              <a:t>• User experience enhancement</a:t>
            </a:r>
          </a:p>
          <a:p>
            <a:pPr>
              <a:lnSpc>
                <a:spcPct val="115000"/>
              </a:lnSpc>
              <a:spcBef>
                <a:spcPts val="200"/>
              </a:spcBef>
              <a:spcAft>
                <a:spcPts val="200"/>
              </a:spcAft>
              <a:defRPr sz="1500">
                <a:solidFill>
                  <a:srgbClr val="0F172A"/>
                </a:solidFill>
              </a:defRPr>
            </a:pPr>
            <a:r>
              <a:t>• Cloud computing optimization</a:t>
            </a:r>
          </a:p>
          <a:p>
            <a:pPr>
              <a:lnSpc>
                <a:spcPct val="115000"/>
              </a:lnSpc>
              <a:spcBef>
                <a:spcPts val="200"/>
              </a:spcBef>
              <a:spcAft>
                <a:spcPts val="200"/>
              </a:spcAft>
              <a:defRPr sz="1500">
                <a:solidFill>
                  <a:srgbClr val="0F172A"/>
                </a:solidFill>
              </a:defRPr>
            </a:pPr>
            <a:r>
              <a:t>• Big data analytics acceleration</a:t>
            </a:r>
          </a:p>
        </p:txBody>
      </p:sp>
      <p:pic>
        <p:nvPicPr>
          <p:cNvPr id="5" name="Picture 4" descr="unsplash_eS-3qX1_Lfk.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Advantages and Limitations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a:t>
            </a:r>
          </a:p>
          <a:p>
            <a:pPr>
              <a:spcBef>
                <a:spcPts val="800"/>
              </a:spcBef>
              <a:spcAft>
                <a:spcPts val="800"/>
              </a:spcAft>
              <a:defRPr sz="2000">
                <a:solidFill>
                  <a:srgbClr val="F59E0B"/>
                </a:solidFill>
              </a:defRPr>
            </a:pPr>
            <a:r>
              <a:t>✓ Cache Hierarchy</a:t>
            </a:r>
          </a:p>
          <a:p>
            <a:pPr>
              <a:spcBef>
                <a:spcPts val="800"/>
              </a:spcBef>
              <a:spcAft>
                <a:spcPts val="800"/>
              </a:spcAft>
              <a:defRPr sz="2000">
                <a:solidFill>
                  <a:srgbClr val="F59E0B"/>
                </a:solidFill>
              </a:defRPr>
            </a:pPr>
            <a:r>
              <a:t>✓ Mapping Algorithm</a:t>
            </a:r>
          </a:p>
          <a:p>
            <a:pPr>
              <a:spcBef>
                <a:spcPts val="800"/>
              </a:spcBef>
              <a:spcAft>
                <a:spcPts val="800"/>
              </a:spcAft>
              <a:defRPr sz="2000">
                <a:solidFill>
                  <a:srgbClr val="F59E0B"/>
                </a:solidFill>
              </a:defRPr>
            </a:pPr>
            <a:r>
              <a:t>✓ Advantages and Limitations</a:t>
            </a:r>
          </a:p>
          <a:p>
            <a:pPr>
              <a:spcBef>
                <a:spcPts val="800"/>
              </a:spcBef>
              <a:spcAft>
                <a:spcPts val="800"/>
              </a:spcAft>
              <a:defRPr sz="2000">
                <a:solidFill>
                  <a:srgbClr val="F59E0B"/>
                </a:solidFill>
              </a:defRPr>
            </a:pPr>
            <a:r>
              <a:t>✓ Real-World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