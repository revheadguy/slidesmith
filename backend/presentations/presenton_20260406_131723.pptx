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Adoption Rate (%)</c:v>
                </c:pt>
              </c:strCache>
            </c:strRef>
          </c:tx>
          <c:cat>
            <c:strRef>
              <c:f>Sheet1!$A$2:$A$6</c:f>
              <c:strCache>
                <c:ptCount val="5"/>
                <c:pt idx="0">
                  <c:v>MetaAI</c:v>
                </c:pt>
                <c:pt idx="1">
                  <c:v>OpenAI</c:v>
                </c:pt>
                <c:pt idx="2">
                  <c:v>Google Gemini</c:v>
                </c:pt>
                <c:pt idx="3">
                  <c:v>Claude</c:v>
                </c:pt>
                <c:pt idx="4">
                  <c:v>Llama</c:v>
                </c:pt>
              </c:strCache>
            </c:strRef>
          </c:cat>
          <c:val>
            <c:numRef>
              <c:f>Sheet1!$B$2:$B$6</c:f>
              <c:numCache>
                <c:formatCode>General</c:formatCode>
                <c:ptCount val="5"/>
                <c:pt idx="0">
                  <c:v>32</c:v>
                </c:pt>
                <c:pt idx="1">
                  <c:v>28</c:v>
                </c:pt>
                <c:pt idx="2">
                  <c:v>18</c:v>
                </c:pt>
                <c:pt idx="3">
                  <c:v>15</c:v>
                </c:pt>
                <c:pt idx="4">
                  <c:v>12</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2286000"/>
            <a:ext cx="8229600" cy="1371600"/>
          </a:xfrm>
          <a:prstGeom prst="rect">
            <a:avLst/>
          </a:prstGeom>
          <a:noFill/>
        </p:spPr>
        <p:txBody>
          <a:bodyPr wrap="square">
            <a:spAutoFit/>
          </a:bodyPr>
          <a:lstStyle/>
          <a:p>
            <a:pPr algn="ctr">
              <a:defRPr sz="5400" b="1">
                <a:solidFill>
                  <a:srgbClr val="FFFFFF"/>
                </a:solidFill>
              </a:defRPr>
            </a:pPr>
            <a:r>
              <a:t>Agentic AI Development: Unlocking Human-AI Collaboration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Introduction to Agentic AI</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As Artificial Intelligence (AI) continues to transform industries and revolutionize the way we live, it is essential to focus on developing AI systems that are agentic, i.e., capable of understanding human goals and intentions. In this presentation, we will explore the concept of agentic AI development and its potential applications.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Definition of agentic AI</a:t>
            </a:r>
          </a:p>
          <a:p>
            <a:pPr>
              <a:lnSpc>
                <a:spcPct val="120000"/>
              </a:lnSpc>
              <a:spcBef>
                <a:spcPts val="300"/>
              </a:spcBef>
              <a:spcAft>
                <a:spcPts val="300"/>
              </a:spcAft>
              <a:defRPr sz="1600">
                <a:solidFill>
                  <a:srgbClr val="0F172A"/>
                </a:solidFill>
              </a:defRPr>
            </a:pPr>
            <a:r>
              <a:t>• Importance of understanding human goals and intentions in AI development</a:t>
            </a:r>
          </a:p>
          <a:p>
            <a:pPr>
              <a:lnSpc>
                <a:spcPct val="120000"/>
              </a:lnSpc>
              <a:spcBef>
                <a:spcPts val="300"/>
              </a:spcBef>
              <a:spcAft>
                <a:spcPts val="300"/>
              </a:spcAft>
              <a:defRPr sz="1600">
                <a:solidFill>
                  <a:srgbClr val="0F172A"/>
                </a:solidFill>
              </a:defRPr>
            </a:pPr>
            <a:r>
              <a:t>• Challenges in developing agentic AI systems</a:t>
            </a:r>
          </a:p>
          <a:p>
            <a:pPr>
              <a:lnSpc>
                <a:spcPct val="120000"/>
              </a:lnSpc>
              <a:spcBef>
                <a:spcPts val="300"/>
              </a:spcBef>
              <a:spcAft>
                <a:spcPts val="300"/>
              </a:spcAft>
              <a:defRPr sz="1600">
                <a:solidFill>
                  <a:srgbClr val="0F172A"/>
                </a:solidFill>
              </a:defRPr>
            </a:pPr>
            <a:r>
              <a:t>• Potential benefits of agentic AI for industries and society</a:t>
            </a:r>
          </a:p>
          <a:p>
            <a:pPr>
              <a:lnSpc>
                <a:spcPct val="120000"/>
              </a:lnSpc>
              <a:spcBef>
                <a:spcPts val="300"/>
              </a:spcBef>
              <a:spcAft>
                <a:spcPts val="300"/>
              </a:spcAft>
              <a:defRPr sz="1600">
                <a:solidFill>
                  <a:srgbClr val="0F172A"/>
                </a:solidFill>
              </a:defRPr>
            </a:pPr>
            <a:r>
              <a:t>• Future directions in agentic AI research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What is Agentic AI?</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Agentic AI refers to AI systems that can understand and align with human goals, motivations, and intentions. This requires the development of AI architectures that can reason about human behavior, recognize patterns, and make decisions based on human values and preferences.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Characteristics of agentic AI</a:t>
            </a:r>
          </a:p>
          <a:p>
            <a:pPr>
              <a:lnSpc>
                <a:spcPct val="120000"/>
              </a:lnSpc>
              <a:spcBef>
                <a:spcPts val="300"/>
              </a:spcBef>
              <a:spcAft>
                <a:spcPts val="300"/>
              </a:spcAft>
              <a:defRPr sz="1600">
                <a:solidFill>
                  <a:srgbClr val="0F172A"/>
                </a:solidFill>
              </a:defRPr>
            </a:pPr>
            <a:r>
              <a:t>• Comparison with traditional AI approaches</a:t>
            </a:r>
          </a:p>
          <a:p>
            <a:pPr>
              <a:lnSpc>
                <a:spcPct val="120000"/>
              </a:lnSpc>
              <a:spcBef>
                <a:spcPts val="300"/>
              </a:spcBef>
              <a:spcAft>
                <a:spcPts val="300"/>
              </a:spcAft>
              <a:defRPr sz="1600">
                <a:solidFill>
                  <a:srgbClr val="0F172A"/>
                </a:solidFill>
              </a:defRPr>
            </a:pPr>
            <a:r>
              <a:t>• Implications for AI decision-making</a:t>
            </a:r>
          </a:p>
          <a:p>
            <a:pPr>
              <a:lnSpc>
                <a:spcPct val="120000"/>
              </a:lnSpc>
              <a:spcBef>
                <a:spcPts val="300"/>
              </a:spcBef>
              <a:spcAft>
                <a:spcPts val="300"/>
              </a:spcAft>
              <a:defRPr sz="1600">
                <a:solidFill>
                  <a:srgbClr val="0F172A"/>
                </a:solidFill>
              </a:defRPr>
            </a:pPr>
            <a:r>
              <a:t>• Potential applications in various industries</a:t>
            </a:r>
          </a:p>
          <a:p>
            <a:pPr>
              <a:lnSpc>
                <a:spcPct val="120000"/>
              </a:lnSpc>
              <a:spcBef>
                <a:spcPts val="300"/>
              </a:spcBef>
              <a:spcAft>
                <a:spcPts val="300"/>
              </a:spcAft>
              <a:defRPr sz="1600">
                <a:solidFill>
                  <a:srgbClr val="0F172A"/>
                </a:solidFill>
              </a:defRPr>
            </a:pPr>
            <a:r>
              <a:t>• Challenges in developing agentic AI systems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Understanding Human Goals and Intentions</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Developing agentic AI systems requires a deep understanding of human goals, intentions, and motivations. This involves recognizing patterns in human behavior, identifying key factors that influence decision-making, and developing AI architectures that can align with these goals.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Importance of goal-oriented reasoning</a:t>
            </a:r>
          </a:p>
          <a:p>
            <a:pPr>
              <a:lnSpc>
                <a:spcPct val="120000"/>
              </a:lnSpc>
              <a:spcBef>
                <a:spcPts val="300"/>
              </a:spcBef>
              <a:spcAft>
                <a:spcPts val="300"/>
              </a:spcAft>
              <a:defRPr sz="1600">
                <a:solidFill>
                  <a:srgbClr val="0F172A"/>
                </a:solidFill>
              </a:defRPr>
            </a:pPr>
            <a:r>
              <a:t>• Role of emotions and values in human decision-making</a:t>
            </a:r>
          </a:p>
          <a:p>
            <a:pPr>
              <a:lnSpc>
                <a:spcPct val="120000"/>
              </a:lnSpc>
              <a:spcBef>
                <a:spcPts val="300"/>
              </a:spcBef>
              <a:spcAft>
                <a:spcPts val="300"/>
              </a:spcAft>
              <a:defRPr sz="1600">
                <a:solidFill>
                  <a:srgbClr val="0F172A"/>
                </a:solidFill>
              </a:defRPr>
            </a:pPr>
            <a:r>
              <a:t>• Influence of context on human goals and intentions</a:t>
            </a:r>
          </a:p>
          <a:p>
            <a:pPr>
              <a:lnSpc>
                <a:spcPct val="120000"/>
              </a:lnSpc>
              <a:spcBef>
                <a:spcPts val="300"/>
              </a:spcBef>
              <a:spcAft>
                <a:spcPts val="300"/>
              </a:spcAft>
              <a:defRPr sz="1600">
                <a:solidFill>
                  <a:srgbClr val="0F172A"/>
                </a:solidFill>
              </a:defRPr>
            </a:pPr>
            <a:r>
              <a:t>• Challenges in modeling human decision-making processes</a:t>
            </a:r>
          </a:p>
          <a:p>
            <a:pPr>
              <a:lnSpc>
                <a:spcPct val="120000"/>
              </a:lnSpc>
              <a:spcBef>
                <a:spcPts val="300"/>
              </a:spcBef>
              <a:spcAft>
                <a:spcPts val="300"/>
              </a:spcAft>
              <a:defRPr sz="1600">
                <a:solidFill>
                  <a:srgbClr val="0F172A"/>
                </a:solidFill>
              </a:defRPr>
            </a:pPr>
            <a:r>
              <a:t>• Potential applications in areas such as customer service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Agentic AI Architectures</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Developing agentic AI systems requires the creation of AI architectures that can reason about human goals, recognize patterns, and make decisions based on human values and preferences. This involves integrating multiple AI technologies such as natural language processing, computer vision, and machine learning.</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Overview of existing AI architectures</a:t>
            </a:r>
          </a:p>
          <a:p>
            <a:pPr>
              <a:lnSpc>
                <a:spcPct val="120000"/>
              </a:lnSpc>
              <a:spcBef>
                <a:spcPts val="300"/>
              </a:spcBef>
              <a:spcAft>
                <a:spcPts val="300"/>
              </a:spcAft>
              <a:defRPr sz="1600">
                <a:solidFill>
                  <a:srgbClr val="0F172A"/>
                </a:solidFill>
              </a:defRPr>
            </a:pPr>
            <a:r>
              <a:t>• Role of cognitive architectures in agentic AI development</a:t>
            </a:r>
          </a:p>
          <a:p>
            <a:pPr>
              <a:lnSpc>
                <a:spcPct val="120000"/>
              </a:lnSpc>
              <a:spcBef>
                <a:spcPts val="300"/>
              </a:spcBef>
              <a:spcAft>
                <a:spcPts val="300"/>
              </a:spcAft>
              <a:defRPr sz="1600">
                <a:solidFill>
                  <a:srgbClr val="0F172A"/>
                </a:solidFill>
              </a:defRPr>
            </a:pPr>
            <a:r>
              <a:t>• Importance of integrating multiple AI technologies</a:t>
            </a:r>
          </a:p>
          <a:p>
            <a:pPr>
              <a:lnSpc>
                <a:spcPct val="120000"/>
              </a:lnSpc>
              <a:spcBef>
                <a:spcPts val="300"/>
              </a:spcBef>
              <a:spcAft>
                <a:spcPts val="300"/>
              </a:spcAft>
              <a:defRPr sz="1600">
                <a:solidFill>
                  <a:srgbClr val="0F172A"/>
                </a:solidFill>
              </a:defRPr>
            </a:pPr>
            <a:r>
              <a:t>• Challenges in developing agentic AI systems</a:t>
            </a:r>
          </a:p>
          <a:p>
            <a:pPr>
              <a:lnSpc>
                <a:spcPct val="120000"/>
              </a:lnSpc>
              <a:spcBef>
                <a:spcPts val="300"/>
              </a:spcBef>
              <a:spcAft>
                <a:spcPts val="300"/>
              </a:spcAft>
              <a:defRPr sz="1600">
                <a:solidFill>
                  <a:srgbClr val="0F172A"/>
                </a:solidFill>
              </a:defRPr>
            </a:pPr>
            <a:r>
              <a:t>• Potential applications in areas such as healthcare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Benefits and Applications of Agentic AI</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Agentic AI has the potential to revolutionize industries and society by enabling human-AI collaboration, improving decision-making, and increasing efficiency. Potential applications include areas such as customer service, healthcare, finance, and education.</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Improved decision-making through human-AI collaboration</a:t>
            </a:r>
          </a:p>
          <a:p>
            <a:pPr>
              <a:lnSpc>
                <a:spcPct val="120000"/>
              </a:lnSpc>
              <a:spcBef>
                <a:spcPts val="300"/>
              </a:spcBef>
              <a:spcAft>
                <a:spcPts val="300"/>
              </a:spcAft>
              <a:defRPr sz="1600">
                <a:solidFill>
                  <a:srgbClr val="0F172A"/>
                </a:solidFill>
              </a:defRPr>
            </a:pPr>
            <a:r>
              <a:t>• Increased efficiency in various industries</a:t>
            </a:r>
          </a:p>
          <a:p>
            <a:pPr>
              <a:lnSpc>
                <a:spcPct val="120000"/>
              </a:lnSpc>
              <a:spcBef>
                <a:spcPts val="300"/>
              </a:spcBef>
              <a:spcAft>
                <a:spcPts val="300"/>
              </a:spcAft>
              <a:defRPr sz="1600">
                <a:solidFill>
                  <a:srgbClr val="0F172A"/>
                </a:solidFill>
              </a:defRPr>
            </a:pPr>
            <a:r>
              <a:t>• Potential applications in areas such as customer service and healthcare</a:t>
            </a:r>
          </a:p>
          <a:p>
            <a:pPr>
              <a:lnSpc>
                <a:spcPct val="120000"/>
              </a:lnSpc>
              <a:spcBef>
                <a:spcPts val="300"/>
              </a:spcBef>
              <a:spcAft>
                <a:spcPts val="300"/>
              </a:spcAft>
              <a:defRPr sz="1600">
                <a:solidFill>
                  <a:srgbClr val="0F172A"/>
                </a:solidFill>
              </a:defRPr>
            </a:pPr>
            <a:r>
              <a:t>• Role of agentic AI in addressing societal challenges</a:t>
            </a:r>
          </a:p>
          <a:p>
            <a:pPr>
              <a:lnSpc>
                <a:spcPct val="120000"/>
              </a:lnSpc>
              <a:spcBef>
                <a:spcPts val="300"/>
              </a:spcBef>
              <a:spcAft>
                <a:spcPts val="300"/>
              </a:spcAft>
              <a:defRPr sz="1600">
                <a:solidFill>
                  <a:srgbClr val="0F172A"/>
                </a:solidFill>
              </a:defRPr>
            </a:pPr>
            <a:r>
              <a:t>• Future directions for agentic AI research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Challenges and Limitations of Agentic AI</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While agentic AI holds great promise, it also presents several challenges and limitations. These include issues related to data quality, algorithmic bias, transparency, and explainability, as well as the need for ongoing human oversight and control.</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Challenges in developing high-quality training datasets</a:t>
            </a:r>
          </a:p>
          <a:p>
            <a:pPr>
              <a:lnSpc>
                <a:spcPct val="120000"/>
              </a:lnSpc>
              <a:spcBef>
                <a:spcPts val="300"/>
              </a:spcBef>
              <a:spcAft>
                <a:spcPts val="300"/>
              </a:spcAft>
              <a:defRPr sz="1600">
                <a:solidFill>
                  <a:srgbClr val="0F172A"/>
                </a:solidFill>
              </a:defRPr>
            </a:pPr>
            <a:r>
              <a:t>• Role of algorithmic bias in agentic AI systems</a:t>
            </a:r>
          </a:p>
          <a:p>
            <a:pPr>
              <a:lnSpc>
                <a:spcPct val="120000"/>
              </a:lnSpc>
              <a:spcBef>
                <a:spcPts val="300"/>
              </a:spcBef>
              <a:spcAft>
                <a:spcPts val="300"/>
              </a:spcAft>
              <a:defRPr sz="1600">
                <a:solidFill>
                  <a:srgbClr val="0F172A"/>
                </a:solidFill>
              </a:defRPr>
            </a:pPr>
            <a:r>
              <a:t>• Importance of transparency and explainability</a:t>
            </a:r>
          </a:p>
          <a:p>
            <a:pPr>
              <a:lnSpc>
                <a:spcPct val="120000"/>
              </a:lnSpc>
              <a:spcBef>
                <a:spcPts val="300"/>
              </a:spcBef>
              <a:spcAft>
                <a:spcPts val="300"/>
              </a:spcAft>
              <a:defRPr sz="1600">
                <a:solidFill>
                  <a:srgbClr val="0F172A"/>
                </a:solidFill>
              </a:defRPr>
            </a:pPr>
            <a:r>
              <a:t>• Need for ongoing human oversight and control</a:t>
            </a:r>
          </a:p>
          <a:p>
            <a:pPr>
              <a:lnSpc>
                <a:spcPct val="120000"/>
              </a:lnSpc>
              <a:spcBef>
                <a:spcPts val="300"/>
              </a:spcBef>
              <a:spcAft>
                <a:spcPts val="300"/>
              </a:spcAft>
              <a:defRPr sz="1600">
                <a:solidFill>
                  <a:srgbClr val="0F172A"/>
                </a:solidFill>
              </a:defRPr>
            </a:pPr>
            <a:r>
              <a:t>• Potential risks associated with agentic AI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Conclusion and Future Directions - Adoption Rate (%)</a:t>
            </a:r>
          </a:p>
        </p:txBody>
      </p:sp>
      <p:graphicFrame>
        <p:nvGraphicFramePr>
          <p:cNvPr id="4" name="Chart 3"/>
          <p:cNvGraphicFramePr>
            <a:graphicFrameLocks noGrp="1"/>
          </p:cNvGraphicFramePr>
          <p:nvPr/>
        </p:nvGraphicFramePr>
        <p:xfrm>
          <a:off x="457200" y="1463040"/>
          <a:ext cx="8229600" cy="4572000"/>
        </p:xfrm>
        <a:graphic>
          <a:graphicData uri="http://schemas.openxmlformats.org/drawingml/2006/chart">
            <c:chart xmlns:c="http://schemas.openxmlformats.org/drawingml/2006/chart" r:id="rId2"/>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Presentation Flow</a:t>
            </a:r>
          </a:p>
        </p:txBody>
      </p:sp>
      <p:sp>
        <p:nvSpPr>
          <p:cNvPr id="4" name="Rectangle 3"/>
          <p:cNvSpPr/>
          <p:nvPr/>
        </p:nvSpPr>
        <p:spPr>
          <a:xfrm>
            <a:off x="4572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554480"/>
            <a:ext cx="2225040" cy="457200"/>
          </a:xfrm>
          <a:prstGeom prst="rect">
            <a:avLst/>
          </a:prstGeom>
          <a:noFill/>
        </p:spPr>
        <p:txBody>
          <a:bodyPr wrap="square">
            <a:spAutoFit/>
          </a:bodyPr>
          <a:lstStyle/>
          <a:p>
            <a:pPr algn="ctr">
              <a:defRPr sz="1600" b="1">
                <a:solidFill>
                  <a:srgbClr val="1E40AF"/>
                </a:solidFill>
              </a:defRPr>
            </a:pPr>
            <a:r>
              <a:t>Beginning</a:t>
            </a:r>
          </a:p>
        </p:txBody>
      </p:sp>
      <p:sp>
        <p:nvSpPr>
          <p:cNvPr id="6" name="TextBox 5"/>
          <p:cNvSpPr txBox="1"/>
          <p:nvPr/>
        </p:nvSpPr>
        <p:spPr>
          <a:xfrm>
            <a:off x="594360" y="2194560"/>
            <a:ext cx="2225040" cy="3657600"/>
          </a:xfrm>
          <a:prstGeom prst="rect">
            <a:avLst/>
          </a:prstGeom>
          <a:noFill/>
        </p:spPr>
        <p:txBody>
          <a:bodyPr wrap="square">
            <a:spAutoFit/>
          </a:bodyPr>
          <a:lstStyle/>
          <a:p>
            <a:pPr>
              <a:lnSpc>
                <a:spcPct val="140000"/>
              </a:lnSpc>
              <a:defRPr sz="1300">
                <a:solidFill>
                  <a:srgbClr val="64748B"/>
                </a:solidFill>
              </a:defRPr>
            </a:pPr>
            <a:r>
              <a:t>Introduction to Agentic AI</a:t>
            </a:r>
          </a:p>
        </p:txBody>
      </p:sp>
      <p:sp>
        <p:nvSpPr>
          <p:cNvPr id="7" name="Rectangle 6"/>
          <p:cNvSpPr/>
          <p:nvPr/>
        </p:nvSpPr>
        <p:spPr>
          <a:xfrm>
            <a:off x="30480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185160" y="1554480"/>
            <a:ext cx="2225040" cy="457200"/>
          </a:xfrm>
          <a:prstGeom prst="rect">
            <a:avLst/>
          </a:prstGeom>
          <a:noFill/>
        </p:spPr>
        <p:txBody>
          <a:bodyPr wrap="square">
            <a:spAutoFit/>
          </a:bodyPr>
          <a:lstStyle/>
          <a:p>
            <a:pPr algn="ctr">
              <a:defRPr sz="1600" b="1">
                <a:solidFill>
                  <a:srgbClr val="1E40AF"/>
                </a:solidFill>
              </a:defRPr>
            </a:pPr>
            <a:r>
              <a:t>Middle</a:t>
            </a:r>
          </a:p>
        </p:txBody>
      </p:sp>
      <p:sp>
        <p:nvSpPr>
          <p:cNvPr id="9" name="TextBox 8"/>
          <p:cNvSpPr txBox="1"/>
          <p:nvPr/>
        </p:nvSpPr>
        <p:spPr>
          <a:xfrm>
            <a:off x="3185160" y="2194560"/>
            <a:ext cx="2225040" cy="3657600"/>
          </a:xfrm>
          <a:prstGeom prst="rect">
            <a:avLst/>
          </a:prstGeom>
          <a:noFill/>
        </p:spPr>
        <p:txBody>
          <a:bodyPr wrap="square">
            <a:spAutoFit/>
          </a:bodyPr>
          <a:lstStyle/>
          <a:p>
            <a:pPr>
              <a:lnSpc>
                <a:spcPct val="140000"/>
              </a:lnSpc>
              <a:defRPr sz="1300">
                <a:solidFill>
                  <a:srgbClr val="64748B"/>
                </a:solidFill>
              </a:defRPr>
            </a:pPr>
            <a:r>
              <a:t>Agentic AI Architectures</a:t>
            </a:r>
          </a:p>
        </p:txBody>
      </p:sp>
      <p:sp>
        <p:nvSpPr>
          <p:cNvPr id="10" name="Rectangle 9"/>
          <p:cNvSpPr/>
          <p:nvPr/>
        </p:nvSpPr>
        <p:spPr>
          <a:xfrm>
            <a:off x="56388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75960" y="1554480"/>
            <a:ext cx="2225040" cy="457200"/>
          </a:xfrm>
          <a:prstGeom prst="rect">
            <a:avLst/>
          </a:prstGeom>
          <a:noFill/>
        </p:spPr>
        <p:txBody>
          <a:bodyPr wrap="square">
            <a:spAutoFit/>
          </a:bodyPr>
          <a:lstStyle/>
          <a:p>
            <a:pPr algn="ctr">
              <a:defRPr sz="1600" b="1">
                <a:solidFill>
                  <a:srgbClr val="1E40AF"/>
                </a:solidFill>
              </a:defRPr>
            </a:pPr>
            <a:r>
              <a:t>End</a:t>
            </a:r>
          </a:p>
        </p:txBody>
      </p:sp>
      <p:sp>
        <p:nvSpPr>
          <p:cNvPr id="12" name="TextBox 11"/>
          <p:cNvSpPr txBox="1"/>
          <p:nvPr/>
        </p:nvSpPr>
        <p:spPr>
          <a:xfrm>
            <a:off x="5775960" y="2194560"/>
            <a:ext cx="2225040" cy="3657600"/>
          </a:xfrm>
          <a:prstGeom prst="rect">
            <a:avLst/>
          </a:prstGeom>
          <a:noFill/>
        </p:spPr>
        <p:txBody>
          <a:bodyPr wrap="square">
            <a:spAutoFit/>
          </a:bodyPr>
          <a:lstStyle/>
          <a:p>
            <a:pPr>
              <a:lnSpc>
                <a:spcPct val="140000"/>
              </a:lnSpc>
              <a:defRPr sz="1300">
                <a:solidFill>
                  <a:srgbClr val="64748B"/>
                </a:solidFill>
              </a:defRPr>
            </a:pPr>
            <a:r>
              <a:t>Conclusion and Future Directions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731520"/>
            <a:ext cx="8229600" cy="731520"/>
          </a:xfrm>
          <a:prstGeom prst="rect">
            <a:avLst/>
          </a:prstGeom>
          <a:noFill/>
        </p:spPr>
        <p:txBody>
          <a:bodyPr wrap="none">
            <a:spAutoFit/>
          </a:bodyPr>
          <a:lstStyle/>
          <a:p>
            <a:pPr algn="ctr">
              <a:defRPr sz="4400" b="1">
                <a:solidFill>
                  <a:srgbClr val="FFFFFF"/>
                </a:solidFill>
              </a:defRPr>
            </a:pPr>
            <a:r>
              <a:t>Key Takeaways</a:t>
            </a:r>
          </a:p>
        </p:txBody>
      </p:sp>
      <p:sp>
        <p:nvSpPr>
          <p:cNvPr id="3" name="TextBox 2"/>
          <p:cNvSpPr txBox="1"/>
          <p:nvPr/>
        </p:nvSpPr>
        <p:spPr>
          <a:xfrm>
            <a:off x="1371600" y="1828800"/>
            <a:ext cx="6400800" cy="4114800"/>
          </a:xfrm>
          <a:prstGeom prst="rect">
            <a:avLst/>
          </a:prstGeom>
          <a:noFill/>
        </p:spPr>
        <p:txBody>
          <a:bodyPr wrap="square">
            <a:spAutoFit/>
          </a:bodyPr>
          <a:lstStyle/>
          <a:p>
            <a:pPr>
              <a:spcBef>
                <a:spcPts val="800"/>
              </a:spcBef>
              <a:spcAft>
                <a:spcPts val="800"/>
              </a:spcAft>
              <a:defRPr sz="2000">
                <a:solidFill>
                  <a:srgbClr val="F59E0B"/>
                </a:solidFill>
              </a:defRPr>
            </a:pPr>
            <a:r>
              <a:t>✓ Introduction to Agentic AI</a:t>
            </a:r>
          </a:p>
          <a:p>
            <a:pPr>
              <a:spcBef>
                <a:spcPts val="800"/>
              </a:spcBef>
              <a:spcAft>
                <a:spcPts val="800"/>
              </a:spcAft>
              <a:defRPr sz="2000">
                <a:solidFill>
                  <a:srgbClr val="F59E0B"/>
                </a:solidFill>
              </a:defRPr>
            </a:pPr>
            <a:r>
              <a:t>✓ What is Agentic AI?</a:t>
            </a:r>
          </a:p>
          <a:p>
            <a:pPr>
              <a:spcBef>
                <a:spcPts val="800"/>
              </a:spcBef>
              <a:spcAft>
                <a:spcPts val="800"/>
              </a:spcAft>
              <a:defRPr sz="2000">
                <a:solidFill>
                  <a:srgbClr val="F59E0B"/>
                </a:solidFill>
              </a:defRPr>
            </a:pPr>
            <a:r>
              <a:t>✓ Understanding Human Goals and Intentions</a:t>
            </a:r>
          </a:p>
          <a:p>
            <a:pPr>
              <a:spcBef>
                <a:spcPts val="800"/>
              </a:spcBef>
              <a:spcAft>
                <a:spcPts val="800"/>
              </a:spcAft>
              <a:defRPr sz="2000">
                <a:solidFill>
                  <a:srgbClr val="F59E0B"/>
                </a:solidFill>
              </a:defRPr>
            </a:pPr>
            <a:r>
              <a:t>✓ Agentic AI Architectures</a:t>
            </a:r>
          </a:p>
          <a:p>
            <a:pPr>
              <a:spcBef>
                <a:spcPts val="800"/>
              </a:spcBef>
              <a:spcAft>
                <a:spcPts val="800"/>
              </a:spcAft>
              <a:defRPr sz="2000">
                <a:solidFill>
                  <a:srgbClr val="F59E0B"/>
                </a:solidFill>
              </a:defRPr>
            </a:pPr>
            <a:r>
              <a:t>✓ Benefits and Applications of Agentic 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