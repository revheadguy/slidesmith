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55079" y="-1143000"/>
            <a:ext cx="4114800" cy="4114800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4754880"/>
            <a:ext cx="2011680" cy="2011680"/>
          </a:xfrm>
          <a:prstGeom prst="ellipse">
            <a:avLst/>
          </a:prstGeom>
          <a:noFill/>
          <a:ln w="317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Apple's Financial Performance: An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This presentation provides an in-depth analysis of Apple Inc. 's financial performance over the years.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42316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Revenue growth driver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17296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Profitability key metric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92277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77056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Cash flow crucial factor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467258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26864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Financial performance indicators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Apple's Financial Performance: An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Financial Highlights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64748B"/>
                </a:solidFill>
              </a:defRPr>
            </a:pPr>
            <a:r>
              <a:t>In 2020, Apple reported record-breaking revenue of $274. 5 billion, with a net income of $59.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10312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Record revenue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83463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Net income growth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56615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2043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Gross margin increase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Apple's Financial Performance: An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Revenue Breakdown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In 2020, Apple's revenue was primarily driven by the iPhone segment, accounting for 52% of total revenue. The Mac and iPad segments contributed 21% and 8%, respectively.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309981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04495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iPhone dominant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83133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77647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Mac and iPad contributions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56285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50799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Services sector growth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29437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23951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Other products and accessories</a:t>
            </a:r>
          </a:p>
        </p:txBody>
      </p:sp>
      <p:pic>
        <p:nvPicPr>
          <p:cNvPr id="13" name="Picture 12" descr="unsplash_2G4naJvRoz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Apple's Financial Performance: An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Gross Margin Analysis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64748B"/>
                </a:solidFill>
              </a:defRPr>
            </a:pPr>
            <a:r>
              <a:t>Apple's gross margin increased to 38% in 2020, driven by the company's successful product pricing strategy. The iPhone segment contributed significantly to this growth, with a gross margin of 35%.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60603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Gross margin increase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33755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3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iPhone gross margin contribution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0690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5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Services sector gross margin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Apple's Financial Performance: An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Operating Expenses Analysis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64748B"/>
                </a:solidFill>
              </a:defRPr>
            </a:pPr>
            <a:r>
              <a:t>In 2020, Apple's operating expenses decreased by 3%, primarily due to cost savings initiatives and efficient operations. The company's focus on streamlining its supply chain and reducing energy consumption contributed to these cost reductions.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60603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Operating expense decrease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33755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3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Cost savings initiatives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0690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5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Supply chain efficiency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Apple's Financial Performance: An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Net Income Analysis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Apple's net income grew by 8% in 2020, driven by the company's strong revenue growth and gross margin expansion. The Services sector contributed significantly to this growth, with a net income of $14.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309981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04495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Net income growth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383133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77647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Services sector contribution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56285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50799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Gross margin expansion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29437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239512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Operating expense decrease</a:t>
            </a:r>
          </a:p>
        </p:txBody>
      </p:sp>
      <p:pic>
        <p:nvPicPr>
          <p:cNvPr id="13" name="Picture 12" descr="unsplash_hpjSkU2UYS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Apple's Financial Performance: An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Cash Flow Analysis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64748B"/>
                </a:solidFill>
              </a:defRPr>
            </a:pPr>
            <a:r>
              <a:t>In 2020, Apple generated $83. 4 billion in operating cash flow, a significant increase from previous years.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33172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Operating cash flow growth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06323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Cash flow generation key metric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79475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Research and development investments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Apple's Financial Performance: An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Return on Invested Capital (ROIC) Analysis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64748B"/>
                </a:solidFill>
              </a:defRPr>
            </a:pPr>
            <a:r>
              <a:t>Apple's ROIC increased to 23. 1% in 2020, driven by the company's strong revenue growth and gross margin expansion.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33172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ROIC increase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06323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Revenue growth driver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79475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Gross margin expansion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Apple's Financial Performance: An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Financial Performance Indicators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114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In 2020, Apple's financial performance was characterized by strong revenue growth, gross margin expansion, and a significant increase in operating cash flow. The company's net income also grew, driven by its Services sector.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339242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33756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Revenue growth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412394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406908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Gross margin expansion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85546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80060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Operating cash flow growth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5586983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532120"/>
            <a:ext cx="38587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Net income growth</a:t>
            </a:r>
          </a:p>
        </p:txBody>
      </p:sp>
      <p:pic>
        <p:nvPicPr>
          <p:cNvPr id="13" name="Picture 12" descr="unsplash_N__BnvQ_w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Apple's Financial Performance: An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40A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 We</a:t>
            </a:r>
            <a:br/>
            <a:r>
              <a:t>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Financial performance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Key</a:t>
            </a:r>
            <a:br/>
            <a: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Revenue growth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What's</a:t>
            </a:r>
            <a:br/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Gross margin expansion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Operating cash flow growth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Future outlook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Thank you for your attention | Questions?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Introduction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Revenue growth driver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Profitability key metric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Cash flow crucial factor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Financial Highlights 2020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Record revenue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Net income growth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Gross margin increase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Revenue Breakdown 2020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iPhone dominant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Mac and iPad contributions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Services sector growth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896112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1097280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129387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16151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984248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938528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180844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Financial Highlights 2020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871215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825496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" y="3067812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0088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Revenue Breakdown 2020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758184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712464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5568" y="395478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77056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Gross Margin Analysis 2020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645151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599431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568" y="484174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64023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Operating Expenses Analysis 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