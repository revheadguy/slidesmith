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Machine Learning Role in Barclays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Machine Learning at Barclays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Barclays has been exploring the potential of machine learning to transform its business operations. This presentation aims to provide an overview of the role machine learning plays in various areas within the bank. By leveraging machine learning algorithms, Barclays can improve customer experience, streamline processes, and make data-driven decisions. This slide provides a brief introduction to the topic.</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Overview of machine learning at Barclays</a:t>
            </a:r>
          </a:p>
          <a:p>
            <a:pPr>
              <a:lnSpc>
                <a:spcPct val="120000"/>
              </a:lnSpc>
              <a:spcBef>
                <a:spcPts val="300"/>
              </a:spcBef>
              <a:spcAft>
                <a:spcPts val="300"/>
              </a:spcAft>
              <a:defRPr sz="1600">
                <a:solidFill>
                  <a:srgbClr val="0F172A"/>
                </a:solidFill>
              </a:defRPr>
            </a:pPr>
            <a:r>
              <a:t>• Impact on business operations</a:t>
            </a:r>
          </a:p>
          <a:p>
            <a:pPr>
              <a:lnSpc>
                <a:spcPct val="120000"/>
              </a:lnSpc>
              <a:spcBef>
                <a:spcPts val="300"/>
              </a:spcBef>
              <a:spcAft>
                <a:spcPts val="300"/>
              </a:spcAft>
              <a:defRPr sz="1600">
                <a:solidFill>
                  <a:srgbClr val="0F172A"/>
                </a:solidFill>
              </a:defRPr>
            </a:pPr>
            <a:r>
              <a:t>• Improving customer experience</a:t>
            </a:r>
          </a:p>
          <a:p>
            <a:pPr>
              <a:lnSpc>
                <a:spcPct val="120000"/>
              </a:lnSpc>
              <a:spcBef>
                <a:spcPts val="300"/>
              </a:spcBef>
              <a:spcAft>
                <a:spcPts val="300"/>
              </a:spcAft>
              <a:defRPr sz="1600">
                <a:solidFill>
                  <a:srgbClr val="0F172A"/>
                </a:solidFill>
              </a:defRPr>
            </a:pPr>
            <a:r>
              <a:t>• Streamlining processes</a:t>
            </a:r>
          </a:p>
          <a:p>
            <a:pPr>
              <a:lnSpc>
                <a:spcPct val="120000"/>
              </a:lnSpc>
              <a:spcBef>
                <a:spcPts val="300"/>
              </a:spcBef>
              <a:spcAft>
                <a:spcPts val="300"/>
              </a:spcAft>
              <a:defRPr sz="1600">
                <a:solidFill>
                  <a:srgbClr val="0F172A"/>
                </a:solidFill>
              </a:defRPr>
            </a:pPr>
            <a:r>
              <a:t>• Data-driven decision making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Customer Experience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Machine learning plays a crucial role in enhancing the customer experience at Barclays. By analyzing customer behavior and preferences, machine learning algorithms can identify patterns and predict customer needs. This enables the bank to offer personalized services, such as tailored product recommendations and targeted marketing campaigns.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Personalized service offerings</a:t>
            </a:r>
          </a:p>
          <a:p>
            <a:pPr>
              <a:lnSpc>
                <a:spcPct val="120000"/>
              </a:lnSpc>
              <a:spcBef>
                <a:spcPts val="300"/>
              </a:spcBef>
              <a:spcAft>
                <a:spcPts val="300"/>
              </a:spcAft>
              <a:defRPr sz="1600">
                <a:solidFill>
                  <a:srgbClr val="0F172A"/>
                </a:solidFill>
              </a:defRPr>
            </a:pPr>
            <a:r>
              <a:t>• Predictive analytics for customer insights</a:t>
            </a:r>
          </a:p>
          <a:p>
            <a:pPr>
              <a:lnSpc>
                <a:spcPct val="120000"/>
              </a:lnSpc>
              <a:spcBef>
                <a:spcPts val="300"/>
              </a:spcBef>
              <a:spcAft>
                <a:spcPts val="300"/>
              </a:spcAft>
              <a:defRPr sz="1600">
                <a:solidFill>
                  <a:srgbClr val="0F172A"/>
                </a:solidFill>
              </a:defRPr>
            </a:pPr>
            <a:r>
              <a:t>• Targeted marketing campaigns</a:t>
            </a:r>
          </a:p>
          <a:p>
            <a:pPr>
              <a:lnSpc>
                <a:spcPct val="120000"/>
              </a:lnSpc>
              <a:spcBef>
                <a:spcPts val="300"/>
              </a:spcBef>
              <a:spcAft>
                <a:spcPts val="300"/>
              </a:spcAft>
              <a:defRPr sz="1600">
                <a:solidFill>
                  <a:srgbClr val="0F172A"/>
                </a:solidFill>
              </a:defRPr>
            </a:pPr>
            <a:r>
              <a:t>• Improved customer engagement</a:t>
            </a:r>
          </a:p>
          <a:p>
            <a:pPr>
              <a:lnSpc>
                <a:spcPct val="120000"/>
              </a:lnSpc>
              <a:spcBef>
                <a:spcPts val="300"/>
              </a:spcBef>
              <a:spcAft>
                <a:spcPts val="300"/>
              </a:spcAft>
              <a:defRPr sz="1600">
                <a:solidFill>
                  <a:srgbClr val="0F172A"/>
                </a:solidFill>
              </a:defRPr>
            </a:pPr>
            <a:r>
              <a:t>• Enhanced loyalty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Risk Management</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Machine learning is used to analyze large datasets and identify potential risks in various areas of the bank's operations. This includes credit risk assessment, fraud detection, and regulatory compliance monitoring. By leveraging machine learning algorithms, Barclays can make more accurate predictions about potential risks and take proactive measures to mitigate them.</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Credit risk assessment</a:t>
            </a:r>
          </a:p>
          <a:p>
            <a:pPr>
              <a:lnSpc>
                <a:spcPct val="115000"/>
              </a:lnSpc>
              <a:spcBef>
                <a:spcPts val="200"/>
              </a:spcBef>
              <a:spcAft>
                <a:spcPts val="200"/>
              </a:spcAft>
              <a:defRPr sz="1500">
                <a:solidFill>
                  <a:srgbClr val="0F172A"/>
                </a:solidFill>
              </a:defRPr>
            </a:pPr>
            <a:r>
              <a:t>• Fraud detection and prevention</a:t>
            </a:r>
          </a:p>
          <a:p>
            <a:pPr>
              <a:lnSpc>
                <a:spcPct val="115000"/>
              </a:lnSpc>
              <a:spcBef>
                <a:spcPts val="200"/>
              </a:spcBef>
              <a:spcAft>
                <a:spcPts val="200"/>
              </a:spcAft>
              <a:defRPr sz="1500">
                <a:solidFill>
                  <a:srgbClr val="0F172A"/>
                </a:solidFill>
              </a:defRPr>
            </a:pPr>
            <a:r>
              <a:t>• Regulatory compliance monitoring</a:t>
            </a:r>
          </a:p>
          <a:p>
            <a:pPr>
              <a:lnSpc>
                <a:spcPct val="115000"/>
              </a:lnSpc>
              <a:spcBef>
                <a:spcPts val="200"/>
              </a:spcBef>
              <a:spcAft>
                <a:spcPts val="200"/>
              </a:spcAft>
              <a:defRPr sz="1500">
                <a:solidFill>
                  <a:srgbClr val="0F172A"/>
                </a:solidFill>
              </a:defRPr>
            </a:pPr>
            <a:r>
              <a:t>• Predictive modeling for risk analysis</a:t>
            </a:r>
          </a:p>
          <a:p>
            <a:pPr>
              <a:lnSpc>
                <a:spcPct val="115000"/>
              </a:lnSpc>
              <a:spcBef>
                <a:spcPts val="200"/>
              </a:spcBef>
              <a:spcAft>
                <a:spcPts val="200"/>
              </a:spcAft>
              <a:defRPr sz="1500">
                <a:solidFill>
                  <a:srgbClr val="0F172A"/>
                </a:solidFill>
              </a:defRPr>
            </a:pPr>
            <a:r>
              <a:t>• Proactive risk mitigation</a:t>
            </a:r>
          </a:p>
        </p:txBody>
      </p:sp>
      <p:pic>
        <p:nvPicPr>
          <p:cNvPr id="5" name="Picture 4" descr="unsplash_5fNmWej4tAA.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Process Automation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Machine learning is used to automate various processes within the bank, such as account opening and loan processing. This enables faster and more accurate decision-making, reducing manual errors and improving overall efficiency.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Account opening automation</a:t>
            </a:r>
          </a:p>
          <a:p>
            <a:pPr>
              <a:lnSpc>
                <a:spcPct val="120000"/>
              </a:lnSpc>
              <a:spcBef>
                <a:spcPts val="300"/>
              </a:spcBef>
              <a:spcAft>
                <a:spcPts val="300"/>
              </a:spcAft>
              <a:defRPr sz="1600">
                <a:solidFill>
                  <a:srgbClr val="0F172A"/>
                </a:solidFill>
              </a:defRPr>
            </a:pPr>
            <a:r>
              <a:t>• Loan processing optimization</a:t>
            </a:r>
          </a:p>
          <a:p>
            <a:pPr>
              <a:lnSpc>
                <a:spcPct val="120000"/>
              </a:lnSpc>
              <a:spcBef>
                <a:spcPts val="300"/>
              </a:spcBef>
              <a:spcAft>
                <a:spcPts val="300"/>
              </a:spcAft>
              <a:defRPr sz="1600">
                <a:solidFill>
                  <a:srgbClr val="0F172A"/>
                </a:solidFill>
              </a:defRPr>
            </a:pPr>
            <a:r>
              <a:t>• Faster decision-making</a:t>
            </a:r>
          </a:p>
          <a:p>
            <a:pPr>
              <a:lnSpc>
                <a:spcPct val="120000"/>
              </a:lnSpc>
              <a:spcBef>
                <a:spcPts val="300"/>
              </a:spcBef>
              <a:spcAft>
                <a:spcPts val="300"/>
              </a:spcAft>
              <a:defRPr sz="1600">
                <a:solidFill>
                  <a:srgbClr val="0F172A"/>
                </a:solidFill>
              </a:defRPr>
            </a:pPr>
            <a:r>
              <a:t>• Reduced manual errors</a:t>
            </a:r>
          </a:p>
          <a:p>
            <a:pPr>
              <a:lnSpc>
                <a:spcPct val="120000"/>
              </a:lnSpc>
              <a:spcBef>
                <a:spcPts val="300"/>
              </a:spcBef>
              <a:spcAft>
                <a:spcPts val="300"/>
              </a:spcAft>
              <a:defRPr sz="1600">
                <a:solidFill>
                  <a:srgbClr val="0F172A"/>
                </a:solidFill>
              </a:defRPr>
            </a:pPr>
            <a:r>
              <a:t>• Improved efficiency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Data-Driven Decision Making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Machine learning is used to analyze large datasets and provide insights that inform business decisions. This includes identifying trends, predicting customer behavior, and optimizing operational processes.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Data analysis for decision-making</a:t>
            </a:r>
          </a:p>
          <a:p>
            <a:pPr>
              <a:lnSpc>
                <a:spcPct val="120000"/>
              </a:lnSpc>
              <a:spcBef>
                <a:spcPts val="300"/>
              </a:spcBef>
              <a:spcAft>
                <a:spcPts val="300"/>
              </a:spcAft>
              <a:defRPr sz="1600">
                <a:solidFill>
                  <a:srgbClr val="0F172A"/>
                </a:solidFill>
              </a:defRPr>
            </a:pPr>
            <a:r>
              <a:t>• Predictive analytics for trend identification</a:t>
            </a:r>
          </a:p>
          <a:p>
            <a:pPr>
              <a:lnSpc>
                <a:spcPct val="120000"/>
              </a:lnSpc>
              <a:spcBef>
                <a:spcPts val="300"/>
              </a:spcBef>
              <a:spcAft>
                <a:spcPts val="300"/>
              </a:spcAft>
              <a:defRPr sz="1600">
                <a:solidFill>
                  <a:srgbClr val="0F172A"/>
                </a:solidFill>
              </a:defRPr>
            </a:pPr>
            <a:r>
              <a:t>• Customer behavior prediction</a:t>
            </a:r>
          </a:p>
          <a:p>
            <a:pPr>
              <a:lnSpc>
                <a:spcPct val="120000"/>
              </a:lnSpc>
              <a:spcBef>
                <a:spcPts val="300"/>
              </a:spcBef>
              <a:spcAft>
                <a:spcPts val="300"/>
              </a:spcAft>
              <a:defRPr sz="1600">
                <a:solidFill>
                  <a:srgbClr val="0F172A"/>
                </a:solidFill>
              </a:defRPr>
            </a:pPr>
            <a:r>
              <a:t>• Operational process optimization</a:t>
            </a:r>
          </a:p>
          <a:p>
            <a:pPr>
              <a:lnSpc>
                <a:spcPct val="120000"/>
              </a:lnSpc>
              <a:spcBef>
                <a:spcPts val="300"/>
              </a:spcBef>
              <a:spcAft>
                <a:spcPts val="300"/>
              </a:spcAft>
              <a:defRPr sz="1600">
                <a:solidFill>
                  <a:srgbClr val="0F172A"/>
                </a:solidFill>
              </a:defRPr>
            </a:pPr>
            <a:r>
              <a:t>• Informed business decisions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Challenges and Opportunities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While machine learning presents many opportunities, it also poses challenges. This includes ensuring data quality, addressing bias and fairness concerns, and developing a skilled workforce.</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Data quality issues</a:t>
            </a:r>
          </a:p>
          <a:p>
            <a:pPr>
              <a:lnSpc>
                <a:spcPct val="115000"/>
              </a:lnSpc>
              <a:spcBef>
                <a:spcPts val="200"/>
              </a:spcBef>
              <a:spcAft>
                <a:spcPts val="200"/>
              </a:spcAft>
              <a:defRPr sz="1500">
                <a:solidFill>
                  <a:srgbClr val="0F172A"/>
                </a:solidFill>
              </a:defRPr>
            </a:pPr>
            <a:r>
              <a:t>• Bias and fairness concerns</a:t>
            </a:r>
          </a:p>
          <a:p>
            <a:pPr>
              <a:lnSpc>
                <a:spcPct val="115000"/>
              </a:lnSpc>
              <a:spcBef>
                <a:spcPts val="200"/>
              </a:spcBef>
              <a:spcAft>
                <a:spcPts val="200"/>
              </a:spcAft>
              <a:defRPr sz="1500">
                <a:solidFill>
                  <a:srgbClr val="0F172A"/>
                </a:solidFill>
              </a:defRPr>
            </a:pPr>
            <a:r>
              <a:t>• Skilled workforce development</a:t>
            </a:r>
          </a:p>
          <a:p>
            <a:pPr>
              <a:lnSpc>
                <a:spcPct val="115000"/>
              </a:lnSpc>
              <a:spcBef>
                <a:spcPts val="200"/>
              </a:spcBef>
              <a:spcAft>
                <a:spcPts val="200"/>
              </a:spcAft>
              <a:defRPr sz="1500">
                <a:solidFill>
                  <a:srgbClr val="0F172A"/>
                </a:solidFill>
              </a:defRPr>
            </a:pPr>
            <a:r>
              <a:t>• Operational disruptions</a:t>
            </a:r>
          </a:p>
          <a:p>
            <a:pPr>
              <a:lnSpc>
                <a:spcPct val="115000"/>
              </a:lnSpc>
              <a:spcBef>
                <a:spcPts val="200"/>
              </a:spcBef>
              <a:spcAft>
                <a:spcPts val="200"/>
              </a:spcAft>
              <a:defRPr sz="1500">
                <a:solidFill>
                  <a:srgbClr val="0F172A"/>
                </a:solidFill>
              </a:defRPr>
            </a:pPr>
            <a:r>
              <a:t>• Regulatory compliance</a:t>
            </a:r>
          </a:p>
        </p:txBody>
      </p:sp>
      <p:pic>
        <p:nvPicPr>
          <p:cNvPr id="5" name="Picture 4" descr="unsplash_Jxi526YIQgA.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Conclusion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In conclusion, machine learning plays a vital role in various areas within Barclays. By leveraging machine learning algorithms, the bank can improve customer experience, streamline processes, and make data-driven decisions. This presentation has provided an overview of the role machine learning plays at Barclays.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Summary of machine learning roles</a:t>
            </a:r>
          </a:p>
          <a:p>
            <a:pPr>
              <a:lnSpc>
                <a:spcPct val="120000"/>
              </a:lnSpc>
              <a:spcBef>
                <a:spcPts val="300"/>
              </a:spcBef>
              <a:spcAft>
                <a:spcPts val="300"/>
              </a:spcAft>
              <a:defRPr sz="1600">
                <a:solidFill>
                  <a:srgbClr val="0F172A"/>
                </a:solidFill>
              </a:defRPr>
            </a:pPr>
            <a:r>
              <a:t>• Impact on business operations</a:t>
            </a:r>
          </a:p>
          <a:p>
            <a:pPr>
              <a:lnSpc>
                <a:spcPct val="120000"/>
              </a:lnSpc>
              <a:spcBef>
                <a:spcPts val="300"/>
              </a:spcBef>
              <a:spcAft>
                <a:spcPts val="300"/>
              </a:spcAft>
              <a:defRPr sz="1600">
                <a:solidFill>
                  <a:srgbClr val="0F172A"/>
                </a:solidFill>
              </a:defRPr>
            </a:pPr>
            <a:r>
              <a:t>• Opportunities and challenges</a:t>
            </a:r>
          </a:p>
          <a:p>
            <a:pPr>
              <a:lnSpc>
                <a:spcPct val="120000"/>
              </a:lnSpc>
              <a:spcBef>
                <a:spcPts val="300"/>
              </a:spcBef>
              <a:spcAft>
                <a:spcPts val="300"/>
              </a:spcAft>
              <a:defRPr sz="1600">
                <a:solidFill>
                  <a:srgbClr val="0F172A"/>
                </a:solidFill>
              </a:defRPr>
            </a:pPr>
            <a:r>
              <a:t>• Future directions</a:t>
            </a:r>
          </a:p>
          <a:p>
            <a:pPr>
              <a:lnSpc>
                <a:spcPct val="120000"/>
              </a:lnSpc>
              <a:spcBef>
                <a:spcPts val="300"/>
              </a:spcBef>
              <a:spcAft>
                <a:spcPts val="300"/>
              </a:spcAft>
              <a:defRPr sz="1600">
                <a:solidFill>
                  <a:srgbClr val="0F172A"/>
                </a:solidFill>
              </a:defRPr>
            </a:pPr>
            <a:r>
              <a:t>• Conclusion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Future Directions</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Exploring new applications</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Skilled workforce development</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Regulatory compliance</a:t>
            </a:r>
          </a:p>
          <a:p>
            <a:pPr>
              <a:lnSpc>
                <a:spcPct val="120000"/>
              </a:lnSpc>
              <a:spcBef>
                <a:spcPts val="600"/>
              </a:spcBef>
              <a:spcAft>
                <a:spcPts val="600"/>
              </a:spcAft>
              <a:defRPr sz="1200">
                <a:solidFill>
                  <a:srgbClr val="0F172A"/>
                </a:solidFill>
              </a:defRPr>
            </a:pPr>
            <a:r>
              <a:t>• Innovation and growth drivers</a:t>
            </a:r>
          </a:p>
          <a:p>
            <a:pPr>
              <a:lnSpc>
                <a:spcPct val="120000"/>
              </a:lnSpc>
              <a:spcBef>
                <a:spcPts val="600"/>
              </a:spcBef>
              <a:spcAft>
                <a:spcPts val="600"/>
              </a:spcAft>
              <a:defRPr sz="1200">
                <a:solidFill>
                  <a:srgbClr val="0F172A"/>
                </a:solidFill>
              </a:defRPr>
            </a:pPr>
            <a:r>
              <a:t>• Future directions</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Introduction to Machine Learning at Barclays</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Overview of machine learning at Barclays</a:t>
            </a:r>
            <a:br/>
            <a:r>
              <a:t>Impact on business operations</a:t>
            </a:r>
            <a:br/>
            <a:r>
              <a:t>Improving customer experience</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Customer Experience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Personalized service offerings</a:t>
            </a:r>
            <a:br/>
            <a:r>
              <a:t>Predictive analytics for customer insights</a:t>
            </a:r>
            <a:br/>
            <a:r>
              <a:t>Targeted marketing campaigns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Risk Management</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Credit risk assessment</a:t>
            </a:r>
            <a:br/>
            <a:r>
              <a:t>Fraud detection and prevention</a:t>
            </a:r>
            <a:br/>
            <a:r>
              <a:t>Regulatory compliance monitoring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Machine Learning at Barclays</a:t>
            </a:r>
          </a:p>
          <a:p>
            <a:pPr>
              <a:spcBef>
                <a:spcPts val="800"/>
              </a:spcBef>
              <a:spcAft>
                <a:spcPts val="800"/>
              </a:spcAft>
              <a:defRPr sz="2000">
                <a:solidFill>
                  <a:srgbClr val="F59E0B"/>
                </a:solidFill>
              </a:defRPr>
            </a:pPr>
            <a:r>
              <a:t>✓ Customer Experience</a:t>
            </a:r>
          </a:p>
          <a:p>
            <a:pPr>
              <a:spcBef>
                <a:spcPts val="800"/>
              </a:spcBef>
              <a:spcAft>
                <a:spcPts val="800"/>
              </a:spcAft>
              <a:defRPr sz="2000">
                <a:solidFill>
                  <a:srgbClr val="F59E0B"/>
                </a:solidFill>
              </a:defRPr>
            </a:pPr>
            <a:r>
              <a:t>✓ Risk Management</a:t>
            </a:r>
          </a:p>
          <a:p>
            <a:pPr>
              <a:spcBef>
                <a:spcPts val="800"/>
              </a:spcBef>
              <a:spcAft>
                <a:spcPts val="800"/>
              </a:spcAft>
              <a:defRPr sz="2000">
                <a:solidFill>
                  <a:srgbClr val="F59E0B"/>
                </a:solidFill>
              </a:defRPr>
            </a:pPr>
            <a:r>
              <a:t>✓ Process Automation</a:t>
            </a:r>
          </a:p>
          <a:p>
            <a:pPr>
              <a:spcBef>
                <a:spcPts val="800"/>
              </a:spcBef>
              <a:spcAft>
                <a:spcPts val="800"/>
              </a:spcAft>
              <a:defRPr sz="2000">
                <a:solidFill>
                  <a:srgbClr val="F59E0B"/>
                </a:solidFill>
              </a:defRPr>
            </a:pPr>
            <a:r>
              <a:t>✓ Data-Driven Decision Making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