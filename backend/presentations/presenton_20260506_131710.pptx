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Summary of key</c:v>
                </c:pt>
                <c:pt idx="1">
                  <c:v>Reiteration</c:v>
                </c:pt>
                <c:pt idx="2">
                  <c:v>Call to action</c:v>
                </c:pt>
                <c:pt idx="3">
                  <c:v>Final thoughts on</c:v>
                </c:pt>
                <c:pt idx="4">
                  <c:v>Closing remarks</c:v>
                </c:pt>
              </c:strCache>
            </c:strRef>
          </c:cat>
          <c:val>
            <c:numRef>
              <c:f>Sheet1!$B$2:$B$6</c:f>
              <c:numCache>
                <c:formatCode>General</c:formatCode>
                <c:ptCount val="5"/>
                <c:pt idx="0">
                  <c:v>22</c:v>
                </c:pt>
                <c:pt idx="1">
                  <c:v>36</c:v>
                </c:pt>
                <c:pt idx="2">
                  <c:v>45</c:v>
                </c:pt>
                <c:pt idx="3">
                  <c:v>65</c:v>
                </c:pt>
                <c:pt idx="4">
                  <c:v>87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Unlocking Effective Cash Flow Management with the Cash Memory Mapping Technique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Cash Memory Mapping Technique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Cash Memory Mapping Technique is a powerful tool for understanding and managing cash flow. This technique involves creating a visual map of your business's cash inflows and outflows, highlighting patterns and trends. By doing so, you can identify areas where cash is being wasted or delayed, and make informed decisions to optimize your financial performance. In this presentation, we will explore the Cash Memory Mapping Technique in detail.</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Defines a framework for understanding cash flow</a:t>
            </a:r>
          </a:p>
          <a:p>
            <a:pPr>
              <a:lnSpc>
                <a:spcPct val="120000"/>
              </a:lnSpc>
              <a:spcBef>
                <a:spcPts val="300"/>
              </a:spcBef>
              <a:spcAft>
                <a:spcPts val="300"/>
              </a:spcAft>
              <a:defRPr sz="1600">
                <a:solidFill>
                  <a:srgbClr val="0F172A"/>
                </a:solidFill>
              </a:defRPr>
            </a:pPr>
            <a:r>
              <a:t>• Identifies patterns and trends in cash inflows and outflows</a:t>
            </a:r>
          </a:p>
          <a:p>
            <a:pPr>
              <a:lnSpc>
                <a:spcPct val="120000"/>
              </a:lnSpc>
              <a:spcBef>
                <a:spcPts val="300"/>
              </a:spcBef>
              <a:spcAft>
                <a:spcPts val="300"/>
              </a:spcAft>
              <a:defRPr sz="1600">
                <a:solidFill>
                  <a:srgbClr val="0F172A"/>
                </a:solidFill>
              </a:defRPr>
            </a:pPr>
            <a:r>
              <a:t>• Helps prioritize cash management efforts</a:t>
            </a:r>
          </a:p>
          <a:p>
            <a:pPr>
              <a:lnSpc>
                <a:spcPct val="120000"/>
              </a:lnSpc>
              <a:spcBef>
                <a:spcPts val="300"/>
              </a:spcBef>
              <a:spcAft>
                <a:spcPts val="300"/>
              </a:spcAft>
              <a:defRPr sz="1600">
                <a:solidFill>
                  <a:srgbClr val="0F172A"/>
                </a:solidFill>
              </a:defRPr>
            </a:pPr>
            <a:r>
              <a:t>• Enhances financial decision-making</a:t>
            </a:r>
          </a:p>
          <a:p>
            <a:pPr>
              <a:lnSpc>
                <a:spcPct val="120000"/>
              </a:lnSpc>
              <a:spcBef>
                <a:spcPts val="300"/>
              </a:spcBef>
              <a:spcAft>
                <a:spcPts val="300"/>
              </a:spcAft>
              <a:defRPr sz="1600">
                <a:solidFill>
                  <a:srgbClr val="0F172A"/>
                </a:solidFill>
              </a:defRPr>
            </a:pPr>
            <a:r>
              <a:t>• Increases business stability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Step 1: Identify Cash Inflows and Outflows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first step in the Cash Memory Mapping Technique is to identify all cash inflows and outflows in your business. This includes revenue from sales, invoices, and accounts receivable, as well as payments for expenses, taxes, and accounts payable. Be sure to consider both regular and irregular income and expenses.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Cash inflows include revenue, invoices, and accounts receivable</a:t>
            </a:r>
          </a:p>
          <a:p>
            <a:pPr>
              <a:lnSpc>
                <a:spcPct val="120000"/>
              </a:lnSpc>
              <a:spcBef>
                <a:spcPts val="300"/>
              </a:spcBef>
              <a:spcAft>
                <a:spcPts val="300"/>
              </a:spcAft>
              <a:defRPr sz="1600">
                <a:solidFill>
                  <a:srgbClr val="0F172A"/>
                </a:solidFill>
              </a:defRPr>
            </a:pPr>
            <a:r>
              <a:t>• Cash outflows include expenses, taxes, and accounts payable</a:t>
            </a:r>
          </a:p>
          <a:p>
            <a:pPr>
              <a:lnSpc>
                <a:spcPct val="120000"/>
              </a:lnSpc>
              <a:spcBef>
                <a:spcPts val="300"/>
              </a:spcBef>
              <a:spcAft>
                <a:spcPts val="300"/>
              </a:spcAft>
              <a:defRPr sz="1600">
                <a:solidFill>
                  <a:srgbClr val="0F172A"/>
                </a:solidFill>
              </a:defRPr>
            </a:pPr>
            <a:r>
              <a:t>• Consider both regular and irregular income and expenses</a:t>
            </a:r>
          </a:p>
          <a:p>
            <a:pPr>
              <a:lnSpc>
                <a:spcPct val="120000"/>
              </a:lnSpc>
              <a:spcBef>
                <a:spcPts val="300"/>
              </a:spcBef>
              <a:spcAft>
                <a:spcPts val="300"/>
              </a:spcAft>
              <a:defRPr sz="1600">
                <a:solidFill>
                  <a:srgbClr val="0F172A"/>
                </a:solidFill>
              </a:defRPr>
            </a:pPr>
            <a:r>
              <a:t>• Verify accuracy with financial records and statements</a:t>
            </a:r>
          </a:p>
          <a:p>
            <a:pPr>
              <a:lnSpc>
                <a:spcPct val="120000"/>
              </a:lnSpc>
              <a:spcBef>
                <a:spcPts val="300"/>
              </a:spcBef>
              <a:spcAft>
                <a:spcPts val="300"/>
              </a:spcAft>
              <a:defRPr sz="1600">
                <a:solidFill>
                  <a:srgbClr val="0F172A"/>
                </a:solidFill>
              </a:defRPr>
            </a:pPr>
            <a:r>
              <a:t>• Update regularly to reflect changes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Step 2: Map Cash Flows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Once you have identified your cash inflows and outflows, create a visual map to illustrate the timing and magnitude of each transaction. This can be done using a spreadsheet or graph paper. The goal is to create a clear picture of when cash is coming in and going out.</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Use a visual tool such as a spreadsheet or graph paper</a:t>
            </a:r>
          </a:p>
          <a:p>
            <a:pPr>
              <a:lnSpc>
                <a:spcPct val="115000"/>
              </a:lnSpc>
              <a:spcBef>
                <a:spcPts val="200"/>
              </a:spcBef>
              <a:spcAft>
                <a:spcPts val="200"/>
              </a:spcAft>
              <a:defRPr sz="1500">
                <a:solidFill>
                  <a:srgbClr val="0F172A"/>
                </a:solidFill>
              </a:defRPr>
            </a:pPr>
            <a:r>
              <a:t>• Map both inflows and outflows on the same chart</a:t>
            </a:r>
          </a:p>
          <a:p>
            <a:pPr>
              <a:lnSpc>
                <a:spcPct val="115000"/>
              </a:lnSpc>
              <a:spcBef>
                <a:spcPts val="200"/>
              </a:spcBef>
              <a:spcAft>
                <a:spcPts val="200"/>
              </a:spcAft>
              <a:defRPr sz="1500">
                <a:solidFill>
                  <a:srgbClr val="0F172A"/>
                </a:solidFill>
              </a:defRPr>
            </a:pPr>
            <a:r>
              <a:t>• Highlight patterns and trends</a:t>
            </a:r>
          </a:p>
          <a:p>
            <a:pPr>
              <a:lnSpc>
                <a:spcPct val="115000"/>
              </a:lnSpc>
              <a:spcBef>
                <a:spcPts val="200"/>
              </a:spcBef>
              <a:spcAft>
                <a:spcPts val="200"/>
              </a:spcAft>
              <a:defRPr sz="1500">
                <a:solidFill>
                  <a:srgbClr val="0F172A"/>
                </a:solidFill>
              </a:defRPr>
            </a:pPr>
            <a:r>
              <a:t>• Annotate with notes and explanations</a:t>
            </a:r>
          </a:p>
          <a:p>
            <a:pPr>
              <a:lnSpc>
                <a:spcPct val="115000"/>
              </a:lnSpc>
              <a:spcBef>
                <a:spcPts val="200"/>
              </a:spcBef>
              <a:spcAft>
                <a:spcPts val="200"/>
              </a:spcAft>
              <a:defRPr sz="1500">
                <a:solidFill>
                  <a:srgbClr val="0F172A"/>
                </a:solidFill>
              </a:defRPr>
            </a:pPr>
            <a:r>
              <a:t>• Review and update regularly</a:t>
            </a:r>
          </a:p>
        </p:txBody>
      </p:sp>
      <p:pic>
        <p:nvPicPr>
          <p:cNvPr id="5" name="Picture 4" descr="unsplash_EF8gf9fCAp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Analyzing Cash Flow Patterns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Now that you have created your cash flow map, analyze the patterns and trends that emerge. Look for areas where cash is being wasted or delayed, and identify opportunities to optimize your financial performance.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Identify areas of waste or delay</a:t>
            </a:r>
          </a:p>
          <a:p>
            <a:pPr>
              <a:lnSpc>
                <a:spcPct val="120000"/>
              </a:lnSpc>
              <a:spcBef>
                <a:spcPts val="300"/>
              </a:spcBef>
              <a:spcAft>
                <a:spcPts val="300"/>
              </a:spcAft>
              <a:defRPr sz="1600">
                <a:solidFill>
                  <a:srgbClr val="0F172A"/>
                </a:solidFill>
              </a:defRPr>
            </a:pPr>
            <a:r>
              <a:t>• Prioritize efforts to improve cash flow</a:t>
            </a:r>
          </a:p>
          <a:p>
            <a:pPr>
              <a:lnSpc>
                <a:spcPct val="120000"/>
              </a:lnSpc>
              <a:spcBef>
                <a:spcPts val="300"/>
              </a:spcBef>
              <a:spcAft>
                <a:spcPts val="300"/>
              </a:spcAft>
              <a:defRPr sz="1600">
                <a:solidFill>
                  <a:srgbClr val="0F172A"/>
                </a:solidFill>
              </a:defRPr>
            </a:pPr>
            <a:r>
              <a:t>• Consider implementing cash management strategies</a:t>
            </a:r>
          </a:p>
          <a:p>
            <a:pPr>
              <a:lnSpc>
                <a:spcPct val="120000"/>
              </a:lnSpc>
              <a:spcBef>
                <a:spcPts val="300"/>
              </a:spcBef>
              <a:spcAft>
                <a:spcPts val="300"/>
              </a:spcAft>
              <a:defRPr sz="1600">
                <a:solidFill>
                  <a:srgbClr val="0F172A"/>
                </a:solidFill>
              </a:defRPr>
            </a:pPr>
            <a:r>
              <a:t>• Monitor progress and adjust as needed</a:t>
            </a:r>
          </a:p>
          <a:p>
            <a:pPr>
              <a:lnSpc>
                <a:spcPct val="120000"/>
              </a:lnSpc>
              <a:spcBef>
                <a:spcPts val="300"/>
              </a:spcBef>
              <a:spcAft>
                <a:spcPts val="300"/>
              </a:spcAft>
              <a:defRPr sz="1600">
                <a:solidFill>
                  <a:srgbClr val="0F172A"/>
                </a:solidFill>
              </a:defRPr>
            </a:pPr>
            <a:r>
              <a:t>• Maintain a focus on long-term financial goals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Cash Flow Management Strategies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Cash Memory Mapping Technique is not just a diagnostic tool, but also a guide for implementing effective cash flow management strategies. This may include tactics such as improving accounts receivable and payable processes, negotiating better payment terms with suppliers, or exploring alternative funding options.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 accounts receivable and payable processes</a:t>
            </a:r>
          </a:p>
          <a:p>
            <a:pPr>
              <a:lnSpc>
                <a:spcPct val="120000"/>
              </a:lnSpc>
              <a:spcBef>
                <a:spcPts val="300"/>
              </a:spcBef>
              <a:spcAft>
                <a:spcPts val="300"/>
              </a:spcAft>
              <a:defRPr sz="1600">
                <a:solidFill>
                  <a:srgbClr val="0F172A"/>
                </a:solidFill>
              </a:defRPr>
            </a:pPr>
            <a:r>
              <a:t>• Negotiate better payment terms with suppliers</a:t>
            </a:r>
          </a:p>
          <a:p>
            <a:pPr>
              <a:lnSpc>
                <a:spcPct val="120000"/>
              </a:lnSpc>
              <a:spcBef>
                <a:spcPts val="300"/>
              </a:spcBef>
              <a:spcAft>
                <a:spcPts val="300"/>
              </a:spcAft>
              <a:defRPr sz="1600">
                <a:solidFill>
                  <a:srgbClr val="0F172A"/>
                </a:solidFill>
              </a:defRPr>
            </a:pPr>
            <a:r>
              <a:t>• Explore alternative funding options</a:t>
            </a:r>
          </a:p>
          <a:p>
            <a:pPr>
              <a:lnSpc>
                <a:spcPct val="120000"/>
              </a:lnSpc>
              <a:spcBef>
                <a:spcPts val="300"/>
              </a:spcBef>
              <a:spcAft>
                <a:spcPts val="300"/>
              </a:spcAft>
              <a:defRPr sz="1600">
                <a:solidFill>
                  <a:srgbClr val="0F172A"/>
                </a:solidFill>
              </a:defRPr>
            </a:pPr>
            <a:r>
              <a:t>• Implement cash flow forecasting and planning</a:t>
            </a:r>
          </a:p>
          <a:p>
            <a:pPr>
              <a:lnSpc>
                <a:spcPct val="120000"/>
              </a:lnSpc>
              <a:spcBef>
                <a:spcPts val="300"/>
              </a:spcBef>
              <a:spcAft>
                <a:spcPts val="300"/>
              </a:spcAft>
              <a:defRPr sz="1600">
                <a:solidFill>
                  <a:srgbClr val="0F172A"/>
                </a:solidFill>
              </a:defRPr>
            </a:pPr>
            <a:r>
              <a:t>• Monitor and adjust strategies as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Benefits of the Cash Memory Mapping Technique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Cash Memory Mapping Technique offers numerous benefits for businesses, including improved financial visibility, enhanced decision-making, and increased cash flow stability. By implementing this technique, you can gain a deeper understanding of your business's cash flows and make informed decisions to drive growth and profitability.</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Improves financial visibility</a:t>
            </a:r>
          </a:p>
          <a:p>
            <a:pPr>
              <a:lnSpc>
                <a:spcPct val="115000"/>
              </a:lnSpc>
              <a:spcBef>
                <a:spcPts val="200"/>
              </a:spcBef>
              <a:spcAft>
                <a:spcPts val="200"/>
              </a:spcAft>
              <a:defRPr sz="1500">
                <a:solidFill>
                  <a:srgbClr val="0F172A"/>
                </a:solidFill>
              </a:defRPr>
            </a:pPr>
            <a:r>
              <a:t>• Enhances decision-making capabilities</a:t>
            </a:r>
          </a:p>
          <a:p>
            <a:pPr>
              <a:lnSpc>
                <a:spcPct val="115000"/>
              </a:lnSpc>
              <a:spcBef>
                <a:spcPts val="200"/>
              </a:spcBef>
              <a:spcAft>
                <a:spcPts val="200"/>
              </a:spcAft>
              <a:defRPr sz="1500">
                <a:solidFill>
                  <a:srgbClr val="0F172A"/>
                </a:solidFill>
              </a:defRPr>
            </a:pPr>
            <a:r>
              <a:t>• Increases cash flow stability</a:t>
            </a:r>
          </a:p>
          <a:p>
            <a:pPr>
              <a:lnSpc>
                <a:spcPct val="115000"/>
              </a:lnSpc>
              <a:spcBef>
                <a:spcPts val="200"/>
              </a:spcBef>
              <a:spcAft>
                <a:spcPts val="200"/>
              </a:spcAft>
              <a:defRPr sz="1500">
                <a:solidFill>
                  <a:srgbClr val="0F172A"/>
                </a:solidFill>
              </a:defRPr>
            </a:pPr>
            <a:r>
              <a:t>• Identifies opportunities for improvement</a:t>
            </a:r>
          </a:p>
          <a:p>
            <a:pPr>
              <a:lnSpc>
                <a:spcPct val="115000"/>
              </a:lnSpc>
              <a:spcBef>
                <a:spcPts val="200"/>
              </a:spcBef>
              <a:spcAft>
                <a:spcPts val="200"/>
              </a:spcAft>
              <a:defRPr sz="1500">
                <a:solidFill>
                  <a:srgbClr val="0F172A"/>
                </a:solidFill>
              </a:defRPr>
            </a:pPr>
            <a:r>
              <a:t>• Supports long-term financial planning</a:t>
            </a:r>
          </a:p>
        </p:txBody>
      </p:sp>
      <p:pic>
        <p:nvPicPr>
          <p:cNvPr id="5" name="Picture 4" descr="unsplash_IdWAG0F8XB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Best Practices and Considerations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To get the most out of the Cash Memory Mapping Technique, it's essential to follow best practices and consider key factors. This includes maintaining accurate and up-to-date financial records, regularly reviewing and updating your cash flow map, and staying flexible in response to changing business conditions.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Maintain accurate and up-to-date financial records</a:t>
            </a:r>
          </a:p>
          <a:p>
            <a:pPr>
              <a:lnSpc>
                <a:spcPct val="120000"/>
              </a:lnSpc>
              <a:spcBef>
                <a:spcPts val="300"/>
              </a:spcBef>
              <a:spcAft>
                <a:spcPts val="300"/>
              </a:spcAft>
              <a:defRPr sz="1600">
                <a:solidFill>
                  <a:srgbClr val="0F172A"/>
                </a:solidFill>
              </a:defRPr>
            </a:pPr>
            <a:r>
              <a:t>• Regularly review and update the cash flow map</a:t>
            </a:r>
          </a:p>
          <a:p>
            <a:pPr>
              <a:lnSpc>
                <a:spcPct val="120000"/>
              </a:lnSpc>
              <a:spcBef>
                <a:spcPts val="300"/>
              </a:spcBef>
              <a:spcAft>
                <a:spcPts val="300"/>
              </a:spcAft>
              <a:defRPr sz="1600">
                <a:solidFill>
                  <a:srgbClr val="0F172A"/>
                </a:solidFill>
              </a:defRPr>
            </a:pPr>
            <a:r>
              <a:t>• Stay flexible in response to changing business conditions</a:t>
            </a:r>
          </a:p>
          <a:p>
            <a:pPr>
              <a:lnSpc>
                <a:spcPct val="120000"/>
              </a:lnSpc>
              <a:spcBef>
                <a:spcPts val="300"/>
              </a:spcBef>
              <a:spcAft>
                <a:spcPts val="300"/>
              </a:spcAft>
              <a:defRPr sz="1600">
                <a:solidFill>
                  <a:srgbClr val="0F172A"/>
                </a:solidFill>
              </a:defRPr>
            </a:pPr>
            <a:r>
              <a:t>• Continuously monitor and adjust strategies as needed</a:t>
            </a:r>
          </a:p>
          <a:p>
            <a:pPr>
              <a:lnSpc>
                <a:spcPct val="120000"/>
              </a:lnSpc>
              <a:spcBef>
                <a:spcPts val="300"/>
              </a:spcBef>
              <a:spcAft>
                <a:spcPts val="300"/>
              </a:spcAft>
              <a:defRPr sz="1600">
                <a:solidFill>
                  <a:srgbClr val="0F172A"/>
                </a:solidFill>
              </a:defRPr>
            </a:pPr>
            <a:r>
              <a:t>• Prioritize communication with stakeholders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Cash Memory Mapping Technique</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Cash Flow Management Strategies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Cash Memory Mapping Technique</a:t>
            </a:r>
          </a:p>
          <a:p>
            <a:pPr>
              <a:spcBef>
                <a:spcPts val="800"/>
              </a:spcBef>
              <a:spcAft>
                <a:spcPts val="800"/>
              </a:spcAft>
              <a:defRPr sz="2000">
                <a:solidFill>
                  <a:srgbClr val="F59E0B"/>
                </a:solidFill>
              </a:defRPr>
            </a:pPr>
            <a:r>
              <a:t>✓ Step 1: Identify Cash Inflows and Outflows</a:t>
            </a:r>
          </a:p>
          <a:p>
            <a:pPr>
              <a:spcBef>
                <a:spcPts val="800"/>
              </a:spcBef>
              <a:spcAft>
                <a:spcPts val="800"/>
              </a:spcAft>
              <a:defRPr sz="2000">
                <a:solidFill>
                  <a:srgbClr val="F59E0B"/>
                </a:solidFill>
              </a:defRPr>
            </a:pPr>
            <a:r>
              <a:t>✓ Step 2: Map Cash Flows</a:t>
            </a:r>
          </a:p>
          <a:p>
            <a:pPr>
              <a:spcBef>
                <a:spcPts val="800"/>
              </a:spcBef>
              <a:spcAft>
                <a:spcPts val="800"/>
              </a:spcAft>
              <a:defRPr sz="2000">
                <a:solidFill>
                  <a:srgbClr val="F59E0B"/>
                </a:solidFill>
              </a:defRPr>
            </a:pPr>
            <a:r>
              <a:t>✓ Analyzing Cash Flow Patterns</a:t>
            </a:r>
          </a:p>
          <a:p>
            <a:pPr>
              <a:spcBef>
                <a:spcPts val="800"/>
              </a:spcBef>
              <a:spcAft>
                <a:spcPts val="800"/>
              </a:spcAft>
              <a:defRPr sz="2000">
                <a:solidFill>
                  <a:srgbClr val="F59E0B"/>
                </a:solidFill>
              </a:defRPr>
            </a:pPr>
            <a:r>
              <a:t>✓ Cash Flow Management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