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Adoption (%)</c:v>
                </c:pt>
              </c:strCache>
            </c:strRef>
          </c:tx>
          <c:cat>
            <c:strRef>
              <c:f>Sheet1!$A$2:$A$6</c:f>
              <c:strCache>
                <c:ptCount val="5"/>
                <c:pt idx="0">
                  <c:v>OpenAI</c:v>
                </c:pt>
                <c:pt idx="1">
                  <c:v>Google</c:v>
                </c:pt>
                <c:pt idx="2">
                  <c:v>Meta</c:v>
                </c:pt>
                <c:pt idx="3">
                  <c:v>Anthropic</c:v>
                </c:pt>
                <c:pt idx="4">
                  <c:v>Others</c:v>
                </c:pt>
              </c:strCache>
            </c:strRef>
          </c:cat>
          <c:val>
            <c:numRef>
              <c:f>Sheet1!$B$2:$B$6</c:f>
              <c:numCache>
                <c:formatCode>General</c:formatCode>
                <c:ptCount val="5"/>
                <c:pt idx="0">
                  <c:v>32</c:v>
                </c:pt>
                <c:pt idx="1">
                  <c:v>28</c:v>
                </c:pt>
                <c:pt idx="2">
                  <c:v>18</c:v>
                </c:pt>
                <c:pt idx="3">
                  <c:v>15</c:v>
                </c:pt>
                <c:pt idx="4">
                  <c:v>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Introduction to Machine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What is Machine Learning?</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Machine learning is a subfield of artificial intelligence that involves training algorithms to make predictions or take actions based on data. It allows machines to learn from experience and improve their performance over time. This process can be supervised, unsupervised, or reinforcement-based. Supervised learning involves training the algorithm using labeled data, whereas unsupervised learning uses unlabeled data. Reinforcement learning focuses on taking actions in an environment and learning from rewards or penalties.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Definition of machine learning</a:t>
            </a:r>
          </a:p>
          <a:p>
            <a:pPr>
              <a:lnSpc>
                <a:spcPct val="120000"/>
              </a:lnSpc>
              <a:spcBef>
                <a:spcPts val="300"/>
              </a:spcBef>
              <a:spcAft>
                <a:spcPts val="300"/>
              </a:spcAft>
              <a:defRPr sz="1600">
                <a:solidFill>
                  <a:srgbClr val="0F172A"/>
                </a:solidFill>
              </a:defRPr>
            </a:pPr>
            <a:r>
              <a:t>• Types of machine learning</a:t>
            </a:r>
          </a:p>
          <a:p>
            <a:pPr>
              <a:lnSpc>
                <a:spcPct val="120000"/>
              </a:lnSpc>
              <a:spcBef>
                <a:spcPts val="300"/>
              </a:spcBef>
              <a:spcAft>
                <a:spcPts val="300"/>
              </a:spcAft>
              <a:defRPr sz="1600">
                <a:solidFill>
                  <a:srgbClr val="0F172A"/>
                </a:solidFill>
              </a:defRPr>
            </a:pPr>
            <a:r>
              <a:t>• Supervised vs. Unsupervised vs. Reinforcement learning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Machine Learning Models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There are several types of machine learning models, including linear regression, decision trees, random forests, support vector machines (SVMs), and neural networks. Linear regression is a simple model that predicts a continuous value based on input features. Decision trees use recursive partitioning to create a tree-like structure for classification or regression tasks. Random forests combine multiple decision trees to improve accuracy. SVMs find the best hyperplane to separate classes in feature space, while neural networks are composed of interconnected nodes (neurons) that process inputs.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Types of machine learning models</a:t>
            </a:r>
          </a:p>
          <a:p>
            <a:pPr>
              <a:lnSpc>
                <a:spcPct val="115000"/>
              </a:lnSpc>
              <a:spcBef>
                <a:spcPts val="200"/>
              </a:spcBef>
              <a:spcAft>
                <a:spcPts val="200"/>
              </a:spcAft>
              <a:defRPr sz="1500">
                <a:solidFill>
                  <a:srgbClr val="0F172A"/>
                </a:solidFill>
              </a:defRPr>
            </a:pPr>
            <a:r>
              <a:t>• Linear regression</a:t>
            </a:r>
          </a:p>
          <a:p>
            <a:pPr>
              <a:lnSpc>
                <a:spcPct val="115000"/>
              </a:lnSpc>
              <a:spcBef>
                <a:spcPts val="200"/>
              </a:spcBef>
              <a:spcAft>
                <a:spcPts val="200"/>
              </a:spcAft>
              <a:defRPr sz="1500">
                <a:solidFill>
                  <a:srgbClr val="0F172A"/>
                </a:solidFill>
              </a:defRPr>
            </a:pPr>
            <a:r>
              <a:t>• Decision trees</a:t>
            </a:r>
          </a:p>
          <a:p>
            <a:pPr>
              <a:lnSpc>
                <a:spcPct val="115000"/>
              </a:lnSpc>
              <a:spcBef>
                <a:spcPts val="200"/>
              </a:spcBef>
              <a:spcAft>
                <a:spcPts val="200"/>
              </a:spcAft>
              <a:defRPr sz="1500">
                <a:solidFill>
                  <a:srgbClr val="0F172A"/>
                </a:solidFill>
              </a:defRPr>
            </a:pPr>
            <a:r>
              <a:t>• Random forests</a:t>
            </a:r>
          </a:p>
          <a:p>
            <a:pPr>
              <a:lnSpc>
                <a:spcPct val="115000"/>
              </a:lnSpc>
              <a:spcBef>
                <a:spcPts val="200"/>
              </a:spcBef>
              <a:spcAft>
                <a:spcPts val="200"/>
              </a:spcAft>
              <a:defRPr sz="1500">
                <a:solidFill>
                  <a:srgbClr val="0F172A"/>
                </a:solidFill>
              </a:defRPr>
            </a:pPr>
            <a:r>
              <a:t>• Support vector machines</a:t>
            </a:r>
          </a:p>
        </p:txBody>
      </p:sp>
      <p:pic>
        <p:nvPicPr>
          <p:cNvPr id="5" name="Picture 4" descr="unsplash_w7ZyuGYNpRQ.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Machine Learning Applications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Machine learning has numerous applications across various industries, including natural language processing (NLP), computer vision, recommender systems, and predictive maintenance. NLP enables tasks like speech recognition, sentiment analysis, and text summarization. Computer vision deals with image classification, object detection, and facial recognition. Recommenders use collaborative filtering to suggest products or services based on user behavior. Predictive maintenance leverages machine learning to forecast equipment failures and optimize maintenance schedules.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Applications of machine learning</a:t>
            </a:r>
          </a:p>
          <a:p>
            <a:pPr>
              <a:lnSpc>
                <a:spcPct val="120000"/>
              </a:lnSpc>
              <a:spcBef>
                <a:spcPts val="300"/>
              </a:spcBef>
              <a:spcAft>
                <a:spcPts val="300"/>
              </a:spcAft>
              <a:defRPr sz="1600">
                <a:solidFill>
                  <a:srgbClr val="0F172A"/>
                </a:solidFill>
              </a:defRPr>
            </a:pPr>
            <a:r>
              <a:t>• Natural language processing</a:t>
            </a:r>
          </a:p>
          <a:p>
            <a:pPr>
              <a:lnSpc>
                <a:spcPct val="120000"/>
              </a:lnSpc>
              <a:spcBef>
                <a:spcPts val="300"/>
              </a:spcBef>
              <a:spcAft>
                <a:spcPts val="300"/>
              </a:spcAft>
              <a:defRPr sz="1600">
                <a:solidFill>
                  <a:srgbClr val="0F172A"/>
                </a:solidFill>
              </a:defRPr>
            </a:pPr>
            <a:r>
              <a:t>• Computer vision</a:t>
            </a:r>
          </a:p>
          <a:p>
            <a:pPr>
              <a:lnSpc>
                <a:spcPct val="120000"/>
              </a:lnSpc>
              <a:spcBef>
                <a:spcPts val="300"/>
              </a:spcBef>
              <a:spcAft>
                <a:spcPts val="300"/>
              </a:spcAft>
              <a:defRPr sz="1600">
                <a:solidFill>
                  <a:srgbClr val="0F172A"/>
                </a:solidFill>
              </a:defRPr>
            </a:pPr>
            <a:r>
              <a:t>• Recommender systems</a:t>
            </a:r>
          </a:p>
          <a:p>
            <a:pPr>
              <a:lnSpc>
                <a:spcPct val="120000"/>
              </a:lnSpc>
              <a:spcBef>
                <a:spcPts val="300"/>
              </a:spcBef>
              <a:spcAft>
                <a:spcPts val="300"/>
              </a:spcAft>
              <a:defRPr sz="1600">
                <a:solidFill>
                  <a:srgbClr val="0F172A"/>
                </a:solidFill>
              </a:defRPr>
            </a:pPr>
            <a:r>
              <a:t>• Predictive maintenance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Challenges in Machine Learning</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Despite its many benefits, machine learning also faces several challenges. One major issue is data quality and availability. Inaccurate or biased data can lead to poor model performance. Another challenge is overfitting, which occurs when the model becomes too complex for the training data. Regularization techniques and early stopping can help mitigate this problem. Additionally, machine learning models require careful interpretation and validation to ensure they are fair and explainable.</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Challenges in machine learning</a:t>
            </a:r>
          </a:p>
          <a:p>
            <a:pPr>
              <a:lnSpc>
                <a:spcPct val="115000"/>
              </a:lnSpc>
              <a:spcBef>
                <a:spcPts val="200"/>
              </a:spcBef>
              <a:spcAft>
                <a:spcPts val="200"/>
              </a:spcAft>
              <a:defRPr sz="1500">
                <a:solidFill>
                  <a:srgbClr val="0F172A"/>
                </a:solidFill>
              </a:defRPr>
            </a:pPr>
            <a:r>
              <a:t>• Data quality and availability</a:t>
            </a:r>
          </a:p>
          <a:p>
            <a:pPr>
              <a:lnSpc>
                <a:spcPct val="115000"/>
              </a:lnSpc>
              <a:spcBef>
                <a:spcPts val="200"/>
              </a:spcBef>
              <a:spcAft>
                <a:spcPts val="200"/>
              </a:spcAft>
              <a:defRPr sz="1500">
                <a:solidFill>
                  <a:srgbClr val="0F172A"/>
                </a:solidFill>
              </a:defRPr>
            </a:pPr>
            <a:r>
              <a:t>• Overfitting</a:t>
            </a:r>
          </a:p>
          <a:p>
            <a:pPr>
              <a:lnSpc>
                <a:spcPct val="115000"/>
              </a:lnSpc>
              <a:spcBef>
                <a:spcPts val="200"/>
              </a:spcBef>
              <a:spcAft>
                <a:spcPts val="200"/>
              </a:spcAft>
              <a:defRPr sz="1500">
                <a:solidFill>
                  <a:srgbClr val="0F172A"/>
                </a:solidFill>
              </a:defRPr>
            </a:pPr>
            <a:r>
              <a:t>• Regularization</a:t>
            </a:r>
          </a:p>
          <a:p>
            <a:pPr>
              <a:lnSpc>
                <a:spcPct val="115000"/>
              </a:lnSpc>
              <a:spcBef>
                <a:spcPts val="200"/>
              </a:spcBef>
              <a:spcAft>
                <a:spcPts val="200"/>
              </a:spcAft>
              <a:defRPr sz="1500">
                <a:solidFill>
                  <a:srgbClr val="0F172A"/>
                </a:solidFill>
              </a:defRPr>
            </a:pPr>
            <a:r>
              <a:t>• Model interpretation</a:t>
            </a:r>
          </a:p>
        </p:txBody>
      </p:sp>
      <p:pic>
        <p:nvPicPr>
          <p:cNvPr id="5" name="Picture 4" descr="unsplash_I_pzCqLgRd4.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 Adoption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What is Machine Learning?</a:t>
            </a:r>
          </a:p>
          <a:p>
            <a:pPr>
              <a:spcBef>
                <a:spcPts val="800"/>
              </a:spcBef>
              <a:spcAft>
                <a:spcPts val="800"/>
              </a:spcAft>
              <a:defRPr sz="2000">
                <a:solidFill>
                  <a:srgbClr val="F59E0B"/>
                </a:solidFill>
              </a:defRPr>
            </a:pPr>
            <a:r>
              <a:t>✓ Machine Learning Models</a:t>
            </a:r>
          </a:p>
          <a:p>
            <a:pPr>
              <a:spcBef>
                <a:spcPts val="800"/>
              </a:spcBef>
              <a:spcAft>
                <a:spcPts val="800"/>
              </a:spcAft>
              <a:defRPr sz="2000">
                <a:solidFill>
                  <a:srgbClr val="F59E0B"/>
                </a:solidFill>
              </a:defRPr>
            </a:pPr>
            <a:r>
              <a:t>✓ Machine Learning Applications</a:t>
            </a:r>
          </a:p>
          <a:p>
            <a:pPr>
              <a:spcBef>
                <a:spcPts val="800"/>
              </a:spcBef>
              <a:spcAft>
                <a:spcPts val="800"/>
              </a:spcAft>
              <a:defRPr sz="2000">
                <a:solidFill>
                  <a:srgbClr val="F59E0B"/>
                </a:solidFill>
              </a:defRPr>
            </a:pPr>
            <a:r>
              <a:t>✓ Challenges in Machine Learning</a:t>
            </a:r>
          </a:p>
          <a:p>
            <a:pPr>
              <a:spcBef>
                <a:spcPts val="800"/>
              </a:spcBef>
              <a:spcAft>
                <a:spcPts val="800"/>
              </a:spcAft>
              <a:defRPr sz="2000">
                <a:solidFill>
                  <a:srgbClr val="F59E0B"/>
                </a:solidFill>
              </a:defRPr>
            </a:pPr>
            <a:r>
              <a:t>✓ Conclusion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