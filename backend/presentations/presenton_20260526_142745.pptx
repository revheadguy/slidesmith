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Codex in Data Science and Finance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a:t>
            </a:r>
          </a:p>
        </p:txBody>
      </p:sp>
      <p:sp>
        <p:nvSpPr>
          <p:cNvPr id="4" name="Rectangle 3"/>
          <p:cNvSpPr/>
          <p:nvPr/>
        </p:nvSpPr>
        <p:spPr>
          <a:xfrm>
            <a:off x="4480560" y="1371600"/>
            <a:ext cx="18288" cy="41148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3657600" cy="365760"/>
          </a:xfrm>
          <a:prstGeom prst="rect">
            <a:avLst/>
          </a:prstGeom>
          <a:noFill/>
        </p:spPr>
        <p:txBody>
          <a:bodyPr wrap="none">
            <a:spAutoFit/>
          </a:bodyPr>
          <a:lstStyle/>
          <a:p>
            <a:pPr>
              <a:defRPr sz="1600" b="1">
                <a:solidFill>
                  <a:srgbClr val="1E40AF"/>
                </a:solidFill>
              </a:defRPr>
            </a:pPr>
            <a:r>
              <a:t>Left</a:t>
            </a:r>
          </a:p>
        </p:txBody>
      </p:sp>
      <p:sp>
        <p:nvSpPr>
          <p:cNvPr id="6" name="TextBox 5"/>
          <p:cNvSpPr txBox="1"/>
          <p:nvPr/>
        </p:nvSpPr>
        <p:spPr>
          <a:xfrm>
            <a:off x="45720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What is Codex?</a:t>
            </a:r>
          </a:p>
          <a:p>
            <a:pPr>
              <a:lnSpc>
                <a:spcPct val="110000"/>
              </a:lnSpc>
              <a:spcBef>
                <a:spcPts val="400"/>
              </a:spcBef>
              <a:spcAft>
                <a:spcPts val="400"/>
              </a:spcAft>
              <a:defRPr sz="1400">
                <a:solidFill>
                  <a:srgbClr val="0F172A"/>
                </a:solidFill>
              </a:defRPr>
            </a:pPr>
            <a:r>
              <a:t>Applications in Finance</a:t>
            </a:r>
          </a:p>
        </p:txBody>
      </p:sp>
      <p:sp>
        <p:nvSpPr>
          <p:cNvPr id="7" name="TextBox 6"/>
          <p:cNvSpPr txBox="1"/>
          <p:nvPr/>
        </p:nvSpPr>
        <p:spPr>
          <a:xfrm>
            <a:off x="4846320" y="1280160"/>
            <a:ext cx="3657600" cy="365760"/>
          </a:xfrm>
          <a:prstGeom prst="rect">
            <a:avLst/>
          </a:prstGeom>
          <a:noFill/>
        </p:spPr>
        <p:txBody>
          <a:bodyPr wrap="none">
            <a:spAutoFit/>
          </a:bodyPr>
          <a:lstStyle/>
          <a:p>
            <a:pPr>
              <a:defRPr sz="1600" b="1">
                <a:solidFill>
                  <a:srgbClr val="1E40AF"/>
                </a:solidFill>
              </a:defRPr>
            </a:pPr>
            <a:r>
              <a:t>Right</a:t>
            </a:r>
          </a:p>
        </p:txBody>
      </p:sp>
      <p:sp>
        <p:nvSpPr>
          <p:cNvPr id="8" name="TextBox 7"/>
          <p:cNvSpPr txBox="1"/>
          <p:nvPr/>
        </p:nvSpPr>
        <p:spPr>
          <a:xfrm>
            <a:off x="484632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Benefits for Data Science</a:t>
            </a:r>
          </a:p>
          <a:p>
            <a:pPr>
              <a:lnSpc>
                <a:spcPct val="110000"/>
              </a:lnSpc>
              <a:spcBef>
                <a:spcPts val="400"/>
              </a:spcBef>
              <a:spcAft>
                <a:spcPts val="400"/>
              </a:spcAft>
              <a:defRPr sz="1400">
                <a:solidFill>
                  <a:srgbClr val="0F172A"/>
                </a:solidFill>
              </a:defRPr>
            </a:pPr>
            <a:r>
              <a:t>Challenges and Limitations</a:t>
            </a:r>
          </a:p>
          <a:p>
            <a:pPr>
              <a:lnSpc>
                <a:spcPct val="110000"/>
              </a:lnSpc>
              <a:spcBef>
                <a:spcPts val="400"/>
              </a:spcBef>
              <a:spcAft>
                <a:spcPts val="400"/>
              </a:spcAft>
              <a:defRPr sz="1400">
                <a:solidFill>
                  <a:srgbClr val="0F172A"/>
                </a:solidFill>
              </a:defRPr>
            </a:pPr>
            <a:r>
              <a:t>Future Directions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Codex?</a:t>
            </a:r>
          </a:p>
        </p:txBody>
      </p:sp>
      <p:sp>
        <p:nvSpPr>
          <p:cNvPr id="4" name="Rectangle 3"/>
          <p:cNvSpPr/>
          <p:nvPr/>
        </p:nvSpPr>
        <p:spPr>
          <a:xfrm>
            <a:off x="4480560" y="1371600"/>
            <a:ext cx="18288" cy="41148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3657600" cy="365760"/>
          </a:xfrm>
          <a:prstGeom prst="rect">
            <a:avLst/>
          </a:prstGeom>
          <a:noFill/>
        </p:spPr>
        <p:txBody>
          <a:bodyPr wrap="none">
            <a:spAutoFit/>
          </a:bodyPr>
          <a:lstStyle/>
          <a:p>
            <a:pPr>
              <a:defRPr sz="1600" b="1">
                <a:solidFill>
                  <a:srgbClr val="1E40AF"/>
                </a:solidFill>
              </a:defRPr>
            </a:pPr>
            <a:r>
              <a:t>Left</a:t>
            </a:r>
          </a:p>
        </p:txBody>
      </p:sp>
      <p:sp>
        <p:nvSpPr>
          <p:cNvPr id="6" name="TextBox 5"/>
          <p:cNvSpPr txBox="1"/>
          <p:nvPr/>
        </p:nvSpPr>
        <p:spPr>
          <a:xfrm>
            <a:off x="45720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Definition of Codex</a:t>
            </a:r>
          </a:p>
          <a:p>
            <a:pPr>
              <a:lnSpc>
                <a:spcPct val="110000"/>
              </a:lnSpc>
              <a:spcBef>
                <a:spcPts val="400"/>
              </a:spcBef>
              <a:spcAft>
                <a:spcPts val="400"/>
              </a:spcAft>
              <a:defRPr sz="1400">
                <a:solidFill>
                  <a:srgbClr val="0F172A"/>
                </a:solidFill>
              </a:defRPr>
            </a:pPr>
            <a:r>
              <a:t>Components of Codex</a:t>
            </a:r>
          </a:p>
        </p:txBody>
      </p:sp>
      <p:sp>
        <p:nvSpPr>
          <p:cNvPr id="7" name="TextBox 6"/>
          <p:cNvSpPr txBox="1"/>
          <p:nvPr/>
        </p:nvSpPr>
        <p:spPr>
          <a:xfrm>
            <a:off x="4846320" y="1280160"/>
            <a:ext cx="3657600" cy="365760"/>
          </a:xfrm>
          <a:prstGeom prst="rect">
            <a:avLst/>
          </a:prstGeom>
          <a:noFill/>
        </p:spPr>
        <p:txBody>
          <a:bodyPr wrap="none">
            <a:spAutoFit/>
          </a:bodyPr>
          <a:lstStyle/>
          <a:p>
            <a:pPr>
              <a:defRPr sz="1600" b="1">
                <a:solidFill>
                  <a:srgbClr val="1E40AF"/>
                </a:solidFill>
              </a:defRPr>
            </a:pPr>
            <a:r>
              <a:t>Right</a:t>
            </a:r>
          </a:p>
        </p:txBody>
      </p:sp>
      <p:sp>
        <p:nvSpPr>
          <p:cNvPr id="8" name="TextBox 7"/>
          <p:cNvSpPr txBox="1"/>
          <p:nvPr/>
        </p:nvSpPr>
        <p:spPr>
          <a:xfrm>
            <a:off x="484632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How it Works</a:t>
            </a:r>
          </a:p>
          <a:p>
            <a:pPr>
              <a:lnSpc>
                <a:spcPct val="110000"/>
              </a:lnSpc>
              <a:spcBef>
                <a:spcPts val="400"/>
              </a:spcBef>
              <a:spcAft>
                <a:spcPts val="400"/>
              </a:spcAft>
              <a:defRPr sz="1400">
                <a:solidFill>
                  <a:srgbClr val="0F172A"/>
                </a:solidFill>
              </a:defRPr>
            </a:pPr>
            <a:r>
              <a:t>Advantages of Codex</a:t>
            </a:r>
          </a:p>
          <a:p>
            <a:pPr>
              <a:lnSpc>
                <a:spcPct val="110000"/>
              </a:lnSpc>
              <a:spcBef>
                <a:spcPts val="400"/>
              </a:spcBef>
              <a:spcAft>
                <a:spcPts val="400"/>
              </a:spcAft>
              <a:defRPr sz="1400">
                <a:solidFill>
                  <a:srgbClr val="0F172A"/>
                </a:solidFill>
              </a:defRPr>
            </a:pPr>
            <a:r>
              <a:t>Disadvantages of Codex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Applications in Finance</a:t>
            </a:r>
          </a:p>
        </p:txBody>
      </p:sp>
      <p:sp>
        <p:nvSpPr>
          <p:cNvPr id="4" name="Rectangle 3"/>
          <p:cNvSpPr/>
          <p:nvPr/>
        </p:nvSpPr>
        <p:spPr>
          <a:xfrm>
            <a:off x="4480560" y="1371600"/>
            <a:ext cx="18288" cy="41148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3657600" cy="365760"/>
          </a:xfrm>
          <a:prstGeom prst="rect">
            <a:avLst/>
          </a:prstGeom>
          <a:noFill/>
        </p:spPr>
        <p:txBody>
          <a:bodyPr wrap="none">
            <a:spAutoFit/>
          </a:bodyPr>
          <a:lstStyle/>
          <a:p>
            <a:pPr>
              <a:defRPr sz="1600" b="1">
                <a:solidFill>
                  <a:srgbClr val="1E40AF"/>
                </a:solidFill>
              </a:defRPr>
            </a:pPr>
            <a:r>
              <a:t>Left</a:t>
            </a:r>
          </a:p>
        </p:txBody>
      </p:sp>
      <p:sp>
        <p:nvSpPr>
          <p:cNvPr id="6" name="TextBox 5"/>
          <p:cNvSpPr txBox="1"/>
          <p:nvPr/>
        </p:nvSpPr>
        <p:spPr>
          <a:xfrm>
            <a:off x="45720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Portfolio Optimization</a:t>
            </a:r>
          </a:p>
          <a:p>
            <a:pPr>
              <a:lnSpc>
                <a:spcPct val="110000"/>
              </a:lnSpc>
              <a:spcBef>
                <a:spcPts val="400"/>
              </a:spcBef>
              <a:spcAft>
                <a:spcPts val="400"/>
              </a:spcAft>
              <a:defRPr sz="1400">
                <a:solidFill>
                  <a:srgbClr val="0F172A"/>
                </a:solidFill>
              </a:defRPr>
            </a:pPr>
            <a:r>
              <a:t>Risk Management</a:t>
            </a:r>
          </a:p>
        </p:txBody>
      </p:sp>
      <p:sp>
        <p:nvSpPr>
          <p:cNvPr id="7" name="TextBox 6"/>
          <p:cNvSpPr txBox="1"/>
          <p:nvPr/>
        </p:nvSpPr>
        <p:spPr>
          <a:xfrm>
            <a:off x="4846320" y="1280160"/>
            <a:ext cx="3657600" cy="365760"/>
          </a:xfrm>
          <a:prstGeom prst="rect">
            <a:avLst/>
          </a:prstGeom>
          <a:noFill/>
        </p:spPr>
        <p:txBody>
          <a:bodyPr wrap="none">
            <a:spAutoFit/>
          </a:bodyPr>
          <a:lstStyle/>
          <a:p>
            <a:pPr>
              <a:defRPr sz="1600" b="1">
                <a:solidFill>
                  <a:srgbClr val="1E40AF"/>
                </a:solidFill>
              </a:defRPr>
            </a:pPr>
            <a:r>
              <a:t>Right</a:t>
            </a:r>
          </a:p>
        </p:txBody>
      </p:sp>
      <p:sp>
        <p:nvSpPr>
          <p:cNvPr id="8" name="TextBox 7"/>
          <p:cNvSpPr txBox="1"/>
          <p:nvPr/>
        </p:nvSpPr>
        <p:spPr>
          <a:xfrm>
            <a:off x="484632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Predictive Analytics</a:t>
            </a:r>
          </a:p>
          <a:p>
            <a:pPr>
              <a:lnSpc>
                <a:spcPct val="110000"/>
              </a:lnSpc>
              <a:spcBef>
                <a:spcPts val="400"/>
              </a:spcBef>
              <a:spcAft>
                <a:spcPts val="400"/>
              </a:spcAft>
              <a:defRPr sz="1400">
                <a:solidFill>
                  <a:srgbClr val="0F172A"/>
                </a:solidFill>
              </a:defRPr>
            </a:pPr>
            <a:r>
              <a:t>Market Analysis</a:t>
            </a:r>
          </a:p>
          <a:p>
            <a:pPr>
              <a:lnSpc>
                <a:spcPct val="110000"/>
              </a:lnSpc>
              <a:spcBef>
                <a:spcPts val="400"/>
              </a:spcBef>
              <a:spcAft>
                <a:spcPts val="400"/>
              </a:spcAft>
              <a:defRPr sz="1400">
                <a:solidFill>
                  <a:srgbClr val="0F172A"/>
                </a:solidFill>
              </a:defRPr>
            </a:pPr>
            <a:r>
              <a:t>Investment Decision-Making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Benefits for Data Science</a:t>
            </a:r>
          </a:p>
        </p:txBody>
      </p:sp>
      <p:sp>
        <p:nvSpPr>
          <p:cNvPr id="4" name="Rectangle 3"/>
          <p:cNvSpPr/>
          <p:nvPr/>
        </p:nvSpPr>
        <p:spPr>
          <a:xfrm>
            <a:off x="4480560" y="1371600"/>
            <a:ext cx="18288" cy="41148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3657600" cy="365760"/>
          </a:xfrm>
          <a:prstGeom prst="rect">
            <a:avLst/>
          </a:prstGeom>
          <a:noFill/>
        </p:spPr>
        <p:txBody>
          <a:bodyPr wrap="none">
            <a:spAutoFit/>
          </a:bodyPr>
          <a:lstStyle/>
          <a:p>
            <a:pPr>
              <a:defRPr sz="1600" b="1">
                <a:solidFill>
                  <a:srgbClr val="1E40AF"/>
                </a:solidFill>
              </a:defRPr>
            </a:pPr>
            <a:r>
              <a:t>Left</a:t>
            </a:r>
          </a:p>
        </p:txBody>
      </p:sp>
      <p:sp>
        <p:nvSpPr>
          <p:cNvPr id="6" name="TextBox 5"/>
          <p:cNvSpPr txBox="1"/>
          <p:nvPr/>
        </p:nvSpPr>
        <p:spPr>
          <a:xfrm>
            <a:off x="45720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Improved Accuracy</a:t>
            </a:r>
          </a:p>
          <a:p>
            <a:pPr>
              <a:lnSpc>
                <a:spcPct val="110000"/>
              </a:lnSpc>
              <a:spcBef>
                <a:spcPts val="400"/>
              </a:spcBef>
              <a:spcAft>
                <a:spcPts val="400"/>
              </a:spcAft>
              <a:defRPr sz="1400">
                <a:solidFill>
                  <a:srgbClr val="0F172A"/>
                </a:solidFill>
              </a:defRPr>
            </a:pPr>
            <a:r>
              <a:t>Increased Efficiency</a:t>
            </a:r>
          </a:p>
        </p:txBody>
      </p:sp>
      <p:sp>
        <p:nvSpPr>
          <p:cNvPr id="7" name="TextBox 6"/>
          <p:cNvSpPr txBox="1"/>
          <p:nvPr/>
        </p:nvSpPr>
        <p:spPr>
          <a:xfrm>
            <a:off x="4846320" y="1280160"/>
            <a:ext cx="3657600" cy="365760"/>
          </a:xfrm>
          <a:prstGeom prst="rect">
            <a:avLst/>
          </a:prstGeom>
          <a:noFill/>
        </p:spPr>
        <p:txBody>
          <a:bodyPr wrap="none">
            <a:spAutoFit/>
          </a:bodyPr>
          <a:lstStyle/>
          <a:p>
            <a:pPr>
              <a:defRPr sz="1600" b="1">
                <a:solidFill>
                  <a:srgbClr val="1E40AF"/>
                </a:solidFill>
              </a:defRPr>
            </a:pPr>
            <a:r>
              <a:t>Right</a:t>
            </a:r>
          </a:p>
        </p:txBody>
      </p:sp>
      <p:sp>
        <p:nvSpPr>
          <p:cNvPr id="8" name="TextBox 7"/>
          <p:cNvSpPr txBox="1"/>
          <p:nvPr/>
        </p:nvSpPr>
        <p:spPr>
          <a:xfrm>
            <a:off x="484632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Pattern Detection</a:t>
            </a:r>
          </a:p>
          <a:p>
            <a:pPr>
              <a:lnSpc>
                <a:spcPct val="110000"/>
              </a:lnSpc>
              <a:spcBef>
                <a:spcPts val="400"/>
              </a:spcBef>
              <a:spcAft>
                <a:spcPts val="400"/>
              </a:spcAft>
              <a:defRPr sz="1400">
                <a:solidFill>
                  <a:srgbClr val="0F172A"/>
                </a:solidFill>
              </a:defRPr>
            </a:pPr>
            <a:r>
              <a:t>Relationship Identification</a:t>
            </a:r>
          </a:p>
          <a:p>
            <a:pPr>
              <a:lnSpc>
                <a:spcPct val="110000"/>
              </a:lnSpc>
              <a:spcBef>
                <a:spcPts val="400"/>
              </a:spcBef>
              <a:spcAft>
                <a:spcPts val="400"/>
              </a:spcAft>
              <a:defRPr sz="1400">
                <a:solidFill>
                  <a:srgbClr val="0F172A"/>
                </a:solidFill>
              </a:defRPr>
            </a:pPr>
            <a:r>
              <a:t>Industry Applications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Challenges and Limitations</a:t>
            </a:r>
          </a:p>
        </p:txBody>
      </p:sp>
      <p:sp>
        <p:nvSpPr>
          <p:cNvPr id="4" name="Rectangle 3"/>
          <p:cNvSpPr/>
          <p:nvPr/>
        </p:nvSpPr>
        <p:spPr>
          <a:xfrm>
            <a:off x="4480560" y="1371600"/>
            <a:ext cx="18288" cy="41148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3657600" cy="365760"/>
          </a:xfrm>
          <a:prstGeom prst="rect">
            <a:avLst/>
          </a:prstGeom>
          <a:noFill/>
        </p:spPr>
        <p:txBody>
          <a:bodyPr wrap="none">
            <a:spAutoFit/>
          </a:bodyPr>
          <a:lstStyle/>
          <a:p>
            <a:pPr>
              <a:defRPr sz="1600" b="1">
                <a:solidFill>
                  <a:srgbClr val="1E40AF"/>
                </a:solidFill>
              </a:defRPr>
            </a:pPr>
            <a:r>
              <a:t>Left</a:t>
            </a:r>
          </a:p>
        </p:txBody>
      </p:sp>
      <p:sp>
        <p:nvSpPr>
          <p:cNvPr id="6" name="TextBox 5"/>
          <p:cNvSpPr txBox="1"/>
          <p:nvPr/>
        </p:nvSpPr>
        <p:spPr>
          <a:xfrm>
            <a:off x="45720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Data Requirements</a:t>
            </a:r>
          </a:p>
          <a:p>
            <a:pPr>
              <a:lnSpc>
                <a:spcPct val="110000"/>
              </a:lnSpc>
              <a:spcBef>
                <a:spcPts val="400"/>
              </a:spcBef>
              <a:spcAft>
                <a:spcPts val="400"/>
              </a:spcAft>
              <a:defRPr sz="1400">
                <a:solidFill>
                  <a:srgbClr val="0F172A"/>
                </a:solidFill>
              </a:defRPr>
            </a:pPr>
            <a:r>
              <a:t>Bias Risk</a:t>
            </a:r>
          </a:p>
        </p:txBody>
      </p:sp>
      <p:sp>
        <p:nvSpPr>
          <p:cNvPr id="7" name="TextBox 6"/>
          <p:cNvSpPr txBox="1"/>
          <p:nvPr/>
        </p:nvSpPr>
        <p:spPr>
          <a:xfrm>
            <a:off x="4846320" y="1280160"/>
            <a:ext cx="3657600" cy="365760"/>
          </a:xfrm>
          <a:prstGeom prst="rect">
            <a:avLst/>
          </a:prstGeom>
          <a:noFill/>
        </p:spPr>
        <p:txBody>
          <a:bodyPr wrap="none">
            <a:spAutoFit/>
          </a:bodyPr>
          <a:lstStyle/>
          <a:p>
            <a:pPr>
              <a:defRPr sz="1600" b="1">
                <a:solidFill>
                  <a:srgbClr val="1E40AF"/>
                </a:solidFill>
              </a:defRPr>
            </a:pPr>
            <a:r>
              <a:t>Right</a:t>
            </a:r>
          </a:p>
        </p:txBody>
      </p:sp>
      <p:sp>
        <p:nvSpPr>
          <p:cNvPr id="8" name="TextBox 7"/>
          <p:cNvSpPr txBox="1"/>
          <p:nvPr/>
        </p:nvSpPr>
        <p:spPr>
          <a:xfrm>
            <a:off x="484632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Interpretation Challenges</a:t>
            </a:r>
          </a:p>
          <a:p>
            <a:pPr>
              <a:lnSpc>
                <a:spcPct val="110000"/>
              </a:lnSpc>
              <a:spcBef>
                <a:spcPts val="400"/>
              </a:spcBef>
              <a:spcAft>
                <a:spcPts val="400"/>
              </a:spcAft>
              <a:defRPr sz="1400">
                <a:solidFill>
                  <a:srgbClr val="0F172A"/>
                </a:solidFill>
              </a:defRPr>
            </a:pPr>
            <a:r>
              <a:t>Computational Resources</a:t>
            </a:r>
          </a:p>
          <a:p>
            <a:pPr>
              <a:lnSpc>
                <a:spcPct val="110000"/>
              </a:lnSpc>
              <a:spcBef>
                <a:spcPts val="400"/>
              </a:spcBef>
              <a:spcAft>
                <a:spcPts val="400"/>
              </a:spcAft>
              <a:defRPr sz="1400">
                <a:solidFill>
                  <a:srgbClr val="0F172A"/>
                </a:solidFill>
              </a:defRPr>
            </a:pPr>
            <a:r>
              <a:t>Organization Size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Future Directions</a:t>
            </a:r>
          </a:p>
        </p:txBody>
      </p:sp>
      <p:sp>
        <p:nvSpPr>
          <p:cNvPr id="4" name="Rectangle 3"/>
          <p:cNvSpPr/>
          <p:nvPr/>
        </p:nvSpPr>
        <p:spPr>
          <a:xfrm>
            <a:off x="4480560" y="1371600"/>
            <a:ext cx="18288" cy="41148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3657600" cy="365760"/>
          </a:xfrm>
          <a:prstGeom prst="rect">
            <a:avLst/>
          </a:prstGeom>
          <a:noFill/>
        </p:spPr>
        <p:txBody>
          <a:bodyPr wrap="none">
            <a:spAutoFit/>
          </a:bodyPr>
          <a:lstStyle/>
          <a:p>
            <a:pPr>
              <a:defRPr sz="1600" b="1">
                <a:solidFill>
                  <a:srgbClr val="1E40AF"/>
                </a:solidFill>
              </a:defRPr>
            </a:pPr>
            <a:r>
              <a:t>Left</a:t>
            </a:r>
          </a:p>
        </p:txBody>
      </p:sp>
      <p:sp>
        <p:nvSpPr>
          <p:cNvPr id="6" name="TextBox 5"/>
          <p:cNvSpPr txBox="1"/>
          <p:nvPr/>
        </p:nvSpPr>
        <p:spPr>
          <a:xfrm>
            <a:off x="45720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Advancements in AI</a:t>
            </a:r>
          </a:p>
          <a:p>
            <a:pPr>
              <a:lnSpc>
                <a:spcPct val="110000"/>
              </a:lnSpc>
              <a:spcBef>
                <a:spcPts val="400"/>
              </a:spcBef>
              <a:spcAft>
                <a:spcPts val="400"/>
              </a:spcAft>
              <a:defRPr sz="1400">
                <a:solidFill>
                  <a:srgbClr val="0F172A"/>
                </a:solidFill>
              </a:defRPr>
            </a:pPr>
            <a:r>
              <a:t>Improved Data Integration</a:t>
            </a:r>
          </a:p>
        </p:txBody>
      </p:sp>
      <p:sp>
        <p:nvSpPr>
          <p:cNvPr id="7" name="TextBox 6"/>
          <p:cNvSpPr txBox="1"/>
          <p:nvPr/>
        </p:nvSpPr>
        <p:spPr>
          <a:xfrm>
            <a:off x="4846320" y="1280160"/>
            <a:ext cx="3657600" cy="365760"/>
          </a:xfrm>
          <a:prstGeom prst="rect">
            <a:avLst/>
          </a:prstGeom>
          <a:noFill/>
        </p:spPr>
        <p:txBody>
          <a:bodyPr wrap="none">
            <a:spAutoFit/>
          </a:bodyPr>
          <a:lstStyle/>
          <a:p>
            <a:pPr>
              <a:defRPr sz="1600" b="1">
                <a:solidFill>
                  <a:srgbClr val="1E40AF"/>
                </a:solidFill>
              </a:defRPr>
            </a:pPr>
            <a:r>
              <a:t>Right</a:t>
            </a:r>
          </a:p>
        </p:txBody>
      </p:sp>
      <p:sp>
        <p:nvSpPr>
          <p:cNvPr id="8" name="TextBox 7"/>
          <p:cNvSpPr txBox="1"/>
          <p:nvPr/>
        </p:nvSpPr>
        <p:spPr>
          <a:xfrm>
            <a:off x="484632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Increased Adoption</a:t>
            </a:r>
          </a:p>
          <a:p>
            <a:pPr>
              <a:lnSpc>
                <a:spcPct val="110000"/>
              </a:lnSpc>
              <a:spcBef>
                <a:spcPts val="400"/>
              </a:spcBef>
              <a:spcAft>
                <a:spcPts val="400"/>
              </a:spcAft>
              <a:defRPr sz="1400">
                <a:solidFill>
                  <a:srgbClr val="0F172A"/>
                </a:solidFill>
              </a:defRPr>
            </a:pPr>
            <a:r>
              <a:t>New Applications</a:t>
            </a:r>
          </a:p>
          <a:p>
            <a:pPr>
              <a:lnSpc>
                <a:spcPct val="110000"/>
              </a:lnSpc>
              <a:spcBef>
                <a:spcPts val="400"/>
              </a:spcBef>
              <a:spcAft>
                <a:spcPts val="400"/>
              </a:spcAft>
              <a:defRPr sz="1400">
                <a:solidFill>
                  <a:srgbClr val="0F172A"/>
                </a:solidFill>
              </a:defRPr>
            </a:pPr>
            <a:r>
              <a:t>Future Research Directions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Conclusion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In conclusion, codex is a powerful technology that has numerous applications in data science and finance. While it poses some challenges and limitations, the benefits of improved accuracy, efficiency, and pattern detection make it an exciting development for the industry.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Summary of Key Points</a:t>
            </a:r>
          </a:p>
          <a:p>
            <a:pPr>
              <a:lnSpc>
                <a:spcPct val="120000"/>
              </a:lnSpc>
              <a:spcBef>
                <a:spcPts val="300"/>
              </a:spcBef>
              <a:spcAft>
                <a:spcPts val="300"/>
              </a:spcAft>
              <a:defRPr sz="1600">
                <a:solidFill>
                  <a:srgbClr val="0F172A"/>
                </a:solidFill>
              </a:defRPr>
            </a:pPr>
            <a:r>
              <a:t>• Future Directions</a:t>
            </a:r>
          </a:p>
          <a:p>
            <a:pPr>
              <a:lnSpc>
                <a:spcPct val="120000"/>
              </a:lnSpc>
              <a:spcBef>
                <a:spcPts val="300"/>
              </a:spcBef>
              <a:spcAft>
                <a:spcPts val="300"/>
              </a:spcAft>
              <a:defRPr sz="1600">
                <a:solidFill>
                  <a:srgbClr val="0F172A"/>
                </a:solidFill>
              </a:defRPr>
            </a:pPr>
            <a:r>
              <a:t>• Conclusion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References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This presentation has cited several sources throughout. For a full list of references, please see the attached bibliography.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Bibliography</a:t>
            </a:r>
          </a:p>
          <a:p>
            <a:pPr>
              <a:lnSpc>
                <a:spcPct val="120000"/>
              </a:lnSpc>
              <a:spcBef>
                <a:spcPts val="300"/>
              </a:spcBef>
              <a:spcAft>
                <a:spcPts val="300"/>
              </a:spcAft>
              <a:defRPr sz="1600">
                <a:solidFill>
                  <a:srgbClr val="0F172A"/>
                </a:solidFill>
              </a:defRPr>
            </a:pPr>
            <a:r>
              <a:t>• Additional Resources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Introduction</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What is Codex?</a:t>
            </a:r>
            <a:br/>
            <a:r>
              <a:t>Applications in Finance</a:t>
            </a:r>
            <a:br/>
            <a:r>
              <a:t>Benefits for Data Science</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What is Codex?</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Definition of Codex</a:t>
            </a:r>
            <a:br/>
            <a:r>
              <a:t>Components of Codex</a:t>
            </a:r>
            <a:br/>
            <a:r>
              <a:t>How it Works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Applications in Finance</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Portfolio Optimization</a:t>
            </a:r>
            <a:br/>
            <a:r>
              <a:t>Risk Management</a:t>
            </a:r>
            <a:br/>
            <a:r>
              <a:t>Predictive Analytics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Rectangle 1"/>
          <p:cNvSpPr/>
          <p:nvPr/>
        </p:nvSpPr>
        <p:spPr>
          <a:xfrm>
            <a:off x="0" y="0"/>
            <a:ext cx="9144000" cy="20116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2560320" cy="320040"/>
          </a:xfrm>
          <a:prstGeom prst="rect">
            <a:avLst/>
          </a:prstGeom>
          <a:noFill/>
        </p:spPr>
        <p:txBody>
          <a:bodyPr wrap="square">
            <a:spAutoFit/>
          </a:bodyPr>
          <a:lstStyle/>
          <a:p>
            <a:pPr>
              <a:defRPr sz="1100" b="1">
                <a:solidFill>
                  <a:srgbClr val="F59E0B"/>
                </a:solidFill>
              </a:defRPr>
            </a:pPr>
            <a:r>
              <a:t>CONCLUSION</a:t>
            </a:r>
          </a:p>
        </p:txBody>
      </p:sp>
      <p:sp>
        <p:nvSpPr>
          <p:cNvPr id="4" name="TextBox 3"/>
          <p:cNvSpPr txBox="1"/>
          <p:nvPr/>
        </p:nvSpPr>
        <p:spPr>
          <a:xfrm>
            <a:off x="640080" y="914400"/>
            <a:ext cx="7863840" cy="868680"/>
          </a:xfrm>
          <a:prstGeom prst="rect">
            <a:avLst/>
          </a:prstGeom>
          <a:noFill/>
        </p:spPr>
        <p:txBody>
          <a:bodyPr wrap="square">
            <a:normAutofit/>
          </a:bodyPr>
          <a:lstStyle/>
          <a:p>
            <a:pPr>
              <a:lnSpc>
                <a:spcPct val="105000"/>
              </a:lnSpc>
              <a:defRPr sz="3600" b="1">
                <a:solidFill>
                  <a:srgbClr val="FFFFFF"/>
                </a:solidFill>
              </a:defRPr>
            </a:pPr>
            <a:r>
              <a:t>The presentation explores the concept of codex in data science and finance, highlighting its applications,...</a:t>
            </a:r>
          </a:p>
        </p:txBody>
      </p:sp>
      <p:sp>
        <p:nvSpPr>
          <p:cNvPr id="5" name="Rectangle 4"/>
          <p:cNvSpPr/>
          <p:nvPr/>
        </p:nvSpPr>
        <p:spPr>
          <a:xfrm>
            <a:off x="685800" y="2148840"/>
            <a:ext cx="2514600" cy="1874519"/>
          </a:xfrm>
          <a:prstGeom prst="rect">
            <a:avLst/>
          </a:prstGeom>
          <a:solidFill>
            <a:srgbClr val="FFFFFF"/>
          </a:solidFill>
          <a:ln w="1587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331720"/>
            <a:ext cx="411480" cy="365760"/>
          </a:xfrm>
          <a:prstGeom prst="rect">
            <a:avLst/>
          </a:prstGeom>
          <a:noFill/>
        </p:spPr>
        <p:txBody>
          <a:bodyPr wrap="none">
            <a:spAutoFit/>
          </a:bodyPr>
          <a:lstStyle/>
          <a:p>
            <a:pPr>
              <a:defRPr sz="1300" b="1">
                <a:solidFill>
                  <a:srgbClr val="F59E0B"/>
                </a:solidFill>
              </a:defRPr>
            </a:pPr>
            <a:r>
              <a:t>01</a:t>
            </a:r>
          </a:p>
        </p:txBody>
      </p:sp>
      <p:sp>
        <p:nvSpPr>
          <p:cNvPr id="7" name="TextBox 6"/>
          <p:cNvSpPr txBox="1"/>
          <p:nvPr/>
        </p:nvSpPr>
        <p:spPr>
          <a:xfrm>
            <a:off x="850392" y="2761488"/>
            <a:ext cx="2185416" cy="1005840"/>
          </a:xfrm>
          <a:prstGeom prst="rect">
            <a:avLst/>
          </a:prstGeom>
          <a:noFill/>
        </p:spPr>
        <p:txBody>
          <a:bodyPr wrap="square">
            <a:normAutofit/>
          </a:bodyPr>
          <a:lstStyle/>
          <a:p>
            <a:pPr>
              <a:lnSpc>
                <a:spcPct val="110000"/>
              </a:lnSpc>
              <a:defRPr sz="1600" b="1">
                <a:solidFill>
                  <a:srgbClr val="1E40AF"/>
                </a:solidFill>
              </a:defRPr>
            </a:pPr>
            <a:r>
              <a:t>What is Codex?</a:t>
            </a:r>
          </a:p>
        </p:txBody>
      </p:sp>
      <p:sp>
        <p:nvSpPr>
          <p:cNvPr id="8" name="Rectangle 7"/>
          <p:cNvSpPr/>
          <p:nvPr/>
        </p:nvSpPr>
        <p:spPr>
          <a:xfrm>
            <a:off x="3456432" y="2148840"/>
            <a:ext cx="2514600" cy="1874519"/>
          </a:xfrm>
          <a:prstGeom prst="rect">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21024" y="2331720"/>
            <a:ext cx="411480" cy="365760"/>
          </a:xfrm>
          <a:prstGeom prst="rect">
            <a:avLst/>
          </a:prstGeom>
          <a:noFill/>
        </p:spPr>
        <p:txBody>
          <a:bodyPr wrap="none">
            <a:spAutoFit/>
          </a:bodyPr>
          <a:lstStyle/>
          <a:p>
            <a:pPr>
              <a:defRPr sz="1300" b="1">
                <a:solidFill>
                  <a:srgbClr val="F59E0B"/>
                </a:solidFill>
              </a:defRPr>
            </a:pPr>
            <a:r>
              <a:t>02</a:t>
            </a:r>
          </a:p>
        </p:txBody>
      </p:sp>
      <p:sp>
        <p:nvSpPr>
          <p:cNvPr id="10" name="TextBox 9"/>
          <p:cNvSpPr txBox="1"/>
          <p:nvPr/>
        </p:nvSpPr>
        <p:spPr>
          <a:xfrm>
            <a:off x="3621024" y="2761488"/>
            <a:ext cx="2185416" cy="1005840"/>
          </a:xfrm>
          <a:prstGeom prst="rect">
            <a:avLst/>
          </a:prstGeom>
          <a:noFill/>
        </p:spPr>
        <p:txBody>
          <a:bodyPr wrap="square">
            <a:normAutofit/>
          </a:bodyPr>
          <a:lstStyle/>
          <a:p>
            <a:pPr>
              <a:lnSpc>
                <a:spcPct val="110000"/>
              </a:lnSpc>
              <a:defRPr sz="1600" b="1">
                <a:solidFill>
                  <a:srgbClr val="1E40AF"/>
                </a:solidFill>
              </a:defRPr>
            </a:pPr>
            <a:r>
              <a:t>Definition of Codex</a:t>
            </a:r>
          </a:p>
        </p:txBody>
      </p:sp>
      <p:sp>
        <p:nvSpPr>
          <p:cNvPr id="11" name="Rectangle 10"/>
          <p:cNvSpPr/>
          <p:nvPr/>
        </p:nvSpPr>
        <p:spPr>
          <a:xfrm>
            <a:off x="6227064" y="2148840"/>
            <a:ext cx="2514600" cy="1874519"/>
          </a:xfrm>
          <a:prstGeom prst="rect">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6" y="2331720"/>
            <a:ext cx="411480" cy="365760"/>
          </a:xfrm>
          <a:prstGeom prst="rect">
            <a:avLst/>
          </a:prstGeom>
          <a:noFill/>
        </p:spPr>
        <p:txBody>
          <a:bodyPr wrap="none">
            <a:spAutoFit/>
          </a:bodyPr>
          <a:lstStyle/>
          <a:p>
            <a:pPr>
              <a:defRPr sz="1300" b="1">
                <a:solidFill>
                  <a:srgbClr val="F59E0B"/>
                </a:solidFill>
              </a:defRPr>
            </a:pPr>
            <a:r>
              <a:t>03</a:t>
            </a:r>
          </a:p>
        </p:txBody>
      </p:sp>
      <p:sp>
        <p:nvSpPr>
          <p:cNvPr id="13" name="TextBox 12"/>
          <p:cNvSpPr txBox="1"/>
          <p:nvPr/>
        </p:nvSpPr>
        <p:spPr>
          <a:xfrm>
            <a:off x="6391656" y="2761488"/>
            <a:ext cx="2185416" cy="1005840"/>
          </a:xfrm>
          <a:prstGeom prst="rect">
            <a:avLst/>
          </a:prstGeom>
          <a:noFill/>
        </p:spPr>
        <p:txBody>
          <a:bodyPr wrap="square">
            <a:normAutofit/>
          </a:bodyPr>
          <a:lstStyle/>
          <a:p>
            <a:pPr>
              <a:lnSpc>
                <a:spcPct val="110000"/>
              </a:lnSpc>
              <a:defRPr sz="1600" b="1">
                <a:solidFill>
                  <a:srgbClr val="1E40AF"/>
                </a:solidFill>
              </a:defRPr>
            </a:pPr>
            <a:r>
              <a:t>Portfolio Optimization</a:t>
            </a:r>
          </a:p>
        </p:txBody>
      </p:sp>
      <p:sp>
        <p:nvSpPr>
          <p:cNvPr id="14" name="Rectangle 13"/>
          <p:cNvSpPr/>
          <p:nvPr/>
        </p:nvSpPr>
        <p:spPr>
          <a:xfrm>
            <a:off x="685800" y="4572000"/>
            <a:ext cx="7772400" cy="114300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736592"/>
            <a:ext cx="1097280" cy="320040"/>
          </a:xfrm>
          <a:prstGeom prst="rect">
            <a:avLst/>
          </a:prstGeom>
          <a:noFill/>
        </p:spPr>
        <p:txBody>
          <a:bodyPr wrap="none">
            <a:spAutoFit/>
          </a:bodyPr>
          <a:lstStyle/>
          <a:p>
            <a:pPr>
              <a:defRPr sz="1000" b="1">
                <a:solidFill>
                  <a:srgbClr val="1E40AF"/>
                </a:solidFill>
              </a:defRPr>
            </a:pPr>
            <a:r>
              <a:t>NEXT</a:t>
            </a:r>
          </a:p>
        </p:txBody>
      </p:sp>
      <p:sp>
        <p:nvSpPr>
          <p:cNvPr id="16" name="TextBox 15"/>
          <p:cNvSpPr txBox="1"/>
          <p:nvPr/>
        </p:nvSpPr>
        <p:spPr>
          <a:xfrm>
            <a:off x="960120" y="5029200"/>
            <a:ext cx="7223760" cy="457200"/>
          </a:xfrm>
          <a:prstGeom prst="rect">
            <a:avLst/>
          </a:prstGeom>
          <a:noFill/>
        </p:spPr>
        <p:txBody>
          <a:bodyPr wrap="square">
            <a:normAutofit/>
          </a:bodyPr>
          <a:lstStyle/>
          <a:p>
            <a:pPr>
              <a:defRPr sz="2000" b="1">
                <a:solidFill>
                  <a:srgbClr val="1E40AF"/>
                </a:solidFill>
              </a:defRPr>
            </a:pPr>
            <a:r>
              <a:t>Discuss the next step: what should we prioritize first?</a:t>
            </a:r>
          </a:p>
        </p:txBody>
      </p:sp>
      <p:sp>
        <p:nvSpPr>
          <p:cNvPr id="17" name="TextBox 16"/>
          <p:cNvSpPr txBox="1"/>
          <p:nvPr/>
        </p:nvSpPr>
        <p:spPr>
          <a:xfrm>
            <a:off x="685800" y="6172200"/>
            <a:ext cx="7772400" cy="320040"/>
          </a:xfrm>
          <a:prstGeom prst="rect">
            <a:avLst/>
          </a:prstGeom>
          <a:noFill/>
        </p:spPr>
        <p:txBody>
          <a:bodyPr wrap="none">
            <a:spAutoFit/>
          </a:bodyPr>
          <a:lstStyle/>
          <a:p>
            <a:pPr algn="r">
              <a:defRPr sz="1200">
                <a:solidFill>
                  <a:srgbClr val="FFFFFF"/>
                </a:solidFill>
              </a:defRPr>
            </a:pPr>
            <a:r>
              <a:t>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