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3F51B5"/>
        </a:solidFill>
        <a:effectLst/>
      </p:bgPr>
    </p:bg>
    <p:spTree>
      <p:nvGrpSpPr>
        <p:cNvPr id="1" name=""/>
        <p:cNvGrpSpPr/>
        <p:nvPr/>
      </p:nvGrpSpPr>
      <p:grpSpPr/>
      <p:sp>
        <p:nvSpPr>
          <p:cNvPr id="2" name="Oval 1"/>
          <p:cNvSpPr/>
          <p:nvPr/>
        </p:nvSpPr>
        <p:spPr>
          <a:xfrm>
            <a:off x="6355079" y="-1143000"/>
            <a:ext cx="4114800" cy="4114800"/>
          </a:xfrm>
          <a:prstGeom prst="ellipse">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1440" y="4754880"/>
            <a:ext cx="2011680" cy="2011680"/>
          </a:xfrm>
          <a:prstGeom prst="ellipse">
            <a:avLst/>
          </a:prstGeom>
          <a:noFill/>
          <a:ln w="31750">
            <a:solidFill>
              <a:srgbClr val="5C6B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377440"/>
            <a:ext cx="7680960" cy="2011680"/>
          </a:xfrm>
          <a:prstGeom prst="rect">
            <a:avLst/>
          </a:prstGeom>
          <a:noFill/>
        </p:spPr>
        <p:txBody>
          <a:bodyPr wrap="square">
            <a:spAutoFit/>
          </a:bodyPr>
          <a:lstStyle/>
          <a:p>
            <a:pPr algn="ctr">
              <a:lnSpc>
                <a:spcPct val="115000"/>
              </a:lnSpc>
              <a:defRPr sz="4000" b="1">
                <a:solidFill>
                  <a:srgbClr val="FFFFFF"/>
                </a:solidFill>
              </a:defRPr>
            </a:pPr>
            <a:r>
              <a:t>The Rise of Artificial Intelligence</a:t>
            </a:r>
          </a:p>
        </p:txBody>
      </p:sp>
      <p:sp>
        <p:nvSpPr>
          <p:cNvPr id="5" name="Rectangle 4"/>
          <p:cNvSpPr/>
          <p:nvPr/>
        </p:nvSpPr>
        <p:spPr>
          <a:xfrm>
            <a:off x="0" y="6748272"/>
            <a:ext cx="9144000" cy="109728"/>
          </a:xfrm>
          <a:prstGeom prst="rect">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What is Artificial Intelligence?</a:t>
            </a:r>
          </a:p>
        </p:txBody>
      </p:sp>
      <p:sp>
        <p:nvSpPr>
          <p:cNvPr id="4" name="TextBox 3"/>
          <p:cNvSpPr txBox="1"/>
          <p:nvPr/>
        </p:nvSpPr>
        <p:spPr>
          <a:xfrm>
            <a:off x="731520" y="1417320"/>
            <a:ext cx="7680960" cy="1234439"/>
          </a:xfrm>
          <a:prstGeom prst="rect">
            <a:avLst/>
          </a:prstGeom>
          <a:noFill/>
        </p:spPr>
        <p:txBody>
          <a:bodyPr wrap="square">
            <a:spAutoFit/>
          </a:bodyPr>
          <a:lstStyle/>
          <a:p>
            <a:pPr>
              <a:lnSpc>
                <a:spcPct val="130000"/>
              </a:lnSpc>
              <a:defRPr sz="1600">
                <a:solidFill>
                  <a:srgbClr val="0F172A"/>
                </a:solidFill>
              </a:defRPr>
            </a:pPr>
            <a:r>
              <a:t>Artificial intelligence (AI) refers to the development of computer systems that can perform tasks that typically require human intelligence, such as visual perception, speech recognition, decision-making, and language translation. AI systems are designed to learn from data and improve their performance over time.</a:t>
            </a:r>
          </a:p>
        </p:txBody>
      </p:sp>
      <p:sp>
        <p:nvSpPr>
          <p:cNvPr id="5" name="Oval 4"/>
          <p:cNvSpPr/>
          <p:nvPr/>
        </p:nvSpPr>
        <p:spPr>
          <a:xfrm>
            <a:off x="502920" y="2971800"/>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926080"/>
            <a:ext cx="7589520" cy="685800"/>
          </a:xfrm>
          <a:prstGeom prst="rect">
            <a:avLst/>
          </a:prstGeom>
          <a:noFill/>
        </p:spPr>
        <p:txBody>
          <a:bodyPr wrap="square">
            <a:spAutoFit/>
          </a:bodyPr>
          <a:lstStyle/>
          <a:p>
            <a:pPr>
              <a:lnSpc>
                <a:spcPct val="130000"/>
              </a:lnSpc>
              <a:defRPr sz="1600">
                <a:solidFill>
                  <a:srgbClr val="0F172A"/>
                </a:solidFill>
              </a:defRPr>
            </a:pPr>
            <a:r>
              <a:t>Machine learning</a:t>
            </a:r>
          </a:p>
        </p:txBody>
      </p:sp>
      <p:sp>
        <p:nvSpPr>
          <p:cNvPr id="7" name="Oval 6"/>
          <p:cNvSpPr/>
          <p:nvPr/>
        </p:nvSpPr>
        <p:spPr>
          <a:xfrm>
            <a:off x="502920" y="3721608"/>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675888"/>
            <a:ext cx="7589520" cy="685800"/>
          </a:xfrm>
          <a:prstGeom prst="rect">
            <a:avLst/>
          </a:prstGeom>
          <a:noFill/>
        </p:spPr>
        <p:txBody>
          <a:bodyPr wrap="square">
            <a:spAutoFit/>
          </a:bodyPr>
          <a:lstStyle/>
          <a:p>
            <a:pPr>
              <a:lnSpc>
                <a:spcPct val="130000"/>
              </a:lnSpc>
              <a:defRPr sz="1600">
                <a:solidFill>
                  <a:srgbClr val="0F172A"/>
                </a:solidFill>
              </a:defRPr>
            </a:pPr>
            <a:r>
              <a:t>Natural language processing</a:t>
            </a:r>
          </a:p>
        </p:txBody>
      </p:sp>
      <p:sp>
        <p:nvSpPr>
          <p:cNvPr id="9" name="Oval 8"/>
          <p:cNvSpPr/>
          <p:nvPr/>
        </p:nvSpPr>
        <p:spPr>
          <a:xfrm>
            <a:off x="502920" y="4471416"/>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425696"/>
            <a:ext cx="7589520" cy="685800"/>
          </a:xfrm>
          <a:prstGeom prst="rect">
            <a:avLst/>
          </a:prstGeom>
          <a:noFill/>
        </p:spPr>
        <p:txBody>
          <a:bodyPr wrap="square">
            <a:spAutoFit/>
          </a:bodyPr>
          <a:lstStyle/>
          <a:p>
            <a:pPr>
              <a:lnSpc>
                <a:spcPct val="130000"/>
              </a:lnSpc>
              <a:defRPr sz="1600">
                <a:solidFill>
                  <a:srgbClr val="0F172A"/>
                </a:solidFill>
              </a:defRPr>
            </a:pPr>
            <a:r>
              <a:t>Computer vision</a:t>
            </a:r>
          </a:p>
        </p:txBody>
      </p:sp>
      <p:sp>
        <p:nvSpPr>
          <p:cNvPr id="11" name="Oval 10"/>
          <p:cNvSpPr/>
          <p:nvPr/>
        </p:nvSpPr>
        <p:spPr>
          <a:xfrm>
            <a:off x="502920" y="5221224"/>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5175504"/>
            <a:ext cx="7589520" cy="685800"/>
          </a:xfrm>
          <a:prstGeom prst="rect">
            <a:avLst/>
          </a:prstGeom>
          <a:noFill/>
        </p:spPr>
        <p:txBody>
          <a:bodyPr wrap="square">
            <a:spAutoFit/>
          </a:bodyPr>
          <a:lstStyle/>
          <a:p>
            <a:pPr>
              <a:lnSpc>
                <a:spcPct val="130000"/>
              </a:lnSpc>
              <a:defRPr sz="1600">
                <a:solidFill>
                  <a:srgbClr val="0F172A"/>
                </a:solidFill>
              </a:defRPr>
            </a:pPr>
            <a:r>
              <a:t>Robotics</a:t>
            </a:r>
          </a:p>
        </p:txBody>
      </p:sp>
      <p:sp>
        <p:nvSpPr>
          <p:cNvPr id="13" name="Rectangle 12"/>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6565392"/>
            <a:ext cx="6400800" cy="256032"/>
          </a:xfrm>
          <a:prstGeom prst="rect">
            <a:avLst/>
          </a:prstGeom>
          <a:noFill/>
        </p:spPr>
        <p:txBody>
          <a:bodyPr wrap="none">
            <a:spAutoFit/>
          </a:bodyPr>
          <a:lstStyle/>
          <a:p>
            <a:pPr>
              <a:defRPr sz="900">
                <a:solidFill>
                  <a:srgbClr val="64748B"/>
                </a:solidFill>
              </a:defRPr>
            </a:pPr>
            <a:r>
              <a:t>The Rise of Artificial Intelligence</a:t>
            </a:r>
          </a:p>
        </p:txBody>
      </p:sp>
      <p:sp>
        <p:nvSpPr>
          <p:cNvPr id="15" name="TextBox 14"/>
          <p:cNvSpPr txBox="1"/>
          <p:nvPr/>
        </p:nvSpPr>
        <p:spPr>
          <a:xfrm>
            <a:off x="7772400" y="6565392"/>
            <a:ext cx="914400" cy="256032"/>
          </a:xfrm>
          <a:prstGeom prst="rect">
            <a:avLst/>
          </a:prstGeom>
          <a:noFill/>
        </p:spPr>
        <p:txBody>
          <a:bodyPr wrap="none">
            <a:spAutoFit/>
          </a:bodyPr>
          <a:lstStyle/>
          <a:p>
            <a:pPr algn="r">
              <a:defRPr sz="900">
                <a:solidFill>
                  <a:srgbClr val="64748B"/>
                </a:solidFill>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Benefits of Artificial Intelligence</a:t>
            </a:r>
          </a:p>
        </p:txBody>
      </p:sp>
      <p:sp>
        <p:nvSpPr>
          <p:cNvPr id="4" name="TextBox 3"/>
          <p:cNvSpPr txBox="1"/>
          <p:nvPr/>
        </p:nvSpPr>
        <p:spPr>
          <a:xfrm>
            <a:off x="457200" y="1417320"/>
            <a:ext cx="4114800" cy="1600200"/>
          </a:xfrm>
          <a:prstGeom prst="rect">
            <a:avLst/>
          </a:prstGeom>
          <a:noFill/>
        </p:spPr>
        <p:txBody>
          <a:bodyPr wrap="square">
            <a:spAutoFit/>
          </a:bodyPr>
          <a:lstStyle/>
          <a:p>
            <a:pPr>
              <a:lnSpc>
                <a:spcPct val="130000"/>
              </a:lnSpc>
              <a:defRPr sz="1400">
                <a:solidFill>
                  <a:srgbClr val="0F172A"/>
                </a:solidFill>
              </a:defRPr>
            </a:pPr>
            <a:r>
              <a:t>The benefits of AI are numerous, including improved efficiency, accuracy, and decision-making capabilities. AI can help businesses automate routine tasks, free up human resources for more complex tasks, and provide personalized experiences for customers.</a:t>
            </a:r>
          </a:p>
        </p:txBody>
      </p:sp>
      <p:sp>
        <p:nvSpPr>
          <p:cNvPr id="5" name="Oval 4"/>
          <p:cNvSpPr/>
          <p:nvPr/>
        </p:nvSpPr>
        <p:spPr>
          <a:xfrm>
            <a:off x="457200" y="3392424"/>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3337560"/>
            <a:ext cx="3858768" cy="658368"/>
          </a:xfrm>
          <a:prstGeom prst="rect">
            <a:avLst/>
          </a:prstGeom>
          <a:noFill/>
        </p:spPr>
        <p:txBody>
          <a:bodyPr wrap="square">
            <a:spAutoFit/>
          </a:bodyPr>
          <a:lstStyle/>
          <a:p>
            <a:pPr>
              <a:lnSpc>
                <a:spcPct val="130000"/>
              </a:lnSpc>
              <a:defRPr sz="1500">
                <a:solidFill>
                  <a:srgbClr val="0F172A"/>
                </a:solidFill>
              </a:defRPr>
            </a:pPr>
            <a:r>
              <a:t>Increased productivity</a:t>
            </a:r>
          </a:p>
        </p:txBody>
      </p:sp>
      <p:sp>
        <p:nvSpPr>
          <p:cNvPr id="7" name="Oval 6"/>
          <p:cNvSpPr/>
          <p:nvPr/>
        </p:nvSpPr>
        <p:spPr>
          <a:xfrm>
            <a:off x="457200" y="4123944"/>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4944" y="4069080"/>
            <a:ext cx="3858768" cy="658368"/>
          </a:xfrm>
          <a:prstGeom prst="rect">
            <a:avLst/>
          </a:prstGeom>
          <a:noFill/>
        </p:spPr>
        <p:txBody>
          <a:bodyPr wrap="square">
            <a:spAutoFit/>
          </a:bodyPr>
          <a:lstStyle/>
          <a:p>
            <a:pPr>
              <a:lnSpc>
                <a:spcPct val="130000"/>
              </a:lnSpc>
              <a:defRPr sz="1500">
                <a:solidFill>
                  <a:srgbClr val="0F172A"/>
                </a:solidFill>
              </a:defRPr>
            </a:pPr>
            <a:r>
              <a:t>Improved accuracy</a:t>
            </a:r>
          </a:p>
        </p:txBody>
      </p:sp>
      <p:sp>
        <p:nvSpPr>
          <p:cNvPr id="9" name="Oval 8"/>
          <p:cNvSpPr/>
          <p:nvPr/>
        </p:nvSpPr>
        <p:spPr>
          <a:xfrm>
            <a:off x="457200" y="4855464"/>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4800600"/>
            <a:ext cx="3858768" cy="658368"/>
          </a:xfrm>
          <a:prstGeom prst="rect">
            <a:avLst/>
          </a:prstGeom>
          <a:noFill/>
        </p:spPr>
        <p:txBody>
          <a:bodyPr wrap="square">
            <a:spAutoFit/>
          </a:bodyPr>
          <a:lstStyle/>
          <a:p>
            <a:pPr>
              <a:lnSpc>
                <a:spcPct val="130000"/>
              </a:lnSpc>
              <a:defRPr sz="1500">
                <a:solidFill>
                  <a:srgbClr val="0F172A"/>
                </a:solidFill>
              </a:defRPr>
            </a:pPr>
            <a:r>
              <a:t>Enhanced decision-making</a:t>
            </a:r>
          </a:p>
        </p:txBody>
      </p:sp>
      <p:sp>
        <p:nvSpPr>
          <p:cNvPr id="11" name="Oval 10"/>
          <p:cNvSpPr/>
          <p:nvPr/>
        </p:nvSpPr>
        <p:spPr>
          <a:xfrm>
            <a:off x="457200" y="5586983"/>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 y="5532120"/>
            <a:ext cx="3858768" cy="658368"/>
          </a:xfrm>
          <a:prstGeom prst="rect">
            <a:avLst/>
          </a:prstGeom>
          <a:noFill/>
        </p:spPr>
        <p:txBody>
          <a:bodyPr wrap="square">
            <a:spAutoFit/>
          </a:bodyPr>
          <a:lstStyle/>
          <a:p>
            <a:pPr>
              <a:lnSpc>
                <a:spcPct val="130000"/>
              </a:lnSpc>
              <a:defRPr sz="1500">
                <a:solidFill>
                  <a:srgbClr val="0F172A"/>
                </a:solidFill>
              </a:defRPr>
            </a:pPr>
            <a:r>
              <a:t>Personalized experiences</a:t>
            </a:r>
          </a:p>
        </p:txBody>
      </p:sp>
      <p:pic>
        <p:nvPicPr>
          <p:cNvPr id="13" name="Picture 12" descr="unsplash__0iV9LmPDn0.jpg"/>
          <p:cNvPicPr>
            <a:picLocks noChangeAspect="1"/>
          </p:cNvPicPr>
          <p:nvPr/>
        </p:nvPicPr>
        <p:blipFill>
          <a:blip r:embed="rId2"/>
          <a:stretch>
            <a:fillRect/>
          </a:stretch>
        </p:blipFill>
        <p:spPr>
          <a:xfrm>
            <a:off x="4754880" y="1280160"/>
            <a:ext cx="3840480" cy="4937760"/>
          </a:xfrm>
          <a:prstGeom prst="rect">
            <a:avLst/>
          </a:prstGeom>
        </p:spPr>
      </p:pic>
      <p:sp>
        <p:nvSpPr>
          <p:cNvPr id="14" name="Rectangle 13"/>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6565392"/>
            <a:ext cx="6400800" cy="256032"/>
          </a:xfrm>
          <a:prstGeom prst="rect">
            <a:avLst/>
          </a:prstGeom>
          <a:noFill/>
        </p:spPr>
        <p:txBody>
          <a:bodyPr wrap="none">
            <a:spAutoFit/>
          </a:bodyPr>
          <a:lstStyle/>
          <a:p>
            <a:pPr>
              <a:defRPr sz="900">
                <a:solidFill>
                  <a:srgbClr val="64748B"/>
                </a:solidFill>
              </a:defRPr>
            </a:pPr>
            <a:r>
              <a:t>The Rise of Artificial Intelligence</a:t>
            </a:r>
          </a:p>
        </p:txBody>
      </p:sp>
      <p:sp>
        <p:nvSpPr>
          <p:cNvPr id="16" name="TextBox 15"/>
          <p:cNvSpPr txBox="1"/>
          <p:nvPr/>
        </p:nvSpPr>
        <p:spPr>
          <a:xfrm>
            <a:off x="7772400" y="6565392"/>
            <a:ext cx="914400" cy="256032"/>
          </a:xfrm>
          <a:prstGeom prst="rect">
            <a:avLst/>
          </a:prstGeom>
          <a:noFill/>
        </p:spPr>
        <p:txBody>
          <a:bodyPr wrap="none">
            <a:spAutoFit/>
          </a:bodyPr>
          <a:lstStyle/>
          <a:p>
            <a:pPr algn="r">
              <a:defRPr sz="900">
                <a:solidFill>
                  <a:srgbClr val="64748B"/>
                </a:solidFill>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Challenges of Artificial Intelligence</a:t>
            </a:r>
          </a:p>
        </p:txBody>
      </p:sp>
      <p:sp>
        <p:nvSpPr>
          <p:cNvPr id="4" name="TextBox 3"/>
          <p:cNvSpPr txBox="1"/>
          <p:nvPr/>
        </p:nvSpPr>
        <p:spPr>
          <a:xfrm>
            <a:off x="731520" y="1417320"/>
            <a:ext cx="7680960" cy="960119"/>
          </a:xfrm>
          <a:prstGeom prst="rect">
            <a:avLst/>
          </a:prstGeom>
          <a:noFill/>
        </p:spPr>
        <p:txBody>
          <a:bodyPr wrap="square">
            <a:spAutoFit/>
          </a:bodyPr>
          <a:lstStyle/>
          <a:p>
            <a:pPr>
              <a:lnSpc>
                <a:spcPct val="130000"/>
              </a:lnSpc>
              <a:defRPr sz="1600">
                <a:solidFill>
                  <a:srgbClr val="0F172A"/>
                </a:solidFill>
              </a:defRPr>
            </a:pPr>
            <a:r>
              <a:t>While AI holds much promise, there are also challenges to consider. These include concerns about job displacement, data privacy and security, bias in algorithms, and the need for human oversight and intervention.</a:t>
            </a:r>
          </a:p>
        </p:txBody>
      </p:sp>
      <p:sp>
        <p:nvSpPr>
          <p:cNvPr id="5" name="Oval 4"/>
          <p:cNvSpPr/>
          <p:nvPr/>
        </p:nvSpPr>
        <p:spPr>
          <a:xfrm>
            <a:off x="502920" y="2697479"/>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651760"/>
            <a:ext cx="7589520" cy="685800"/>
          </a:xfrm>
          <a:prstGeom prst="rect">
            <a:avLst/>
          </a:prstGeom>
          <a:noFill/>
        </p:spPr>
        <p:txBody>
          <a:bodyPr wrap="square">
            <a:spAutoFit/>
          </a:bodyPr>
          <a:lstStyle/>
          <a:p>
            <a:pPr>
              <a:lnSpc>
                <a:spcPct val="130000"/>
              </a:lnSpc>
              <a:defRPr sz="1600">
                <a:solidFill>
                  <a:srgbClr val="0F172A"/>
                </a:solidFill>
              </a:defRPr>
            </a:pPr>
            <a:r>
              <a:t>Job displacement</a:t>
            </a:r>
          </a:p>
        </p:txBody>
      </p:sp>
      <p:sp>
        <p:nvSpPr>
          <p:cNvPr id="7" name="Oval 6"/>
          <p:cNvSpPr/>
          <p:nvPr/>
        </p:nvSpPr>
        <p:spPr>
          <a:xfrm>
            <a:off x="502920" y="3447287"/>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401568"/>
            <a:ext cx="7589520" cy="685800"/>
          </a:xfrm>
          <a:prstGeom prst="rect">
            <a:avLst/>
          </a:prstGeom>
          <a:noFill/>
        </p:spPr>
        <p:txBody>
          <a:bodyPr wrap="square">
            <a:spAutoFit/>
          </a:bodyPr>
          <a:lstStyle/>
          <a:p>
            <a:pPr>
              <a:lnSpc>
                <a:spcPct val="130000"/>
              </a:lnSpc>
              <a:defRPr sz="1600">
                <a:solidFill>
                  <a:srgbClr val="0F172A"/>
                </a:solidFill>
              </a:defRPr>
            </a:pPr>
            <a:r>
              <a:t>Data privacy concerns</a:t>
            </a:r>
          </a:p>
        </p:txBody>
      </p:sp>
      <p:sp>
        <p:nvSpPr>
          <p:cNvPr id="9" name="Oval 8"/>
          <p:cNvSpPr/>
          <p:nvPr/>
        </p:nvSpPr>
        <p:spPr>
          <a:xfrm>
            <a:off x="502920" y="4197096"/>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51376"/>
            <a:ext cx="7589520" cy="685800"/>
          </a:xfrm>
          <a:prstGeom prst="rect">
            <a:avLst/>
          </a:prstGeom>
          <a:noFill/>
        </p:spPr>
        <p:txBody>
          <a:bodyPr wrap="square">
            <a:spAutoFit/>
          </a:bodyPr>
          <a:lstStyle/>
          <a:p>
            <a:pPr>
              <a:lnSpc>
                <a:spcPct val="130000"/>
              </a:lnSpc>
              <a:defRPr sz="1600">
                <a:solidFill>
                  <a:srgbClr val="0F172A"/>
                </a:solidFill>
              </a:defRPr>
            </a:pPr>
            <a:r>
              <a:t>Algorithmic bias</a:t>
            </a:r>
          </a:p>
        </p:txBody>
      </p:sp>
      <p:sp>
        <p:nvSpPr>
          <p:cNvPr id="11" name="Oval 10"/>
          <p:cNvSpPr/>
          <p:nvPr/>
        </p:nvSpPr>
        <p:spPr>
          <a:xfrm>
            <a:off x="502920" y="4946904"/>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901184"/>
            <a:ext cx="7589520" cy="685800"/>
          </a:xfrm>
          <a:prstGeom prst="rect">
            <a:avLst/>
          </a:prstGeom>
          <a:noFill/>
        </p:spPr>
        <p:txBody>
          <a:bodyPr wrap="square">
            <a:spAutoFit/>
          </a:bodyPr>
          <a:lstStyle/>
          <a:p>
            <a:pPr>
              <a:lnSpc>
                <a:spcPct val="130000"/>
              </a:lnSpc>
              <a:defRPr sz="1600">
                <a:solidFill>
                  <a:srgbClr val="0F172A"/>
                </a:solidFill>
              </a:defRPr>
            </a:pPr>
            <a:r>
              <a:t>Human oversight needed</a:t>
            </a:r>
          </a:p>
        </p:txBody>
      </p:sp>
      <p:sp>
        <p:nvSpPr>
          <p:cNvPr id="13" name="Rectangle 12"/>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6565392"/>
            <a:ext cx="6400800" cy="256032"/>
          </a:xfrm>
          <a:prstGeom prst="rect">
            <a:avLst/>
          </a:prstGeom>
          <a:noFill/>
        </p:spPr>
        <p:txBody>
          <a:bodyPr wrap="none">
            <a:spAutoFit/>
          </a:bodyPr>
          <a:lstStyle/>
          <a:p>
            <a:pPr>
              <a:defRPr sz="900">
                <a:solidFill>
                  <a:srgbClr val="64748B"/>
                </a:solidFill>
              </a:defRPr>
            </a:pPr>
            <a:r>
              <a:t>The Rise of Artificial Intelligence</a:t>
            </a:r>
          </a:p>
        </p:txBody>
      </p:sp>
      <p:sp>
        <p:nvSpPr>
          <p:cNvPr id="15" name="TextBox 14"/>
          <p:cNvSpPr txBox="1"/>
          <p:nvPr/>
        </p:nvSpPr>
        <p:spPr>
          <a:xfrm>
            <a:off x="7772400" y="6565392"/>
            <a:ext cx="914400" cy="256032"/>
          </a:xfrm>
          <a:prstGeom prst="rect">
            <a:avLst/>
          </a:prstGeom>
          <a:noFill/>
        </p:spPr>
        <p:txBody>
          <a:bodyPr wrap="none">
            <a:spAutoFit/>
          </a:bodyPr>
          <a:lstStyle/>
          <a:p>
            <a:pPr algn="r">
              <a:defRPr sz="900">
                <a:solidFill>
                  <a:srgbClr val="64748B"/>
                </a:solidFill>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Applications of Artificial Intelligence</a:t>
            </a:r>
          </a:p>
        </p:txBody>
      </p:sp>
      <p:sp>
        <p:nvSpPr>
          <p:cNvPr id="4" name="TextBox 3"/>
          <p:cNvSpPr txBox="1"/>
          <p:nvPr/>
        </p:nvSpPr>
        <p:spPr>
          <a:xfrm>
            <a:off x="457200" y="1417320"/>
            <a:ext cx="4114800" cy="1307592"/>
          </a:xfrm>
          <a:prstGeom prst="rect">
            <a:avLst/>
          </a:prstGeom>
          <a:noFill/>
        </p:spPr>
        <p:txBody>
          <a:bodyPr wrap="square">
            <a:spAutoFit/>
          </a:bodyPr>
          <a:lstStyle/>
          <a:p>
            <a:pPr>
              <a:lnSpc>
                <a:spcPct val="130000"/>
              </a:lnSpc>
              <a:defRPr sz="1400">
                <a:solidFill>
                  <a:srgbClr val="0F172A"/>
                </a:solidFill>
              </a:defRPr>
            </a:pPr>
            <a:r>
              <a:t>AI has a wide range of applications across various industries. For instance, AI-powered chatbots can improve customer service, while AI-driven analytics can help businesses make data-driven decisions.</a:t>
            </a:r>
          </a:p>
        </p:txBody>
      </p:sp>
      <p:sp>
        <p:nvSpPr>
          <p:cNvPr id="5" name="Oval 4"/>
          <p:cNvSpPr/>
          <p:nvPr/>
        </p:nvSpPr>
        <p:spPr>
          <a:xfrm>
            <a:off x="457200" y="3099816"/>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3044952"/>
            <a:ext cx="3858768" cy="658368"/>
          </a:xfrm>
          <a:prstGeom prst="rect">
            <a:avLst/>
          </a:prstGeom>
          <a:noFill/>
        </p:spPr>
        <p:txBody>
          <a:bodyPr wrap="square">
            <a:spAutoFit/>
          </a:bodyPr>
          <a:lstStyle/>
          <a:p>
            <a:pPr>
              <a:lnSpc>
                <a:spcPct val="130000"/>
              </a:lnSpc>
              <a:defRPr sz="1500">
                <a:solidFill>
                  <a:srgbClr val="0F172A"/>
                </a:solidFill>
              </a:defRPr>
            </a:pPr>
            <a:r>
              <a:t>Customer service</a:t>
            </a:r>
          </a:p>
        </p:txBody>
      </p:sp>
      <p:sp>
        <p:nvSpPr>
          <p:cNvPr id="7" name="Oval 6"/>
          <p:cNvSpPr/>
          <p:nvPr/>
        </p:nvSpPr>
        <p:spPr>
          <a:xfrm>
            <a:off x="457200" y="3831335"/>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4944" y="3776472"/>
            <a:ext cx="3858768" cy="658368"/>
          </a:xfrm>
          <a:prstGeom prst="rect">
            <a:avLst/>
          </a:prstGeom>
          <a:noFill/>
        </p:spPr>
        <p:txBody>
          <a:bodyPr wrap="square">
            <a:spAutoFit/>
          </a:bodyPr>
          <a:lstStyle/>
          <a:p>
            <a:pPr>
              <a:lnSpc>
                <a:spcPct val="130000"/>
              </a:lnSpc>
              <a:defRPr sz="1500">
                <a:solidFill>
                  <a:srgbClr val="0F172A"/>
                </a:solidFill>
              </a:defRPr>
            </a:pPr>
            <a:r>
              <a:t>Data analytics</a:t>
            </a:r>
          </a:p>
        </p:txBody>
      </p:sp>
      <p:sp>
        <p:nvSpPr>
          <p:cNvPr id="9" name="Oval 8"/>
          <p:cNvSpPr/>
          <p:nvPr/>
        </p:nvSpPr>
        <p:spPr>
          <a:xfrm>
            <a:off x="457200" y="4562855"/>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4507992"/>
            <a:ext cx="3858768" cy="658368"/>
          </a:xfrm>
          <a:prstGeom prst="rect">
            <a:avLst/>
          </a:prstGeom>
          <a:noFill/>
        </p:spPr>
        <p:txBody>
          <a:bodyPr wrap="square">
            <a:spAutoFit/>
          </a:bodyPr>
          <a:lstStyle/>
          <a:p>
            <a:pPr>
              <a:lnSpc>
                <a:spcPct val="130000"/>
              </a:lnSpc>
              <a:defRPr sz="1500">
                <a:solidFill>
                  <a:srgbClr val="0F172A"/>
                </a:solidFill>
              </a:defRPr>
            </a:pPr>
            <a:r>
              <a:t>Healthcare diagnosis</a:t>
            </a:r>
          </a:p>
        </p:txBody>
      </p:sp>
      <p:sp>
        <p:nvSpPr>
          <p:cNvPr id="11" name="Oval 10"/>
          <p:cNvSpPr/>
          <p:nvPr/>
        </p:nvSpPr>
        <p:spPr>
          <a:xfrm>
            <a:off x="457200" y="5294375"/>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 y="5239512"/>
            <a:ext cx="3858768" cy="658368"/>
          </a:xfrm>
          <a:prstGeom prst="rect">
            <a:avLst/>
          </a:prstGeom>
          <a:noFill/>
        </p:spPr>
        <p:txBody>
          <a:bodyPr wrap="square">
            <a:spAutoFit/>
          </a:bodyPr>
          <a:lstStyle/>
          <a:p>
            <a:pPr>
              <a:lnSpc>
                <a:spcPct val="130000"/>
              </a:lnSpc>
              <a:defRPr sz="1500">
                <a:solidFill>
                  <a:srgbClr val="0F172A"/>
                </a:solidFill>
              </a:defRPr>
            </a:pPr>
            <a:r>
              <a:t>Financial transaction automation</a:t>
            </a:r>
          </a:p>
        </p:txBody>
      </p:sp>
      <p:pic>
        <p:nvPicPr>
          <p:cNvPr id="13" name="Picture 12" descr="unsplash_eGGFZ5X2LnA.jpg"/>
          <p:cNvPicPr>
            <a:picLocks noChangeAspect="1"/>
          </p:cNvPicPr>
          <p:nvPr/>
        </p:nvPicPr>
        <p:blipFill>
          <a:blip r:embed="rId2"/>
          <a:stretch>
            <a:fillRect/>
          </a:stretch>
        </p:blipFill>
        <p:spPr>
          <a:xfrm>
            <a:off x="4754880" y="1280160"/>
            <a:ext cx="3840480" cy="4937760"/>
          </a:xfrm>
          <a:prstGeom prst="rect">
            <a:avLst/>
          </a:prstGeom>
        </p:spPr>
      </p:pic>
      <p:sp>
        <p:nvSpPr>
          <p:cNvPr id="14" name="Rectangle 13"/>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6565392"/>
            <a:ext cx="6400800" cy="256032"/>
          </a:xfrm>
          <a:prstGeom prst="rect">
            <a:avLst/>
          </a:prstGeom>
          <a:noFill/>
        </p:spPr>
        <p:txBody>
          <a:bodyPr wrap="none">
            <a:spAutoFit/>
          </a:bodyPr>
          <a:lstStyle/>
          <a:p>
            <a:pPr>
              <a:defRPr sz="900">
                <a:solidFill>
                  <a:srgbClr val="64748B"/>
                </a:solidFill>
              </a:defRPr>
            </a:pPr>
            <a:r>
              <a:t>The Rise of Artificial Intelligence</a:t>
            </a:r>
          </a:p>
        </p:txBody>
      </p:sp>
      <p:sp>
        <p:nvSpPr>
          <p:cNvPr id="16" name="TextBox 15"/>
          <p:cNvSpPr txBox="1"/>
          <p:nvPr/>
        </p:nvSpPr>
        <p:spPr>
          <a:xfrm>
            <a:off x="7772400" y="6565392"/>
            <a:ext cx="914400" cy="256032"/>
          </a:xfrm>
          <a:prstGeom prst="rect">
            <a:avLst/>
          </a:prstGeom>
          <a:noFill/>
        </p:spPr>
        <p:txBody>
          <a:bodyPr wrap="none">
            <a:spAutoFit/>
          </a:bodyPr>
          <a:lstStyle/>
          <a:p>
            <a:pPr algn="r">
              <a:defRPr sz="900">
                <a:solidFill>
                  <a:srgbClr val="64748B"/>
                </a:solidFill>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ctr">
              <a:defRPr sz="3200" b="1">
                <a:solidFill>
                  <a:srgbClr val="1E40AF"/>
                </a:solidFill>
              </a:defRPr>
            </a:pPr>
            <a:r>
              <a:t>Conclusion: The Future of Artificial Intelligence</a:t>
            </a:r>
          </a:p>
        </p:txBody>
      </p:sp>
      <p:sp>
        <p:nvSpPr>
          <p:cNvPr id="4" name="Rectangle 3"/>
          <p:cNvSpPr/>
          <p:nvPr/>
        </p:nvSpPr>
        <p:spPr>
          <a:xfrm>
            <a:off x="3200400" y="1188720"/>
            <a:ext cx="18288" cy="384048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0" y="1188720"/>
            <a:ext cx="18288" cy="384048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188720"/>
            <a:ext cx="2560320" cy="548640"/>
          </a:xfrm>
          <a:prstGeom prst="rect">
            <a:avLst/>
          </a:prstGeom>
          <a:noFill/>
        </p:spPr>
        <p:txBody>
          <a:bodyPr wrap="square">
            <a:spAutoFit/>
          </a:bodyPr>
          <a:lstStyle/>
          <a:p>
            <a:pPr algn="ctr">
              <a:defRPr sz="1400" b="1">
                <a:solidFill>
                  <a:srgbClr val="F59E0B"/>
                </a:solidFill>
              </a:defRPr>
            </a:pPr>
            <a:r>
              <a:t>What We</a:t>
            </a:r>
            <a:br/>
            <a:r>
              <a:t>Learned</a:t>
            </a:r>
          </a:p>
        </p:txBody>
      </p:sp>
      <p:sp>
        <p:nvSpPr>
          <p:cNvPr id="7" name="TextBox 6"/>
          <p:cNvSpPr txBox="1"/>
          <p:nvPr/>
        </p:nvSpPr>
        <p:spPr>
          <a:xfrm>
            <a:off x="822960" y="1920240"/>
            <a:ext cx="2377439" cy="3474720"/>
          </a:xfrm>
          <a:prstGeom prst="rect">
            <a:avLst/>
          </a:prstGeom>
          <a:noFill/>
        </p:spPr>
        <p:txBody>
          <a:bodyPr wrap="square">
            <a:spAutoFit/>
          </a:bodyPr>
          <a:lstStyle/>
          <a:p>
            <a:pPr>
              <a:lnSpc>
                <a:spcPct val="120000"/>
              </a:lnSpc>
              <a:spcBef>
                <a:spcPts val="600"/>
              </a:spcBef>
              <a:spcAft>
                <a:spcPts val="600"/>
              </a:spcAft>
              <a:defRPr sz="1200">
                <a:solidFill>
                  <a:srgbClr val="0F172A"/>
                </a:solidFill>
              </a:defRPr>
            </a:pPr>
            <a:r>
              <a:t>• Transformative potential</a:t>
            </a:r>
          </a:p>
        </p:txBody>
      </p:sp>
      <p:sp>
        <p:nvSpPr>
          <p:cNvPr id="8" name="TextBox 7"/>
          <p:cNvSpPr txBox="1"/>
          <p:nvPr/>
        </p:nvSpPr>
        <p:spPr>
          <a:xfrm>
            <a:off x="3474720" y="1188720"/>
            <a:ext cx="2560320" cy="548640"/>
          </a:xfrm>
          <a:prstGeom prst="rect">
            <a:avLst/>
          </a:prstGeom>
          <a:noFill/>
        </p:spPr>
        <p:txBody>
          <a:bodyPr wrap="square">
            <a:spAutoFit/>
          </a:bodyPr>
          <a:lstStyle/>
          <a:p>
            <a:pPr algn="ctr">
              <a:defRPr sz="1400" b="1">
                <a:solidFill>
                  <a:srgbClr val="F59E0B"/>
                </a:solidFill>
              </a:defRPr>
            </a:pPr>
            <a:r>
              <a:t>Key</a:t>
            </a:r>
            <a:br/>
            <a:r>
              <a:t>Actions</a:t>
            </a:r>
          </a:p>
        </p:txBody>
      </p:sp>
      <p:sp>
        <p:nvSpPr>
          <p:cNvPr id="9" name="TextBox 8"/>
          <p:cNvSpPr txBox="1"/>
          <p:nvPr/>
        </p:nvSpPr>
        <p:spPr>
          <a:xfrm>
            <a:off x="3566160" y="1920240"/>
            <a:ext cx="2377439" cy="3474720"/>
          </a:xfrm>
          <a:prstGeom prst="rect">
            <a:avLst/>
          </a:prstGeom>
          <a:noFill/>
        </p:spPr>
        <p:txBody>
          <a:bodyPr wrap="square">
            <a:spAutoFit/>
          </a:bodyPr>
          <a:lstStyle/>
          <a:p>
            <a:pPr>
              <a:lnSpc>
                <a:spcPct val="120000"/>
              </a:lnSpc>
              <a:spcBef>
                <a:spcPts val="600"/>
              </a:spcBef>
              <a:spcAft>
                <a:spcPts val="600"/>
              </a:spcAft>
              <a:defRPr sz="1200">
                <a:solidFill>
                  <a:srgbClr val="0F172A"/>
                </a:solidFill>
              </a:defRPr>
            </a:pPr>
            <a:r>
              <a:t>• Challenges ahead</a:t>
            </a:r>
          </a:p>
        </p:txBody>
      </p:sp>
      <p:sp>
        <p:nvSpPr>
          <p:cNvPr id="10" name="TextBox 9"/>
          <p:cNvSpPr txBox="1"/>
          <p:nvPr/>
        </p:nvSpPr>
        <p:spPr>
          <a:xfrm>
            <a:off x="6217920" y="1188720"/>
            <a:ext cx="2560320" cy="548640"/>
          </a:xfrm>
          <a:prstGeom prst="rect">
            <a:avLst/>
          </a:prstGeom>
          <a:noFill/>
        </p:spPr>
        <p:txBody>
          <a:bodyPr wrap="square">
            <a:spAutoFit/>
          </a:bodyPr>
          <a:lstStyle/>
          <a:p>
            <a:pPr algn="ctr">
              <a:defRPr sz="1400" b="1">
                <a:solidFill>
                  <a:srgbClr val="F59E0B"/>
                </a:solidFill>
              </a:defRPr>
            </a:pPr>
            <a:r>
              <a:t>What's</a:t>
            </a:r>
            <a:br/>
            <a:r>
              <a:t>Next</a:t>
            </a:r>
          </a:p>
        </p:txBody>
      </p:sp>
      <p:sp>
        <p:nvSpPr>
          <p:cNvPr id="11" name="TextBox 10"/>
          <p:cNvSpPr txBox="1"/>
          <p:nvPr/>
        </p:nvSpPr>
        <p:spPr>
          <a:xfrm>
            <a:off x="6309359" y="1920240"/>
            <a:ext cx="2377439" cy="3474720"/>
          </a:xfrm>
          <a:prstGeom prst="rect">
            <a:avLst/>
          </a:prstGeom>
          <a:noFill/>
        </p:spPr>
        <p:txBody>
          <a:bodyPr wrap="square">
            <a:spAutoFit/>
          </a:bodyPr>
          <a:lstStyle/>
          <a:p>
            <a:pPr>
              <a:lnSpc>
                <a:spcPct val="120000"/>
              </a:lnSpc>
              <a:spcBef>
                <a:spcPts val="600"/>
              </a:spcBef>
              <a:spcAft>
                <a:spcPts val="600"/>
              </a:spcAft>
              <a:defRPr sz="1200">
                <a:solidFill>
                  <a:srgbClr val="0F172A"/>
                </a:solidFill>
              </a:defRPr>
            </a:pPr>
            <a:r>
              <a:t>• Investment needed</a:t>
            </a:r>
          </a:p>
          <a:p>
            <a:pPr>
              <a:lnSpc>
                <a:spcPct val="120000"/>
              </a:lnSpc>
              <a:spcBef>
                <a:spcPts val="600"/>
              </a:spcBef>
              <a:spcAft>
                <a:spcPts val="600"/>
              </a:spcAft>
              <a:defRPr sz="1200">
                <a:solidFill>
                  <a:srgbClr val="0F172A"/>
                </a:solidFill>
              </a:defRPr>
            </a:pPr>
            <a:r>
              <a:t>• Future applications</a:t>
            </a:r>
          </a:p>
          <a:p>
            <a:pPr>
              <a:lnSpc>
                <a:spcPct val="120000"/>
              </a:lnSpc>
              <a:spcBef>
                <a:spcPts val="600"/>
              </a:spcBef>
              <a:spcAft>
                <a:spcPts val="600"/>
              </a:spcAft>
              <a:defRPr sz="1200">
                <a:solidFill>
                  <a:srgbClr val="0F172A"/>
                </a:solidFill>
              </a:defRPr>
            </a:pPr>
            <a:r>
              <a:t>• Responsible development</a:t>
            </a:r>
          </a:p>
        </p:txBody>
      </p:sp>
      <p:sp>
        <p:nvSpPr>
          <p:cNvPr id="12" name="Rectangle 11"/>
          <p:cNvSpPr/>
          <p:nvPr/>
        </p:nvSpPr>
        <p:spPr>
          <a:xfrm>
            <a:off x="457200" y="5120640"/>
            <a:ext cx="822960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5303520"/>
            <a:ext cx="8229600" cy="457200"/>
          </a:xfrm>
          <a:prstGeom prst="rect">
            <a:avLst/>
          </a:prstGeom>
          <a:noFill/>
        </p:spPr>
        <p:txBody>
          <a:bodyPr wrap="none">
            <a:spAutoFit/>
          </a:bodyPr>
          <a:lstStyle/>
          <a:p>
            <a:pPr algn="ctr">
              <a:defRPr sz="1100">
                <a:solidFill>
                  <a:srgbClr val="64748B"/>
                </a:solidFill>
              </a:defRPr>
            </a:pPr>
            <a:r>
              <a:t>Thank you for your attention | Questions?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256032"/>
            <a:ext cx="9144000" cy="54864"/>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9184"/>
            <a:ext cx="8229600" cy="658368"/>
          </a:xfrm>
          <a:prstGeom prst="rect">
            <a:avLst/>
          </a:prstGeom>
          <a:noFill/>
        </p:spPr>
        <p:txBody>
          <a:bodyPr wrap="square">
            <a:spAutoFit/>
          </a:bodyPr>
          <a:lstStyle/>
          <a:p>
            <a:pPr>
              <a:defRPr sz="2600" b="1">
                <a:solidFill>
                  <a:srgbClr val="1E40AF"/>
                </a:solidFill>
              </a:defRPr>
            </a:pPr>
            <a:r>
              <a:t>Presentation Flow</a:t>
            </a:r>
          </a:p>
        </p:txBody>
      </p:sp>
      <p:cxnSp>
        <p:nvCxnSpPr>
          <p:cNvPr id="900" name="DiagConnector"/>
          <p:cNvCxnSpPr/>
          <p:nvPr/>
        </p:nvCxnSpPr>
        <p:spPr>
          <a:xfrm>
            <a:off x="758952" y="1444752"/>
            <a:ext cx="5029200" cy="2743200"/>
          </a:xfrm>
          <a:prstGeom prst="line">
            <a:avLst/>
          </a:prstGeom>
          <a:ln w="18000">
            <a:solidFill>
              <a:srgbClr val="CBD5E1"/>
            </a:solidFill>
            <a:prstDash val="sysDash"/>
          </a:ln>
        </p:spPr>
      </p:cxnSp>
      <p:sp>
        <p:nvSpPr>
          <p:cNvPr id="901" name="Rectangle 900"/>
          <p:cNvSpPr/>
          <p:nvPr/>
        </p:nvSpPr>
        <p:spPr>
          <a:xfrm>
            <a:off x="557784" y="1152144"/>
            <a:ext cx="3108960" cy="19202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Rectangle 901"/>
          <p:cNvSpPr/>
          <p:nvPr/>
        </p:nvSpPr>
        <p:spPr>
          <a:xfrm>
            <a:off x="502920" y="1097280"/>
            <a:ext cx="3108960" cy="192024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Rectangle 902"/>
          <p:cNvSpPr/>
          <p:nvPr/>
        </p:nvSpPr>
        <p:spPr>
          <a:xfrm>
            <a:off x="502920" y="1097280"/>
            <a:ext cx="54864" cy="1920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Oval 903"/>
          <p:cNvSpPr/>
          <p:nvPr/>
        </p:nvSpPr>
        <p:spPr>
          <a:xfrm>
            <a:off x="502920" y="1188720"/>
            <a:ext cx="512064" cy="512064"/>
          </a:xfrm>
          <a:prstGeom prst="ellipse">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1</a:t>
            </a:r>
          </a:p>
        </p:txBody>
      </p:sp>
      <p:sp>
        <p:nvSpPr>
          <p:cNvPr id="905" name="TextBox 904"/>
          <p:cNvSpPr txBox="1"/>
          <p:nvPr/>
        </p:nvSpPr>
        <p:spPr>
          <a:xfrm>
            <a:off x="1271016" y="1261872"/>
            <a:ext cx="2176272" cy="384048"/>
          </a:xfrm>
          <a:prstGeom prst="rect">
            <a:avLst/>
          </a:prstGeom>
          <a:noFill/>
        </p:spPr>
        <p:txBody>
          <a:bodyPr wrap="square">
            <a:spAutoFit/>
          </a:bodyPr>
          <a:lstStyle/>
          <a:p>
            <a:pPr>
              <a:defRPr sz="1400" b="1">
                <a:solidFill>
                  <a:srgbClr val="1E40AF"/>
                </a:solidFill>
              </a:defRPr>
            </a:pPr>
            <a:r>
              <a:t>What is Artificial Intelligence?</a:t>
            </a:r>
          </a:p>
        </p:txBody>
      </p:sp>
      <p:sp>
        <p:nvSpPr>
          <p:cNvPr id="906" name="Rectangle 905"/>
          <p:cNvSpPr/>
          <p:nvPr/>
        </p:nvSpPr>
        <p:spPr>
          <a:xfrm>
            <a:off x="667512" y="1700784"/>
            <a:ext cx="2779776"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TextBox 906"/>
          <p:cNvSpPr txBox="1"/>
          <p:nvPr/>
        </p:nvSpPr>
        <p:spPr>
          <a:xfrm>
            <a:off x="704088" y="1773936"/>
            <a:ext cx="2743200" cy="1188720"/>
          </a:xfrm>
          <a:prstGeom prst="rect">
            <a:avLst/>
          </a:prstGeom>
          <a:noFill/>
        </p:spPr>
        <p:txBody>
          <a:bodyPr wrap="square">
            <a:spAutoFit/>
          </a:bodyPr>
          <a:lstStyle/>
          <a:p>
            <a:pPr>
              <a:lnSpc>
                <a:spcPct val="120000"/>
              </a:lnSpc>
              <a:spcBef>
                <a:spcPts val="300"/>
              </a:spcBef>
              <a:spcAft>
                <a:spcPts val="300"/>
              </a:spcAft>
              <a:defRPr sz="1100">
                <a:solidFill>
                  <a:srgbClr val="64748B"/>
                </a:solidFill>
              </a:defRPr>
            </a:pPr>
            <a:r>
              <a:t>• Machine learning</a:t>
            </a:r>
          </a:p>
          <a:p>
            <a:pPr>
              <a:lnSpc>
                <a:spcPct val="120000"/>
              </a:lnSpc>
              <a:spcBef>
                <a:spcPts val="300"/>
              </a:spcBef>
              <a:spcAft>
                <a:spcPts val="300"/>
              </a:spcAft>
              <a:defRPr sz="1100">
                <a:solidFill>
                  <a:srgbClr val="64748B"/>
                </a:solidFill>
              </a:defRPr>
            </a:pPr>
            <a:r>
              <a:t>• Natural language processing</a:t>
            </a:r>
          </a:p>
          <a:p>
            <a:pPr>
              <a:lnSpc>
                <a:spcPct val="120000"/>
              </a:lnSpc>
              <a:spcBef>
                <a:spcPts val="300"/>
              </a:spcBef>
              <a:spcAft>
                <a:spcPts val="300"/>
              </a:spcAft>
              <a:defRPr sz="1100">
                <a:solidFill>
                  <a:srgbClr val="64748B"/>
                </a:solidFill>
              </a:defRPr>
            </a:pPr>
            <a:r>
              <a:t>• Computer vision</a:t>
            </a:r>
          </a:p>
        </p:txBody>
      </p:sp>
      <p:sp>
        <p:nvSpPr>
          <p:cNvPr id="908" name="Rectangle 907"/>
          <p:cNvSpPr/>
          <p:nvPr/>
        </p:nvSpPr>
        <p:spPr>
          <a:xfrm>
            <a:off x="3072384" y="2523744"/>
            <a:ext cx="3108960" cy="19202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Rectangle 908"/>
          <p:cNvSpPr/>
          <p:nvPr/>
        </p:nvSpPr>
        <p:spPr>
          <a:xfrm>
            <a:off x="3017520" y="2468880"/>
            <a:ext cx="3108960" cy="192024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Rectangle 909"/>
          <p:cNvSpPr/>
          <p:nvPr/>
        </p:nvSpPr>
        <p:spPr>
          <a:xfrm>
            <a:off x="3017520" y="2468880"/>
            <a:ext cx="54864" cy="1920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Oval 910"/>
          <p:cNvSpPr/>
          <p:nvPr/>
        </p:nvSpPr>
        <p:spPr>
          <a:xfrm>
            <a:off x="3017520" y="2560320"/>
            <a:ext cx="512064" cy="512064"/>
          </a:xfrm>
          <a:prstGeom prst="ellipse">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2</a:t>
            </a:r>
          </a:p>
        </p:txBody>
      </p:sp>
      <p:sp>
        <p:nvSpPr>
          <p:cNvPr id="912" name="TextBox 911"/>
          <p:cNvSpPr txBox="1"/>
          <p:nvPr/>
        </p:nvSpPr>
        <p:spPr>
          <a:xfrm>
            <a:off x="3785615" y="2633472"/>
            <a:ext cx="2176272" cy="384048"/>
          </a:xfrm>
          <a:prstGeom prst="rect">
            <a:avLst/>
          </a:prstGeom>
          <a:noFill/>
        </p:spPr>
        <p:txBody>
          <a:bodyPr wrap="square">
            <a:spAutoFit/>
          </a:bodyPr>
          <a:lstStyle/>
          <a:p>
            <a:pPr>
              <a:defRPr sz="1400" b="1">
                <a:solidFill>
                  <a:srgbClr val="1E40AF"/>
                </a:solidFill>
              </a:defRPr>
            </a:pPr>
            <a:r>
              <a:t>Benefits of Artificial Intelligence</a:t>
            </a:r>
          </a:p>
        </p:txBody>
      </p:sp>
      <p:sp>
        <p:nvSpPr>
          <p:cNvPr id="913" name="Rectangle 912"/>
          <p:cNvSpPr/>
          <p:nvPr/>
        </p:nvSpPr>
        <p:spPr>
          <a:xfrm>
            <a:off x="3182112" y="3072384"/>
            <a:ext cx="2779776"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TextBox 913"/>
          <p:cNvSpPr txBox="1"/>
          <p:nvPr/>
        </p:nvSpPr>
        <p:spPr>
          <a:xfrm>
            <a:off x="3218688" y="3145536"/>
            <a:ext cx="2743200" cy="1188720"/>
          </a:xfrm>
          <a:prstGeom prst="rect">
            <a:avLst/>
          </a:prstGeom>
          <a:noFill/>
        </p:spPr>
        <p:txBody>
          <a:bodyPr wrap="square">
            <a:spAutoFit/>
          </a:bodyPr>
          <a:lstStyle/>
          <a:p>
            <a:pPr>
              <a:lnSpc>
                <a:spcPct val="120000"/>
              </a:lnSpc>
              <a:spcBef>
                <a:spcPts val="300"/>
              </a:spcBef>
              <a:spcAft>
                <a:spcPts val="300"/>
              </a:spcAft>
              <a:defRPr sz="1100">
                <a:solidFill>
                  <a:srgbClr val="64748B"/>
                </a:solidFill>
              </a:defRPr>
            </a:pPr>
            <a:r>
              <a:t>• Increased productivity</a:t>
            </a:r>
          </a:p>
          <a:p>
            <a:pPr>
              <a:lnSpc>
                <a:spcPct val="120000"/>
              </a:lnSpc>
              <a:spcBef>
                <a:spcPts val="300"/>
              </a:spcBef>
              <a:spcAft>
                <a:spcPts val="300"/>
              </a:spcAft>
              <a:defRPr sz="1100">
                <a:solidFill>
                  <a:srgbClr val="64748B"/>
                </a:solidFill>
              </a:defRPr>
            </a:pPr>
            <a:r>
              <a:t>• Improved accuracy</a:t>
            </a:r>
          </a:p>
          <a:p>
            <a:pPr>
              <a:lnSpc>
                <a:spcPct val="120000"/>
              </a:lnSpc>
              <a:spcBef>
                <a:spcPts val="300"/>
              </a:spcBef>
              <a:spcAft>
                <a:spcPts val="300"/>
              </a:spcAft>
              <a:defRPr sz="1100">
                <a:solidFill>
                  <a:srgbClr val="64748B"/>
                </a:solidFill>
              </a:defRPr>
            </a:pPr>
            <a:r>
              <a:t>• Enhanced decision-making</a:t>
            </a:r>
          </a:p>
        </p:txBody>
      </p:sp>
      <p:sp>
        <p:nvSpPr>
          <p:cNvPr id="915" name="Rectangle 914"/>
          <p:cNvSpPr/>
          <p:nvPr/>
        </p:nvSpPr>
        <p:spPr>
          <a:xfrm>
            <a:off x="5586983" y="3895344"/>
            <a:ext cx="3108960" cy="19202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Rectangle 915"/>
          <p:cNvSpPr/>
          <p:nvPr/>
        </p:nvSpPr>
        <p:spPr>
          <a:xfrm>
            <a:off x="5532120" y="3840480"/>
            <a:ext cx="3108960" cy="192024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Rectangle 916"/>
          <p:cNvSpPr/>
          <p:nvPr/>
        </p:nvSpPr>
        <p:spPr>
          <a:xfrm>
            <a:off x="5532120" y="3840480"/>
            <a:ext cx="54864" cy="1920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Oval 917"/>
          <p:cNvSpPr/>
          <p:nvPr/>
        </p:nvSpPr>
        <p:spPr>
          <a:xfrm>
            <a:off x="5532120" y="3931920"/>
            <a:ext cx="512064" cy="512064"/>
          </a:xfrm>
          <a:prstGeom prst="ellipse">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3</a:t>
            </a:r>
          </a:p>
        </p:txBody>
      </p:sp>
      <p:sp>
        <p:nvSpPr>
          <p:cNvPr id="919" name="TextBox 918"/>
          <p:cNvSpPr txBox="1"/>
          <p:nvPr/>
        </p:nvSpPr>
        <p:spPr>
          <a:xfrm>
            <a:off x="6300215" y="4005072"/>
            <a:ext cx="2176272" cy="384048"/>
          </a:xfrm>
          <a:prstGeom prst="rect">
            <a:avLst/>
          </a:prstGeom>
          <a:noFill/>
        </p:spPr>
        <p:txBody>
          <a:bodyPr wrap="square">
            <a:spAutoFit/>
          </a:bodyPr>
          <a:lstStyle/>
          <a:p>
            <a:pPr>
              <a:defRPr sz="1400" b="1">
                <a:solidFill>
                  <a:srgbClr val="1E40AF"/>
                </a:solidFill>
              </a:defRPr>
            </a:pPr>
            <a:r>
              <a:t>Challenges of Artificial Intelligence</a:t>
            </a:r>
          </a:p>
        </p:txBody>
      </p:sp>
      <p:sp>
        <p:nvSpPr>
          <p:cNvPr id="920" name="Rectangle 919"/>
          <p:cNvSpPr/>
          <p:nvPr/>
        </p:nvSpPr>
        <p:spPr>
          <a:xfrm>
            <a:off x="5696712" y="4443984"/>
            <a:ext cx="2779776"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TextBox 920"/>
          <p:cNvSpPr txBox="1"/>
          <p:nvPr/>
        </p:nvSpPr>
        <p:spPr>
          <a:xfrm>
            <a:off x="5733288" y="4517136"/>
            <a:ext cx="2743200" cy="1188720"/>
          </a:xfrm>
          <a:prstGeom prst="rect">
            <a:avLst/>
          </a:prstGeom>
          <a:noFill/>
        </p:spPr>
        <p:txBody>
          <a:bodyPr wrap="square">
            <a:spAutoFit/>
          </a:bodyPr>
          <a:lstStyle/>
          <a:p>
            <a:pPr>
              <a:lnSpc>
                <a:spcPct val="120000"/>
              </a:lnSpc>
              <a:spcBef>
                <a:spcPts val="300"/>
              </a:spcBef>
              <a:spcAft>
                <a:spcPts val="300"/>
              </a:spcAft>
              <a:defRPr sz="1100">
                <a:solidFill>
                  <a:srgbClr val="64748B"/>
                </a:solidFill>
              </a:defRPr>
            </a:pPr>
            <a:r>
              <a:t>• Job displacement</a:t>
            </a:r>
          </a:p>
          <a:p>
            <a:pPr>
              <a:lnSpc>
                <a:spcPct val="120000"/>
              </a:lnSpc>
              <a:spcBef>
                <a:spcPts val="300"/>
              </a:spcBef>
              <a:spcAft>
                <a:spcPts val="300"/>
              </a:spcAft>
              <a:defRPr sz="1100">
                <a:solidFill>
                  <a:srgbClr val="64748B"/>
                </a:solidFill>
              </a:defRPr>
            </a:pPr>
            <a:r>
              <a:t>• Data privacy concerns</a:t>
            </a:r>
          </a:p>
          <a:p>
            <a:pPr>
              <a:lnSpc>
                <a:spcPct val="120000"/>
              </a:lnSpc>
              <a:spcBef>
                <a:spcPts val="300"/>
              </a:spcBef>
              <a:spcAft>
                <a:spcPts val="300"/>
              </a:spcAft>
              <a:defRPr sz="1100">
                <a:solidFill>
                  <a:srgbClr val="64748B"/>
                </a:solidFill>
              </a:defRPr>
            </a:pPr>
            <a:r>
              <a:t>• Algorithmic bias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274320"/>
            <a:ext cx="8229600" cy="594360"/>
          </a:xfrm>
          <a:prstGeom prst="rect">
            <a:avLst/>
          </a:prstGeom>
          <a:noFill/>
        </p:spPr>
        <p:txBody>
          <a:bodyPr wrap="none">
            <a:spAutoFit/>
          </a:bodyPr>
          <a:lstStyle/>
          <a:p>
            <a:pPr algn="ctr">
              <a:defRPr sz="3200" b="1">
                <a:solidFill>
                  <a:srgbClr val="FFFFFF"/>
                </a:solidFill>
              </a:defRPr>
            </a:pPr>
            <a:r>
              <a:t>Key Takeaways</a:t>
            </a:r>
          </a:p>
        </p:txBody>
      </p:sp>
      <p:sp>
        <p:nvSpPr>
          <p:cNvPr id="3" name="Rectangle 2"/>
          <p:cNvSpPr/>
          <p:nvPr/>
        </p:nvSpPr>
        <p:spPr>
          <a:xfrm>
            <a:off x="3200400" y="896112"/>
            <a:ext cx="274320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0120" y="1097280"/>
            <a:ext cx="7315200" cy="7772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400" y="1051560"/>
            <a:ext cx="7315200" cy="77724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15568" y="1293876"/>
            <a:ext cx="292608" cy="29260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1</a:t>
            </a:r>
          </a:p>
        </p:txBody>
      </p:sp>
      <p:sp>
        <p:nvSpPr>
          <p:cNvPr id="7" name="TextBox 6"/>
          <p:cNvSpPr txBox="1"/>
          <p:nvPr/>
        </p:nvSpPr>
        <p:spPr>
          <a:xfrm>
            <a:off x="1554480" y="1216151"/>
            <a:ext cx="6565392" cy="457200"/>
          </a:xfrm>
          <a:prstGeom prst="rect">
            <a:avLst/>
          </a:prstGeom>
          <a:noFill/>
        </p:spPr>
        <p:txBody>
          <a:bodyPr wrap="square">
            <a:spAutoFit/>
          </a:bodyPr>
          <a:lstStyle/>
          <a:p>
            <a:pPr>
              <a:lnSpc>
                <a:spcPct val="120000"/>
              </a:lnSpc>
              <a:defRPr sz="1600" b="1">
                <a:solidFill>
                  <a:srgbClr val="1E40AF"/>
                </a:solidFill>
              </a:defRPr>
            </a:pPr>
            <a:r>
              <a:t>What is Artificial Intelligence?</a:t>
            </a:r>
          </a:p>
        </p:txBody>
      </p:sp>
      <p:sp>
        <p:nvSpPr>
          <p:cNvPr id="8" name="Rectangle 7"/>
          <p:cNvSpPr/>
          <p:nvPr/>
        </p:nvSpPr>
        <p:spPr>
          <a:xfrm>
            <a:off x="960120" y="1984248"/>
            <a:ext cx="7315200" cy="7772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14400" y="1938528"/>
            <a:ext cx="7315200" cy="77724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15568" y="2180844"/>
            <a:ext cx="292608" cy="29260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2</a:t>
            </a:r>
          </a:p>
        </p:txBody>
      </p:sp>
      <p:sp>
        <p:nvSpPr>
          <p:cNvPr id="11" name="TextBox 10"/>
          <p:cNvSpPr txBox="1"/>
          <p:nvPr/>
        </p:nvSpPr>
        <p:spPr>
          <a:xfrm>
            <a:off x="1554480" y="2103120"/>
            <a:ext cx="6565392" cy="457200"/>
          </a:xfrm>
          <a:prstGeom prst="rect">
            <a:avLst/>
          </a:prstGeom>
          <a:noFill/>
        </p:spPr>
        <p:txBody>
          <a:bodyPr wrap="square">
            <a:spAutoFit/>
          </a:bodyPr>
          <a:lstStyle/>
          <a:p>
            <a:pPr>
              <a:lnSpc>
                <a:spcPct val="120000"/>
              </a:lnSpc>
              <a:defRPr sz="1600" b="1">
                <a:solidFill>
                  <a:srgbClr val="1E40AF"/>
                </a:solidFill>
              </a:defRPr>
            </a:pPr>
            <a:r>
              <a:t>Benefits of Artificial Intelligence</a:t>
            </a:r>
          </a:p>
        </p:txBody>
      </p:sp>
      <p:sp>
        <p:nvSpPr>
          <p:cNvPr id="12" name="Rectangle 11"/>
          <p:cNvSpPr/>
          <p:nvPr/>
        </p:nvSpPr>
        <p:spPr>
          <a:xfrm>
            <a:off x="960120" y="2871215"/>
            <a:ext cx="7315200" cy="7772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14400" y="2825496"/>
            <a:ext cx="7315200" cy="77724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15568" y="3067812"/>
            <a:ext cx="292608" cy="29260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3</a:t>
            </a:r>
          </a:p>
        </p:txBody>
      </p:sp>
      <p:sp>
        <p:nvSpPr>
          <p:cNvPr id="15" name="TextBox 14"/>
          <p:cNvSpPr txBox="1"/>
          <p:nvPr/>
        </p:nvSpPr>
        <p:spPr>
          <a:xfrm>
            <a:off x="1554480" y="2990088"/>
            <a:ext cx="6565392" cy="457200"/>
          </a:xfrm>
          <a:prstGeom prst="rect">
            <a:avLst/>
          </a:prstGeom>
          <a:noFill/>
        </p:spPr>
        <p:txBody>
          <a:bodyPr wrap="square">
            <a:spAutoFit/>
          </a:bodyPr>
          <a:lstStyle/>
          <a:p>
            <a:pPr>
              <a:lnSpc>
                <a:spcPct val="120000"/>
              </a:lnSpc>
              <a:defRPr sz="1600" b="1">
                <a:solidFill>
                  <a:srgbClr val="1E40AF"/>
                </a:solidFill>
              </a:defRPr>
            </a:pPr>
            <a:r>
              <a:t>Challenges of Artificial Intelligence</a:t>
            </a:r>
          </a:p>
        </p:txBody>
      </p:sp>
      <p:sp>
        <p:nvSpPr>
          <p:cNvPr id="16" name="Rectangle 15"/>
          <p:cNvSpPr/>
          <p:nvPr/>
        </p:nvSpPr>
        <p:spPr>
          <a:xfrm>
            <a:off x="960120" y="3758184"/>
            <a:ext cx="7315200" cy="7772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14400" y="3712464"/>
            <a:ext cx="7315200" cy="77724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15568" y="3954780"/>
            <a:ext cx="292608" cy="29260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4</a:t>
            </a:r>
          </a:p>
        </p:txBody>
      </p:sp>
      <p:sp>
        <p:nvSpPr>
          <p:cNvPr id="19" name="TextBox 18"/>
          <p:cNvSpPr txBox="1"/>
          <p:nvPr/>
        </p:nvSpPr>
        <p:spPr>
          <a:xfrm>
            <a:off x="1554480" y="3877056"/>
            <a:ext cx="6565392" cy="457200"/>
          </a:xfrm>
          <a:prstGeom prst="rect">
            <a:avLst/>
          </a:prstGeom>
          <a:noFill/>
        </p:spPr>
        <p:txBody>
          <a:bodyPr wrap="square">
            <a:spAutoFit/>
          </a:bodyPr>
          <a:lstStyle/>
          <a:p>
            <a:pPr>
              <a:lnSpc>
                <a:spcPct val="120000"/>
              </a:lnSpc>
              <a:defRPr sz="1600" b="1">
                <a:solidFill>
                  <a:srgbClr val="1E40AF"/>
                </a:solidFill>
              </a:defRPr>
            </a:pPr>
            <a:r>
              <a:t>Applications of Artificial Intelligence</a:t>
            </a:r>
          </a:p>
        </p:txBody>
      </p:sp>
      <p:sp>
        <p:nvSpPr>
          <p:cNvPr id="20" name="Rectangle 19"/>
          <p:cNvSpPr/>
          <p:nvPr/>
        </p:nvSpPr>
        <p:spPr>
          <a:xfrm>
            <a:off x="960120" y="4645151"/>
            <a:ext cx="7315200" cy="7772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14400" y="4599431"/>
            <a:ext cx="7315200" cy="77724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15568" y="4841747"/>
            <a:ext cx="292608" cy="29260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5</a:t>
            </a:r>
          </a:p>
        </p:txBody>
      </p:sp>
      <p:sp>
        <p:nvSpPr>
          <p:cNvPr id="23" name="TextBox 22"/>
          <p:cNvSpPr txBox="1"/>
          <p:nvPr/>
        </p:nvSpPr>
        <p:spPr>
          <a:xfrm>
            <a:off x="1554480" y="4764023"/>
            <a:ext cx="6565392" cy="457200"/>
          </a:xfrm>
          <a:prstGeom prst="rect">
            <a:avLst/>
          </a:prstGeom>
          <a:noFill/>
        </p:spPr>
        <p:txBody>
          <a:bodyPr wrap="square">
            <a:spAutoFit/>
          </a:bodyPr>
          <a:lstStyle/>
          <a:p>
            <a:pPr>
              <a:lnSpc>
                <a:spcPct val="120000"/>
              </a:lnSpc>
              <a:defRPr sz="1600" b="1">
                <a:solidFill>
                  <a:srgbClr val="1E40AF"/>
                </a:solidFill>
              </a:defRPr>
            </a:pPr>
            <a:r>
              <a:t>Conclusion: The Future of Artificial Intelligence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