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Adoption (%)</c:v>
                </c:pt>
              </c:strCache>
            </c:strRef>
          </c:tx>
          <c:cat>
            <c:strRef>
              <c:f>Sheet1!$A$2:$A$6</c:f>
              <c:strCache>
                <c:ptCount val="5"/>
                <c:pt idx="0">
                  <c:v>OpenAI</c:v>
                </c:pt>
                <c:pt idx="1">
                  <c:v>Google</c:v>
                </c:pt>
                <c:pt idx="2">
                  <c:v>Meta</c:v>
                </c:pt>
                <c:pt idx="3">
                  <c:v>Anthropic</c:v>
                </c:pt>
                <c:pt idx="4">
                  <c:v>Others</c:v>
                </c:pt>
              </c:strCache>
            </c:strRef>
          </c:cat>
          <c:val>
            <c:numRef>
              <c:f>Sheet1!$B$2:$B$6</c:f>
              <c:numCache>
                <c:formatCode>General</c:formatCode>
                <c:ptCount val="5"/>
                <c:pt idx="0">
                  <c:v>32</c:v>
                </c:pt>
                <c:pt idx="1">
                  <c:v>28</c:v>
                </c:pt>
                <c:pt idx="2">
                  <c:v>18</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Unlocking the Power of Agentic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Agentic AI refers to artificial intelligence that exhibits autonomous behavior, making decisions and taking actions based on its own goals and motivations. This type of AI is designed to mimic human-like intelligence, enabling it to learn from experience, adapt to new situations, and demonstrate creativity. Agentic AI has the potential to revolutionize industries such as healthcare, finance, and education, but also raises important ethical concerns. In this presentation, we will explore the concept of agentic AI, its applications, and the challenges it poses.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autonomous behavior</a:t>
            </a:r>
          </a:p>
          <a:p>
            <a:pPr>
              <a:lnSpc>
                <a:spcPct val="120000"/>
              </a:lnSpc>
              <a:spcBef>
                <a:spcPts val="300"/>
              </a:spcBef>
              <a:spcAft>
                <a:spcPts val="300"/>
              </a:spcAft>
              <a:defRPr sz="1600">
                <a:solidFill>
                  <a:srgbClr val="0F172A"/>
                </a:solidFill>
              </a:defRPr>
            </a:pPr>
            <a:r>
              <a:t>• human-like intelligence</a:t>
            </a:r>
          </a:p>
          <a:p>
            <a:pPr>
              <a:lnSpc>
                <a:spcPct val="120000"/>
              </a:lnSpc>
              <a:spcBef>
                <a:spcPts val="300"/>
              </a:spcBef>
              <a:spcAft>
                <a:spcPts val="300"/>
              </a:spcAft>
              <a:defRPr sz="1600">
                <a:solidFill>
                  <a:srgbClr val="0F172A"/>
                </a:solidFill>
              </a:defRPr>
            </a:pPr>
            <a:r>
              <a:t>• learning from experience</a:t>
            </a:r>
          </a:p>
          <a:p>
            <a:pPr>
              <a:lnSpc>
                <a:spcPct val="120000"/>
              </a:lnSpc>
              <a:spcBef>
                <a:spcPts val="300"/>
              </a:spcBef>
              <a:spcAft>
                <a:spcPts val="300"/>
              </a:spcAft>
              <a:defRPr sz="1600">
                <a:solidFill>
                  <a:srgbClr val="0F172A"/>
                </a:solidFill>
              </a:defRPr>
            </a:pPr>
            <a:r>
              <a:t>• adaptability</a:t>
            </a:r>
          </a:p>
          <a:p>
            <a:pPr>
              <a:lnSpc>
                <a:spcPct val="120000"/>
              </a:lnSpc>
              <a:spcBef>
                <a:spcPts val="300"/>
              </a:spcBef>
              <a:spcAft>
                <a:spcPts val="300"/>
              </a:spcAft>
              <a:defRPr sz="1600">
                <a:solidFill>
                  <a:srgbClr val="0F172A"/>
                </a:solidFill>
              </a:defRPr>
            </a:pPr>
            <a:r>
              <a:t>• creativity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Key Characteristics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Agentic AI systems are characterized by their ability to set goals and prioritize tasks based on those goals. They also demonstrate a sense of self-awareness, recognizing their own strengths and weaknesses, and can learn from feedback and experience. Additionally, agentic AI systems are able to reason abstractly, making decisions that take into account complex scenarios and uncertainties. This combination of characteristics enables agentic AI to make decisions that are more informed, creative, and proactive.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goal-setting</a:t>
            </a:r>
          </a:p>
          <a:p>
            <a:pPr>
              <a:lnSpc>
                <a:spcPct val="120000"/>
              </a:lnSpc>
              <a:spcBef>
                <a:spcPts val="300"/>
              </a:spcBef>
              <a:spcAft>
                <a:spcPts val="300"/>
              </a:spcAft>
              <a:defRPr sz="1600">
                <a:solidFill>
                  <a:srgbClr val="0F172A"/>
                </a:solidFill>
              </a:defRPr>
            </a:pPr>
            <a:r>
              <a:t>• prioritization</a:t>
            </a:r>
          </a:p>
          <a:p>
            <a:pPr>
              <a:lnSpc>
                <a:spcPct val="120000"/>
              </a:lnSpc>
              <a:spcBef>
                <a:spcPts val="300"/>
              </a:spcBef>
              <a:spcAft>
                <a:spcPts val="300"/>
              </a:spcAft>
              <a:defRPr sz="1600">
                <a:solidFill>
                  <a:srgbClr val="0F172A"/>
                </a:solidFill>
              </a:defRPr>
            </a:pPr>
            <a:r>
              <a:t>• self-awareness</a:t>
            </a:r>
          </a:p>
          <a:p>
            <a:pPr>
              <a:lnSpc>
                <a:spcPct val="120000"/>
              </a:lnSpc>
              <a:spcBef>
                <a:spcPts val="300"/>
              </a:spcBef>
              <a:spcAft>
                <a:spcPts val="300"/>
              </a:spcAft>
              <a:defRPr sz="1600">
                <a:solidFill>
                  <a:srgbClr val="0F172A"/>
                </a:solidFill>
              </a:defRPr>
            </a:pPr>
            <a:r>
              <a:t>• learning from feedback</a:t>
            </a:r>
          </a:p>
          <a:p>
            <a:pPr>
              <a:lnSpc>
                <a:spcPct val="120000"/>
              </a:lnSpc>
              <a:spcBef>
                <a:spcPts val="300"/>
              </a:spcBef>
              <a:spcAft>
                <a:spcPts val="300"/>
              </a:spcAft>
              <a:defRPr sz="1600">
                <a:solidFill>
                  <a:srgbClr val="0F172A"/>
                </a:solidFill>
              </a:defRPr>
            </a:pPr>
            <a:r>
              <a:t>• abstract reasoning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Applications in Healthcare</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Agentic AI has the potential to transform healthcare by enabling more personalized and effective patient care. For example, an agentic AI system could analyze medical data and set goals for diagnosing and treating specific conditions, taking into account individual patient characteristics and preferences. This technology also enables real-time monitoring of patients and swift interventions in emergency situations.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personalized patient care</a:t>
            </a:r>
          </a:p>
          <a:p>
            <a:pPr>
              <a:lnSpc>
                <a:spcPct val="115000"/>
              </a:lnSpc>
              <a:spcBef>
                <a:spcPts val="200"/>
              </a:spcBef>
              <a:spcAft>
                <a:spcPts val="200"/>
              </a:spcAft>
              <a:defRPr sz="1500">
                <a:solidFill>
                  <a:srgbClr val="0F172A"/>
                </a:solidFill>
              </a:defRPr>
            </a:pPr>
            <a:r>
              <a:t>• diagnosis and treatment</a:t>
            </a:r>
          </a:p>
          <a:p>
            <a:pPr>
              <a:lnSpc>
                <a:spcPct val="115000"/>
              </a:lnSpc>
              <a:spcBef>
                <a:spcPts val="200"/>
              </a:spcBef>
              <a:spcAft>
                <a:spcPts val="200"/>
              </a:spcAft>
              <a:defRPr sz="1500">
                <a:solidFill>
                  <a:srgbClr val="0F172A"/>
                </a:solidFill>
              </a:defRPr>
            </a:pPr>
            <a:r>
              <a:t>• real-time monitoring</a:t>
            </a:r>
          </a:p>
          <a:p>
            <a:pPr>
              <a:lnSpc>
                <a:spcPct val="115000"/>
              </a:lnSpc>
              <a:spcBef>
                <a:spcPts val="200"/>
              </a:spcBef>
              <a:spcAft>
                <a:spcPts val="200"/>
              </a:spcAft>
              <a:defRPr sz="1500">
                <a:solidFill>
                  <a:srgbClr val="0F172A"/>
                </a:solidFill>
              </a:defRPr>
            </a:pPr>
            <a:r>
              <a:t>• swift interventions</a:t>
            </a:r>
          </a:p>
          <a:p>
            <a:pPr>
              <a:lnSpc>
                <a:spcPct val="115000"/>
              </a:lnSpc>
              <a:spcBef>
                <a:spcPts val="200"/>
              </a:spcBef>
              <a:spcAft>
                <a:spcPts val="200"/>
              </a:spcAft>
              <a:defRPr sz="1500">
                <a:solidFill>
                  <a:srgbClr val="0F172A"/>
                </a:solidFill>
              </a:defRPr>
            </a:pPr>
            <a:r>
              <a:t>• individual patient characteristics</a:t>
            </a:r>
          </a:p>
        </p:txBody>
      </p:sp>
      <p:pic>
        <p:nvPicPr>
          <p:cNvPr id="5" name="Picture 4" descr="unsplash_ViC0envGdTU.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Applications in Finance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Agentic AI can revolutionize financial services by enabling more efficient investment strategies, real-time risk assessment, and personalized portfolio management. For instance, an agentic AI system could analyze market trends, set goals for maximizing returns, and adjust investment portfolios accordingly. This technology also enables more effective fraud detection and prevention.</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efficient investment strategies</a:t>
            </a:r>
          </a:p>
          <a:p>
            <a:pPr>
              <a:lnSpc>
                <a:spcPct val="120000"/>
              </a:lnSpc>
              <a:spcBef>
                <a:spcPts val="300"/>
              </a:spcBef>
              <a:spcAft>
                <a:spcPts val="300"/>
              </a:spcAft>
              <a:defRPr sz="1600">
                <a:solidFill>
                  <a:srgbClr val="0F172A"/>
                </a:solidFill>
              </a:defRPr>
            </a:pPr>
            <a:r>
              <a:t>• real-time risk assessment</a:t>
            </a:r>
          </a:p>
          <a:p>
            <a:pPr>
              <a:lnSpc>
                <a:spcPct val="120000"/>
              </a:lnSpc>
              <a:spcBef>
                <a:spcPts val="300"/>
              </a:spcBef>
              <a:spcAft>
                <a:spcPts val="300"/>
              </a:spcAft>
              <a:defRPr sz="1600">
                <a:solidFill>
                  <a:srgbClr val="0F172A"/>
                </a:solidFill>
              </a:defRPr>
            </a:pPr>
            <a:r>
              <a:t>• personalized portfolio management</a:t>
            </a:r>
          </a:p>
          <a:p>
            <a:pPr>
              <a:lnSpc>
                <a:spcPct val="120000"/>
              </a:lnSpc>
              <a:spcBef>
                <a:spcPts val="300"/>
              </a:spcBef>
              <a:spcAft>
                <a:spcPts val="300"/>
              </a:spcAft>
              <a:defRPr sz="1600">
                <a:solidFill>
                  <a:srgbClr val="0F172A"/>
                </a:solidFill>
              </a:defRPr>
            </a:pPr>
            <a:r>
              <a:t>• market trend analysis</a:t>
            </a:r>
          </a:p>
          <a:p>
            <a:pPr>
              <a:lnSpc>
                <a:spcPct val="120000"/>
              </a:lnSpc>
              <a:spcBef>
                <a:spcPts val="300"/>
              </a:spcBef>
              <a:spcAft>
                <a:spcPts val="300"/>
              </a:spcAft>
              <a:defRPr sz="1600">
                <a:solidFill>
                  <a:srgbClr val="0F172A"/>
                </a:solidFill>
              </a:defRPr>
            </a:pPr>
            <a:r>
              <a:t>• fraud detection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Challenges and Concerns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While agentic AI has the potential to bring about significant benefits, it also raises important ethical concerns. For example, autonomous decision-making can lead to biased outcomes if not designed with fairness in mind. Additionally, the lack of transparency in agentic AI systems' decision-making processes can undermine trust and accountability. It is crucial that we address these challenges proactively to ensure responsible development and deployment of agentic AI.</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biased outcomes</a:t>
            </a:r>
          </a:p>
          <a:p>
            <a:pPr>
              <a:lnSpc>
                <a:spcPct val="120000"/>
              </a:lnSpc>
              <a:spcBef>
                <a:spcPts val="300"/>
              </a:spcBef>
              <a:spcAft>
                <a:spcPts val="300"/>
              </a:spcAft>
              <a:defRPr sz="1600">
                <a:solidFill>
                  <a:srgbClr val="0F172A"/>
                </a:solidFill>
              </a:defRPr>
            </a:pPr>
            <a:r>
              <a:t>• lack of transparency</a:t>
            </a:r>
          </a:p>
          <a:p>
            <a:pPr>
              <a:lnSpc>
                <a:spcPct val="120000"/>
              </a:lnSpc>
              <a:spcBef>
                <a:spcPts val="300"/>
              </a:spcBef>
              <a:spcAft>
                <a:spcPts val="300"/>
              </a:spcAft>
              <a:defRPr sz="1600">
                <a:solidFill>
                  <a:srgbClr val="0F172A"/>
                </a:solidFill>
              </a:defRPr>
            </a:pPr>
            <a:r>
              <a:t>• accountability</a:t>
            </a:r>
          </a:p>
          <a:p>
            <a:pPr>
              <a:lnSpc>
                <a:spcPct val="120000"/>
              </a:lnSpc>
              <a:spcBef>
                <a:spcPts val="300"/>
              </a:spcBef>
              <a:spcAft>
                <a:spcPts val="300"/>
              </a:spcAft>
              <a:defRPr sz="1600">
                <a:solidFill>
                  <a:srgbClr val="0F172A"/>
                </a:solidFill>
              </a:defRPr>
            </a:pPr>
            <a:r>
              <a:t>• responsibility</a:t>
            </a:r>
          </a:p>
          <a:p>
            <a:pPr>
              <a:lnSpc>
                <a:spcPct val="120000"/>
              </a:lnSpc>
              <a:spcBef>
                <a:spcPts val="300"/>
              </a:spcBef>
              <a:spcAft>
                <a:spcPts val="300"/>
              </a:spcAft>
              <a:defRPr sz="1600">
                <a:solidFill>
                  <a:srgbClr val="0F172A"/>
                </a:solidFill>
              </a:defRPr>
            </a:pPr>
            <a:r>
              <a:t>• fairness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Adoption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Future Directions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As agentic AI continues to evolve, it is essential that we focus on developing more transparent and explainable AI systems. We must also prioritize the ethical considerations surrounding this technology, ensuring that it benefits society as a whole. Finally, we should continue to explore new applications for agentic AI, driving innovation and progress.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transparency</a:t>
            </a:r>
          </a:p>
          <a:p>
            <a:pPr>
              <a:lnSpc>
                <a:spcPct val="120000"/>
              </a:lnSpc>
              <a:spcBef>
                <a:spcPts val="300"/>
              </a:spcBef>
              <a:spcAft>
                <a:spcPts val="300"/>
              </a:spcAft>
              <a:defRPr sz="1600">
                <a:solidFill>
                  <a:srgbClr val="0F172A"/>
                </a:solidFill>
              </a:defRPr>
            </a:pPr>
            <a:r>
              <a:t>• explainability</a:t>
            </a:r>
          </a:p>
          <a:p>
            <a:pPr>
              <a:lnSpc>
                <a:spcPct val="120000"/>
              </a:lnSpc>
              <a:spcBef>
                <a:spcPts val="300"/>
              </a:spcBef>
              <a:spcAft>
                <a:spcPts val="300"/>
              </a:spcAft>
              <a:defRPr sz="1600">
                <a:solidFill>
                  <a:srgbClr val="0F172A"/>
                </a:solidFill>
              </a:defRPr>
            </a:pPr>
            <a:r>
              <a:t>• ethical considerations</a:t>
            </a:r>
          </a:p>
          <a:p>
            <a:pPr>
              <a:lnSpc>
                <a:spcPct val="120000"/>
              </a:lnSpc>
              <a:spcBef>
                <a:spcPts val="300"/>
              </a:spcBef>
              <a:spcAft>
                <a:spcPts val="300"/>
              </a:spcAft>
              <a:defRPr sz="1600">
                <a:solidFill>
                  <a:srgbClr val="0F172A"/>
                </a:solidFill>
              </a:defRPr>
            </a:pPr>
            <a:r>
              <a:t>• benefits to society</a:t>
            </a:r>
          </a:p>
          <a:p>
            <a:pPr>
              <a:lnSpc>
                <a:spcPct val="120000"/>
              </a:lnSpc>
              <a:spcBef>
                <a:spcPts val="300"/>
              </a:spcBef>
              <a:spcAft>
                <a:spcPts val="300"/>
              </a:spcAft>
              <a:defRPr sz="1600">
                <a:solidFill>
                  <a:srgbClr val="0F172A"/>
                </a:solidFill>
              </a:defRPr>
            </a:pPr>
            <a:r>
              <a:t>• innovation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Applications in Finance</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Future Directions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a:t>
            </a:r>
          </a:p>
          <a:p>
            <a:pPr>
              <a:spcBef>
                <a:spcPts val="800"/>
              </a:spcBef>
              <a:spcAft>
                <a:spcPts val="800"/>
              </a:spcAft>
              <a:defRPr sz="2000">
                <a:solidFill>
                  <a:srgbClr val="F59E0B"/>
                </a:solidFill>
              </a:defRPr>
            </a:pPr>
            <a:r>
              <a:t>✓ Key Characteristics</a:t>
            </a:r>
          </a:p>
          <a:p>
            <a:pPr>
              <a:spcBef>
                <a:spcPts val="800"/>
              </a:spcBef>
              <a:spcAft>
                <a:spcPts val="800"/>
              </a:spcAft>
              <a:defRPr sz="2000">
                <a:solidFill>
                  <a:srgbClr val="F59E0B"/>
                </a:solidFill>
              </a:defRPr>
            </a:pPr>
            <a:r>
              <a:t>✓ Applications in Healthcare</a:t>
            </a:r>
          </a:p>
          <a:p>
            <a:pPr>
              <a:spcBef>
                <a:spcPts val="800"/>
              </a:spcBef>
              <a:spcAft>
                <a:spcPts val="800"/>
              </a:spcAft>
              <a:defRPr sz="2000">
                <a:solidFill>
                  <a:srgbClr val="F59E0B"/>
                </a:solidFill>
              </a:defRPr>
            </a:pPr>
            <a:r>
              <a:t>✓ Applications in Finance</a:t>
            </a:r>
          </a:p>
          <a:p>
            <a:pPr>
              <a:spcBef>
                <a:spcPts val="800"/>
              </a:spcBef>
              <a:spcAft>
                <a:spcPts val="800"/>
              </a:spcAft>
              <a:defRPr sz="2000">
                <a:solidFill>
                  <a:srgbClr val="F59E0B"/>
                </a:solidFill>
              </a:defRPr>
            </a:pPr>
            <a:r>
              <a:t>✓ Challenges and Concerns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