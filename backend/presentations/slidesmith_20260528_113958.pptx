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011680"/>
            <a:ext cx="8229600" cy="2011680"/>
          </a:xfrm>
          <a:prstGeom prst="rect">
            <a:avLst/>
          </a:prstGeom>
          <a:noFill/>
        </p:spPr>
        <p:txBody>
          <a:bodyPr wrap="square">
            <a:normAutofit/>
          </a:bodyPr>
          <a:lstStyle/>
          <a:p>
            <a:pPr algn="ctr">
              <a:lnSpc>
                <a:spcPct val="110000"/>
              </a:lnSpc>
              <a:defRPr sz="4000" b="1">
                <a:solidFill>
                  <a:srgbClr val="FFFFFF"/>
                </a:solidFill>
              </a:defRPr>
            </a:pPr>
            <a:r>
              <a:t>Modern School Barakhamba Road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Introduction to Modern School Barakhamba Road</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Located in the heart of New Delhi, Modern School Barakhamba Road is a renowned institution that has been shaping young minds for over eight decades. With a rich history and a strong emphasis on academic excellence, the school has earned a reputation for producing well-rounded students who excel in various fields. As a premier educational institution, it attracts students from diverse backgrounds, fostering a vibrant learning environment.</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Established in 1936</a:t>
            </a:r>
          </a:p>
          <a:p>
            <a:pPr>
              <a:lnSpc>
                <a:spcPct val="120000"/>
              </a:lnSpc>
              <a:spcBef>
                <a:spcPts val="300"/>
              </a:spcBef>
              <a:spcAft>
                <a:spcPts val="300"/>
              </a:spcAft>
              <a:defRPr sz="1600">
                <a:solidFill>
                  <a:srgbClr val="0F172A"/>
                </a:solidFill>
              </a:defRPr>
            </a:pPr>
            <a:r>
              <a:t>• Emphasizes academic and extracurricular excellence</a:t>
            </a:r>
          </a:p>
          <a:p>
            <a:pPr>
              <a:lnSpc>
                <a:spcPct val="120000"/>
              </a:lnSpc>
              <a:spcBef>
                <a:spcPts val="300"/>
              </a:spcBef>
              <a:spcAft>
                <a:spcPts val="300"/>
              </a:spcAft>
              <a:defRPr sz="1600">
                <a:solidFill>
                  <a:srgbClr val="0F172A"/>
                </a:solidFill>
              </a:defRPr>
            </a:pPr>
            <a:r>
              <a:t>• Diverse student body</a:t>
            </a:r>
          </a:p>
          <a:p>
            <a:pPr>
              <a:lnSpc>
                <a:spcPct val="120000"/>
              </a:lnSpc>
              <a:spcBef>
                <a:spcPts val="300"/>
              </a:spcBef>
              <a:spcAft>
                <a:spcPts val="300"/>
              </a:spcAft>
              <a:defRPr sz="1600">
                <a:solidFill>
                  <a:srgbClr val="0F172A"/>
                </a:solidFill>
              </a:defRPr>
            </a:pPr>
            <a:r>
              <a:t>• Strong emphasis on character building</a:t>
            </a:r>
          </a:p>
          <a:p>
            <a:pPr>
              <a:lnSpc>
                <a:spcPct val="120000"/>
              </a:lnSpc>
              <a:spcBef>
                <a:spcPts val="300"/>
              </a:spcBef>
              <a:spcAft>
                <a:spcPts val="300"/>
              </a:spcAft>
              <a:defRPr sz="1600">
                <a:solidFill>
                  <a:srgbClr val="0F172A"/>
                </a:solidFill>
              </a:defRPr>
            </a:pPr>
            <a:r>
              <a:t>• Committed to holistic development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Academics at Modern School Barakhamba Road</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The school offers a comprehensive curriculum that caters to the needs of students from classes I to XII. With a focus on developing critical thinking, problem-solving, and communication skills, the academics program prepares students for a rapidly changing world. The faculty comprises experienced educators who are dedicated to mentoring students and helping them achieve their full potential.</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Curriculum designed to foster critical thinking</a:t>
            </a:r>
          </a:p>
          <a:p>
            <a:pPr>
              <a:lnSpc>
                <a:spcPct val="120000"/>
              </a:lnSpc>
              <a:spcBef>
                <a:spcPts val="300"/>
              </a:spcBef>
              <a:spcAft>
                <a:spcPts val="300"/>
              </a:spcAft>
              <a:defRPr sz="1600">
                <a:solidFill>
                  <a:srgbClr val="0F172A"/>
                </a:solidFill>
              </a:defRPr>
            </a:pPr>
            <a:r>
              <a:t>• Emphasis on project-based learning</a:t>
            </a:r>
          </a:p>
          <a:p>
            <a:pPr>
              <a:lnSpc>
                <a:spcPct val="120000"/>
              </a:lnSpc>
              <a:spcBef>
                <a:spcPts val="300"/>
              </a:spcBef>
              <a:spcAft>
                <a:spcPts val="300"/>
              </a:spcAft>
              <a:defRPr sz="1600">
                <a:solidFill>
                  <a:srgbClr val="0F172A"/>
                </a:solidFill>
              </a:defRPr>
            </a:pPr>
            <a:r>
              <a:t>• Experienced faculty mentors</a:t>
            </a:r>
          </a:p>
          <a:p>
            <a:pPr>
              <a:lnSpc>
                <a:spcPct val="120000"/>
              </a:lnSpc>
              <a:spcBef>
                <a:spcPts val="300"/>
              </a:spcBef>
              <a:spcAft>
                <a:spcPts val="300"/>
              </a:spcAft>
              <a:defRPr sz="1600">
                <a:solidFill>
                  <a:srgbClr val="0F172A"/>
                </a:solidFill>
              </a:defRPr>
            </a:pPr>
            <a:r>
              <a:t>• Co-curricular activities complement academics</a:t>
            </a:r>
          </a:p>
          <a:p>
            <a:pPr>
              <a:lnSpc>
                <a:spcPct val="120000"/>
              </a:lnSpc>
              <a:spcBef>
                <a:spcPts val="300"/>
              </a:spcBef>
              <a:spcAft>
                <a:spcPts val="300"/>
              </a:spcAft>
              <a:defRPr sz="1600">
                <a:solidFill>
                  <a:srgbClr val="0F172A"/>
                </a:solidFill>
              </a:defRPr>
            </a:pPr>
            <a:r>
              <a:t>• Strong focus on science, technology, engineering, and mathematics (STEM)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Infrastructure at Modern School Barakhamba Road</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The school boasts state-of-the-art infrastructure that provides a conducive learning environment. The campus is equipped with modern facilities, including well-stocked libraries, fully equipped laboratories, and spacious classrooms. The sports facilities are designed to promote physical activity and team-building among students.</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State-of-the-art facilities</a:t>
            </a:r>
          </a:p>
          <a:p>
            <a:pPr>
              <a:lnSpc>
                <a:spcPct val="115000"/>
              </a:lnSpc>
              <a:spcBef>
                <a:spcPts val="200"/>
              </a:spcBef>
              <a:spcAft>
                <a:spcPts val="200"/>
              </a:spcAft>
              <a:defRPr sz="1500">
                <a:solidFill>
                  <a:srgbClr val="0F172A"/>
                </a:solidFill>
              </a:defRPr>
            </a:pPr>
            <a:r>
              <a:t>• Well-stocked libraries and laboratories</a:t>
            </a:r>
          </a:p>
          <a:p>
            <a:pPr>
              <a:lnSpc>
                <a:spcPct val="115000"/>
              </a:lnSpc>
              <a:spcBef>
                <a:spcPts val="200"/>
              </a:spcBef>
              <a:spcAft>
                <a:spcPts val="200"/>
              </a:spcAft>
              <a:defRPr sz="1500">
                <a:solidFill>
                  <a:srgbClr val="0F172A"/>
                </a:solidFill>
              </a:defRPr>
            </a:pPr>
            <a:r>
              <a:t>• Spacious classrooms and playgrounds</a:t>
            </a:r>
          </a:p>
          <a:p>
            <a:pPr>
              <a:lnSpc>
                <a:spcPct val="115000"/>
              </a:lnSpc>
              <a:spcBef>
                <a:spcPts val="200"/>
              </a:spcBef>
              <a:spcAft>
                <a:spcPts val="200"/>
              </a:spcAft>
              <a:defRPr sz="1500">
                <a:solidFill>
                  <a:srgbClr val="0F172A"/>
                </a:solidFill>
              </a:defRPr>
            </a:pPr>
            <a:r>
              <a:t>• Modern sports facilities</a:t>
            </a:r>
          </a:p>
          <a:p>
            <a:pPr>
              <a:lnSpc>
                <a:spcPct val="115000"/>
              </a:lnSpc>
              <a:spcBef>
                <a:spcPts val="200"/>
              </a:spcBef>
              <a:spcAft>
                <a:spcPts val="200"/>
              </a:spcAft>
              <a:defRPr sz="1500">
                <a:solidFill>
                  <a:srgbClr val="0F172A"/>
                </a:solidFill>
              </a:defRPr>
            </a:pPr>
            <a:r>
              <a:t>• Safe and secure campus</a:t>
            </a:r>
          </a:p>
        </p:txBody>
      </p:sp>
      <p:pic>
        <p:nvPicPr>
          <p:cNvPr id="5" name="Picture 4" descr="unsplash_8Nn49K7Snow.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Extra-Curricular Activities at Modern School Barakhamba Road</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The school offers a wide range of extracurricular activities that cater to the diverse interests of students. From sports teams and clubs to music and dance groups, there's something for everyone. These activities help students develop teamwork skills, build confidence, and explore their creative potential.</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Sports teams and clubs</a:t>
            </a:r>
          </a:p>
          <a:p>
            <a:pPr>
              <a:lnSpc>
                <a:spcPct val="120000"/>
              </a:lnSpc>
              <a:spcBef>
                <a:spcPts val="300"/>
              </a:spcBef>
              <a:spcAft>
                <a:spcPts val="300"/>
              </a:spcAft>
              <a:defRPr sz="1600">
                <a:solidFill>
                  <a:srgbClr val="0F172A"/>
                </a:solidFill>
              </a:defRPr>
            </a:pPr>
            <a:r>
              <a:t>• Music and dance groups</a:t>
            </a:r>
          </a:p>
          <a:p>
            <a:pPr>
              <a:lnSpc>
                <a:spcPct val="120000"/>
              </a:lnSpc>
              <a:spcBef>
                <a:spcPts val="300"/>
              </a:spcBef>
              <a:spcAft>
                <a:spcPts val="300"/>
              </a:spcAft>
              <a:defRPr sz="1600">
                <a:solidFill>
                  <a:srgbClr val="0F172A"/>
                </a:solidFill>
              </a:defRPr>
            </a:pPr>
            <a:r>
              <a:t>• Debating and quiz societies</a:t>
            </a:r>
          </a:p>
          <a:p>
            <a:pPr>
              <a:lnSpc>
                <a:spcPct val="120000"/>
              </a:lnSpc>
              <a:spcBef>
                <a:spcPts val="300"/>
              </a:spcBef>
              <a:spcAft>
                <a:spcPts val="300"/>
              </a:spcAft>
              <a:defRPr sz="1600">
                <a:solidFill>
                  <a:srgbClr val="0F172A"/>
                </a:solidFill>
              </a:defRPr>
            </a:pPr>
            <a:r>
              <a:t>• Literary and cultural events</a:t>
            </a:r>
          </a:p>
          <a:p>
            <a:pPr>
              <a:lnSpc>
                <a:spcPct val="120000"/>
              </a:lnSpc>
              <a:spcBef>
                <a:spcPts val="300"/>
              </a:spcBef>
              <a:spcAft>
                <a:spcPts val="300"/>
              </a:spcAft>
              <a:defRPr sz="1600">
                <a:solidFill>
                  <a:srgbClr val="0F172A"/>
                </a:solidFill>
              </a:defRPr>
            </a:pPr>
            <a:r>
              <a:t>• Community service initiatives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Admissions at Modern School Barakhamba Road</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The admissions process at Modern School Barakhamba Road is designed to ensure that students are a good fit for the school's academic and extracurricular programs. The process involves an entrance examination, followed by an interview with the admissions committee. The school also offers scholarships and financial aid to deserving students.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Entrance examination</a:t>
            </a:r>
          </a:p>
          <a:p>
            <a:pPr>
              <a:lnSpc>
                <a:spcPct val="120000"/>
              </a:lnSpc>
              <a:spcBef>
                <a:spcPts val="300"/>
              </a:spcBef>
              <a:spcAft>
                <a:spcPts val="300"/>
              </a:spcAft>
              <a:defRPr sz="1600">
                <a:solidFill>
                  <a:srgbClr val="0F172A"/>
                </a:solidFill>
              </a:defRPr>
            </a:pPr>
            <a:r>
              <a:t>• Interviews with admissions committee</a:t>
            </a:r>
          </a:p>
          <a:p>
            <a:pPr>
              <a:lnSpc>
                <a:spcPct val="120000"/>
              </a:lnSpc>
              <a:spcBef>
                <a:spcPts val="300"/>
              </a:spcBef>
              <a:spcAft>
                <a:spcPts val="300"/>
              </a:spcAft>
              <a:defRPr sz="1600">
                <a:solidFill>
                  <a:srgbClr val="0F172A"/>
                </a:solidFill>
              </a:defRPr>
            </a:pPr>
            <a:r>
              <a:t>• Scholarships and financial aid available</a:t>
            </a:r>
          </a:p>
          <a:p>
            <a:pPr>
              <a:lnSpc>
                <a:spcPct val="120000"/>
              </a:lnSpc>
              <a:spcBef>
                <a:spcPts val="300"/>
              </a:spcBef>
              <a:spcAft>
                <a:spcPts val="300"/>
              </a:spcAft>
              <a:defRPr sz="1600">
                <a:solidFill>
                  <a:srgbClr val="0F172A"/>
                </a:solidFill>
              </a:defRPr>
            </a:pPr>
            <a:r>
              <a:t>• Rolling admissions policy</a:t>
            </a:r>
          </a:p>
          <a:p>
            <a:pPr>
              <a:lnSpc>
                <a:spcPct val="120000"/>
              </a:lnSpc>
              <a:spcBef>
                <a:spcPts val="300"/>
              </a:spcBef>
              <a:spcAft>
                <a:spcPts val="300"/>
              </a:spcAft>
              <a:defRPr sz="1600">
                <a:solidFill>
                  <a:srgbClr val="0F172A"/>
                </a:solidFill>
              </a:defRPr>
            </a:pPr>
            <a:r>
              <a:t>• Academic merit-based selection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Alumni Network at Modern School Barakhamba Road</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The alumni network of Modern School Barakhamba Road is a testament to the school's enduring impact on its students. With a strong presence in various fields, including business, academia, and public service, our alumni are proud ambassadors of the school's values and traditions.</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Strong global presence</a:t>
            </a:r>
          </a:p>
          <a:p>
            <a:pPr>
              <a:lnSpc>
                <a:spcPct val="115000"/>
              </a:lnSpc>
              <a:spcBef>
                <a:spcPts val="200"/>
              </a:spcBef>
              <a:spcAft>
                <a:spcPts val="200"/>
              </a:spcAft>
              <a:defRPr sz="1500">
                <a:solidFill>
                  <a:srgbClr val="0F172A"/>
                </a:solidFill>
              </a:defRPr>
            </a:pPr>
            <a:r>
              <a:t>• Diverse career paths</a:t>
            </a:r>
          </a:p>
          <a:p>
            <a:pPr>
              <a:lnSpc>
                <a:spcPct val="115000"/>
              </a:lnSpc>
              <a:spcBef>
                <a:spcPts val="200"/>
              </a:spcBef>
              <a:spcAft>
                <a:spcPts val="200"/>
              </a:spcAft>
              <a:defRPr sz="1500">
                <a:solidFill>
                  <a:srgbClr val="0F172A"/>
                </a:solidFill>
              </a:defRPr>
            </a:pPr>
            <a:r>
              <a:t>• Active community engagement</a:t>
            </a:r>
          </a:p>
          <a:p>
            <a:pPr>
              <a:lnSpc>
                <a:spcPct val="115000"/>
              </a:lnSpc>
              <a:spcBef>
                <a:spcPts val="200"/>
              </a:spcBef>
              <a:spcAft>
                <a:spcPts val="200"/>
              </a:spcAft>
              <a:defRPr sz="1500">
                <a:solidFill>
                  <a:srgbClr val="0F172A"/>
                </a:solidFill>
              </a:defRPr>
            </a:pPr>
            <a:r>
              <a:t>• Regular reunions and events</a:t>
            </a:r>
          </a:p>
          <a:p>
            <a:pPr>
              <a:lnSpc>
                <a:spcPct val="115000"/>
              </a:lnSpc>
              <a:spcBef>
                <a:spcPts val="200"/>
              </a:spcBef>
              <a:spcAft>
                <a:spcPts val="200"/>
              </a:spcAft>
              <a:defRPr sz="1500">
                <a:solidFill>
                  <a:srgbClr val="0F172A"/>
                </a:solidFill>
              </a:defRPr>
            </a:pPr>
            <a:r>
              <a:t>• Enduring legacy</a:t>
            </a:r>
          </a:p>
        </p:txBody>
      </p:sp>
      <p:pic>
        <p:nvPicPr>
          <p:cNvPr id="5" name="Picture 4" descr="unsplash_s8703C2uE4o.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Community Engagement at Modern School Barakhamba Road</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The school is committed to giving back to the community through various initiatives and partnerships. From environmental conservation efforts to social welfare programs, we believe in empowering students to make a positive impact on society.</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Environmental conservation efforts</a:t>
            </a:r>
          </a:p>
          <a:p>
            <a:pPr>
              <a:lnSpc>
                <a:spcPct val="120000"/>
              </a:lnSpc>
              <a:spcBef>
                <a:spcPts val="300"/>
              </a:spcBef>
              <a:spcAft>
                <a:spcPts val="300"/>
              </a:spcAft>
              <a:defRPr sz="1600">
                <a:solidFill>
                  <a:srgbClr val="0F172A"/>
                </a:solidFill>
              </a:defRPr>
            </a:pPr>
            <a:r>
              <a:t>• Social welfare programs</a:t>
            </a:r>
          </a:p>
          <a:p>
            <a:pPr>
              <a:lnSpc>
                <a:spcPct val="120000"/>
              </a:lnSpc>
              <a:spcBef>
                <a:spcPts val="300"/>
              </a:spcBef>
              <a:spcAft>
                <a:spcPts val="300"/>
              </a:spcAft>
              <a:defRPr sz="1600">
                <a:solidFill>
                  <a:srgbClr val="0F172A"/>
                </a:solidFill>
              </a:defRPr>
            </a:pPr>
            <a:r>
              <a:t>• Partnerships with local organizations</a:t>
            </a:r>
          </a:p>
          <a:p>
            <a:pPr>
              <a:lnSpc>
                <a:spcPct val="120000"/>
              </a:lnSpc>
              <a:spcBef>
                <a:spcPts val="300"/>
              </a:spcBef>
              <a:spcAft>
                <a:spcPts val="300"/>
              </a:spcAft>
              <a:defRPr sz="1600">
                <a:solidFill>
                  <a:srgbClr val="0F172A"/>
                </a:solidFill>
              </a:defRPr>
            </a:pPr>
            <a:r>
              <a:t>• Student-led community projects</a:t>
            </a:r>
          </a:p>
          <a:p>
            <a:pPr>
              <a:lnSpc>
                <a:spcPct val="120000"/>
              </a:lnSpc>
              <a:spcBef>
                <a:spcPts val="300"/>
              </a:spcBef>
              <a:spcAft>
                <a:spcPts val="300"/>
              </a:spcAft>
              <a:defRPr sz="1600">
                <a:solidFill>
                  <a:srgbClr val="0F172A"/>
                </a:solidFill>
              </a:defRPr>
            </a:pPr>
            <a:r>
              <a:t>• Collaborations with government agencies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ctr">
              <a:defRPr sz="3200" b="1">
                <a:solidFill>
                  <a:srgbClr val="1E40AF"/>
                </a:solidFill>
              </a:defRPr>
            </a:pPr>
            <a:r>
              <a:t>Conclusion: Modern School Barakhamba Road</a:t>
            </a:r>
          </a:p>
        </p:txBody>
      </p:sp>
      <p:sp>
        <p:nvSpPr>
          <p:cNvPr id="4" name="Rectangle 3"/>
          <p:cNvSpPr/>
          <p:nvPr/>
        </p:nvSpPr>
        <p:spPr>
          <a:xfrm>
            <a:off x="32004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88720"/>
            <a:ext cx="2560320" cy="548640"/>
          </a:xfrm>
          <a:prstGeom prst="rect">
            <a:avLst/>
          </a:prstGeom>
          <a:noFill/>
        </p:spPr>
        <p:txBody>
          <a:bodyPr wrap="square">
            <a:spAutoFit/>
          </a:bodyPr>
          <a:lstStyle/>
          <a:p>
            <a:pPr algn="ctr">
              <a:defRPr sz="1400" b="1">
                <a:solidFill>
                  <a:srgbClr val="F59E0B"/>
                </a:solidFill>
              </a:defRPr>
            </a:pPr>
            <a:r>
              <a:t>What We</a:t>
            </a:r>
            <a:br/>
            <a:r>
              <a:t>Learned</a:t>
            </a:r>
          </a:p>
        </p:txBody>
      </p:sp>
      <p:sp>
        <p:nvSpPr>
          <p:cNvPr id="7" name="TextBox 6"/>
          <p:cNvSpPr txBox="1"/>
          <p:nvPr/>
        </p:nvSpPr>
        <p:spPr>
          <a:xfrm>
            <a:off x="8229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Holistic education approach</a:t>
            </a:r>
          </a:p>
        </p:txBody>
      </p:sp>
      <p:sp>
        <p:nvSpPr>
          <p:cNvPr id="8" name="TextBox 7"/>
          <p:cNvSpPr txBox="1"/>
          <p:nvPr/>
        </p:nvSpPr>
        <p:spPr>
          <a:xfrm>
            <a:off x="3474720" y="1188720"/>
            <a:ext cx="2560320" cy="548640"/>
          </a:xfrm>
          <a:prstGeom prst="rect">
            <a:avLst/>
          </a:prstGeom>
          <a:noFill/>
        </p:spPr>
        <p:txBody>
          <a:bodyPr wrap="square">
            <a:spAutoFit/>
          </a:bodyPr>
          <a:lstStyle/>
          <a:p>
            <a:pPr algn="ctr">
              <a:defRPr sz="1400" b="1">
                <a:solidFill>
                  <a:srgbClr val="F59E0B"/>
                </a:solidFill>
              </a:defRPr>
            </a:pPr>
            <a:r>
              <a:t>Key</a:t>
            </a:r>
            <a:br/>
            <a:r>
              <a:t>Actions</a:t>
            </a:r>
          </a:p>
        </p:txBody>
      </p:sp>
      <p:sp>
        <p:nvSpPr>
          <p:cNvPr id="9" name="TextBox 8"/>
          <p:cNvSpPr txBox="1"/>
          <p:nvPr/>
        </p:nvSpPr>
        <p:spPr>
          <a:xfrm>
            <a:off x="35661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Emphasis on character building</a:t>
            </a:r>
          </a:p>
        </p:txBody>
      </p:sp>
      <p:sp>
        <p:nvSpPr>
          <p:cNvPr id="10" name="TextBox 9"/>
          <p:cNvSpPr txBox="1"/>
          <p:nvPr/>
        </p:nvSpPr>
        <p:spPr>
          <a:xfrm>
            <a:off x="6217920" y="1188720"/>
            <a:ext cx="2560320" cy="548640"/>
          </a:xfrm>
          <a:prstGeom prst="rect">
            <a:avLst/>
          </a:prstGeom>
          <a:noFill/>
        </p:spPr>
        <p:txBody>
          <a:bodyPr wrap="square">
            <a:spAutoFit/>
          </a:bodyPr>
          <a:lstStyle/>
          <a:p>
            <a:pPr algn="ctr">
              <a:defRPr sz="1400" b="1">
                <a:solidFill>
                  <a:srgbClr val="F59E0B"/>
                </a:solidFill>
              </a:defRPr>
            </a:pPr>
            <a:r>
              <a:t>What's</a:t>
            </a:r>
            <a:br/>
            <a:r>
              <a:t>Next</a:t>
            </a:r>
          </a:p>
        </p:txBody>
      </p:sp>
      <p:sp>
        <p:nvSpPr>
          <p:cNvPr id="11" name="TextBox 10"/>
          <p:cNvSpPr txBox="1"/>
          <p:nvPr/>
        </p:nvSpPr>
        <p:spPr>
          <a:xfrm>
            <a:off x="6309359"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Strong community connections</a:t>
            </a:r>
          </a:p>
          <a:p>
            <a:pPr>
              <a:lnSpc>
                <a:spcPct val="120000"/>
              </a:lnSpc>
              <a:spcBef>
                <a:spcPts val="600"/>
              </a:spcBef>
              <a:spcAft>
                <a:spcPts val="600"/>
              </a:spcAft>
              <a:defRPr sz="1200">
                <a:solidFill>
                  <a:srgbClr val="0F172A"/>
                </a:solidFill>
              </a:defRPr>
            </a:pPr>
            <a:r>
              <a:t>• Highly qualified faculty</a:t>
            </a:r>
          </a:p>
          <a:p>
            <a:pPr>
              <a:lnSpc>
                <a:spcPct val="120000"/>
              </a:lnSpc>
              <a:spcBef>
                <a:spcPts val="600"/>
              </a:spcBef>
              <a:spcAft>
                <a:spcPts val="600"/>
              </a:spcAft>
              <a:defRPr sz="1200">
                <a:solidFill>
                  <a:srgbClr val="0F172A"/>
                </a:solidFill>
              </a:defRPr>
            </a:pPr>
            <a:r>
              <a:t>• Commitment to student success</a:t>
            </a:r>
          </a:p>
        </p:txBody>
      </p:sp>
      <p:sp>
        <p:nvSpPr>
          <p:cNvPr id="12" name="Rectangle 11"/>
          <p:cNvSpPr/>
          <p:nvPr/>
        </p:nvSpPr>
        <p:spPr>
          <a:xfrm>
            <a:off x="457200" y="5120640"/>
            <a:ext cx="822960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5303520"/>
            <a:ext cx="8229600" cy="457200"/>
          </a:xfrm>
          <a:prstGeom prst="rect">
            <a:avLst/>
          </a:prstGeom>
          <a:noFill/>
        </p:spPr>
        <p:txBody>
          <a:bodyPr wrap="none">
            <a:spAutoFit/>
          </a:bodyPr>
          <a:lstStyle/>
          <a:p>
            <a:pPr algn="ctr">
              <a:defRPr sz="1100">
                <a:solidFill>
                  <a:srgbClr val="64748B"/>
                </a:solidFill>
              </a:defRPr>
            </a:pPr>
            <a:r>
              <a:t>Thank you for your attention | Questions?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Presentation Flow</a:t>
            </a:r>
          </a:p>
        </p:txBody>
      </p:sp>
      <p:sp>
        <p:nvSpPr>
          <p:cNvPr id="4" name="Rectangle 3"/>
          <p:cNvSpPr/>
          <p:nvPr/>
        </p:nvSpPr>
        <p:spPr>
          <a:xfrm>
            <a:off x="4572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E40AF"/>
                </a:solidFill>
              </a:defRPr>
            </a:pPr>
            <a:r>
              <a:t>Introduction to Modern School Barakhamba Road</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64748B"/>
                </a:solidFill>
              </a:defRPr>
            </a:pPr>
            <a:r>
              <a:t>Established in 1936</a:t>
            </a:r>
            <a:br/>
            <a:r>
              <a:t>Emphasizes academic and extracurricular excellence</a:t>
            </a:r>
            <a:br/>
            <a:r>
              <a:t>Diverse student body</a:t>
            </a:r>
          </a:p>
        </p:txBody>
      </p:sp>
      <p:sp>
        <p:nvSpPr>
          <p:cNvPr id="7" name="Rectangle 6"/>
          <p:cNvSpPr/>
          <p:nvPr/>
        </p:nvSpPr>
        <p:spPr>
          <a:xfrm>
            <a:off x="30480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E40AF"/>
                </a:solidFill>
              </a:defRPr>
            </a:pPr>
            <a:r>
              <a:t>Academics at Modern School Barakhamba Road</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64748B"/>
                </a:solidFill>
              </a:defRPr>
            </a:pPr>
            <a:r>
              <a:t>Curriculum designed to foster critical thinking</a:t>
            </a:r>
            <a:br/>
            <a:r>
              <a:t>Emphasis on project-based learning</a:t>
            </a:r>
            <a:br/>
            <a:r>
              <a:t>Experienced faculty mentors</a:t>
            </a:r>
          </a:p>
        </p:txBody>
      </p:sp>
      <p:sp>
        <p:nvSpPr>
          <p:cNvPr id="10" name="Rectangle 9"/>
          <p:cNvSpPr/>
          <p:nvPr/>
        </p:nvSpPr>
        <p:spPr>
          <a:xfrm>
            <a:off x="56388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E40AF"/>
                </a:solidFill>
              </a:defRPr>
            </a:pPr>
            <a:r>
              <a:t>Infrastructure at Modern School Barakhamba Road</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64748B"/>
                </a:solidFill>
              </a:defRPr>
            </a:pPr>
            <a:r>
              <a:t>State-of-the-art facilities</a:t>
            </a:r>
            <a:br/>
            <a:r>
              <a:t>Well-stocked libraries and laboratories</a:t>
            </a:r>
            <a:br/>
            <a:r>
              <a:t>Spacious classrooms and playgrounds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Introduction to Modern School Barakhamba Road</a:t>
            </a:r>
          </a:p>
          <a:p>
            <a:pPr>
              <a:spcBef>
                <a:spcPts val="800"/>
              </a:spcBef>
              <a:spcAft>
                <a:spcPts val="800"/>
              </a:spcAft>
              <a:defRPr sz="2000">
                <a:solidFill>
                  <a:srgbClr val="F59E0B"/>
                </a:solidFill>
              </a:defRPr>
            </a:pPr>
            <a:r>
              <a:t>✓ Academics at Modern School Barakhamba Road</a:t>
            </a:r>
          </a:p>
          <a:p>
            <a:pPr>
              <a:spcBef>
                <a:spcPts val="800"/>
              </a:spcBef>
              <a:spcAft>
                <a:spcPts val="800"/>
              </a:spcAft>
              <a:defRPr sz="2000">
                <a:solidFill>
                  <a:srgbClr val="F59E0B"/>
                </a:solidFill>
              </a:defRPr>
            </a:pPr>
            <a:r>
              <a:t>✓ Infrastructure at Modern School Barakhamba Road</a:t>
            </a:r>
          </a:p>
          <a:p>
            <a:pPr>
              <a:spcBef>
                <a:spcPts val="800"/>
              </a:spcBef>
              <a:spcAft>
                <a:spcPts val="800"/>
              </a:spcAft>
              <a:defRPr sz="2000">
                <a:solidFill>
                  <a:srgbClr val="F59E0B"/>
                </a:solidFill>
              </a:defRPr>
            </a:pPr>
            <a:r>
              <a:t>✓ Extra-Curricular Activities at Modern School Barakhamba Road</a:t>
            </a:r>
          </a:p>
          <a:p>
            <a:pPr>
              <a:spcBef>
                <a:spcPts val="800"/>
              </a:spcBef>
              <a:spcAft>
                <a:spcPts val="800"/>
              </a:spcAft>
              <a:defRPr sz="2000">
                <a:solidFill>
                  <a:srgbClr val="F59E0B"/>
                </a:solidFill>
              </a:defRPr>
            </a:pPr>
            <a:r>
              <a:t>✓ Admissions at Modern School Barakhamba Road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