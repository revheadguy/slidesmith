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jpg" ContentType="image/jpeg"/>
  <Default Extension="rels" ContentType="application/vnd.openxmlformats-package.relationships+xml"/>
  <Default Extension="xlsx" ContentType="application/vnd.openxmlformats-officedocument.spreadsheetml.sheet"/>
  <Default Extension="xml" ContentType="application/xml"/>
  <Override PartName="/docProps/app.xml" ContentType="application/vnd.openxmlformats-officedocument.extended-properties+xml"/>
  <Override PartName="/docProps/core.xml" ContentType="application/vnd.openxmlformats-package.core-properties+xml"/>
  <Override PartName="/ppt/charts/chart1.xml" ContentType="application/vnd.openxmlformats-officedocument.drawingml.chart+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 id="258" r:id="rId9"/>
    <p:sldId id="259" r:id="rId10"/>
    <p:sldId id="260" r:id="rId11"/>
    <p:sldId id="261" r:id="rId12"/>
    <p:sldId id="262" r:id="rId13"/>
    <p:sldId id="263" r:id="rId14"/>
    <p:sldId id="264" r:id="rId15"/>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10" Type="http://schemas.openxmlformats.org/officeDocument/2006/relationships/slide" Target="slides/slide4.xml"/><Relationship Id="rId11" Type="http://schemas.openxmlformats.org/officeDocument/2006/relationships/slide" Target="slides/slide5.xml"/><Relationship Id="rId12" Type="http://schemas.openxmlformats.org/officeDocument/2006/relationships/slide" Target="slides/slide6.xml"/><Relationship Id="rId13" Type="http://schemas.openxmlformats.org/officeDocument/2006/relationships/slide" Target="slides/slide7.xml"/><Relationship Id="rId14" Type="http://schemas.openxmlformats.org/officeDocument/2006/relationships/slide" Target="slides/slide8.xml"/><Relationship Id="rId15" Type="http://schemas.openxmlformats.org/officeDocument/2006/relationships/slide" Target="slides/slide9.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slide" Target="slides/slide3.xml"/></Relationships>
</file>

<file path=ppt/charts/_rels/chart1.xml.rels><?xml version='1.0' encoding='UTF-8' standalone='yes'?>
<Relationships xmlns="http://schemas.openxmlformats.org/package/2006/relationships"><Relationship Id="rId1" Type="http://schemas.openxmlformats.org/officeDocument/2006/relationships/package" Target="../embeddings/Microsoft_Excel_Sheet1.xlsx"/></Relationships>
</file>

<file path=ppt/charts/chart1.xml><?xml version="1.0" encoding="utf-8"?>
<c:chartSpace xmlns:c="http://schemas.openxmlformats.org/drawingml/2006/chart" xmlns:a="http://schemas.openxmlformats.org/drawingml/2006/main" xmlns:r="http://schemas.openxmlformats.org/officeDocument/2006/relationships">
  <c:date1904 val="0"/>
  <c:chart>
    <c:autoTitleDeleted val="0"/>
    <c:plotArea>
      <c:barChart>
        <c:barDir val="col"/>
        <c:grouping val="clustered"/>
        <c:ser>
          <c:idx val="0"/>
          <c:order val="0"/>
          <c:tx>
            <c:strRef>
              <c:f>Sheet1!$B$1</c:f>
              <c:strCache>
                <c:ptCount val="1"/>
                <c:pt idx="0">
                  <c:v>Conclusion Index (%)</c:v>
                </c:pt>
              </c:strCache>
            </c:strRef>
          </c:tx>
          <c:cat>
            <c:strRef>
              <c:f>Sheet1!$A$2:$A$6</c:f>
              <c:strCache>
                <c:ptCount val="5"/>
                <c:pt idx="0">
                  <c:v>Challenges and limit</c:v>
                </c:pt>
                <c:pt idx="1">
                  <c:v>Future directions an</c:v>
                </c:pt>
                <c:pt idx="2">
                  <c:v>Potential applicatio</c:v>
                </c:pt>
                <c:pt idx="3">
                  <c:v>Quantum computing ec</c:v>
                </c:pt>
                <c:pt idx="4">
                  <c:v>Conclusion</c:v>
                </c:pt>
              </c:strCache>
            </c:strRef>
          </c:cat>
          <c:val>
            <c:numRef>
              <c:f>Sheet1!$B$2:$B$6</c:f>
              <c:numCache>
                <c:formatCode>General</c:formatCode>
                <c:ptCount val="5"/>
                <c:pt idx="0">
                  <c:v>20</c:v>
                </c:pt>
                <c:pt idx="1">
                  <c:v>33</c:v>
                </c:pt>
                <c:pt idx="2">
                  <c:v>54</c:v>
                </c:pt>
                <c:pt idx="3">
                  <c:v>63</c:v>
                </c:pt>
                <c:pt idx="4">
                  <c:v>84</c:v>
                </c:pt>
              </c:numCache>
            </c:numRef>
          </c:val>
        </c:ser>
        <c:axId val="-2068027336"/>
        <c:axId val="-2113994440"/>
      </c:barChart>
      <c:catAx>
        <c:axId val="-2068027336"/>
        <c:scaling>
          <c:orientation val="minMax"/>
        </c:scaling>
        <c:delete val="0"/>
        <c:axPos val="b"/>
        <c:majorTickMark val="out"/>
        <c:minorTickMark val="none"/>
        <c:tickLblPos val="nextTo"/>
        <c:crossAx val="-2113994440"/>
        <c:crosses val="autoZero"/>
        <c:auto val="1"/>
        <c:lblAlgn val="ctr"/>
        <c:lblOffset val="100"/>
        <c:noMultiLvlLbl val="0"/>
      </c:catAx>
      <c:valAx>
        <c:axId val="-2113994440"/>
        <c:scaling/>
        <c:delete val="0"/>
        <c:axPos val="l"/>
        <c:majorGridlines/>
        <c:majorTickMark val="out"/>
        <c:minorTickMark val="none"/>
        <c:tickLblPos val="nextTo"/>
        <c:crossAx val="-2068027336"/>
        <c:crosses val="autoZero"/>
      </c:valAx>
    </c:plotArea>
    <c:legend>
      <c:overlay val="0"/>
    </c:legend>
    <c:dispBlanksAs val="gap"/>
  </c:chart>
  <c:txPr>
    <a:bodyPr/>
    <a:lstStyle/>
    <a:p>
      <a:pPr>
        <a:defRPr sz="1800"/>
      </a:pPr>
      <a:endParaRPr lang="en-US"/>
    </a:p>
  </c:txPr>
  <c:externalData r:id="rId1">
    <c:autoUpdate val="0"/>
  </c:externalData>
</c:chartSpace>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jpg"/></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jpg"/></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chart" Target="../charts/chart1.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1E40AF"/>
        </a:solidFill>
        <a:effectLst/>
      </p:bgPr>
    </p:bg>
    <p:spTree>
      <p:nvGrpSpPr>
        <p:cNvPr id="1" name=""/>
        <p:cNvGrpSpPr/>
        <p:nvPr/>
      </p:nvGrpSpPr>
      <p:grpSpPr/>
      <p:sp>
        <p:nvSpPr>
          <p:cNvPr id="2" name="TextBox 1"/>
          <p:cNvSpPr txBox="1"/>
          <p:nvPr/>
        </p:nvSpPr>
        <p:spPr>
          <a:xfrm>
            <a:off x="457200" y="2011680"/>
            <a:ext cx="8229600" cy="2011680"/>
          </a:xfrm>
          <a:prstGeom prst="rect">
            <a:avLst/>
          </a:prstGeom>
          <a:noFill/>
        </p:spPr>
        <p:txBody>
          <a:bodyPr wrap="square">
            <a:normAutofit/>
          </a:bodyPr>
          <a:lstStyle/>
          <a:p>
            <a:pPr algn="ctr">
              <a:lnSpc>
                <a:spcPct val="110000"/>
              </a:lnSpc>
              <a:defRPr sz="4000" b="1">
                <a:solidFill>
                  <a:srgbClr val="FFFFFF"/>
                </a:solidFill>
              </a:defRPr>
            </a:pPr>
            <a:r>
              <a:t>Quantum Computing</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274320"/>
            <a:ext cx="9144000" cy="73152"/>
          </a:xfrm>
          <a:prstGeom prst="rect">
            <a:avLst/>
          </a:prstGeom>
          <a:solidFill>
            <a:srgbClr val="F59E0B"/>
          </a:solidFill>
          <a:ln>
            <a:solidFill>
              <a:srgbClr val="F59E0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57200" y="365760"/>
            <a:ext cx="8229600" cy="731520"/>
          </a:xfrm>
          <a:prstGeom prst="rect">
            <a:avLst/>
          </a:prstGeom>
          <a:noFill/>
        </p:spPr>
        <p:txBody>
          <a:bodyPr wrap="square">
            <a:spAutoFit/>
          </a:bodyPr>
          <a:lstStyle/>
          <a:p>
            <a:pPr>
              <a:defRPr sz="2800" b="1">
                <a:solidFill>
                  <a:srgbClr val="1E40AF"/>
                </a:solidFill>
              </a:defRPr>
            </a:pPr>
            <a:r>
              <a:t>Introduction to Quantum Computing</a:t>
            </a:r>
          </a:p>
        </p:txBody>
      </p:sp>
      <p:sp>
        <p:nvSpPr>
          <p:cNvPr id="4" name="TextBox 3"/>
          <p:cNvSpPr txBox="1"/>
          <p:nvPr/>
        </p:nvSpPr>
        <p:spPr>
          <a:xfrm>
            <a:off x="914400" y="1463040"/>
            <a:ext cx="7315200" cy="4572000"/>
          </a:xfrm>
          <a:prstGeom prst="rect">
            <a:avLst/>
          </a:prstGeom>
          <a:noFill/>
        </p:spPr>
        <p:txBody>
          <a:bodyPr wrap="square">
            <a:spAutoFit/>
          </a:bodyPr>
          <a:lstStyle/>
          <a:p>
            <a:pPr>
              <a:lnSpc>
                <a:spcPct val="120000"/>
              </a:lnSpc>
              <a:spcBef>
                <a:spcPts val="300"/>
              </a:spcBef>
              <a:spcAft>
                <a:spcPts val="300"/>
              </a:spcAft>
              <a:defRPr sz="1600">
                <a:solidFill>
                  <a:srgbClr val="0F172A"/>
                </a:solidFill>
              </a:defRPr>
            </a:pPr>
            <a:r>
              <a:t>Quantum computing is a new paradigm for computing that uses the principles of quantum mechanics to perform calculations. It has the potential to solve complex problems that are currently unsolvable by classical computers. Quantum computers use qubits, which can exist in multiple states simultaneously, allowing them to process vast amounts of data quickly and efficiently. This technology has far-reaching implications for fields such as cryptography, optimization, and simulation.</a:t>
            </a:r>
          </a:p>
          <a:p>
            <a:pPr>
              <a:lnSpc>
                <a:spcPct val="120000"/>
              </a:lnSpc>
              <a:spcBef>
                <a:spcPts val="300"/>
              </a:spcBef>
              <a:spcAft>
                <a:spcPts val="300"/>
              </a:spcAft>
              <a:defRPr sz="1600">
                <a:solidFill>
                  <a:srgbClr val="0F172A"/>
                </a:solidFill>
              </a:defRPr>
            </a:pPr>
          </a:p>
          <a:p>
            <a:pPr>
              <a:lnSpc>
                <a:spcPct val="120000"/>
              </a:lnSpc>
              <a:spcBef>
                <a:spcPts val="300"/>
              </a:spcBef>
              <a:spcAft>
                <a:spcPts val="300"/>
              </a:spcAft>
              <a:defRPr sz="1600">
                <a:solidFill>
                  <a:srgbClr val="0F172A"/>
                </a:solidFill>
              </a:defRPr>
            </a:pPr>
            <a:r>
              <a:t>• What is quantum computing?</a:t>
            </a:r>
          </a:p>
          <a:p>
            <a:pPr>
              <a:lnSpc>
                <a:spcPct val="120000"/>
              </a:lnSpc>
              <a:spcBef>
                <a:spcPts val="300"/>
              </a:spcBef>
              <a:spcAft>
                <a:spcPts val="300"/>
              </a:spcAft>
              <a:defRPr sz="1600">
                <a:solidFill>
                  <a:srgbClr val="0F172A"/>
                </a:solidFill>
              </a:defRPr>
            </a:pPr>
            <a:r>
              <a:t>• Principles of quantum mechanics</a:t>
            </a:r>
          </a:p>
          <a:p>
            <a:pPr>
              <a:lnSpc>
                <a:spcPct val="120000"/>
              </a:lnSpc>
              <a:spcBef>
                <a:spcPts val="300"/>
              </a:spcBef>
              <a:spcAft>
                <a:spcPts val="300"/>
              </a:spcAft>
              <a:defRPr sz="1600">
                <a:solidFill>
                  <a:srgbClr val="0F172A"/>
                </a:solidFill>
              </a:defRPr>
            </a:pPr>
            <a:r>
              <a:t>• Qubits and quantum processing</a:t>
            </a:r>
          </a:p>
          <a:p>
            <a:pPr>
              <a:lnSpc>
                <a:spcPct val="120000"/>
              </a:lnSpc>
              <a:spcBef>
                <a:spcPts val="300"/>
              </a:spcBef>
              <a:spcAft>
                <a:spcPts val="300"/>
              </a:spcAft>
              <a:defRPr sz="1600">
                <a:solidFill>
                  <a:srgbClr val="0F172A"/>
                </a:solidFill>
              </a:defRPr>
            </a:pPr>
            <a:r>
              <a:t>• Applications of quantum computing</a:t>
            </a:r>
          </a:p>
          <a:p>
            <a:pPr>
              <a:lnSpc>
                <a:spcPct val="120000"/>
              </a:lnSpc>
              <a:spcBef>
                <a:spcPts val="300"/>
              </a:spcBef>
              <a:spcAft>
                <a:spcPts val="300"/>
              </a:spcAft>
              <a:defRPr sz="1600">
                <a:solidFill>
                  <a:srgbClr val="0F172A"/>
                </a:solidFill>
              </a:defRPr>
            </a:pPr>
            <a:r>
              <a:t>• Future directions</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274320"/>
            <a:ext cx="9144000" cy="73152"/>
          </a:xfrm>
          <a:prstGeom prst="rect">
            <a:avLst/>
          </a:prstGeom>
          <a:solidFill>
            <a:srgbClr val="F59E0B"/>
          </a:solidFill>
          <a:ln>
            <a:solidFill>
              <a:srgbClr val="F59E0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57200" y="457200"/>
            <a:ext cx="8229600" cy="640080"/>
          </a:xfrm>
          <a:prstGeom prst="rect">
            <a:avLst/>
          </a:prstGeom>
          <a:noFill/>
        </p:spPr>
        <p:txBody>
          <a:bodyPr wrap="square">
            <a:spAutoFit/>
          </a:bodyPr>
          <a:lstStyle/>
          <a:p>
            <a:pPr>
              <a:defRPr sz="2800" b="1">
                <a:solidFill>
                  <a:srgbClr val="1E40AF"/>
                </a:solidFill>
              </a:defRPr>
            </a:pPr>
            <a:r>
              <a:t>Quantum Algorithms</a:t>
            </a:r>
          </a:p>
        </p:txBody>
      </p:sp>
      <p:sp>
        <p:nvSpPr>
          <p:cNvPr id="4" name="TextBox 3"/>
          <p:cNvSpPr txBox="1"/>
          <p:nvPr/>
        </p:nvSpPr>
        <p:spPr>
          <a:xfrm>
            <a:off x="457200" y="1463040"/>
            <a:ext cx="4114800" cy="4572000"/>
          </a:xfrm>
          <a:prstGeom prst="rect">
            <a:avLst/>
          </a:prstGeom>
          <a:noFill/>
        </p:spPr>
        <p:txBody>
          <a:bodyPr wrap="square">
            <a:spAutoFit/>
          </a:bodyPr>
          <a:lstStyle/>
          <a:p>
            <a:pPr>
              <a:lnSpc>
                <a:spcPct val="115000"/>
              </a:lnSpc>
              <a:spcBef>
                <a:spcPts val="200"/>
              </a:spcBef>
              <a:spcAft>
                <a:spcPts val="200"/>
              </a:spcAft>
              <a:defRPr sz="1500">
                <a:solidFill>
                  <a:srgbClr val="0F172A"/>
                </a:solidFill>
              </a:defRPr>
            </a:pPr>
            <a:r>
              <a:t>Quantum algorithms are designed to take advantage of the unique properties of qubits. Shor's algorithm, for example, can factor large numbers exponentially faster than classical algorithms. Grover's algorithm can search an unsorted database in polynomial time. These algorithms have significant implications for fields such as cryptography and data security.</a:t>
            </a:r>
          </a:p>
          <a:p>
            <a:pPr>
              <a:lnSpc>
                <a:spcPct val="115000"/>
              </a:lnSpc>
              <a:spcBef>
                <a:spcPts val="200"/>
              </a:spcBef>
              <a:spcAft>
                <a:spcPts val="200"/>
              </a:spcAft>
              <a:defRPr sz="1500">
                <a:solidFill>
                  <a:srgbClr val="0F172A"/>
                </a:solidFill>
              </a:defRPr>
            </a:pPr>
          </a:p>
          <a:p>
            <a:pPr>
              <a:lnSpc>
                <a:spcPct val="115000"/>
              </a:lnSpc>
              <a:spcBef>
                <a:spcPts val="200"/>
              </a:spcBef>
              <a:spcAft>
                <a:spcPts val="200"/>
              </a:spcAft>
              <a:defRPr sz="1500">
                <a:solidFill>
                  <a:srgbClr val="0F172A"/>
                </a:solidFill>
              </a:defRPr>
            </a:pPr>
            <a:r>
              <a:t>• Shor's algorithm</a:t>
            </a:r>
          </a:p>
          <a:p>
            <a:pPr>
              <a:lnSpc>
                <a:spcPct val="115000"/>
              </a:lnSpc>
              <a:spcBef>
                <a:spcPts val="200"/>
              </a:spcBef>
              <a:spcAft>
                <a:spcPts val="200"/>
              </a:spcAft>
              <a:defRPr sz="1500">
                <a:solidFill>
                  <a:srgbClr val="0F172A"/>
                </a:solidFill>
              </a:defRPr>
            </a:pPr>
            <a:r>
              <a:t>• Grover's algorithm</a:t>
            </a:r>
          </a:p>
          <a:p>
            <a:pPr>
              <a:lnSpc>
                <a:spcPct val="115000"/>
              </a:lnSpc>
              <a:spcBef>
                <a:spcPts val="200"/>
              </a:spcBef>
              <a:spcAft>
                <a:spcPts val="200"/>
              </a:spcAft>
              <a:defRPr sz="1500">
                <a:solidFill>
                  <a:srgbClr val="0F172A"/>
                </a:solidFill>
              </a:defRPr>
            </a:pPr>
            <a:r>
              <a:t>• Quantum simulations</a:t>
            </a:r>
          </a:p>
          <a:p>
            <a:pPr>
              <a:lnSpc>
                <a:spcPct val="115000"/>
              </a:lnSpc>
              <a:spcBef>
                <a:spcPts val="200"/>
              </a:spcBef>
              <a:spcAft>
                <a:spcPts val="200"/>
              </a:spcAft>
              <a:defRPr sz="1500">
                <a:solidFill>
                  <a:srgbClr val="0F172A"/>
                </a:solidFill>
              </a:defRPr>
            </a:pPr>
            <a:r>
              <a:t>• Optimization problems</a:t>
            </a:r>
          </a:p>
          <a:p>
            <a:pPr>
              <a:lnSpc>
                <a:spcPct val="115000"/>
              </a:lnSpc>
              <a:spcBef>
                <a:spcPts val="200"/>
              </a:spcBef>
              <a:spcAft>
                <a:spcPts val="200"/>
              </a:spcAft>
              <a:defRPr sz="1500">
                <a:solidFill>
                  <a:srgbClr val="0F172A"/>
                </a:solidFill>
              </a:defRPr>
            </a:pPr>
            <a:r>
              <a:t>• Cryptography</a:t>
            </a:r>
          </a:p>
        </p:txBody>
      </p:sp>
      <p:pic>
        <p:nvPicPr>
          <p:cNvPr id="5" name="Picture 4" descr="unsplash_5RgF-VnByPo.jpg"/>
          <p:cNvPicPr>
            <a:picLocks noChangeAspect="1"/>
          </p:cNvPicPr>
          <p:nvPr/>
        </p:nvPicPr>
        <p:blipFill>
          <a:blip r:embed="rId2"/>
          <a:stretch>
            <a:fillRect/>
          </a:stretch>
        </p:blipFill>
        <p:spPr>
          <a:xfrm>
            <a:off x="4754880" y="1463040"/>
            <a:ext cx="3474720" cy="4572000"/>
          </a:xfrm>
          <a:prstGeom prst="rect">
            <a:avLst/>
          </a:prstGeom>
        </p:spPr>
      </p:pic>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274320"/>
            <a:ext cx="9144000" cy="73152"/>
          </a:xfrm>
          <a:prstGeom prst="rect">
            <a:avLst/>
          </a:prstGeom>
          <a:solidFill>
            <a:srgbClr val="F59E0B"/>
          </a:solidFill>
          <a:ln>
            <a:solidFill>
              <a:srgbClr val="F59E0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57200" y="365760"/>
            <a:ext cx="8229600" cy="731520"/>
          </a:xfrm>
          <a:prstGeom prst="rect">
            <a:avLst/>
          </a:prstGeom>
          <a:noFill/>
        </p:spPr>
        <p:txBody>
          <a:bodyPr wrap="square">
            <a:spAutoFit/>
          </a:bodyPr>
          <a:lstStyle/>
          <a:p>
            <a:pPr>
              <a:defRPr sz="2800" b="1">
                <a:solidFill>
                  <a:srgbClr val="1E40AF"/>
                </a:solidFill>
              </a:defRPr>
            </a:pPr>
            <a:r>
              <a:t>Quantum Error Correction</a:t>
            </a:r>
          </a:p>
        </p:txBody>
      </p:sp>
      <p:sp>
        <p:nvSpPr>
          <p:cNvPr id="4" name="TextBox 3"/>
          <p:cNvSpPr txBox="1"/>
          <p:nvPr/>
        </p:nvSpPr>
        <p:spPr>
          <a:xfrm>
            <a:off x="914400" y="1463040"/>
            <a:ext cx="7315200" cy="4572000"/>
          </a:xfrm>
          <a:prstGeom prst="rect">
            <a:avLst/>
          </a:prstGeom>
          <a:noFill/>
        </p:spPr>
        <p:txBody>
          <a:bodyPr wrap="square">
            <a:spAutoFit/>
          </a:bodyPr>
          <a:lstStyle/>
          <a:p>
            <a:pPr>
              <a:lnSpc>
                <a:spcPct val="120000"/>
              </a:lnSpc>
              <a:spcBef>
                <a:spcPts val="300"/>
              </a:spcBef>
              <a:spcAft>
                <a:spcPts val="300"/>
              </a:spcAft>
              <a:defRPr sz="1600">
                <a:solidFill>
                  <a:srgbClr val="0F172A"/>
                </a:solidFill>
              </a:defRPr>
            </a:pPr>
            <a:r>
              <a:t>One of the major challenges in building a practical quantum computer is error correction. Quantum computers are prone to errors due to the fragile nature of qubits. Developing robust and efficient error correction methods is essential for large-scale quantum computing.</a:t>
            </a:r>
          </a:p>
          <a:p>
            <a:pPr>
              <a:lnSpc>
                <a:spcPct val="120000"/>
              </a:lnSpc>
              <a:spcBef>
                <a:spcPts val="300"/>
              </a:spcBef>
              <a:spcAft>
                <a:spcPts val="300"/>
              </a:spcAft>
              <a:defRPr sz="1600">
                <a:solidFill>
                  <a:srgbClr val="0F172A"/>
                </a:solidFill>
              </a:defRPr>
            </a:pPr>
          </a:p>
          <a:p>
            <a:pPr>
              <a:lnSpc>
                <a:spcPct val="120000"/>
              </a:lnSpc>
              <a:spcBef>
                <a:spcPts val="300"/>
              </a:spcBef>
              <a:spcAft>
                <a:spcPts val="300"/>
              </a:spcAft>
              <a:defRPr sz="1600">
                <a:solidFill>
                  <a:srgbClr val="0F172A"/>
                </a:solidFill>
              </a:defRPr>
            </a:pPr>
            <a:r>
              <a:t>• Types of errors in quantum computing</a:t>
            </a:r>
          </a:p>
          <a:p>
            <a:pPr>
              <a:lnSpc>
                <a:spcPct val="120000"/>
              </a:lnSpc>
              <a:spcBef>
                <a:spcPts val="300"/>
              </a:spcBef>
              <a:spcAft>
                <a:spcPts val="300"/>
              </a:spcAft>
              <a:defRPr sz="1600">
                <a:solidFill>
                  <a:srgbClr val="0F172A"/>
                </a:solidFill>
              </a:defRPr>
            </a:pPr>
            <a:r>
              <a:t>• Quantum error correction codes</a:t>
            </a:r>
          </a:p>
          <a:p>
            <a:pPr>
              <a:lnSpc>
                <a:spcPct val="120000"/>
              </a:lnSpc>
              <a:spcBef>
                <a:spcPts val="300"/>
              </a:spcBef>
              <a:spcAft>
                <a:spcPts val="300"/>
              </a:spcAft>
              <a:defRPr sz="1600">
                <a:solidFill>
                  <a:srgbClr val="0F172A"/>
                </a:solidFill>
              </a:defRPr>
            </a:pPr>
            <a:r>
              <a:t>• Error correction methods</a:t>
            </a:r>
          </a:p>
          <a:p>
            <a:pPr>
              <a:lnSpc>
                <a:spcPct val="120000"/>
              </a:lnSpc>
              <a:spcBef>
                <a:spcPts val="300"/>
              </a:spcBef>
              <a:spcAft>
                <a:spcPts val="300"/>
              </a:spcAft>
              <a:defRPr sz="1600">
                <a:solidFill>
                  <a:srgbClr val="0F172A"/>
                </a:solidFill>
              </a:defRPr>
            </a:pPr>
            <a:r>
              <a:t>• Challenges and limitations</a:t>
            </a:r>
          </a:p>
          <a:p>
            <a:pPr>
              <a:lnSpc>
                <a:spcPct val="120000"/>
              </a:lnSpc>
              <a:spcBef>
                <a:spcPts val="300"/>
              </a:spcBef>
              <a:spcAft>
                <a:spcPts val="300"/>
              </a:spcAft>
              <a:defRPr sz="1600">
                <a:solidFill>
                  <a:srgbClr val="0F172A"/>
                </a:solidFill>
              </a:defRPr>
            </a:pPr>
            <a:r>
              <a:t>• Future directions</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274320"/>
            <a:ext cx="9144000" cy="73152"/>
          </a:xfrm>
          <a:prstGeom prst="rect">
            <a:avLst/>
          </a:prstGeom>
          <a:solidFill>
            <a:srgbClr val="F59E0B"/>
          </a:solidFill>
          <a:ln>
            <a:solidFill>
              <a:srgbClr val="F59E0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57200" y="365760"/>
            <a:ext cx="8229600" cy="731520"/>
          </a:xfrm>
          <a:prstGeom prst="rect">
            <a:avLst/>
          </a:prstGeom>
          <a:noFill/>
        </p:spPr>
        <p:txBody>
          <a:bodyPr wrap="square">
            <a:spAutoFit/>
          </a:bodyPr>
          <a:lstStyle/>
          <a:p>
            <a:pPr>
              <a:defRPr sz="2800" b="1">
                <a:solidFill>
                  <a:srgbClr val="1E40AF"/>
                </a:solidFill>
              </a:defRPr>
            </a:pPr>
            <a:r>
              <a:t>Quantum Computing Hardware</a:t>
            </a:r>
          </a:p>
        </p:txBody>
      </p:sp>
      <p:sp>
        <p:nvSpPr>
          <p:cNvPr id="4" name="TextBox 3"/>
          <p:cNvSpPr txBox="1"/>
          <p:nvPr/>
        </p:nvSpPr>
        <p:spPr>
          <a:xfrm>
            <a:off x="914400" y="1463040"/>
            <a:ext cx="7315200" cy="4572000"/>
          </a:xfrm>
          <a:prstGeom prst="rect">
            <a:avLst/>
          </a:prstGeom>
          <a:noFill/>
        </p:spPr>
        <p:txBody>
          <a:bodyPr wrap="square">
            <a:spAutoFit/>
          </a:bodyPr>
          <a:lstStyle/>
          <a:p>
            <a:pPr>
              <a:lnSpc>
                <a:spcPct val="120000"/>
              </a:lnSpc>
              <a:spcBef>
                <a:spcPts val="300"/>
              </a:spcBef>
              <a:spcAft>
                <a:spcPts val="300"/>
              </a:spcAft>
              <a:defRPr sz="1600">
                <a:solidFill>
                  <a:srgbClr val="0F172A"/>
                </a:solidFill>
              </a:defRPr>
            </a:pPr>
            <a:r>
              <a:t>Building a practical quantum computer requires significant advances in hardware. Superconducting qubits are one approach, while ion traps and topological qubits are others. Each has its advantages and limitations.</a:t>
            </a:r>
          </a:p>
          <a:p>
            <a:pPr>
              <a:lnSpc>
                <a:spcPct val="120000"/>
              </a:lnSpc>
              <a:spcBef>
                <a:spcPts val="300"/>
              </a:spcBef>
              <a:spcAft>
                <a:spcPts val="300"/>
              </a:spcAft>
              <a:defRPr sz="1600">
                <a:solidFill>
                  <a:srgbClr val="0F172A"/>
                </a:solidFill>
              </a:defRPr>
            </a:pPr>
          </a:p>
          <a:p>
            <a:pPr>
              <a:lnSpc>
                <a:spcPct val="120000"/>
              </a:lnSpc>
              <a:spcBef>
                <a:spcPts val="300"/>
              </a:spcBef>
              <a:spcAft>
                <a:spcPts val="300"/>
              </a:spcAft>
              <a:defRPr sz="1600">
                <a:solidFill>
                  <a:srgbClr val="0F172A"/>
                </a:solidFill>
              </a:defRPr>
            </a:pPr>
            <a:r>
              <a:t>• Superconducting qubits</a:t>
            </a:r>
          </a:p>
          <a:p>
            <a:pPr>
              <a:lnSpc>
                <a:spcPct val="120000"/>
              </a:lnSpc>
              <a:spcBef>
                <a:spcPts val="300"/>
              </a:spcBef>
              <a:spcAft>
                <a:spcPts val="300"/>
              </a:spcAft>
              <a:defRPr sz="1600">
                <a:solidFill>
                  <a:srgbClr val="0F172A"/>
                </a:solidFill>
              </a:defRPr>
            </a:pPr>
            <a:r>
              <a:t>• Ion traps</a:t>
            </a:r>
          </a:p>
          <a:p>
            <a:pPr>
              <a:lnSpc>
                <a:spcPct val="120000"/>
              </a:lnSpc>
              <a:spcBef>
                <a:spcPts val="300"/>
              </a:spcBef>
              <a:spcAft>
                <a:spcPts val="300"/>
              </a:spcAft>
              <a:defRPr sz="1600">
                <a:solidFill>
                  <a:srgbClr val="0F172A"/>
                </a:solidFill>
              </a:defRPr>
            </a:pPr>
            <a:r>
              <a:t>• Topological qubits</a:t>
            </a:r>
          </a:p>
          <a:p>
            <a:pPr>
              <a:lnSpc>
                <a:spcPct val="120000"/>
              </a:lnSpc>
              <a:spcBef>
                <a:spcPts val="300"/>
              </a:spcBef>
              <a:spcAft>
                <a:spcPts val="300"/>
              </a:spcAft>
              <a:defRPr sz="1600">
                <a:solidFill>
                  <a:srgbClr val="0F172A"/>
                </a:solidFill>
              </a:defRPr>
            </a:pPr>
            <a:r>
              <a:t>• Quantum gate implementation</a:t>
            </a:r>
          </a:p>
          <a:p>
            <a:pPr>
              <a:lnSpc>
                <a:spcPct val="120000"/>
              </a:lnSpc>
              <a:spcBef>
                <a:spcPts val="300"/>
              </a:spcBef>
              <a:spcAft>
                <a:spcPts val="300"/>
              </a:spcAft>
              <a:defRPr sz="1600">
                <a:solidFill>
                  <a:srgbClr val="0F172A"/>
                </a:solidFill>
              </a:defRPr>
            </a:pPr>
            <a:r>
              <a:t>• Scaling up</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274320"/>
            <a:ext cx="9144000" cy="73152"/>
          </a:xfrm>
          <a:prstGeom prst="rect">
            <a:avLst/>
          </a:prstGeom>
          <a:solidFill>
            <a:srgbClr val="F59E0B"/>
          </a:solidFill>
          <a:ln>
            <a:solidFill>
              <a:srgbClr val="F59E0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57200" y="457200"/>
            <a:ext cx="8229600" cy="640080"/>
          </a:xfrm>
          <a:prstGeom prst="rect">
            <a:avLst/>
          </a:prstGeom>
          <a:noFill/>
        </p:spPr>
        <p:txBody>
          <a:bodyPr wrap="square">
            <a:spAutoFit/>
          </a:bodyPr>
          <a:lstStyle/>
          <a:p>
            <a:pPr>
              <a:defRPr sz="2800" b="1">
                <a:solidFill>
                  <a:srgbClr val="1E40AF"/>
                </a:solidFill>
              </a:defRPr>
            </a:pPr>
            <a:r>
              <a:t>Applications of Quantum Computing</a:t>
            </a:r>
          </a:p>
        </p:txBody>
      </p:sp>
      <p:sp>
        <p:nvSpPr>
          <p:cNvPr id="4" name="TextBox 3"/>
          <p:cNvSpPr txBox="1"/>
          <p:nvPr/>
        </p:nvSpPr>
        <p:spPr>
          <a:xfrm>
            <a:off x="457200" y="1463040"/>
            <a:ext cx="4114800" cy="4572000"/>
          </a:xfrm>
          <a:prstGeom prst="rect">
            <a:avLst/>
          </a:prstGeom>
          <a:noFill/>
        </p:spPr>
        <p:txBody>
          <a:bodyPr wrap="square">
            <a:spAutoFit/>
          </a:bodyPr>
          <a:lstStyle/>
          <a:p>
            <a:pPr>
              <a:lnSpc>
                <a:spcPct val="115000"/>
              </a:lnSpc>
              <a:spcBef>
                <a:spcPts val="200"/>
              </a:spcBef>
              <a:spcAft>
                <a:spcPts val="200"/>
              </a:spcAft>
              <a:defRPr sz="1500">
                <a:solidFill>
                  <a:srgbClr val="0F172A"/>
                </a:solidFill>
              </a:defRPr>
            </a:pPr>
            <a:r>
              <a:t>Quantum computing has the potential to revolutionize a wide range of fields. These include chemistry, materials science, machine learning, and finance. Quantum computers can solve complex optimization problems and simulate complex systems.</a:t>
            </a:r>
          </a:p>
          <a:p>
            <a:pPr>
              <a:lnSpc>
                <a:spcPct val="115000"/>
              </a:lnSpc>
              <a:spcBef>
                <a:spcPts val="200"/>
              </a:spcBef>
              <a:spcAft>
                <a:spcPts val="200"/>
              </a:spcAft>
              <a:defRPr sz="1500">
                <a:solidFill>
                  <a:srgbClr val="0F172A"/>
                </a:solidFill>
              </a:defRPr>
            </a:pPr>
          </a:p>
          <a:p>
            <a:pPr>
              <a:lnSpc>
                <a:spcPct val="115000"/>
              </a:lnSpc>
              <a:spcBef>
                <a:spcPts val="200"/>
              </a:spcBef>
              <a:spcAft>
                <a:spcPts val="200"/>
              </a:spcAft>
              <a:defRPr sz="1500">
                <a:solidFill>
                  <a:srgbClr val="0F172A"/>
                </a:solidFill>
              </a:defRPr>
            </a:pPr>
            <a:r>
              <a:t>• Chemistry and materials science</a:t>
            </a:r>
          </a:p>
          <a:p>
            <a:pPr>
              <a:lnSpc>
                <a:spcPct val="115000"/>
              </a:lnSpc>
              <a:spcBef>
                <a:spcPts val="200"/>
              </a:spcBef>
              <a:spcAft>
                <a:spcPts val="200"/>
              </a:spcAft>
              <a:defRPr sz="1500">
                <a:solidFill>
                  <a:srgbClr val="0F172A"/>
                </a:solidFill>
              </a:defRPr>
            </a:pPr>
            <a:r>
              <a:t>• Machine learning and AI</a:t>
            </a:r>
          </a:p>
          <a:p>
            <a:pPr>
              <a:lnSpc>
                <a:spcPct val="115000"/>
              </a:lnSpc>
              <a:spcBef>
                <a:spcPts val="200"/>
              </a:spcBef>
              <a:spcAft>
                <a:spcPts val="200"/>
              </a:spcAft>
              <a:defRPr sz="1500">
                <a:solidFill>
                  <a:srgbClr val="0F172A"/>
                </a:solidFill>
              </a:defRPr>
            </a:pPr>
            <a:r>
              <a:t>• Finance and portfolio optimization</a:t>
            </a:r>
          </a:p>
          <a:p>
            <a:pPr>
              <a:lnSpc>
                <a:spcPct val="115000"/>
              </a:lnSpc>
              <a:spcBef>
                <a:spcPts val="200"/>
              </a:spcBef>
              <a:spcAft>
                <a:spcPts val="200"/>
              </a:spcAft>
              <a:defRPr sz="1500">
                <a:solidFill>
                  <a:srgbClr val="0F172A"/>
                </a:solidFill>
              </a:defRPr>
            </a:pPr>
            <a:r>
              <a:t>• Optimization problems</a:t>
            </a:r>
          </a:p>
          <a:p>
            <a:pPr>
              <a:lnSpc>
                <a:spcPct val="115000"/>
              </a:lnSpc>
              <a:spcBef>
                <a:spcPts val="200"/>
              </a:spcBef>
              <a:spcAft>
                <a:spcPts val="200"/>
              </a:spcAft>
              <a:defRPr sz="1500">
                <a:solidFill>
                  <a:srgbClr val="0F172A"/>
                </a:solidFill>
              </a:defRPr>
            </a:pPr>
            <a:r>
              <a:t>• Simulation</a:t>
            </a:r>
          </a:p>
        </p:txBody>
      </p:sp>
      <p:pic>
        <p:nvPicPr>
          <p:cNvPr id="5" name="Picture 4" descr="unsplash_FUQWePRf0Qc.jpg"/>
          <p:cNvPicPr>
            <a:picLocks noChangeAspect="1"/>
          </p:cNvPicPr>
          <p:nvPr/>
        </p:nvPicPr>
        <p:blipFill>
          <a:blip r:embed="rId2"/>
          <a:stretch>
            <a:fillRect/>
          </a:stretch>
        </p:blipFill>
        <p:spPr>
          <a:xfrm>
            <a:off x="4754880" y="1463040"/>
            <a:ext cx="3474720" cy="4572000"/>
          </a:xfrm>
          <a:prstGeom prst="rect">
            <a:avLst/>
          </a:prstGeom>
        </p:spPr>
      </p:pic>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274320"/>
            <a:ext cx="9144000" cy="73152"/>
          </a:xfrm>
          <a:prstGeom prst="rect">
            <a:avLst/>
          </a:prstGeom>
          <a:solidFill>
            <a:srgbClr val="F59E0B"/>
          </a:solidFill>
          <a:ln>
            <a:solidFill>
              <a:srgbClr val="F59E0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57200" y="365760"/>
            <a:ext cx="8229600" cy="914400"/>
          </a:xfrm>
          <a:prstGeom prst="rect">
            <a:avLst/>
          </a:prstGeom>
          <a:noFill/>
        </p:spPr>
        <p:txBody>
          <a:bodyPr wrap="square">
            <a:spAutoFit/>
          </a:bodyPr>
          <a:lstStyle/>
          <a:p>
            <a:pPr>
              <a:defRPr sz="4000" b="1">
                <a:solidFill>
                  <a:srgbClr val="1E40AF"/>
                </a:solidFill>
              </a:defRPr>
            </a:pPr>
            <a:r>
              <a:t>Conclusion and Future Directions - Conclusion Index (%)</a:t>
            </a:r>
          </a:p>
        </p:txBody>
      </p:sp>
      <p:graphicFrame>
        <p:nvGraphicFramePr>
          <p:cNvPr id="4" name="Chart 3"/>
          <p:cNvGraphicFramePr>
            <a:graphicFrameLocks noGrp="1"/>
          </p:cNvGraphicFramePr>
          <p:nvPr/>
        </p:nvGraphicFramePr>
        <p:xfrm>
          <a:off x="457200" y="1463040"/>
          <a:ext cx="8229600" cy="4572000"/>
        </p:xfrm>
        <a:graphic>
          <a:graphicData uri="http://schemas.openxmlformats.org/drawingml/2006/chart">
            <c:chart xmlns:c="http://schemas.openxmlformats.org/drawingml/2006/chart" r:id="rId2"/>
          </a:graphicData>
        </a:graphic>
      </p:graphicFrame>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274320"/>
            <a:ext cx="9144000" cy="73152"/>
          </a:xfrm>
          <a:prstGeom prst="rect">
            <a:avLst/>
          </a:prstGeom>
          <a:solidFill>
            <a:srgbClr val="F59E0B"/>
          </a:solidFill>
          <a:ln>
            <a:solidFill>
              <a:srgbClr val="F59E0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57200" y="365760"/>
            <a:ext cx="8229600" cy="914400"/>
          </a:xfrm>
          <a:prstGeom prst="rect">
            <a:avLst/>
          </a:prstGeom>
          <a:noFill/>
        </p:spPr>
        <p:txBody>
          <a:bodyPr wrap="square">
            <a:spAutoFit/>
          </a:bodyPr>
          <a:lstStyle/>
          <a:p>
            <a:pPr>
              <a:defRPr sz="4000" b="1">
                <a:solidFill>
                  <a:srgbClr val="1E40AF"/>
                </a:solidFill>
              </a:defRPr>
            </a:pPr>
            <a:r>
              <a:t>Presentation Flow</a:t>
            </a:r>
          </a:p>
        </p:txBody>
      </p:sp>
      <p:sp>
        <p:nvSpPr>
          <p:cNvPr id="4" name="Rectangle 3"/>
          <p:cNvSpPr/>
          <p:nvPr/>
        </p:nvSpPr>
        <p:spPr>
          <a:xfrm>
            <a:off x="457200" y="1371600"/>
            <a:ext cx="2499360" cy="4572000"/>
          </a:xfrm>
          <a:prstGeom prst="rect">
            <a:avLst/>
          </a:prstGeom>
          <a:solidFill>
            <a:srgbClr val="F8FAFC"/>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594360" y="1554480"/>
            <a:ext cx="2225040" cy="457200"/>
          </a:xfrm>
          <a:prstGeom prst="rect">
            <a:avLst/>
          </a:prstGeom>
          <a:noFill/>
        </p:spPr>
        <p:txBody>
          <a:bodyPr wrap="square">
            <a:spAutoFit/>
          </a:bodyPr>
          <a:lstStyle/>
          <a:p>
            <a:pPr algn="ctr">
              <a:defRPr sz="1600" b="1">
                <a:solidFill>
                  <a:srgbClr val="1E40AF"/>
                </a:solidFill>
              </a:defRPr>
            </a:pPr>
            <a:r>
              <a:t>Beginning</a:t>
            </a:r>
          </a:p>
        </p:txBody>
      </p:sp>
      <p:sp>
        <p:nvSpPr>
          <p:cNvPr id="6" name="TextBox 5"/>
          <p:cNvSpPr txBox="1"/>
          <p:nvPr/>
        </p:nvSpPr>
        <p:spPr>
          <a:xfrm>
            <a:off x="594360" y="2194560"/>
            <a:ext cx="2225040" cy="3657600"/>
          </a:xfrm>
          <a:prstGeom prst="rect">
            <a:avLst/>
          </a:prstGeom>
          <a:noFill/>
        </p:spPr>
        <p:txBody>
          <a:bodyPr wrap="square">
            <a:spAutoFit/>
          </a:bodyPr>
          <a:lstStyle/>
          <a:p>
            <a:pPr>
              <a:lnSpc>
                <a:spcPct val="140000"/>
              </a:lnSpc>
              <a:defRPr sz="1300">
                <a:solidFill>
                  <a:srgbClr val="64748B"/>
                </a:solidFill>
              </a:defRPr>
            </a:pPr>
            <a:r>
              <a:t>Introduction to Quantum Computing</a:t>
            </a:r>
          </a:p>
        </p:txBody>
      </p:sp>
      <p:sp>
        <p:nvSpPr>
          <p:cNvPr id="7" name="Rectangle 6"/>
          <p:cNvSpPr/>
          <p:nvPr/>
        </p:nvSpPr>
        <p:spPr>
          <a:xfrm>
            <a:off x="3048000" y="1371600"/>
            <a:ext cx="2499360" cy="4572000"/>
          </a:xfrm>
          <a:prstGeom prst="rect">
            <a:avLst/>
          </a:prstGeom>
          <a:solidFill>
            <a:srgbClr val="F8FAFC"/>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3185160" y="1554480"/>
            <a:ext cx="2225040" cy="457200"/>
          </a:xfrm>
          <a:prstGeom prst="rect">
            <a:avLst/>
          </a:prstGeom>
          <a:noFill/>
        </p:spPr>
        <p:txBody>
          <a:bodyPr wrap="square">
            <a:spAutoFit/>
          </a:bodyPr>
          <a:lstStyle/>
          <a:p>
            <a:pPr algn="ctr">
              <a:defRPr sz="1600" b="1">
                <a:solidFill>
                  <a:srgbClr val="1E40AF"/>
                </a:solidFill>
              </a:defRPr>
            </a:pPr>
            <a:r>
              <a:t>Middle</a:t>
            </a:r>
          </a:p>
        </p:txBody>
      </p:sp>
      <p:sp>
        <p:nvSpPr>
          <p:cNvPr id="9" name="TextBox 8"/>
          <p:cNvSpPr txBox="1"/>
          <p:nvPr/>
        </p:nvSpPr>
        <p:spPr>
          <a:xfrm>
            <a:off x="3185160" y="2194560"/>
            <a:ext cx="2225040" cy="3657600"/>
          </a:xfrm>
          <a:prstGeom prst="rect">
            <a:avLst/>
          </a:prstGeom>
          <a:noFill/>
        </p:spPr>
        <p:txBody>
          <a:bodyPr wrap="square">
            <a:spAutoFit/>
          </a:bodyPr>
          <a:lstStyle/>
          <a:p>
            <a:pPr>
              <a:lnSpc>
                <a:spcPct val="140000"/>
              </a:lnSpc>
              <a:defRPr sz="1300">
                <a:solidFill>
                  <a:srgbClr val="64748B"/>
                </a:solidFill>
              </a:defRPr>
            </a:pPr>
            <a:r>
              <a:t>Quantum Computing Hardware</a:t>
            </a:r>
          </a:p>
        </p:txBody>
      </p:sp>
      <p:sp>
        <p:nvSpPr>
          <p:cNvPr id="10" name="Rectangle 9"/>
          <p:cNvSpPr/>
          <p:nvPr/>
        </p:nvSpPr>
        <p:spPr>
          <a:xfrm>
            <a:off x="5638800" y="1371600"/>
            <a:ext cx="2499360" cy="4572000"/>
          </a:xfrm>
          <a:prstGeom prst="rect">
            <a:avLst/>
          </a:prstGeom>
          <a:solidFill>
            <a:srgbClr val="F8FAFC"/>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5775960" y="1554480"/>
            <a:ext cx="2225040" cy="457200"/>
          </a:xfrm>
          <a:prstGeom prst="rect">
            <a:avLst/>
          </a:prstGeom>
          <a:noFill/>
        </p:spPr>
        <p:txBody>
          <a:bodyPr wrap="square">
            <a:spAutoFit/>
          </a:bodyPr>
          <a:lstStyle/>
          <a:p>
            <a:pPr algn="ctr">
              <a:defRPr sz="1600" b="1">
                <a:solidFill>
                  <a:srgbClr val="1E40AF"/>
                </a:solidFill>
              </a:defRPr>
            </a:pPr>
            <a:r>
              <a:t>End</a:t>
            </a:r>
          </a:p>
        </p:txBody>
      </p:sp>
      <p:sp>
        <p:nvSpPr>
          <p:cNvPr id="12" name="TextBox 11"/>
          <p:cNvSpPr txBox="1"/>
          <p:nvPr/>
        </p:nvSpPr>
        <p:spPr>
          <a:xfrm>
            <a:off x="5775960" y="2194560"/>
            <a:ext cx="2225040" cy="3657600"/>
          </a:xfrm>
          <a:prstGeom prst="rect">
            <a:avLst/>
          </a:prstGeom>
          <a:noFill/>
        </p:spPr>
        <p:txBody>
          <a:bodyPr wrap="square">
            <a:spAutoFit/>
          </a:bodyPr>
          <a:lstStyle/>
          <a:p>
            <a:pPr>
              <a:lnSpc>
                <a:spcPct val="140000"/>
              </a:lnSpc>
              <a:defRPr sz="1300">
                <a:solidFill>
                  <a:srgbClr val="64748B"/>
                </a:solidFill>
              </a:defRPr>
            </a:pPr>
            <a:r>
              <a:t>Conclusion and Future Directions</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1E40AF"/>
        </a:solidFill>
        <a:effectLst/>
      </p:bgPr>
    </p:bg>
    <p:spTree>
      <p:nvGrpSpPr>
        <p:cNvPr id="1" name=""/>
        <p:cNvGrpSpPr/>
        <p:nvPr/>
      </p:nvGrpSpPr>
      <p:grpSpPr/>
      <p:sp>
        <p:nvSpPr>
          <p:cNvPr id="2" name="TextBox 1"/>
          <p:cNvSpPr txBox="1"/>
          <p:nvPr/>
        </p:nvSpPr>
        <p:spPr>
          <a:xfrm>
            <a:off x="457200" y="731520"/>
            <a:ext cx="8229600" cy="731520"/>
          </a:xfrm>
          <a:prstGeom prst="rect">
            <a:avLst/>
          </a:prstGeom>
          <a:noFill/>
        </p:spPr>
        <p:txBody>
          <a:bodyPr wrap="none">
            <a:spAutoFit/>
          </a:bodyPr>
          <a:lstStyle/>
          <a:p>
            <a:pPr algn="ctr">
              <a:defRPr sz="4400" b="1">
                <a:solidFill>
                  <a:srgbClr val="FFFFFF"/>
                </a:solidFill>
              </a:defRPr>
            </a:pPr>
            <a:r>
              <a:t>Key Takeaways</a:t>
            </a:r>
          </a:p>
        </p:txBody>
      </p:sp>
      <p:sp>
        <p:nvSpPr>
          <p:cNvPr id="3" name="TextBox 2"/>
          <p:cNvSpPr txBox="1"/>
          <p:nvPr/>
        </p:nvSpPr>
        <p:spPr>
          <a:xfrm>
            <a:off x="1371600" y="1828800"/>
            <a:ext cx="6400800" cy="4114800"/>
          </a:xfrm>
          <a:prstGeom prst="rect">
            <a:avLst/>
          </a:prstGeom>
          <a:noFill/>
        </p:spPr>
        <p:txBody>
          <a:bodyPr wrap="square">
            <a:spAutoFit/>
          </a:bodyPr>
          <a:lstStyle/>
          <a:p>
            <a:pPr>
              <a:spcBef>
                <a:spcPts val="800"/>
              </a:spcBef>
              <a:spcAft>
                <a:spcPts val="800"/>
              </a:spcAft>
              <a:defRPr sz="2000">
                <a:solidFill>
                  <a:srgbClr val="F59E0B"/>
                </a:solidFill>
              </a:defRPr>
            </a:pPr>
            <a:r>
              <a:t>✓ Introduction to Quantum Computing</a:t>
            </a:r>
          </a:p>
          <a:p>
            <a:pPr>
              <a:spcBef>
                <a:spcPts val="800"/>
              </a:spcBef>
              <a:spcAft>
                <a:spcPts val="800"/>
              </a:spcAft>
              <a:defRPr sz="2000">
                <a:solidFill>
                  <a:srgbClr val="F59E0B"/>
                </a:solidFill>
              </a:defRPr>
            </a:pPr>
            <a:r>
              <a:t>✓ Quantum Algorithms</a:t>
            </a:r>
          </a:p>
          <a:p>
            <a:pPr>
              <a:spcBef>
                <a:spcPts val="800"/>
              </a:spcBef>
              <a:spcAft>
                <a:spcPts val="800"/>
              </a:spcAft>
              <a:defRPr sz="2000">
                <a:solidFill>
                  <a:srgbClr val="F59E0B"/>
                </a:solidFill>
              </a:defRPr>
            </a:pPr>
            <a:r>
              <a:t>✓ Quantum Error Correction</a:t>
            </a:r>
          </a:p>
          <a:p>
            <a:pPr>
              <a:spcBef>
                <a:spcPts val="800"/>
              </a:spcBef>
              <a:spcAft>
                <a:spcPts val="800"/>
              </a:spcAft>
              <a:defRPr sz="2000">
                <a:solidFill>
                  <a:srgbClr val="F59E0B"/>
                </a:solidFill>
              </a:defRPr>
            </a:pPr>
            <a:r>
              <a:t>✓ Quantum Computing Hardware</a:t>
            </a:r>
          </a:p>
          <a:p>
            <a:pPr>
              <a:spcBef>
                <a:spcPts val="800"/>
              </a:spcBef>
              <a:spcAft>
                <a:spcPts val="800"/>
              </a:spcAft>
              <a:defRPr sz="2000">
                <a:solidFill>
                  <a:srgbClr val="F59E0B"/>
                </a:solidFill>
              </a:defRPr>
            </a:pPr>
            <a:r>
              <a:t>✓ Applications of Quantum Computing</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