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Unlocking the Power of Machine Learning from Imperial Business School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Machine Learning</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Machine learning is a subfield of artificial intelligence that involves training algorithms on data to make predictions or take actions. At Imperial Business School, we offer courses and research opportunities in machine learning, allowing students to develop skills in this rapidly growing field. Our approach combines technical knowledge with business acumen, enabling students to drive innovation and growth in their organizations. By leveraging machine learning, businesses can gain a competitive edge and improve decision-making processes.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What is Machine Learning?</a:t>
            </a:r>
          </a:p>
          <a:p>
            <a:pPr>
              <a:lnSpc>
                <a:spcPct val="120000"/>
              </a:lnSpc>
              <a:spcBef>
                <a:spcPts val="300"/>
              </a:spcBef>
              <a:spcAft>
                <a:spcPts val="300"/>
              </a:spcAft>
              <a:defRPr sz="1600">
                <a:solidFill>
                  <a:srgbClr val="0F172A"/>
                </a:solidFill>
              </a:defRPr>
            </a:pPr>
            <a:r>
              <a:t>• Applications in Business</a:t>
            </a:r>
          </a:p>
          <a:p>
            <a:pPr>
              <a:lnSpc>
                <a:spcPct val="120000"/>
              </a:lnSpc>
              <a:spcBef>
                <a:spcPts val="300"/>
              </a:spcBef>
              <a:spcAft>
                <a:spcPts val="300"/>
              </a:spcAft>
              <a:defRPr sz="1600">
                <a:solidFill>
                  <a:srgbClr val="0F172A"/>
                </a:solidFill>
              </a:defRPr>
            </a:pPr>
            <a:r>
              <a:t>• Why Imperial Business School?</a:t>
            </a:r>
          </a:p>
          <a:p>
            <a:pPr>
              <a:lnSpc>
                <a:spcPct val="120000"/>
              </a:lnSpc>
              <a:spcBef>
                <a:spcPts val="300"/>
              </a:spcBef>
              <a:spcAft>
                <a:spcPts val="300"/>
              </a:spcAft>
              <a:defRPr sz="1600">
                <a:solidFill>
                  <a:srgbClr val="0F172A"/>
                </a:solidFill>
              </a:defRPr>
            </a:pPr>
            <a:r>
              <a:t>• Curriculum Overview</a:t>
            </a:r>
          </a:p>
          <a:p>
            <a:pPr>
              <a:lnSpc>
                <a:spcPct val="120000"/>
              </a:lnSpc>
              <a:spcBef>
                <a:spcPts val="300"/>
              </a:spcBef>
              <a:spcAft>
                <a:spcPts val="300"/>
              </a:spcAft>
              <a:defRPr sz="1600">
                <a:solidFill>
                  <a:srgbClr val="0F172A"/>
                </a:solidFill>
              </a:defRPr>
            </a:pPr>
            <a:r>
              <a:t>• Career Opportunities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Supervised Learning Techniques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Supervised learning involves training algorithms on labeled data to make predictions or classify new instances. At Imperial Business School, we focus on developing skills in supervised learning techniques such as linear regression, decision trees, and random forests. Our students learn how to apply these techniques to real-world problems, including customer segmentation, demand forecasting, and risk assessment. By mastering supervised learning, students can develop predictive models that drive business outcomes.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Linear Regression</a:t>
            </a:r>
          </a:p>
          <a:p>
            <a:pPr>
              <a:lnSpc>
                <a:spcPct val="115000"/>
              </a:lnSpc>
              <a:spcBef>
                <a:spcPts val="200"/>
              </a:spcBef>
              <a:spcAft>
                <a:spcPts val="200"/>
              </a:spcAft>
              <a:defRPr sz="1500">
                <a:solidFill>
                  <a:srgbClr val="0F172A"/>
                </a:solidFill>
              </a:defRPr>
            </a:pPr>
            <a:r>
              <a:t>• Decision Trees</a:t>
            </a:r>
          </a:p>
          <a:p>
            <a:pPr>
              <a:lnSpc>
                <a:spcPct val="115000"/>
              </a:lnSpc>
              <a:spcBef>
                <a:spcPts val="200"/>
              </a:spcBef>
              <a:spcAft>
                <a:spcPts val="200"/>
              </a:spcAft>
              <a:defRPr sz="1500">
                <a:solidFill>
                  <a:srgbClr val="0F172A"/>
                </a:solidFill>
              </a:defRPr>
            </a:pPr>
            <a:r>
              <a:t>• Random Forests</a:t>
            </a:r>
          </a:p>
          <a:p>
            <a:pPr>
              <a:lnSpc>
                <a:spcPct val="115000"/>
              </a:lnSpc>
              <a:spcBef>
                <a:spcPts val="200"/>
              </a:spcBef>
              <a:spcAft>
                <a:spcPts val="200"/>
              </a:spcAft>
              <a:defRPr sz="1500">
                <a:solidFill>
                  <a:srgbClr val="0F172A"/>
                </a:solidFill>
              </a:defRPr>
            </a:pPr>
            <a:r>
              <a:t>• Logistic Regression</a:t>
            </a:r>
          </a:p>
          <a:p>
            <a:pPr>
              <a:lnSpc>
                <a:spcPct val="115000"/>
              </a:lnSpc>
              <a:spcBef>
                <a:spcPts val="200"/>
              </a:spcBef>
              <a:spcAft>
                <a:spcPts val="200"/>
              </a:spcAft>
              <a:defRPr sz="1500">
                <a:solidFill>
                  <a:srgbClr val="0F172A"/>
                </a:solidFill>
              </a:defRPr>
            </a:pPr>
            <a:r>
              <a:t>• Gradient Boosting</a:t>
            </a:r>
          </a:p>
        </p:txBody>
      </p:sp>
      <p:pic>
        <p:nvPicPr>
          <p:cNvPr id="5" name="Picture 4" descr="unsplash_f57lx37DCM4.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Unsupervised Learning Techniques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Unsupervised learning involves training algorithms on unlabeled data to discover patterns and relationships. At Imperial Business School, we offer courses in unsupervised learning techniques such as k-means clustering, hierarchical clustering, and principal component analysis. Our students learn how to apply these techniques to real-world problems, including market segmentation, customer profiling, and anomaly detection. By mastering unsupervised learning, students can gain insights into complex data sets.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K-Means Clustering</a:t>
            </a:r>
          </a:p>
          <a:p>
            <a:pPr>
              <a:lnSpc>
                <a:spcPct val="120000"/>
              </a:lnSpc>
              <a:spcBef>
                <a:spcPts val="300"/>
              </a:spcBef>
              <a:spcAft>
                <a:spcPts val="300"/>
              </a:spcAft>
              <a:defRPr sz="1600">
                <a:solidFill>
                  <a:srgbClr val="0F172A"/>
                </a:solidFill>
              </a:defRPr>
            </a:pPr>
            <a:r>
              <a:t>• Hierarchical Clustering</a:t>
            </a:r>
          </a:p>
          <a:p>
            <a:pPr>
              <a:lnSpc>
                <a:spcPct val="120000"/>
              </a:lnSpc>
              <a:spcBef>
                <a:spcPts val="300"/>
              </a:spcBef>
              <a:spcAft>
                <a:spcPts val="300"/>
              </a:spcAft>
              <a:defRPr sz="1600">
                <a:solidFill>
                  <a:srgbClr val="0F172A"/>
                </a:solidFill>
              </a:defRPr>
            </a:pPr>
            <a:r>
              <a:t>• Principal Component Analysis</a:t>
            </a:r>
          </a:p>
          <a:p>
            <a:pPr>
              <a:lnSpc>
                <a:spcPct val="120000"/>
              </a:lnSpc>
              <a:spcBef>
                <a:spcPts val="300"/>
              </a:spcBef>
              <a:spcAft>
                <a:spcPts val="300"/>
              </a:spcAft>
              <a:defRPr sz="1600">
                <a:solidFill>
                  <a:srgbClr val="0F172A"/>
                </a:solidFill>
              </a:defRPr>
            </a:pPr>
            <a:r>
              <a:t>• DBSCAN</a:t>
            </a:r>
          </a:p>
          <a:p>
            <a:pPr>
              <a:lnSpc>
                <a:spcPct val="120000"/>
              </a:lnSpc>
              <a:spcBef>
                <a:spcPts val="300"/>
              </a:spcBef>
              <a:spcAft>
                <a:spcPts val="300"/>
              </a:spcAft>
              <a:defRPr sz="1600">
                <a:solidFill>
                  <a:srgbClr val="0F172A"/>
                </a:solidFill>
              </a:defRPr>
            </a:pPr>
            <a:r>
              <a:t>• PCA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Deep Learning Techniques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Deep learning involves training neural networks on large data sets to learn complex patterns and relationships. At Imperial Business School, we offer courses in deep learning techniques such as convolutional neural networks, recurrent neural networks, and autoencoders. Our students learn how to apply these techniques to real-world problems, including image classification, natural language processing, and recommender systems. By mastering deep learning, students can develop powerful models that drive business outcomes.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Convolutional Neural Networks</a:t>
            </a:r>
          </a:p>
          <a:p>
            <a:pPr>
              <a:lnSpc>
                <a:spcPct val="120000"/>
              </a:lnSpc>
              <a:spcBef>
                <a:spcPts val="300"/>
              </a:spcBef>
              <a:spcAft>
                <a:spcPts val="300"/>
              </a:spcAft>
              <a:defRPr sz="1600">
                <a:solidFill>
                  <a:srgbClr val="0F172A"/>
                </a:solidFill>
              </a:defRPr>
            </a:pPr>
            <a:r>
              <a:t>• Recurrent Neural Networks</a:t>
            </a:r>
          </a:p>
          <a:p>
            <a:pPr>
              <a:lnSpc>
                <a:spcPct val="120000"/>
              </a:lnSpc>
              <a:spcBef>
                <a:spcPts val="300"/>
              </a:spcBef>
              <a:spcAft>
                <a:spcPts val="300"/>
              </a:spcAft>
              <a:defRPr sz="1600">
                <a:solidFill>
                  <a:srgbClr val="0F172A"/>
                </a:solidFill>
              </a:defRPr>
            </a:pPr>
            <a:r>
              <a:t>• Autoencoders</a:t>
            </a:r>
          </a:p>
          <a:p>
            <a:pPr>
              <a:lnSpc>
                <a:spcPct val="120000"/>
              </a:lnSpc>
              <a:spcBef>
                <a:spcPts val="300"/>
              </a:spcBef>
              <a:spcAft>
                <a:spcPts val="300"/>
              </a:spcAft>
              <a:defRPr sz="1600">
                <a:solidFill>
                  <a:srgbClr val="0F172A"/>
                </a:solidFill>
              </a:defRPr>
            </a:pPr>
            <a:r>
              <a:t>• Generative Adversarial Networks</a:t>
            </a:r>
          </a:p>
          <a:p>
            <a:pPr>
              <a:lnSpc>
                <a:spcPct val="120000"/>
              </a:lnSpc>
              <a:spcBef>
                <a:spcPts val="300"/>
              </a:spcBef>
              <a:spcAft>
                <a:spcPts val="300"/>
              </a:spcAft>
              <a:defRPr sz="1600">
                <a:solidFill>
                  <a:srgbClr val="0F172A"/>
                </a:solidFill>
              </a:defRPr>
            </a:pPr>
            <a:r>
              <a:t>• Transfer Learning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Machine Learning Applications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Machine learning has numerous applications in business, including customer service, marketing, finance, and operations. At Imperial Business School, we focus on developing skills in applying machine learning to real-world problems. Our students learn how to develop predictive models that drive business outcomes, from improving customer engagement to optimizing supply chain management. By mastering machine learning, students can gain a competitive edge in their organizations.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Customer Service</a:t>
            </a:r>
          </a:p>
          <a:p>
            <a:pPr>
              <a:lnSpc>
                <a:spcPct val="115000"/>
              </a:lnSpc>
              <a:spcBef>
                <a:spcPts val="200"/>
              </a:spcBef>
              <a:spcAft>
                <a:spcPts val="200"/>
              </a:spcAft>
              <a:defRPr sz="1500">
                <a:solidFill>
                  <a:srgbClr val="0F172A"/>
                </a:solidFill>
              </a:defRPr>
            </a:pPr>
            <a:r>
              <a:t>• Marketing Analytics</a:t>
            </a:r>
          </a:p>
          <a:p>
            <a:pPr>
              <a:lnSpc>
                <a:spcPct val="115000"/>
              </a:lnSpc>
              <a:spcBef>
                <a:spcPts val="200"/>
              </a:spcBef>
              <a:spcAft>
                <a:spcPts val="200"/>
              </a:spcAft>
              <a:defRPr sz="1500">
                <a:solidFill>
                  <a:srgbClr val="0F172A"/>
                </a:solidFill>
              </a:defRPr>
            </a:pPr>
            <a:r>
              <a:t>• Financial Risk Management</a:t>
            </a:r>
          </a:p>
          <a:p>
            <a:pPr>
              <a:lnSpc>
                <a:spcPct val="115000"/>
              </a:lnSpc>
              <a:spcBef>
                <a:spcPts val="200"/>
              </a:spcBef>
              <a:spcAft>
                <a:spcPts val="200"/>
              </a:spcAft>
              <a:defRPr sz="1500">
                <a:solidFill>
                  <a:srgbClr val="0F172A"/>
                </a:solidFill>
              </a:defRPr>
            </a:pPr>
            <a:r>
              <a:t>• Operations Optimization</a:t>
            </a:r>
          </a:p>
          <a:p>
            <a:pPr>
              <a:lnSpc>
                <a:spcPct val="115000"/>
              </a:lnSpc>
              <a:spcBef>
                <a:spcPts val="200"/>
              </a:spcBef>
              <a:spcAft>
                <a:spcPts val="200"/>
              </a:spcAft>
              <a:defRPr sz="1500">
                <a:solidFill>
                  <a:srgbClr val="0F172A"/>
                </a:solidFill>
              </a:defRPr>
            </a:pPr>
            <a:r>
              <a:t>• Innovation and Entrepreneurship</a:t>
            </a:r>
          </a:p>
        </p:txBody>
      </p:sp>
      <p:pic>
        <p:nvPicPr>
          <p:cNvPr id="5" name="Picture 4" descr="unsplash_w7ZyuGYNpRQ.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Career Opportunities in Machine Learning</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Machine learning is a rapidly growing field with numerous career opportunities. At Imperial Business School, we prepare students for careers in machine learning, data science, and artificial intelligence. Our graduates go on to work at top companies, including Google, Amazon, and Microsoft, or start their own successful ventures. By mastering machine learning, students can develop skills that are in high demand across industries.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Data Scientist</a:t>
            </a:r>
          </a:p>
          <a:p>
            <a:pPr>
              <a:lnSpc>
                <a:spcPct val="120000"/>
              </a:lnSpc>
              <a:spcBef>
                <a:spcPts val="300"/>
              </a:spcBef>
              <a:spcAft>
                <a:spcPts val="300"/>
              </a:spcAft>
              <a:defRPr sz="1600">
                <a:solidFill>
                  <a:srgbClr val="0F172A"/>
                </a:solidFill>
              </a:defRPr>
            </a:pPr>
            <a:r>
              <a:t>• Machine Learning Engineer</a:t>
            </a:r>
          </a:p>
          <a:p>
            <a:pPr>
              <a:lnSpc>
                <a:spcPct val="120000"/>
              </a:lnSpc>
              <a:spcBef>
                <a:spcPts val="300"/>
              </a:spcBef>
              <a:spcAft>
                <a:spcPts val="300"/>
              </a:spcAft>
              <a:defRPr sz="1600">
                <a:solidFill>
                  <a:srgbClr val="0F172A"/>
                </a:solidFill>
              </a:defRPr>
            </a:pPr>
            <a:r>
              <a:t>• Business Intelligence Analyst</a:t>
            </a:r>
          </a:p>
          <a:p>
            <a:pPr>
              <a:lnSpc>
                <a:spcPct val="120000"/>
              </a:lnSpc>
              <a:spcBef>
                <a:spcPts val="300"/>
              </a:spcBef>
              <a:spcAft>
                <a:spcPts val="300"/>
              </a:spcAft>
              <a:defRPr sz="1600">
                <a:solidFill>
                  <a:srgbClr val="0F172A"/>
                </a:solidFill>
              </a:defRPr>
            </a:pPr>
            <a:r>
              <a:t>• AI Researcher</a:t>
            </a:r>
          </a:p>
          <a:p>
            <a:pPr>
              <a:lnSpc>
                <a:spcPct val="120000"/>
              </a:lnSpc>
              <a:spcBef>
                <a:spcPts val="300"/>
              </a:spcBef>
              <a:spcAft>
                <a:spcPts val="300"/>
              </a:spcAft>
              <a:defRPr sz="1600">
                <a:solidFill>
                  <a:srgbClr val="0F172A"/>
                </a:solidFill>
              </a:defRPr>
            </a:pPr>
            <a:r>
              <a:t>• Startup Founder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Introduction to Machine Learning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What is Machine Learning?</a:t>
            </a:r>
            <a:br/>
            <a:r>
              <a:t>Applications in Business</a:t>
            </a:r>
            <a:br/>
            <a:r>
              <a:t>Why Imperial Business School?</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Supervised Learning Techniques</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Linear Regression</a:t>
            </a:r>
            <a:br/>
            <a:r>
              <a:t>Decision Trees</a:t>
            </a:r>
            <a:br/>
            <a:r>
              <a:t>Random Forests</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Unsupervised Learning Techniques</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K-Means Clustering</a:t>
            </a:r>
            <a:br/>
            <a:r>
              <a:t>Hierarchical Clustering</a:t>
            </a:r>
            <a:br/>
            <a:r>
              <a:t>Principal Component Analysis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Machine Learning</a:t>
            </a:r>
          </a:p>
          <a:p>
            <a:pPr>
              <a:spcBef>
                <a:spcPts val="800"/>
              </a:spcBef>
              <a:spcAft>
                <a:spcPts val="800"/>
              </a:spcAft>
              <a:defRPr sz="2000">
                <a:solidFill>
                  <a:srgbClr val="F59E0B"/>
                </a:solidFill>
              </a:defRPr>
            </a:pPr>
            <a:r>
              <a:t>✓ Supervised Learning Techniques</a:t>
            </a:r>
          </a:p>
          <a:p>
            <a:pPr>
              <a:spcBef>
                <a:spcPts val="800"/>
              </a:spcBef>
              <a:spcAft>
                <a:spcPts val="800"/>
              </a:spcAft>
              <a:defRPr sz="2000">
                <a:solidFill>
                  <a:srgbClr val="F59E0B"/>
                </a:solidFill>
              </a:defRPr>
            </a:pPr>
            <a:r>
              <a:t>✓ Unsupervised Learning Techniques</a:t>
            </a:r>
          </a:p>
          <a:p>
            <a:pPr>
              <a:spcBef>
                <a:spcPts val="800"/>
              </a:spcBef>
              <a:spcAft>
                <a:spcPts val="800"/>
              </a:spcAft>
              <a:defRPr sz="2000">
                <a:solidFill>
                  <a:srgbClr val="F59E0B"/>
                </a:solidFill>
              </a:defRPr>
            </a:pPr>
            <a:r>
              <a:t>✓ Deep Learning Techniques</a:t>
            </a:r>
          </a:p>
          <a:p>
            <a:pPr>
              <a:spcBef>
                <a:spcPts val="800"/>
              </a:spcBef>
              <a:spcAft>
                <a:spcPts val="800"/>
              </a:spcAft>
              <a:defRPr sz="2000">
                <a:solidFill>
                  <a:srgbClr val="F59E0B"/>
                </a:solidFill>
              </a:defRPr>
            </a:pPr>
            <a:r>
              <a:t>✓ Machine Learning Applications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