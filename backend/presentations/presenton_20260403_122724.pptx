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Market Share (%)</c:v>
                </c:pt>
              </c:strCache>
            </c:strRef>
          </c:tx>
          <c:cat>
            <c:strRef>
              <c:f>Sheet1!$A$2:$A$6</c:f>
              <c:strCache>
                <c:ptCount val="5"/>
                <c:pt idx="0">
                  <c:v>Oracle</c:v>
                </c:pt>
                <c:pt idx="1">
                  <c:v>SQL Server</c:v>
                </c:pt>
                <c:pt idx="2">
                  <c:v>PostgreSQL</c:v>
                </c:pt>
                <c:pt idx="3">
                  <c:v>MySQL</c:v>
                </c:pt>
                <c:pt idx="4">
                  <c:v>MariaDB</c:v>
                </c:pt>
              </c:strCache>
            </c:strRef>
          </c:cat>
          <c:val>
            <c:numRef>
              <c:f>Sheet1!$B$2:$B$6</c:f>
              <c:numCache>
                <c:formatCode>General</c:formatCode>
                <c:ptCount val="5"/>
                <c:pt idx="0">
                  <c:v>35</c:v>
                </c:pt>
                <c:pt idx="1">
                  <c:v>28</c:v>
                </c:pt>
                <c:pt idx="2">
                  <c:v>15</c:v>
                </c:pt>
                <c:pt idx="3">
                  <c:v>15</c:v>
                </c:pt>
                <c:pt idx="4">
                  <c:v>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lgn="ctr">
              <a:defRPr sz="5400" b="1">
                <a:solidFill>
                  <a:srgbClr val="FFFFFF"/>
                </a:solidFill>
              </a:defRPr>
            </a:pPr>
            <a:r>
              <a:t>Unlocking the Potential of Meta 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Introduction to Meta AI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Meta AI is a cutting-edge artificial intelligence platform developed by Meta, a leading technology company. As a comprehensive AI platform, Meta AI aims to revolutionize the way we interact with machines and each other. In this presentation, we will explore the capabilities and potential applications of Meta AI.</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Background on Meta AI's development</a:t>
            </a:r>
          </a:p>
          <a:p>
            <a:pPr>
              <a:lnSpc>
                <a:spcPct val="120000"/>
              </a:lnSpc>
              <a:spcBef>
                <a:spcPts val="300"/>
              </a:spcBef>
              <a:spcAft>
                <a:spcPts val="300"/>
              </a:spcAft>
              <a:defRPr sz="1600">
                <a:solidFill>
                  <a:srgbClr val="0F172A"/>
                </a:solidFill>
              </a:defRPr>
            </a:pPr>
            <a:r>
              <a:t>• Overview of Meta AI's features and capabilities</a:t>
            </a:r>
          </a:p>
          <a:p>
            <a:pPr>
              <a:lnSpc>
                <a:spcPct val="120000"/>
              </a:lnSpc>
              <a:spcBef>
                <a:spcPts val="300"/>
              </a:spcBef>
              <a:spcAft>
                <a:spcPts val="300"/>
              </a:spcAft>
              <a:defRPr sz="1600">
                <a:solidFill>
                  <a:srgbClr val="0F172A"/>
                </a:solidFill>
              </a:defRPr>
            </a:pPr>
            <a:r>
              <a:t>• Potential use cases for Meta 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What is Meta AI?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Meta AI is a cloud-based AI platform that utilizes natural language processing (NLP) and machine learning (ML) to enable intelligent conversations, text summarization, and other AI-driven tasks. With its vast knowledge base and ability to learn from data, Meta AI can be used for various applications such as customer service chatbots, language translation, and content generation.</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Meta AI's architecture</a:t>
            </a:r>
          </a:p>
          <a:p>
            <a:pPr>
              <a:lnSpc>
                <a:spcPct val="120000"/>
              </a:lnSpc>
              <a:spcBef>
                <a:spcPts val="300"/>
              </a:spcBef>
              <a:spcAft>
                <a:spcPts val="300"/>
              </a:spcAft>
              <a:defRPr sz="1600">
                <a:solidFill>
                  <a:srgbClr val="0F172A"/>
                </a:solidFill>
              </a:defRPr>
            </a:pPr>
            <a:r>
              <a:t>• Types of AI models supported by Meta AI</a:t>
            </a:r>
          </a:p>
          <a:p>
            <a:pPr>
              <a:lnSpc>
                <a:spcPct val="120000"/>
              </a:lnSpc>
              <a:spcBef>
                <a:spcPts val="300"/>
              </a:spcBef>
              <a:spcAft>
                <a:spcPts val="300"/>
              </a:spcAft>
              <a:defRPr sz="1600">
                <a:solidFill>
                  <a:srgbClr val="0F172A"/>
                </a:solidFill>
              </a:defRPr>
            </a:pPr>
            <a:r>
              <a:t>• Benefits of using Meta 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Use Cases for Meta AI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Meta AI has numerous potential use cases across industries, including customer service, language translation, content generation, and more. For instance, Meta AI-powered chatbots can assist customers in real-time, while AI-generated content can help create engaging marketing materials.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Customer service applications</a:t>
            </a:r>
          </a:p>
          <a:p>
            <a:pPr>
              <a:lnSpc>
                <a:spcPct val="120000"/>
              </a:lnSpc>
              <a:spcBef>
                <a:spcPts val="300"/>
              </a:spcBef>
              <a:spcAft>
                <a:spcPts val="300"/>
              </a:spcAft>
              <a:defRPr sz="1600">
                <a:solidFill>
                  <a:srgbClr val="0F172A"/>
                </a:solidFill>
              </a:defRPr>
            </a:pPr>
            <a:r>
              <a:t>• Language translation and localization</a:t>
            </a:r>
          </a:p>
          <a:p>
            <a:pPr>
              <a:lnSpc>
                <a:spcPct val="120000"/>
              </a:lnSpc>
              <a:spcBef>
                <a:spcPts val="300"/>
              </a:spcBef>
              <a:spcAft>
                <a:spcPts val="300"/>
              </a:spcAft>
              <a:defRPr sz="1600">
                <a:solidFill>
                  <a:srgbClr val="0F172A"/>
                </a:solidFill>
              </a:defRPr>
            </a:pPr>
            <a:r>
              <a:t>• Content generation and creative writing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Applications in Customer Service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Meta AI-powered chatbots can revolutionize customer service by providing personalized assistance, answering frequently asked questions, and even handling complex issues. With Meta AI's natural language processing capabilities, customers can communicate with machines more effectively.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Benefits of using Meta AI in customer service</a:t>
            </a:r>
          </a:p>
          <a:p>
            <a:pPr>
              <a:lnSpc>
                <a:spcPct val="120000"/>
              </a:lnSpc>
              <a:spcBef>
                <a:spcPts val="300"/>
              </a:spcBef>
              <a:spcAft>
                <a:spcPts val="300"/>
              </a:spcAft>
              <a:defRPr sz="1600">
                <a:solidFill>
                  <a:srgbClr val="0F172A"/>
                </a:solidFill>
              </a:defRPr>
            </a:pPr>
            <a:r>
              <a:t>• Examples of Meta AI-powered chatbots</a:t>
            </a:r>
          </a:p>
          <a:p>
            <a:pPr>
              <a:lnSpc>
                <a:spcPct val="120000"/>
              </a:lnSpc>
              <a:spcBef>
                <a:spcPts val="300"/>
              </a:spcBef>
              <a:spcAft>
                <a:spcPts val="300"/>
              </a:spcAft>
              <a:defRPr sz="1600">
                <a:solidFill>
                  <a:srgbClr val="0F172A"/>
                </a:solidFill>
              </a:defRPr>
            </a:pPr>
            <a:r>
              <a:t>• Potential for increased efficiency and cost savings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Applications in Language Translation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Meta AI's language translation capabilities can facilitate communication across languages, cultures, and borders. This technology has vast potential in international business, education, and diplomacy.</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Meta AI's machine translation capabilities</a:t>
            </a:r>
          </a:p>
          <a:p>
            <a:pPr>
              <a:lnSpc>
                <a:spcPct val="120000"/>
              </a:lnSpc>
              <a:spcBef>
                <a:spcPts val="300"/>
              </a:spcBef>
              <a:spcAft>
                <a:spcPts val="300"/>
              </a:spcAft>
              <a:defRPr sz="1600">
                <a:solidFill>
                  <a:srgbClr val="0F172A"/>
                </a:solidFill>
              </a:defRPr>
            </a:pPr>
            <a:r>
              <a:t>• Benefits of using Meta AI for language translation</a:t>
            </a:r>
          </a:p>
          <a:p>
            <a:pPr>
              <a:lnSpc>
                <a:spcPct val="120000"/>
              </a:lnSpc>
              <a:spcBef>
                <a:spcPts val="300"/>
              </a:spcBef>
              <a:spcAft>
                <a:spcPts val="300"/>
              </a:spcAft>
              <a:defRPr sz="1600">
                <a:solidFill>
                  <a:srgbClr val="0F172A"/>
                </a:solidFill>
              </a:defRPr>
            </a:pPr>
            <a:r>
              <a:t>• Potential applications in global industries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Applications in Content Generation</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Meta AI can generate engaging content, such as articles, social media posts, and even entire books. This technology has significant potential in marketing, journalism, and creative writing.</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Benefits of using Meta AI for content generation</a:t>
            </a:r>
          </a:p>
          <a:p>
            <a:pPr>
              <a:lnSpc>
                <a:spcPct val="120000"/>
              </a:lnSpc>
              <a:spcBef>
                <a:spcPts val="300"/>
              </a:spcBef>
              <a:spcAft>
                <a:spcPts val="300"/>
              </a:spcAft>
              <a:defRPr sz="1600">
                <a:solidFill>
                  <a:srgbClr val="0F172A"/>
                </a:solidFill>
              </a:defRPr>
            </a:pPr>
            <a:r>
              <a:t>• Examples of Meta AI-generated content</a:t>
            </a:r>
          </a:p>
          <a:p>
            <a:pPr>
              <a:lnSpc>
                <a:spcPct val="120000"/>
              </a:lnSpc>
              <a:spcBef>
                <a:spcPts val="300"/>
              </a:spcBef>
              <a:spcAft>
                <a:spcPts val="300"/>
              </a:spcAft>
              <a:defRPr sz="1600">
                <a:solidFill>
                  <a:srgbClr val="0F172A"/>
                </a:solidFill>
              </a:defRPr>
            </a:pPr>
            <a:r>
              <a:t>• Potential applications in various industries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Challenges and Limitations</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While Meta AI offers vast potential, it is not without its challenges and limitations. These include issues with bias, explainability, and the need for human oversight and intervention.</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Potential biases in AI-generated content</a:t>
            </a:r>
          </a:p>
          <a:p>
            <a:pPr>
              <a:lnSpc>
                <a:spcPct val="120000"/>
              </a:lnSpc>
              <a:spcBef>
                <a:spcPts val="300"/>
              </a:spcBef>
              <a:spcAft>
                <a:spcPts val="300"/>
              </a:spcAft>
              <a:defRPr sz="1600">
                <a:solidFill>
                  <a:srgbClr val="0F172A"/>
                </a:solidFill>
              </a:defRPr>
            </a:pPr>
            <a:r>
              <a:t>• Importance of transparency and explainability</a:t>
            </a:r>
          </a:p>
          <a:p>
            <a:pPr>
              <a:lnSpc>
                <a:spcPct val="120000"/>
              </a:lnSpc>
              <a:spcBef>
                <a:spcPts val="300"/>
              </a:spcBef>
              <a:spcAft>
                <a:spcPts val="300"/>
              </a:spcAft>
              <a:defRPr sz="1600">
                <a:solidFill>
                  <a:srgbClr val="0F172A"/>
                </a:solidFill>
              </a:defRPr>
            </a:pPr>
            <a:r>
              <a:t>• Need for human oversight and intervention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and Future Directions - Database Market Share Comparison</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Presentation Flow</a:t>
            </a:r>
          </a:p>
        </p:txBody>
      </p:sp>
      <p:sp>
        <p:nvSpPr>
          <p:cNvPr id="4" name="Rectangle 3"/>
          <p:cNvSpPr/>
          <p:nvPr/>
        </p:nvSpPr>
        <p:spPr>
          <a:xfrm>
            <a:off x="4572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554480"/>
            <a:ext cx="2225040" cy="457200"/>
          </a:xfrm>
          <a:prstGeom prst="rect">
            <a:avLst/>
          </a:prstGeom>
          <a:noFill/>
        </p:spPr>
        <p:txBody>
          <a:bodyPr wrap="square">
            <a:spAutoFit/>
          </a:bodyPr>
          <a:lstStyle/>
          <a:p>
            <a:pPr algn="ctr">
              <a:defRPr sz="1600" b="1">
                <a:solidFill>
                  <a:srgbClr val="1E40AF"/>
                </a:solidFill>
              </a:defRPr>
            </a:pPr>
            <a:r>
              <a:t>Beginning</a:t>
            </a:r>
          </a:p>
        </p:txBody>
      </p:sp>
      <p:sp>
        <p:nvSpPr>
          <p:cNvPr id="6" name="TextBox 5"/>
          <p:cNvSpPr txBox="1"/>
          <p:nvPr/>
        </p:nvSpPr>
        <p:spPr>
          <a:xfrm>
            <a:off x="594360" y="2194560"/>
            <a:ext cx="2225040" cy="3657600"/>
          </a:xfrm>
          <a:prstGeom prst="rect">
            <a:avLst/>
          </a:prstGeom>
          <a:noFill/>
        </p:spPr>
        <p:txBody>
          <a:bodyPr wrap="square">
            <a:spAutoFit/>
          </a:bodyPr>
          <a:lstStyle/>
          <a:p>
            <a:pPr>
              <a:lnSpc>
                <a:spcPct val="140000"/>
              </a:lnSpc>
              <a:defRPr sz="1300">
                <a:solidFill>
                  <a:srgbClr val="64748B"/>
                </a:solidFill>
              </a:defRPr>
            </a:pPr>
            <a:r>
              <a:t>Introduction to Meta AI</a:t>
            </a:r>
          </a:p>
        </p:txBody>
      </p:sp>
      <p:sp>
        <p:nvSpPr>
          <p:cNvPr id="7" name="Rectangle 6"/>
          <p:cNvSpPr/>
          <p:nvPr/>
        </p:nvSpPr>
        <p:spPr>
          <a:xfrm>
            <a:off x="30480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85160" y="1554480"/>
            <a:ext cx="2225040" cy="457200"/>
          </a:xfrm>
          <a:prstGeom prst="rect">
            <a:avLst/>
          </a:prstGeom>
          <a:noFill/>
        </p:spPr>
        <p:txBody>
          <a:bodyPr wrap="square">
            <a:spAutoFit/>
          </a:bodyPr>
          <a:lstStyle/>
          <a:p>
            <a:pPr algn="ctr">
              <a:defRPr sz="1600" b="1">
                <a:solidFill>
                  <a:srgbClr val="1E40AF"/>
                </a:solidFill>
              </a:defRPr>
            </a:pPr>
            <a:r>
              <a:t>Middle</a:t>
            </a:r>
          </a:p>
        </p:txBody>
      </p:sp>
      <p:sp>
        <p:nvSpPr>
          <p:cNvPr id="9" name="TextBox 8"/>
          <p:cNvSpPr txBox="1"/>
          <p:nvPr/>
        </p:nvSpPr>
        <p:spPr>
          <a:xfrm>
            <a:off x="3185160" y="2194560"/>
            <a:ext cx="2225040" cy="3657600"/>
          </a:xfrm>
          <a:prstGeom prst="rect">
            <a:avLst/>
          </a:prstGeom>
          <a:noFill/>
        </p:spPr>
        <p:txBody>
          <a:bodyPr wrap="square">
            <a:spAutoFit/>
          </a:bodyPr>
          <a:lstStyle/>
          <a:p>
            <a:pPr>
              <a:lnSpc>
                <a:spcPct val="140000"/>
              </a:lnSpc>
              <a:defRPr sz="1300">
                <a:solidFill>
                  <a:srgbClr val="64748B"/>
                </a:solidFill>
              </a:defRPr>
            </a:pPr>
            <a:r>
              <a:t>Applications in Language Translation</a:t>
            </a:r>
          </a:p>
        </p:txBody>
      </p:sp>
      <p:sp>
        <p:nvSpPr>
          <p:cNvPr id="10" name="Rectangle 9"/>
          <p:cNvSpPr/>
          <p:nvPr/>
        </p:nvSpPr>
        <p:spPr>
          <a:xfrm>
            <a:off x="5638800" y="1371600"/>
            <a:ext cx="2499360" cy="4572000"/>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5960" y="1554480"/>
            <a:ext cx="2225040" cy="457200"/>
          </a:xfrm>
          <a:prstGeom prst="rect">
            <a:avLst/>
          </a:prstGeom>
          <a:noFill/>
        </p:spPr>
        <p:txBody>
          <a:bodyPr wrap="square">
            <a:spAutoFit/>
          </a:bodyPr>
          <a:lstStyle/>
          <a:p>
            <a:pPr algn="ctr">
              <a:defRPr sz="1600" b="1">
                <a:solidFill>
                  <a:srgbClr val="1E40AF"/>
                </a:solidFill>
              </a:defRPr>
            </a:pPr>
            <a:r>
              <a:t>End</a:t>
            </a:r>
          </a:p>
        </p:txBody>
      </p:sp>
      <p:sp>
        <p:nvSpPr>
          <p:cNvPr id="12" name="TextBox 11"/>
          <p:cNvSpPr txBox="1"/>
          <p:nvPr/>
        </p:nvSpPr>
        <p:spPr>
          <a:xfrm>
            <a:off x="5775960" y="2194560"/>
            <a:ext cx="2225040" cy="3657600"/>
          </a:xfrm>
          <a:prstGeom prst="rect">
            <a:avLst/>
          </a:prstGeom>
          <a:noFill/>
        </p:spPr>
        <p:txBody>
          <a:bodyPr wrap="square">
            <a:spAutoFit/>
          </a:bodyPr>
          <a:lstStyle/>
          <a:p>
            <a:pPr>
              <a:lnSpc>
                <a:spcPct val="140000"/>
              </a:lnSpc>
              <a:defRPr sz="1300">
                <a:solidFill>
                  <a:srgbClr val="64748B"/>
                </a:solidFill>
              </a:defRPr>
            </a:pPr>
            <a:r>
              <a:t>Conclusion and Future Directions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Meta AI</a:t>
            </a:r>
          </a:p>
          <a:p>
            <a:pPr>
              <a:spcBef>
                <a:spcPts val="800"/>
              </a:spcBef>
              <a:spcAft>
                <a:spcPts val="800"/>
              </a:spcAft>
              <a:defRPr sz="2000">
                <a:solidFill>
                  <a:srgbClr val="F59E0B"/>
                </a:solidFill>
              </a:defRPr>
            </a:pPr>
            <a:r>
              <a:t>✓ What is Meta AI?</a:t>
            </a:r>
          </a:p>
          <a:p>
            <a:pPr>
              <a:spcBef>
                <a:spcPts val="800"/>
              </a:spcBef>
              <a:spcAft>
                <a:spcPts val="800"/>
              </a:spcAft>
              <a:defRPr sz="2000">
                <a:solidFill>
                  <a:srgbClr val="F59E0B"/>
                </a:solidFill>
              </a:defRPr>
            </a:pPr>
            <a:r>
              <a:t>✓ Use Cases for Meta AI</a:t>
            </a:r>
          </a:p>
          <a:p>
            <a:pPr>
              <a:spcBef>
                <a:spcPts val="800"/>
              </a:spcBef>
              <a:spcAft>
                <a:spcPts val="800"/>
              </a:spcAft>
              <a:defRPr sz="2000">
                <a:solidFill>
                  <a:srgbClr val="F59E0B"/>
                </a:solidFill>
              </a:defRPr>
            </a:pPr>
            <a:r>
              <a:t>✓ Applications in Customer Service</a:t>
            </a:r>
          </a:p>
          <a:p>
            <a:pPr>
              <a:spcBef>
                <a:spcPts val="800"/>
              </a:spcBef>
              <a:spcAft>
                <a:spcPts val="800"/>
              </a:spcAft>
              <a:defRPr sz="2000">
                <a:solidFill>
                  <a:srgbClr val="F59E0B"/>
                </a:solidFill>
              </a:defRPr>
            </a:pPr>
            <a:r>
              <a:t>✓ Applications in Language Translation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