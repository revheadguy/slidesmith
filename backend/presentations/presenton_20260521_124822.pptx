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World-renowned</c:v>
                </c:pt>
                <c:pt idx="1">
                  <c:v>Range of programs</c:v>
                </c:pt>
                <c:pt idx="2">
                  <c:v>Strong reputation</c:v>
                </c:pt>
                <c:pt idx="3">
                  <c:v>Skills</c:v>
                </c:pt>
                <c:pt idx="4">
                  <c:v>Conclusion</c:v>
                </c:pt>
              </c:strCache>
            </c:strRef>
          </c:cat>
          <c:val>
            <c:numRef>
              <c:f>Sheet1!$B$2:$B$6</c:f>
              <c:numCache>
                <c:formatCode>General</c:formatCode>
                <c:ptCount val="5"/>
                <c:pt idx="0">
                  <c:v>22</c:v>
                </c:pt>
                <c:pt idx="1">
                  <c:v>37</c:v>
                </c:pt>
                <c:pt idx="2">
                  <c:v>58</c:v>
                </c:pt>
                <c:pt idx="3">
                  <c:v>60</c:v>
                </c:pt>
                <c:pt idx="4">
                  <c:v>90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Harvard Law School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Harvard Law School</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Located in Cambridge, Massachusetts, Harvard Law School is one of the most prestigious law schools in the world. Founded in 1817, it has a long history of producing influential legal scholars and practitioners. With a focus on academic excellence and professional development, Harvard Law School offers a range of programs and courses that cater to diverse interests and goals.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Founded in 1817</a:t>
            </a:r>
          </a:p>
          <a:p>
            <a:pPr>
              <a:lnSpc>
                <a:spcPct val="120000"/>
              </a:lnSpc>
              <a:spcBef>
                <a:spcPts val="300"/>
              </a:spcBef>
              <a:spcAft>
                <a:spcPts val="300"/>
              </a:spcAft>
              <a:defRPr sz="1600">
                <a:solidFill>
                  <a:srgbClr val="0F172A"/>
                </a:solidFill>
              </a:defRPr>
            </a:pPr>
            <a:r>
              <a:t>• Located in Cambridge, Massachusetts</a:t>
            </a:r>
          </a:p>
          <a:p>
            <a:pPr>
              <a:lnSpc>
                <a:spcPct val="120000"/>
              </a:lnSpc>
              <a:spcBef>
                <a:spcPts val="300"/>
              </a:spcBef>
              <a:spcAft>
                <a:spcPts val="300"/>
              </a:spcAft>
              <a:defRPr sz="1600">
                <a:solidFill>
                  <a:srgbClr val="0F172A"/>
                </a:solidFill>
              </a:defRPr>
            </a:pPr>
            <a:r>
              <a:t>• Focuses on academic excellence and professional development</a:t>
            </a:r>
          </a:p>
          <a:p>
            <a:pPr>
              <a:lnSpc>
                <a:spcPct val="120000"/>
              </a:lnSpc>
              <a:spcBef>
                <a:spcPts val="300"/>
              </a:spcBef>
              <a:spcAft>
                <a:spcPts val="300"/>
              </a:spcAft>
              <a:defRPr sz="1600">
                <a:solidFill>
                  <a:srgbClr val="0F172A"/>
                </a:solidFill>
              </a:defRPr>
            </a:pPr>
            <a:r>
              <a:t>• Range of programs and courses available</a:t>
            </a:r>
          </a:p>
          <a:p>
            <a:pPr>
              <a:lnSpc>
                <a:spcPct val="120000"/>
              </a:lnSpc>
              <a:spcBef>
                <a:spcPts val="300"/>
              </a:spcBef>
              <a:spcAft>
                <a:spcPts val="300"/>
              </a:spcAft>
              <a:defRPr sz="1600">
                <a:solidFill>
                  <a:srgbClr val="0F172A"/>
                </a:solidFill>
              </a:defRPr>
            </a:pPr>
            <a:r>
              <a:t>• Influential legal scholars and practitioners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History of Harvard Law School</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Harvard Law School has a rich history that dates back to the early 19th century. It was founded in 1817 as the Litchfield Law School, but it later moved to Cambridge and became known as Harvard Law School in 1833. Over the years, the school has produced many influential legal scholars and practitioners who have made significant contributions to the field of law.</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Founded in 1817 as Litchfield Law School</a:t>
            </a:r>
          </a:p>
          <a:p>
            <a:pPr>
              <a:lnSpc>
                <a:spcPct val="120000"/>
              </a:lnSpc>
              <a:spcBef>
                <a:spcPts val="300"/>
              </a:spcBef>
              <a:spcAft>
                <a:spcPts val="300"/>
              </a:spcAft>
              <a:defRPr sz="1600">
                <a:solidFill>
                  <a:srgbClr val="0F172A"/>
                </a:solidFill>
              </a:defRPr>
            </a:pPr>
            <a:r>
              <a:t>• Moved to Cambridge and became Harvard Law School in 1833</a:t>
            </a:r>
          </a:p>
          <a:p>
            <a:pPr>
              <a:lnSpc>
                <a:spcPct val="120000"/>
              </a:lnSpc>
              <a:spcBef>
                <a:spcPts val="300"/>
              </a:spcBef>
              <a:spcAft>
                <a:spcPts val="300"/>
              </a:spcAft>
              <a:defRPr sz="1600">
                <a:solidFill>
                  <a:srgbClr val="0F172A"/>
                </a:solidFill>
              </a:defRPr>
            </a:pPr>
            <a:r>
              <a:t>• Produced many influential legal scholars and practitioners</a:t>
            </a:r>
          </a:p>
          <a:p>
            <a:pPr>
              <a:lnSpc>
                <a:spcPct val="120000"/>
              </a:lnSpc>
              <a:spcBef>
                <a:spcPts val="300"/>
              </a:spcBef>
              <a:spcAft>
                <a:spcPts val="300"/>
              </a:spcAft>
              <a:defRPr sz="1600">
                <a:solidFill>
                  <a:srgbClr val="0F172A"/>
                </a:solidFill>
              </a:defRPr>
            </a:pPr>
            <a:r>
              <a:t>• Significant contributions to the field of law</a:t>
            </a:r>
          </a:p>
          <a:p>
            <a:pPr>
              <a:lnSpc>
                <a:spcPct val="120000"/>
              </a:lnSpc>
              <a:spcBef>
                <a:spcPts val="300"/>
              </a:spcBef>
              <a:spcAft>
                <a:spcPts val="300"/>
              </a:spcAft>
              <a:defRPr sz="1600">
                <a:solidFill>
                  <a:srgbClr val="0F172A"/>
                </a:solidFill>
              </a:defRPr>
            </a:pPr>
            <a:r>
              <a:t>• Rich history dating back to the early 19th century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Admissions at Harvard Law School</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Harvard Law School is highly selective in its admissions process. To be considered for admission, applicants must have a strong academic record, high scores on standardized tests such as the LSAT and GRE, and a compelling personal statement that outlines their goals and motivations.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Highly selective admissions process</a:t>
            </a:r>
          </a:p>
          <a:p>
            <a:pPr>
              <a:lnSpc>
                <a:spcPct val="115000"/>
              </a:lnSpc>
              <a:spcBef>
                <a:spcPts val="200"/>
              </a:spcBef>
              <a:spcAft>
                <a:spcPts val="200"/>
              </a:spcAft>
              <a:defRPr sz="1500">
                <a:solidFill>
                  <a:srgbClr val="0F172A"/>
                </a:solidFill>
              </a:defRPr>
            </a:pPr>
            <a:r>
              <a:t>• Strong academic record required</a:t>
            </a:r>
          </a:p>
          <a:p>
            <a:pPr>
              <a:lnSpc>
                <a:spcPct val="115000"/>
              </a:lnSpc>
              <a:spcBef>
                <a:spcPts val="200"/>
              </a:spcBef>
              <a:spcAft>
                <a:spcPts val="200"/>
              </a:spcAft>
              <a:defRPr sz="1500">
                <a:solidFill>
                  <a:srgbClr val="0F172A"/>
                </a:solidFill>
              </a:defRPr>
            </a:pPr>
            <a:r>
              <a:t>• High scores on standardized tests required</a:t>
            </a:r>
          </a:p>
          <a:p>
            <a:pPr>
              <a:lnSpc>
                <a:spcPct val="115000"/>
              </a:lnSpc>
              <a:spcBef>
                <a:spcPts val="200"/>
              </a:spcBef>
              <a:spcAft>
                <a:spcPts val="200"/>
              </a:spcAft>
              <a:defRPr sz="1500">
                <a:solidFill>
                  <a:srgbClr val="0F172A"/>
                </a:solidFill>
              </a:defRPr>
            </a:pPr>
            <a:r>
              <a:t>• Compelling personal statement required</a:t>
            </a:r>
          </a:p>
          <a:p>
            <a:pPr>
              <a:lnSpc>
                <a:spcPct val="115000"/>
              </a:lnSpc>
              <a:spcBef>
                <a:spcPts val="200"/>
              </a:spcBef>
              <a:spcAft>
                <a:spcPts val="200"/>
              </a:spcAft>
              <a:defRPr sz="1500">
                <a:solidFill>
                  <a:srgbClr val="0F172A"/>
                </a:solidFill>
              </a:defRPr>
            </a:pPr>
            <a:r>
              <a:t>• Goal-oriented applicants</a:t>
            </a:r>
          </a:p>
        </p:txBody>
      </p:sp>
      <p:pic>
        <p:nvPicPr>
          <p:cNvPr id="5" name="Picture 4" descr="unsplash_aZXqoQDO21U.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Curriculum at Harvard Law School</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Harvard Law School offers a range of courses and programs that cater to diverse interests and goals. From traditional areas such as contracts, torts, and property law to specialized fields such as environmental law, intellectual property law, and international human rights law, students can choose from over 300 courses.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Range of courses and programs available</a:t>
            </a:r>
          </a:p>
          <a:p>
            <a:pPr>
              <a:lnSpc>
                <a:spcPct val="120000"/>
              </a:lnSpc>
              <a:spcBef>
                <a:spcPts val="300"/>
              </a:spcBef>
              <a:spcAft>
                <a:spcPts val="300"/>
              </a:spcAft>
              <a:defRPr sz="1600">
                <a:solidFill>
                  <a:srgbClr val="0F172A"/>
                </a:solidFill>
              </a:defRPr>
            </a:pPr>
            <a:r>
              <a:t>• Diverse interests and goals catered to</a:t>
            </a:r>
          </a:p>
          <a:p>
            <a:pPr>
              <a:lnSpc>
                <a:spcPct val="120000"/>
              </a:lnSpc>
              <a:spcBef>
                <a:spcPts val="300"/>
              </a:spcBef>
              <a:spcAft>
                <a:spcPts val="300"/>
              </a:spcAft>
              <a:defRPr sz="1600">
                <a:solidFill>
                  <a:srgbClr val="0F172A"/>
                </a:solidFill>
              </a:defRPr>
            </a:pPr>
            <a:r>
              <a:t>• Over 300 courses offered</a:t>
            </a:r>
          </a:p>
          <a:p>
            <a:pPr>
              <a:lnSpc>
                <a:spcPct val="120000"/>
              </a:lnSpc>
              <a:spcBef>
                <a:spcPts val="300"/>
              </a:spcBef>
              <a:spcAft>
                <a:spcPts val="300"/>
              </a:spcAft>
              <a:defRPr sz="1600">
                <a:solidFill>
                  <a:srgbClr val="0F172A"/>
                </a:solidFill>
              </a:defRPr>
            </a:pPr>
            <a:r>
              <a:t>• Traditional areas of study</a:t>
            </a:r>
          </a:p>
          <a:p>
            <a:pPr>
              <a:lnSpc>
                <a:spcPct val="120000"/>
              </a:lnSpc>
              <a:spcBef>
                <a:spcPts val="300"/>
              </a:spcBef>
              <a:spcAft>
                <a:spcPts val="300"/>
              </a:spcAft>
              <a:defRPr sz="1600">
                <a:solidFill>
                  <a:srgbClr val="0F172A"/>
                </a:solidFill>
              </a:defRPr>
            </a:pPr>
            <a:r>
              <a:t>• Specialized fields of study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Experiential Learning at Harvard Law School</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Harvard Law School emphasizes the importance of experiential learning. Students can participate in clinics, internships, and fellowships that provide hands-on experience in areas such as trial advocacy, public interest law, and corporate law.</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Emphasizes experiential learning</a:t>
            </a:r>
          </a:p>
          <a:p>
            <a:pPr>
              <a:lnSpc>
                <a:spcPct val="120000"/>
              </a:lnSpc>
              <a:spcBef>
                <a:spcPts val="300"/>
              </a:spcBef>
              <a:spcAft>
                <a:spcPts val="300"/>
              </a:spcAft>
              <a:defRPr sz="1600">
                <a:solidFill>
                  <a:srgbClr val="0F172A"/>
                </a:solidFill>
              </a:defRPr>
            </a:pPr>
            <a:r>
              <a:t>• Participation in clinics and internships</a:t>
            </a:r>
          </a:p>
          <a:p>
            <a:pPr>
              <a:lnSpc>
                <a:spcPct val="120000"/>
              </a:lnSpc>
              <a:spcBef>
                <a:spcPts val="300"/>
              </a:spcBef>
              <a:spcAft>
                <a:spcPts val="300"/>
              </a:spcAft>
              <a:defRPr sz="1600">
                <a:solidFill>
                  <a:srgbClr val="0F172A"/>
                </a:solidFill>
              </a:defRPr>
            </a:pPr>
            <a:r>
              <a:t>• Hands-on experience in various areas of law</a:t>
            </a:r>
          </a:p>
          <a:p>
            <a:pPr>
              <a:lnSpc>
                <a:spcPct val="120000"/>
              </a:lnSpc>
              <a:spcBef>
                <a:spcPts val="300"/>
              </a:spcBef>
              <a:spcAft>
                <a:spcPts val="300"/>
              </a:spcAft>
              <a:defRPr sz="1600">
                <a:solidFill>
                  <a:srgbClr val="0F172A"/>
                </a:solidFill>
              </a:defRPr>
            </a:pPr>
            <a:r>
              <a:t>• Development of practical skills</a:t>
            </a:r>
          </a:p>
          <a:p>
            <a:pPr>
              <a:lnSpc>
                <a:spcPct val="120000"/>
              </a:lnSpc>
              <a:spcBef>
                <a:spcPts val="300"/>
              </a:spcBef>
              <a:spcAft>
                <a:spcPts val="300"/>
              </a:spcAft>
              <a:defRPr sz="1600">
                <a:solidFill>
                  <a:srgbClr val="0F172A"/>
                </a:solidFill>
              </a:defRPr>
            </a:pPr>
            <a:r>
              <a:t>• Enhanced career prospects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Career Opportunities at Harvard Law School</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Harvard Law School has a strong reputation for producing highly qualified graduates who go on to pursue successful careers in the legal profession. Graduates can work as lawyers in private practice, government, or non-profit organizations, or they can pursue careers in academia, business, or public service.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Strong reputation for producing highly qualified graduates</a:t>
            </a:r>
          </a:p>
          <a:p>
            <a:pPr>
              <a:lnSpc>
                <a:spcPct val="115000"/>
              </a:lnSpc>
              <a:spcBef>
                <a:spcPts val="200"/>
              </a:spcBef>
              <a:spcAft>
                <a:spcPts val="200"/>
              </a:spcAft>
              <a:defRPr sz="1500">
                <a:solidFill>
                  <a:srgbClr val="0F172A"/>
                </a:solidFill>
              </a:defRPr>
            </a:pPr>
            <a:r>
              <a:t>• Success in the legal profession</a:t>
            </a:r>
          </a:p>
          <a:p>
            <a:pPr>
              <a:lnSpc>
                <a:spcPct val="115000"/>
              </a:lnSpc>
              <a:spcBef>
                <a:spcPts val="200"/>
              </a:spcBef>
              <a:spcAft>
                <a:spcPts val="200"/>
              </a:spcAft>
              <a:defRPr sz="1500">
                <a:solidFill>
                  <a:srgbClr val="0F172A"/>
                </a:solidFill>
              </a:defRPr>
            </a:pPr>
            <a:r>
              <a:t>• Career opportunities in private practice, government, and non-profit organizations</a:t>
            </a:r>
          </a:p>
          <a:p>
            <a:pPr>
              <a:lnSpc>
                <a:spcPct val="115000"/>
              </a:lnSpc>
              <a:spcBef>
                <a:spcPts val="200"/>
              </a:spcBef>
              <a:spcAft>
                <a:spcPts val="200"/>
              </a:spcAft>
              <a:defRPr sz="1500">
                <a:solidFill>
                  <a:srgbClr val="0F172A"/>
                </a:solidFill>
              </a:defRPr>
            </a:pPr>
            <a:r>
              <a:t>• Academic, business, and public service career paths</a:t>
            </a:r>
          </a:p>
        </p:txBody>
      </p:sp>
      <p:pic>
        <p:nvPicPr>
          <p:cNvPr id="5" name="Picture 4" descr="unsplash_IESB4iFVuzA.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Harvard Law School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Harvard Law School</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Curriculum at Harvard Law School</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Harvard Law School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Harvard Law School</a:t>
            </a:r>
          </a:p>
          <a:p>
            <a:pPr>
              <a:spcBef>
                <a:spcPts val="800"/>
              </a:spcBef>
              <a:spcAft>
                <a:spcPts val="800"/>
              </a:spcAft>
              <a:defRPr sz="2000">
                <a:solidFill>
                  <a:srgbClr val="F59E0B"/>
                </a:solidFill>
              </a:defRPr>
            </a:pPr>
            <a:r>
              <a:t>✓ History of Harvard Law School</a:t>
            </a:r>
          </a:p>
          <a:p>
            <a:pPr>
              <a:spcBef>
                <a:spcPts val="800"/>
              </a:spcBef>
              <a:spcAft>
                <a:spcPts val="800"/>
              </a:spcAft>
              <a:defRPr sz="2000">
                <a:solidFill>
                  <a:srgbClr val="F59E0B"/>
                </a:solidFill>
              </a:defRPr>
            </a:pPr>
            <a:r>
              <a:t>✓ Admissions at Harvard Law School</a:t>
            </a:r>
          </a:p>
          <a:p>
            <a:pPr>
              <a:spcBef>
                <a:spcPts val="800"/>
              </a:spcBef>
              <a:spcAft>
                <a:spcPts val="800"/>
              </a:spcAft>
              <a:defRPr sz="2000">
                <a:solidFill>
                  <a:srgbClr val="F59E0B"/>
                </a:solidFill>
              </a:defRPr>
            </a:pPr>
            <a:r>
              <a:t>✓ Curriculum at Harvard Law School</a:t>
            </a:r>
          </a:p>
          <a:p>
            <a:pPr>
              <a:spcBef>
                <a:spcPts val="800"/>
              </a:spcBef>
              <a:spcAft>
                <a:spcPts val="800"/>
              </a:spcAft>
              <a:defRPr sz="2000">
                <a:solidFill>
                  <a:srgbClr val="F59E0B"/>
                </a:solidFill>
              </a:defRPr>
            </a:pPr>
            <a:r>
              <a:t>✓ Experiential Learning at Harvard Law School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