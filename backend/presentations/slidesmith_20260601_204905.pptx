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BMW's Electric Vehicle Strategy</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Introduction to BMW's EV Strategy</a:t>
            </a:r>
          </a:p>
        </p:txBody>
      </p:sp>
      <p:sp>
        <p:nvSpPr>
          <p:cNvPr id="4" name="Rectangle 3"/>
          <p:cNvSpPr/>
          <p:nvPr/>
        </p:nvSpPr>
        <p:spPr>
          <a:xfrm>
            <a:off x="3291840" y="1234440"/>
            <a:ext cx="2560320" cy="173736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91840" y="1234440"/>
            <a:ext cx="25603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1344168"/>
            <a:ext cx="2377439" cy="822960"/>
          </a:xfrm>
          <a:prstGeom prst="rect">
            <a:avLst/>
          </a:prstGeom>
          <a:noFill/>
        </p:spPr>
        <p:txBody>
          <a:bodyPr wrap="none">
            <a:spAutoFit/>
          </a:bodyPr>
          <a:lstStyle/>
          <a:p>
            <a:pPr algn="ctr">
              <a:defRPr sz="3600" b="1">
                <a:solidFill>
                  <a:srgbClr val="1E40AF"/>
                </a:solidFill>
              </a:defRPr>
            </a:pPr>
            <a:r>
              <a:t>2013</a:t>
            </a:r>
          </a:p>
        </p:txBody>
      </p:sp>
      <p:sp>
        <p:nvSpPr>
          <p:cNvPr id="7" name="TextBox 6"/>
          <p:cNvSpPr txBox="1"/>
          <p:nvPr/>
        </p:nvSpPr>
        <p:spPr>
          <a:xfrm>
            <a:off x="3383280" y="2194560"/>
            <a:ext cx="2377439" cy="685800"/>
          </a:xfrm>
          <a:prstGeom prst="rect">
            <a:avLst/>
          </a:prstGeom>
          <a:noFill/>
        </p:spPr>
        <p:txBody>
          <a:bodyPr wrap="square">
            <a:spAutoFit/>
          </a:bodyPr>
          <a:lstStyle/>
          <a:p>
            <a:pPr algn="ctr">
              <a:lnSpc>
                <a:spcPct val="120000"/>
              </a:lnSpc>
              <a:defRPr sz="1200">
                <a:solidFill>
                  <a:srgbClr val="0F172A"/>
                </a:solidFill>
              </a:defRPr>
            </a:pPr>
            <a:r>
              <a:t>BMW's first EV was i3 ()</a:t>
            </a:r>
          </a:p>
        </p:txBody>
      </p:sp>
      <p:sp>
        <p:nvSpPr>
          <p:cNvPr id="8" name="TextBox 7"/>
          <p:cNvSpPr txBox="1"/>
          <p:nvPr/>
        </p:nvSpPr>
        <p:spPr>
          <a:xfrm>
            <a:off x="731520" y="3154680"/>
            <a:ext cx="7680960" cy="914399"/>
          </a:xfrm>
          <a:prstGeom prst="rect">
            <a:avLst/>
          </a:prstGeom>
          <a:noFill/>
        </p:spPr>
        <p:txBody>
          <a:bodyPr wrap="square">
            <a:spAutoFit/>
          </a:bodyPr>
          <a:lstStyle/>
          <a:p>
            <a:pPr>
              <a:lnSpc>
                <a:spcPct val="130000"/>
              </a:lnSpc>
              <a:defRPr sz="1400">
                <a:solidFill>
                  <a:srgbClr val="0F172A"/>
                </a:solidFill>
              </a:defRPr>
            </a:pPr>
            <a:r>
              <a:t>BMW has been a pioneer in the electric vehicle (EV) market since its first introduction of the i3 in 2013. The company aims to have a significant presence in the growing EV market, with plans to expand its EV lineup and increase sales volume.</a:t>
            </a:r>
          </a:p>
        </p:txBody>
      </p:sp>
      <p:sp>
        <p:nvSpPr>
          <p:cNvPr id="9" name="Oval 8"/>
          <p:cNvSpPr/>
          <p:nvPr/>
        </p:nvSpPr>
        <p:spPr>
          <a:xfrm>
            <a:off x="502920" y="43434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97680"/>
            <a:ext cx="7589520" cy="868680"/>
          </a:xfrm>
          <a:prstGeom prst="rect">
            <a:avLst/>
          </a:prstGeom>
          <a:noFill/>
        </p:spPr>
        <p:txBody>
          <a:bodyPr wrap="square">
            <a:spAutoFit/>
          </a:bodyPr>
          <a:lstStyle/>
          <a:p>
            <a:pPr>
              <a:lnSpc>
                <a:spcPct val="130000"/>
              </a:lnSpc>
              <a:defRPr sz="1600">
                <a:solidFill>
                  <a:srgbClr val="0F172A"/>
                </a:solidFill>
              </a:defRPr>
            </a:pPr>
            <a:r>
              <a:t>Significant investment in new tech</a:t>
            </a:r>
          </a:p>
        </p:txBody>
      </p:sp>
      <p:sp>
        <p:nvSpPr>
          <p:cNvPr id="11" name="Oval 10"/>
          <p:cNvSpPr/>
          <p:nvPr/>
        </p:nvSpPr>
        <p:spPr>
          <a:xfrm>
            <a:off x="502920" y="507492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029200"/>
            <a:ext cx="7589520" cy="868680"/>
          </a:xfrm>
          <a:prstGeom prst="rect">
            <a:avLst/>
          </a:prstGeom>
          <a:noFill/>
        </p:spPr>
        <p:txBody>
          <a:bodyPr wrap="square">
            <a:spAutoFit/>
          </a:bodyPr>
          <a:lstStyle/>
          <a:p>
            <a:pPr>
              <a:lnSpc>
                <a:spcPct val="130000"/>
              </a:lnSpc>
              <a:defRPr sz="1600">
                <a:solidFill>
                  <a:srgbClr val="0F172A"/>
                </a:solidFill>
              </a:defRPr>
            </a:pPr>
            <a:r>
              <a:t>Expansion into growing market</a:t>
            </a:r>
          </a:p>
        </p:txBody>
      </p:sp>
      <p:sp>
        <p:nvSpPr>
          <p:cNvPr id="13" name="Oval 12"/>
          <p:cNvSpPr/>
          <p:nvPr/>
        </p:nvSpPr>
        <p:spPr>
          <a:xfrm>
            <a:off x="502920" y="580644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760720"/>
            <a:ext cx="7589520" cy="868680"/>
          </a:xfrm>
          <a:prstGeom prst="rect">
            <a:avLst/>
          </a:prstGeom>
          <a:noFill/>
        </p:spPr>
        <p:txBody>
          <a:bodyPr wrap="square">
            <a:spAutoFit/>
          </a:bodyPr>
          <a:lstStyle/>
          <a:p>
            <a:pPr>
              <a:lnSpc>
                <a:spcPct val="130000"/>
              </a:lnSpc>
              <a:defRPr sz="1600">
                <a:solidFill>
                  <a:srgbClr val="0F172A"/>
                </a:solidFill>
              </a:defRPr>
            </a:pPr>
            <a:r>
              <a:t>Increased focus on sustainability</a:t>
            </a:r>
          </a:p>
        </p:txBody>
      </p:sp>
      <p:sp>
        <p:nvSpPr>
          <p:cNvPr id="15" name="Rectangle 14"/>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BMW's Electric Vehicle Strategy</a:t>
            </a:r>
          </a:p>
        </p:txBody>
      </p:sp>
      <p:sp>
        <p:nvSpPr>
          <p:cNvPr id="17" name="TextBox 16"/>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Why Electric Vehicles for BMW?</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As a premium automaker, BMW recognizes the importance of electric vehicles (EVs) in the future of transportation. EVs offer a unique combination of performance, efficiency, and sustainability that aligns with BMW's brand values.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Performance and efficiency</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Sustainability and reduced emissions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Appealing to eco-conscious consumers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Competitive advantage in market</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BMW's Electric Vehicle Strategy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BMW's Electric Vehicle Portfolio</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BMW currently offers a range of electric vehicles (EVs) across its various brands, including the i3 and X5 plug-in hybrids. The company is expanding its EV lineup with new models, such as the iX3 crossover and the i4 gran coupe.</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i3 and X5 plug-in hybrids</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New models: iX3 and i4</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Battery-electric vehicles planned</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Electric variants of existing models</a:t>
            </a:r>
          </a:p>
        </p:txBody>
      </p:sp>
      <p:pic>
        <p:nvPicPr>
          <p:cNvPr id="13" name="Picture 12" descr="unsplash_mfqj3ZSs_h0_bmw_s_electric_vehicle.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BMW's Electric Vehicle Strategy</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Charging Infrastructure for BMW's EVs</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BMW recognizes the importance of charging infrastructure in supporting the adoption of electric vehicles. The company is investing in new charging technologies and partnering with charging networks to provide convenient and reliable charging solutions for its customers.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New charging technologies</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Partnerships with charging networks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Convenient and reliable charging</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Increased public charging points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BMW's Electric Vehicle Strategy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BMW's Charging Network: Ionity</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Ionity is a high-power charging network that BMW has developed in partnership with other major automakers. The network provides fast and convenient charging for electric vehicles along highways and urban areas.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High-power charging</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Partnership with other automakers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Fast and convenient charging</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Expansion across Europe</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BMW's Electric Vehicle Strategy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BMW's Electric Vehicle Strategy in China</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China is a key market for BMW's electric vehicle strategy, with the company planning to introduce new EV models tailored to Chinese consumers. BMW is also investing in charging infrastructure and partnering with local companies to support the growth of its EV business.</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New EV models for Chinese market</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Tailored to local consumer needs</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Increased investment in China</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Partnerships with local companies</a:t>
            </a:r>
          </a:p>
        </p:txBody>
      </p:sp>
      <p:pic>
        <p:nvPicPr>
          <p:cNvPr id="13" name="Picture 12" descr="unsplash_mfqj3ZSs_h0_bmw_s_electric_vehicle.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BMW's Electric Vehicle Strategy</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The Future of BMW's Electric Vehicle Strategy</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As the electric vehicle market continues to evolve, BMW is committed to staying ahead of the curve. The company plans to expand its EV lineup, improve charging infrastructure, and increase investment in new technologies to support the growth of its EV business.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Expansion of EV lineup</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Improved charging infrastructure</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Increased investment in new tech</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Strategic partnerships and collaborations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384153"/>
                </a:solidFill>
              </a:defRPr>
            </a:pPr>
            <a:r>
              <a:t>BMW's Electric Vehicle Strategy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384153"/>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BMW's Electric Vehicle Strategy</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Key takeaways from presentation</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BMW's competitive advantages</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Future outlook for EV market</a:t>
            </a:r>
          </a:p>
          <a:p>
            <a:pPr>
              <a:lnSpc>
                <a:spcPct val="120000"/>
              </a:lnSpc>
              <a:spcBef>
                <a:spcPts val="600"/>
              </a:spcBef>
              <a:spcAft>
                <a:spcPts val="600"/>
              </a:spcAft>
              <a:defRPr sz="1200">
                <a:solidFill>
                  <a:srgbClr val="0F172A"/>
                </a:solidFill>
              </a:defRPr>
            </a:pPr>
            <a:r>
              <a:t>• Conclusion and final thoughts</a:t>
            </a:r>
          </a:p>
          <a:p>
            <a:pPr>
              <a:lnSpc>
                <a:spcPct val="120000"/>
              </a:lnSpc>
              <a:spcBef>
                <a:spcPts val="600"/>
              </a:spcBef>
              <a:spcAft>
                <a:spcPts val="600"/>
              </a:spcAft>
              <a:defRPr sz="1200">
                <a:solidFill>
                  <a:srgbClr val="0F172A"/>
                </a:solidFill>
              </a:defRPr>
            </a:pPr>
            <a:r>
              <a:t>• Call to action</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384153"/>
                </a:solidFill>
              </a:defRPr>
            </a:pPr>
            <a:r>
              <a:t>Thank you for your attention |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Introduction to BMW's EV Strategy</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0F172A"/>
                </a:solidFill>
              </a:defRPr>
            </a:pPr>
            <a:r>
              <a:t>• BMW's first EV was i3 (2013)</a:t>
            </a:r>
          </a:p>
          <a:p>
            <a:pPr>
              <a:lnSpc>
                <a:spcPct val="120000"/>
              </a:lnSpc>
              <a:spcBef>
                <a:spcPts val="300"/>
              </a:spcBef>
              <a:spcAft>
                <a:spcPts val="300"/>
              </a:spcAft>
              <a:defRPr sz="1100">
                <a:solidFill>
                  <a:srgbClr val="0F172A"/>
                </a:solidFill>
              </a:defRPr>
            </a:pPr>
            <a:r>
              <a:t>• Significant investment in new tech</a:t>
            </a:r>
          </a:p>
          <a:p>
            <a:pPr>
              <a:lnSpc>
                <a:spcPct val="120000"/>
              </a:lnSpc>
              <a:spcBef>
                <a:spcPts val="300"/>
              </a:spcBef>
              <a:spcAft>
                <a:spcPts val="300"/>
              </a:spcAft>
              <a:defRPr sz="1100">
                <a:solidFill>
                  <a:srgbClr val="0F172A"/>
                </a:solidFill>
              </a:defRPr>
            </a:pPr>
            <a:r>
              <a:t>• Expansion into growing market</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Why Electric Vehicles for BMW?</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0F172A"/>
                </a:solidFill>
              </a:defRPr>
            </a:pPr>
            <a:r>
              <a:t>• Performance and efficiency</a:t>
            </a:r>
          </a:p>
          <a:p>
            <a:pPr>
              <a:lnSpc>
                <a:spcPct val="120000"/>
              </a:lnSpc>
              <a:spcBef>
                <a:spcPts val="300"/>
              </a:spcBef>
              <a:spcAft>
                <a:spcPts val="300"/>
              </a:spcAft>
              <a:defRPr sz="1100">
                <a:solidFill>
                  <a:srgbClr val="0F172A"/>
                </a:solidFill>
              </a:defRPr>
            </a:pPr>
            <a:r>
              <a:t>• Sustainability and reduced emissions</a:t>
            </a:r>
          </a:p>
          <a:p>
            <a:pPr>
              <a:lnSpc>
                <a:spcPct val="120000"/>
              </a:lnSpc>
              <a:spcBef>
                <a:spcPts val="300"/>
              </a:spcBef>
              <a:spcAft>
                <a:spcPts val="300"/>
              </a:spcAft>
              <a:defRPr sz="1100">
                <a:solidFill>
                  <a:srgbClr val="0F172A"/>
                </a:solidFill>
              </a:defRPr>
            </a:pPr>
            <a:r>
              <a:t>• Appealing to eco-conscious consumers</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BMW's Electric Vehicle Portfolio</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0F172A"/>
                </a:solidFill>
              </a:defRPr>
            </a:pPr>
            <a:r>
              <a:t>• i3 and X5 plug-in hybrids</a:t>
            </a:r>
          </a:p>
          <a:p>
            <a:pPr>
              <a:lnSpc>
                <a:spcPct val="120000"/>
              </a:lnSpc>
              <a:spcBef>
                <a:spcPts val="300"/>
              </a:spcBef>
              <a:spcAft>
                <a:spcPts val="300"/>
              </a:spcAft>
              <a:defRPr sz="1100">
                <a:solidFill>
                  <a:srgbClr val="0F172A"/>
                </a:solidFill>
              </a:defRPr>
            </a:pPr>
            <a:r>
              <a:t>• New models: iX3 and i4</a:t>
            </a:r>
          </a:p>
          <a:p>
            <a:pPr>
              <a:lnSpc>
                <a:spcPct val="120000"/>
              </a:lnSpc>
              <a:spcBef>
                <a:spcPts val="300"/>
              </a:spcBef>
              <a:spcAft>
                <a:spcPts val="300"/>
              </a:spcAft>
              <a:defRPr sz="1100">
                <a:solidFill>
                  <a:srgbClr val="0F172A"/>
                </a:solidFill>
              </a:defRPr>
            </a:pPr>
            <a:r>
              <a:t>• Battery-electric vehicles planned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E40AF"/>
                </a:solidFill>
              </a:defRPr>
            </a:pPr>
            <a:r>
              <a:t>Introduction to BMW's EV Strategy</a:t>
            </a:r>
          </a:p>
        </p:txBody>
      </p:sp>
      <p:sp>
        <p:nvSpPr>
          <p:cNvPr id="8" name="Rectangle 7"/>
          <p:cNvSpPr/>
          <p:nvPr/>
        </p:nvSpPr>
        <p:spPr>
          <a:xfrm>
            <a:off x="960120" y="1984248"/>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E40AF"/>
                </a:solidFill>
              </a:defRPr>
            </a:pPr>
            <a:r>
              <a:t>Why Electric Vehicles for BMW?</a:t>
            </a:r>
          </a:p>
        </p:txBody>
      </p:sp>
      <p:sp>
        <p:nvSpPr>
          <p:cNvPr id="12" name="Rectangle 11"/>
          <p:cNvSpPr/>
          <p:nvPr/>
        </p:nvSpPr>
        <p:spPr>
          <a:xfrm>
            <a:off x="960120" y="2871215"/>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E40AF"/>
                </a:solidFill>
              </a:defRPr>
            </a:pPr>
            <a:r>
              <a:t>BMW's Electric Vehicle Portfolio</a:t>
            </a:r>
          </a:p>
        </p:txBody>
      </p:sp>
      <p:sp>
        <p:nvSpPr>
          <p:cNvPr id="16" name="Rectangle 15"/>
          <p:cNvSpPr/>
          <p:nvPr/>
        </p:nvSpPr>
        <p:spPr>
          <a:xfrm>
            <a:off x="960120" y="3758184"/>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E40AF"/>
                </a:solidFill>
              </a:defRPr>
            </a:pPr>
            <a:r>
              <a:t>Charging Infrastructure for BMW's EVs</a:t>
            </a:r>
          </a:p>
        </p:txBody>
      </p:sp>
      <p:sp>
        <p:nvSpPr>
          <p:cNvPr id="20" name="Rectangle 19"/>
          <p:cNvSpPr/>
          <p:nvPr/>
        </p:nvSpPr>
        <p:spPr>
          <a:xfrm>
            <a:off x="960120" y="4645151"/>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E40AF"/>
                </a:solidFill>
              </a:defRPr>
            </a:pPr>
            <a:r>
              <a:t>BMW's Charging Network: Ionity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