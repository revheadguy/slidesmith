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10000"/>
              </a:lnSpc>
              <a:defRPr sz="4000" b="1">
                <a:solidFill>
                  <a:srgbClr val="FFFFFF"/>
                </a:solidFill>
              </a:defRPr>
            </a:pPr>
            <a:r>
              <a:t>Unlocking Efficiency: The Role of AI in Investment Banking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Introduction to AI in Investment Banking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480560" y="1371600"/>
            <a:ext cx="18288" cy="4114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defRPr sz="1400">
                <a:solidFill>
                  <a:srgbClr val="0F172A"/>
                </a:solidFill>
              </a:defRPr>
            </a:pPr>
            <a:r>
              <a:t>What is AI?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defRPr sz="1400">
                <a:solidFill>
                  <a:srgbClr val="0F172A"/>
                </a:solidFill>
              </a:defRPr>
            </a:pPr>
            <a:r>
              <a:t>Benefits of AI in Investment 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46304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defRPr sz="1400">
                <a:solidFill>
                  <a:srgbClr val="0F172A"/>
                </a:solidFill>
              </a:defRPr>
            </a:pPr>
            <a:r>
              <a:t>Current State of AI Adoption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defRPr sz="1400">
                <a:solidFill>
                  <a:srgbClr val="0F172A"/>
                </a:solidFill>
              </a:defRPr>
            </a:pPr>
            <a:r>
              <a:t>Challenges and Limitations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defRPr sz="1400">
                <a:solidFill>
                  <a:srgbClr val="0F172A"/>
                </a:solidFill>
              </a:defRPr>
            </a:pPr>
            <a:r>
              <a:t>Future Directions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AI-Powered Research and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480560" y="1371600"/>
            <a:ext cx="18288" cy="4114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defRPr sz="1400">
                <a:solidFill>
                  <a:srgbClr val="0F172A"/>
                </a:solidFill>
              </a:defRPr>
            </a:pPr>
            <a:r>
              <a:t>Improved Research Efficiency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defRPr sz="1400">
                <a:solidFill>
                  <a:srgbClr val="0F172A"/>
                </a:solidFill>
              </a:defRPr>
            </a:pPr>
            <a:r>
              <a:t>Enhanced Data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46304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defRPr sz="1400">
                <a:solidFill>
                  <a:srgbClr val="0F172A"/>
                </a:solidFill>
              </a:defRPr>
            </a:pPr>
            <a:r>
              <a:t>Automated Insights Generation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defRPr sz="1400">
                <a:solidFill>
                  <a:srgbClr val="0F172A"/>
                </a:solidFill>
              </a:defRPr>
            </a:pPr>
            <a:r>
              <a:t>Increased Accuracy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defRPr sz="1400">
                <a:solidFill>
                  <a:srgbClr val="0F172A"/>
                </a:solidFill>
              </a:defRPr>
            </a:pPr>
            <a:r>
              <a:t>Reduced Costs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AI-Driven Trading and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480560" y="1371600"/>
            <a:ext cx="18288" cy="4114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defRPr sz="1400">
                <a:solidFill>
                  <a:srgbClr val="0F172A"/>
                </a:solidFill>
              </a:defRPr>
            </a:pPr>
            <a:r>
              <a:t>Improved Trading Decisions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defRPr sz="1400">
                <a:solidFill>
                  <a:srgbClr val="0F172A"/>
                </a:solidFill>
              </a:defRPr>
            </a:pPr>
            <a:r>
              <a:t>Enhanced Execution Speed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46304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defRPr sz="1400">
                <a:solidFill>
                  <a:srgbClr val="0F172A"/>
                </a:solidFill>
              </a:defRPr>
            </a:pPr>
            <a:r>
              <a:t>Automated Risk Management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defRPr sz="1400">
                <a:solidFill>
                  <a:srgbClr val="0F172A"/>
                </a:solidFill>
              </a:defRPr>
            </a:pPr>
            <a:r>
              <a:t>Increased Transparency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defRPr sz="1400">
                <a:solidFill>
                  <a:srgbClr val="0F172A"/>
                </a:solidFill>
              </a:defRPr>
            </a:pPr>
            <a:r>
              <a:t>Reduced Errors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AI-Powered Portfolio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480560" y="1371600"/>
            <a:ext cx="18288" cy="4114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defRPr sz="1400">
                <a:solidFill>
                  <a:srgbClr val="0F172A"/>
                </a:solidFill>
              </a:defRPr>
            </a:pPr>
            <a:r>
              <a:t>Improved Portfolio Optimization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defRPr sz="1400">
                <a:solidFill>
                  <a:srgbClr val="0F172A"/>
                </a:solidFill>
              </a:defRPr>
            </a:pPr>
            <a:r>
              <a:t>Enhanced Risk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46304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defRPr sz="1400">
                <a:solidFill>
                  <a:srgbClr val="0F172A"/>
                </a:solidFill>
              </a:defRPr>
            </a:pPr>
            <a:r>
              <a:t>Automated Asset Allocation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defRPr sz="1400">
                <a:solidFill>
                  <a:srgbClr val="0F172A"/>
                </a:solidFill>
              </a:defRPr>
            </a:pPr>
            <a:r>
              <a:t>Increased Transparency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defRPr sz="1400">
                <a:solidFill>
                  <a:srgbClr val="0F172A"/>
                </a:solidFill>
              </a:defRPr>
            </a:pPr>
            <a:r>
              <a:t>Reduced Costs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Challenges and Limitations of AI in Investment Banking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480560" y="1371600"/>
            <a:ext cx="18288" cy="4114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defRPr sz="1400">
                <a:solidFill>
                  <a:srgbClr val="0F172A"/>
                </a:solidFill>
              </a:defRPr>
            </a:pPr>
            <a:r>
              <a:t>Job Displacement Concerns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defRPr sz="1400">
                <a:solidFill>
                  <a:srgbClr val="0F172A"/>
                </a:solidFill>
              </a:defRPr>
            </a:pPr>
            <a:r>
              <a:t>Data Quality Issues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46304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defRPr sz="1400">
                <a:solidFill>
                  <a:srgbClr val="0F172A"/>
                </a:solidFill>
              </a:defRPr>
            </a:pPr>
            <a:r>
              <a:t>Ongoing Training Needs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defRPr sz="1400">
                <a:solidFill>
                  <a:srgbClr val="0F172A"/>
                </a:solidFill>
              </a:defRPr>
            </a:pPr>
            <a:r>
              <a:t>Regulatory Challenges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defRPr sz="1400">
                <a:solidFill>
                  <a:srgbClr val="0F172A"/>
                </a:solidFill>
              </a:defRPr>
            </a:pPr>
            <a:r>
              <a:t>Cybersecurity Risks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Conclusion: The Future of AI in Investment Banking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 b="1">
                <a:solidFill>
                  <a:srgbClr val="1E40AF"/>
                </a:solidFill>
              </a:defRPr>
            </a:pPr>
            <a:r>
              <a:t>1. AI's Potential for Growth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 b="1">
                <a:solidFill>
                  <a:srgbClr val="1E40AF"/>
                </a:solidFill>
              </a:defRPr>
            </a:pPr>
            <a:r>
              <a:t>2. Challenges and Limitations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 b="1">
                <a:solidFill>
                  <a:srgbClr val="1E40AF"/>
                </a:solidFill>
              </a:defRPr>
            </a:pPr>
            <a:r>
              <a:t>3. Future Directions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 b="1">
                <a:solidFill>
                  <a:srgbClr val="1E40AF"/>
                </a:solidFill>
              </a:defRPr>
            </a:pPr>
            <a:r>
              <a:t>4. Key Takeaways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 b="1">
                <a:solidFill>
                  <a:srgbClr val="1E40AF"/>
                </a:solidFill>
              </a:defRPr>
            </a:pPr>
            <a:r>
              <a:t>5. Next Steps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Presentation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Introduction to AI in Investment 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What is AI?</a:t>
            </a:r>
            <a:br/>
            <a:r>
              <a:t>Benefits of AI in Investment Banking</a:t>
            </a:r>
            <a:br/>
            <a:r>
              <a:t>Current State of AI Adoption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51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AI-Powered Research and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51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Improved Research Efficiency</a:t>
            </a:r>
            <a:br/>
            <a:r>
              <a:t>Enhanced Data Analysis</a:t>
            </a:r>
            <a:br/>
            <a:r>
              <a:t>Automated Insights Generation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88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759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AI-Driven Trading and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59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Improved Trading Decisions</a:t>
            </a:r>
            <a:br/>
            <a:r>
              <a:t>Enhanced Execution Speed</a:t>
            </a:r>
            <a:br/>
            <a:r>
              <a:t>Automated Risk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Introduction to AI in Investment Banking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AI-Powered Research and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AI-Driven Trading and Execution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AI-Powered Portfolio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Challenges and Limitations of AI in Investment Banking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