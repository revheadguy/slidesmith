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Soft Computing: A Revolution in Intelligent Systems</a:t>
            </a:r>
          </a:p>
        </p:txBody>
      </p:sp>
      <p:sp>
        <p:nvSpPr>
          <p:cNvPr id="3" name="TextBox 2"/>
          <p:cNvSpPr txBox="1"/>
          <p:nvPr/>
        </p:nvSpPr>
        <p:spPr>
          <a:xfrm>
            <a:off x="457200" y="3840480"/>
            <a:ext cx="8229600" cy="914400"/>
          </a:xfrm>
          <a:prstGeom prst="rect">
            <a:avLst/>
          </a:prstGeom>
          <a:noFill/>
        </p:spPr>
        <p:txBody>
          <a:bodyPr wrap="none">
            <a:spAutoFit/>
          </a:bodyPr>
          <a:lstStyle/>
          <a:p>
            <a:pPr algn="ctr">
              <a:defRPr sz="2400">
                <a:solidFill>
                  <a:srgbClr val="F59E0B"/>
                </a:solidFill>
              </a:defRPr>
            </a:pPr>
            <a:r>
              <a:t>Soft Computing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What is Soft Computing?</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Definition</a:t>
            </a:r>
          </a:p>
          <a:p>
            <a:pPr>
              <a:spcBef>
                <a:spcPts val="600"/>
              </a:spcBef>
              <a:spcAft>
                <a:spcPts val="600"/>
              </a:spcAft>
              <a:defRPr sz="1800">
                <a:solidFill>
                  <a:srgbClr val="0F172A"/>
                </a:solidFill>
              </a:defRPr>
            </a:pPr>
            <a:r>
              <a:t>• Types of Soft Computing</a:t>
            </a:r>
          </a:p>
          <a:p>
            <a:pPr>
              <a:spcBef>
                <a:spcPts val="600"/>
              </a:spcBef>
              <a:spcAft>
                <a:spcPts val="600"/>
              </a:spcAft>
              <a:defRPr sz="1800">
                <a:solidFill>
                  <a:srgbClr val="0F172A"/>
                </a:solidFill>
              </a:defRPr>
            </a:pPr>
            <a:r>
              <a:t>• Applications</a:t>
            </a:r>
          </a:p>
          <a:p>
            <a:br/>
            <a:pPr>
              <a:spcBef>
                <a:spcPts val="600"/>
              </a:spcBef>
              <a:spcAft>
                <a:spcPts val="600"/>
              </a:spcAft>
              <a:defRPr sz="1800">
                <a:solidFill>
                  <a:srgbClr val="0F172A"/>
                </a:solidFill>
              </a:defRPr>
            </a:pPr>
            <a:r>
              <a:t>Soft computing refers to a subset of artificial intelligence that involves the use of approximate reasoning techniques and incomplete information to make decisions or draw conclusions. It is characterized by its ability to tolerate uncertainty, imprecision, and partial truth, making it particularly useful in real-world applications where data may be incomplete or noisy. This paradigm shift from traditional hard computing, which relies on precise mathematical models and complete information, allows soft computing to tackle complex problems that are difficult or impossible to solve using classical methods.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Characteristics of Soft Computing</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Fuzziness</a:t>
            </a:r>
          </a:p>
          <a:p>
            <a:pPr>
              <a:spcBef>
                <a:spcPts val="600"/>
              </a:spcBef>
              <a:spcAft>
                <a:spcPts val="600"/>
              </a:spcAft>
              <a:defRPr sz="1800">
                <a:solidFill>
                  <a:srgbClr val="0F172A"/>
                </a:solidFill>
              </a:defRPr>
            </a:pPr>
            <a:r>
              <a:t>• Approximation</a:t>
            </a:r>
          </a:p>
          <a:p>
            <a:pPr>
              <a:spcBef>
                <a:spcPts val="600"/>
              </a:spcBef>
              <a:spcAft>
                <a:spcPts val="600"/>
              </a:spcAft>
              <a:defRPr sz="1800">
                <a:solidFill>
                  <a:srgbClr val="0F172A"/>
                </a:solidFill>
              </a:defRPr>
            </a:pPr>
            <a:r>
              <a:t>• Uncertainty</a:t>
            </a:r>
          </a:p>
          <a:p>
            <a:pPr>
              <a:spcBef>
                <a:spcPts val="600"/>
              </a:spcBef>
              <a:spcAft>
                <a:spcPts val="600"/>
              </a:spcAft>
              <a:defRPr sz="1800">
                <a:solidFill>
                  <a:srgbClr val="0F172A"/>
                </a:solidFill>
              </a:defRPr>
            </a:pPr>
            <a:r>
              <a:t>• Non-Linearities</a:t>
            </a:r>
          </a:p>
          <a:p>
            <a:pPr>
              <a:spcBef>
                <a:spcPts val="600"/>
              </a:spcBef>
              <a:spcAft>
                <a:spcPts val="600"/>
              </a:spcAft>
              <a:defRPr sz="1800">
                <a:solidFill>
                  <a:srgbClr val="0F172A"/>
                </a:solidFill>
              </a:defRPr>
            </a:pPr>
            <a:r>
              <a:t>• Interconnectedness</a:t>
            </a:r>
          </a:p>
          <a:p>
            <a:br/>
            <a:pPr>
              <a:spcBef>
                <a:spcPts val="600"/>
              </a:spcBef>
              <a:spcAft>
                <a:spcPts val="600"/>
              </a:spcAft>
              <a:defRPr sz="1800">
                <a:solidFill>
                  <a:srgbClr val="0F172A"/>
                </a:solidFill>
              </a:defRPr>
            </a:pPr>
            <a:r>
              <a:t>Soft computing techniques inherently incorporate fuzziness by allowing for gradual transitions between categories or states, rather than abrupt binary distinctions. This fuzziness enables approximation of complex relationships and uncertainty in real-world systems, which are often non-linear and interconnected. As a result, soft computing methods can better capture the nuances and variability present in these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Types of Soft Computing</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Fuzzy Logic Systems</a:t>
            </a:r>
          </a:p>
          <a:p>
            <a:pPr>
              <a:spcBef>
                <a:spcPts val="600"/>
              </a:spcBef>
              <a:spcAft>
                <a:spcPts val="600"/>
              </a:spcAft>
              <a:defRPr sz="1800">
                <a:solidFill>
                  <a:srgbClr val="0F172A"/>
                </a:solidFill>
              </a:defRPr>
            </a:pPr>
            <a:r>
              <a:t>• Neural Networks</a:t>
            </a:r>
          </a:p>
          <a:p>
            <a:pPr>
              <a:spcBef>
                <a:spcPts val="600"/>
              </a:spcBef>
              <a:spcAft>
                <a:spcPts val="600"/>
              </a:spcAft>
              <a:defRPr sz="1800">
                <a:solidFill>
                  <a:srgbClr val="0F172A"/>
                </a:solidFill>
              </a:defRPr>
            </a:pPr>
            <a:r>
              <a:t>• Evolutionary Computation</a:t>
            </a:r>
          </a:p>
          <a:p>
            <a:pPr>
              <a:spcBef>
                <a:spcPts val="600"/>
              </a:spcBef>
              <a:spcAft>
                <a:spcPts val="600"/>
              </a:spcAft>
              <a:defRPr sz="1800">
                <a:solidFill>
                  <a:srgbClr val="0F172A"/>
                </a:solidFill>
              </a:defRPr>
            </a:pPr>
            <a:r>
              <a:t>• Hybrid Approaches</a:t>
            </a:r>
          </a:p>
          <a:p>
            <a:br/>
            <a:pPr>
              <a:spcBef>
                <a:spcPts val="600"/>
              </a:spcBef>
              <a:spcAft>
                <a:spcPts val="600"/>
              </a:spcAft>
              <a:defRPr sz="1800">
                <a:solidFill>
                  <a:srgbClr val="0F172A"/>
                </a:solidFill>
              </a:defRPr>
            </a:pPr>
            <a:r>
              <a:t>Soft computing is a paradigm that combines fuzzy logic systems, neural networks, and evolutionary computation to solve complex problems with uncertainty. These approaches are based on approximating functions rather than exact calculations, allowing for flexibility and robustness in decision-making. By leveraging these different types of soft computing, we can develop intelligent systems that learn from experience and adapt to new situations.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Applications of Soft Computing</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Control Systems</a:t>
            </a:r>
          </a:p>
          <a:p>
            <a:pPr>
              <a:spcBef>
                <a:spcPts val="600"/>
              </a:spcBef>
              <a:spcAft>
                <a:spcPts val="600"/>
              </a:spcAft>
              <a:defRPr sz="1800">
                <a:solidFill>
                  <a:srgbClr val="0F172A"/>
                </a:solidFill>
              </a:defRPr>
            </a:pPr>
            <a:r>
              <a:t>• Signal Processing</a:t>
            </a:r>
          </a:p>
          <a:p>
            <a:pPr>
              <a:spcBef>
                <a:spcPts val="600"/>
              </a:spcBef>
              <a:spcAft>
                <a:spcPts val="600"/>
              </a:spcAft>
              <a:defRPr sz="1800">
                <a:solidFill>
                  <a:srgbClr val="0F172A"/>
                </a:solidFill>
              </a:defRPr>
            </a:pPr>
            <a:r>
              <a:t>• Image Processing</a:t>
            </a:r>
          </a:p>
          <a:p>
            <a:pPr>
              <a:spcBef>
                <a:spcPts val="600"/>
              </a:spcBef>
              <a:spcAft>
                <a:spcPts val="600"/>
              </a:spcAft>
              <a:defRPr sz="1800">
                <a:solidFill>
                  <a:srgbClr val="0F172A"/>
                </a:solidFill>
              </a:defRPr>
            </a:pPr>
            <a:r>
              <a:t>• Decision Support Systems</a:t>
            </a:r>
          </a:p>
          <a:p>
            <a:pPr>
              <a:spcBef>
                <a:spcPts val="600"/>
              </a:spcBef>
              <a:spcAft>
                <a:spcPts val="600"/>
              </a:spcAft>
              <a:defRPr sz="1800">
                <a:solidFill>
                  <a:srgbClr val="0F172A"/>
                </a:solidFill>
              </a:defRPr>
            </a:pPr>
            <a:r>
              <a:t>• Robotics</a:t>
            </a:r>
          </a:p>
          <a:p>
            <a:br/>
            <a:pPr>
              <a:spcBef>
                <a:spcPts val="600"/>
              </a:spcBef>
              <a:spcAft>
                <a:spcPts val="600"/>
              </a:spcAft>
              <a:defRPr sz="1800">
                <a:solidFill>
                  <a:srgbClr val="0F172A"/>
                </a:solidFill>
              </a:defRPr>
            </a:pPr>
            <a:r>
              <a:t>Soft computing techniques are applied in control systems to handle uncertainty and ambiguity in complex systems, enabling more efficient and robust control strategies. In signal processing, soft computing is used for noise reduction, filtering, and feature extraction from sensor data. Additionally, image processing applications of soft computing include object recognition, segmentation, and classification, with potential uses in areas like medical imaging and surveillance.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Advantages of Soft Computing</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Handling Uncertainty</a:t>
            </a:r>
          </a:p>
          <a:p>
            <a:pPr>
              <a:spcBef>
                <a:spcPts val="600"/>
              </a:spcBef>
              <a:spcAft>
                <a:spcPts val="600"/>
              </a:spcAft>
              <a:defRPr sz="1800">
                <a:solidFill>
                  <a:srgbClr val="0F172A"/>
                </a:solidFill>
              </a:defRPr>
            </a:pPr>
            <a:r>
              <a:t>• Non-Linear Modeling</a:t>
            </a:r>
          </a:p>
          <a:p>
            <a:pPr>
              <a:spcBef>
                <a:spcPts val="600"/>
              </a:spcBef>
              <a:spcAft>
                <a:spcPts val="600"/>
              </a:spcAft>
              <a:defRPr sz="1800">
                <a:solidFill>
                  <a:srgbClr val="0F172A"/>
                </a:solidFill>
              </a:defRPr>
            </a:pPr>
            <a:r>
              <a:t>• Flexibility and Adaptability</a:t>
            </a:r>
          </a:p>
          <a:p>
            <a:pPr>
              <a:spcBef>
                <a:spcPts val="600"/>
              </a:spcBef>
              <a:spcAft>
                <a:spcPts val="600"/>
              </a:spcAft>
              <a:defRPr sz="1800">
                <a:solidFill>
                  <a:srgbClr val="0F172A"/>
                </a:solidFill>
              </a:defRPr>
            </a:pPr>
            <a:r>
              <a:t>• Improved Performance</a:t>
            </a:r>
          </a:p>
          <a:p>
            <a:br/>
            <a:pPr>
              <a:spcBef>
                <a:spcPts val="600"/>
              </a:spcBef>
              <a:spcAft>
                <a:spcPts val="600"/>
              </a:spcAft>
              <a:defRPr sz="1800">
                <a:solidFill>
                  <a:srgbClr val="0F172A"/>
                </a:solidFill>
              </a:defRPr>
            </a:pPr>
            <a:r>
              <a:t>Soft computing's ability to handle uncertainty enables it to effectively deal with incomplete or uncertain data, leading to more accurate predictions and decisions. Its non-linear modeling capabilities allow for the representation of complex systems that cannot be easily modeled by traditional methods, resulting in a more comprehensive understanding of the problem domain. Additionally, soft computing's flexibility and adaptability enable it to learn from new data and adapt to changing environments, making it an attractive solution for applications where uncertainty and complexity are inherent.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Challenges and Limitations</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Lack of Standardization</a:t>
            </a:r>
          </a:p>
          <a:p>
            <a:pPr>
              <a:spcBef>
                <a:spcPts val="600"/>
              </a:spcBef>
              <a:spcAft>
                <a:spcPts val="600"/>
              </a:spcAft>
              <a:defRPr sz="1800">
                <a:solidFill>
                  <a:srgbClr val="0F172A"/>
                </a:solidFill>
              </a:defRPr>
            </a:pPr>
            <a:r>
              <a:t>• Interpretability</a:t>
            </a:r>
          </a:p>
          <a:p>
            <a:pPr>
              <a:spcBef>
                <a:spcPts val="600"/>
              </a:spcBef>
              <a:spcAft>
                <a:spcPts val="600"/>
              </a:spcAft>
              <a:defRPr sz="1800">
                <a:solidFill>
                  <a:srgbClr val="0F172A"/>
                </a:solidFill>
              </a:defRPr>
            </a:pPr>
            <a:r>
              <a:t>• Training Data Quality</a:t>
            </a:r>
          </a:p>
          <a:p>
            <a:pPr>
              <a:spcBef>
                <a:spcPts val="600"/>
              </a:spcBef>
              <a:spcAft>
                <a:spcPts val="600"/>
              </a:spcAft>
              <a:defRPr sz="1800">
                <a:solidFill>
                  <a:srgbClr val="0F172A"/>
                </a:solidFill>
              </a:defRPr>
            </a:pPr>
            <a:r>
              <a:t>• Computational Complexity</a:t>
            </a:r>
          </a:p>
          <a:p>
            <a:br/>
            <a:pPr>
              <a:spcBef>
                <a:spcPts val="600"/>
              </a:spcBef>
              <a:spcAft>
                <a:spcPts val="600"/>
              </a:spcAft>
              <a:defRPr sz="1800">
                <a:solidFill>
                  <a:srgbClr val="0F172A"/>
                </a:solidFill>
              </a:defRPr>
            </a:pPr>
            <a:r>
              <a:t>The lack of standardization in machine learning models can lead to inconsistent results across different datasets and algorithms, making it challenging to compare and reproduce findings. Additionally, the interpretability of complex models is often difficult to achieve, making it hard for non-experts to understand how decisions are being made. Furthermore, the quality of training data is crucial, as poor-quality data can result in biased or inaccurate models.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Real-World Examples</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Control Systems in Robotics</a:t>
            </a:r>
          </a:p>
          <a:p>
            <a:pPr>
              <a:spcBef>
                <a:spcPts val="600"/>
              </a:spcBef>
              <a:spcAft>
                <a:spcPts val="600"/>
              </a:spcAft>
              <a:defRPr sz="1800">
                <a:solidFill>
                  <a:srgbClr val="0F172A"/>
                </a:solidFill>
              </a:defRPr>
            </a:pPr>
            <a:r>
              <a:t>• Medical Diagnosis using Fuzzy Logic</a:t>
            </a:r>
          </a:p>
          <a:p>
            <a:pPr>
              <a:spcBef>
                <a:spcPts val="600"/>
              </a:spcBef>
              <a:spcAft>
                <a:spcPts val="600"/>
              </a:spcAft>
              <a:defRPr sz="1800">
                <a:solidFill>
                  <a:srgbClr val="0F172A"/>
                </a:solidFill>
              </a:defRPr>
            </a:pPr>
            <a:r>
              <a:t>• Weather Forecasting with Neural Networks</a:t>
            </a:r>
          </a:p>
          <a:p>
            <a:br/>
            <a:pPr>
              <a:spcBef>
                <a:spcPts val="600"/>
              </a:spcBef>
              <a:spcAft>
                <a:spcPts val="600"/>
              </a:spcAft>
              <a:defRPr sz="1800">
                <a:solidFill>
                  <a:srgbClr val="0F172A"/>
                </a:solidFill>
              </a:defRPr>
            </a:pPr>
            <a:r>
              <a:t>In the field of robotics, fuzzy logic is used to create control systems that can adapt to changing environments and unexpected situations, such as a robotic arm adjusting its grip on an object based on its texture and shape. In medicine, fuzzy logic is employed in diagnosis tools that can accurately identify diseases by analyzing complex patterns in patient data, providing more accurate diagnoses than traditional methods.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and Future Directions</a:t>
            </a:r>
          </a:p>
        </p:txBody>
      </p:sp>
      <p:sp>
        <p:nvSpPr>
          <p:cNvPr id="4" name="TextBox 3"/>
          <p:cNvSpPr txBox="1"/>
          <p:nvPr/>
        </p:nvSpPr>
        <p:spPr>
          <a:xfrm>
            <a:off x="914400" y="1463040"/>
            <a:ext cx="7315200" cy="4572000"/>
          </a:xfrm>
          <a:prstGeom prst="rect">
            <a:avLst/>
          </a:prstGeom>
          <a:noFill/>
        </p:spPr>
        <p:txBody>
          <a:bodyPr wrap="square">
            <a:spAutoFit/>
          </a:bodyPr>
          <a:lstStyle/>
          <a:p>
            <a:pPr>
              <a:spcBef>
                <a:spcPts val="600"/>
              </a:spcBef>
              <a:spcAft>
                <a:spcPts val="600"/>
              </a:spcAft>
              <a:defRPr sz="1800">
                <a:solidFill>
                  <a:srgbClr val="0F172A"/>
                </a:solidFill>
              </a:defRPr>
            </a:pPr>
            <a:r>
              <a:t>• Summary of Key Points</a:t>
            </a:r>
          </a:p>
          <a:p>
            <a:pPr>
              <a:spcBef>
                <a:spcPts val="600"/>
              </a:spcBef>
              <a:spcAft>
                <a:spcPts val="600"/>
              </a:spcAft>
              <a:defRPr sz="1800">
                <a:solidFill>
                  <a:srgbClr val="0F172A"/>
                </a:solidFill>
              </a:defRPr>
            </a:pPr>
            <a:r>
              <a:t>• Potential Applications</a:t>
            </a:r>
          </a:p>
          <a:p>
            <a:pPr>
              <a:spcBef>
                <a:spcPts val="600"/>
              </a:spcBef>
              <a:spcAft>
                <a:spcPts val="600"/>
              </a:spcAft>
              <a:defRPr sz="1800">
                <a:solidFill>
                  <a:srgbClr val="0F172A"/>
                </a:solidFill>
              </a:defRPr>
            </a:pPr>
            <a:r>
              <a:t>• Future Research Directions</a:t>
            </a:r>
          </a:p>
          <a:p>
            <a:pPr>
              <a:spcBef>
                <a:spcPts val="600"/>
              </a:spcBef>
              <a:spcAft>
                <a:spcPts val="600"/>
              </a:spcAft>
              <a:defRPr sz="1800">
                <a:solidFill>
                  <a:srgbClr val="0F172A"/>
                </a:solidFill>
              </a:defRPr>
            </a:pPr>
            <a:r>
              <a:t>• Open Challenges</a:t>
            </a:r>
          </a:p>
          <a:p>
            <a:br/>
            <a:pPr>
              <a:spcBef>
                <a:spcPts val="600"/>
              </a:spcBef>
              <a:spcAft>
                <a:spcPts val="600"/>
              </a:spcAft>
              <a:defRPr sz="1800">
                <a:solidFill>
                  <a:srgbClr val="0F172A"/>
                </a:solidFill>
              </a:defRPr>
            </a:pPr>
            <a:r>
              <a:t>Here is the description:</a:t>
            </a:r>
            <a:br/>
            <a:br/>
            <a:r>
              <a:t>In conclusion, we have summarized the key findings and insights from our study, highlighting potential applications in various fields. However, future research directions and open challenges remain, including further investigation into the limitations of our approach and opportunities for improvement.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What is Soft Computing?</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Advantages of Soft Computing</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 and Future Directions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What is Soft Computing?</a:t>
            </a:r>
          </a:p>
          <a:p>
            <a:pPr>
              <a:spcBef>
                <a:spcPts val="800"/>
              </a:spcBef>
              <a:spcAft>
                <a:spcPts val="800"/>
              </a:spcAft>
              <a:defRPr sz="2000">
                <a:solidFill>
                  <a:srgbClr val="F59E0B"/>
                </a:solidFill>
              </a:defRPr>
            </a:pPr>
            <a:r>
              <a:t>✓ Characteristics of Soft Computing</a:t>
            </a:r>
          </a:p>
          <a:p>
            <a:pPr>
              <a:spcBef>
                <a:spcPts val="800"/>
              </a:spcBef>
              <a:spcAft>
                <a:spcPts val="800"/>
              </a:spcAft>
              <a:defRPr sz="2000">
                <a:solidFill>
                  <a:srgbClr val="F59E0B"/>
                </a:solidFill>
              </a:defRPr>
            </a:pPr>
            <a:r>
              <a:t>✓ Types of Soft Computing</a:t>
            </a:r>
          </a:p>
          <a:p>
            <a:pPr>
              <a:spcBef>
                <a:spcPts val="800"/>
              </a:spcBef>
              <a:spcAft>
                <a:spcPts val="800"/>
              </a:spcAft>
              <a:defRPr sz="2000">
                <a:solidFill>
                  <a:srgbClr val="F59E0B"/>
                </a:solidFill>
              </a:defRPr>
            </a:pPr>
            <a:r>
              <a:t>✓ Applications of Soft Computing</a:t>
            </a:r>
          </a:p>
          <a:p>
            <a:pPr>
              <a:spcBef>
                <a:spcPts val="800"/>
              </a:spcBef>
              <a:spcAft>
                <a:spcPts val="800"/>
              </a:spcAft>
              <a:defRPr sz="2000">
                <a:solidFill>
                  <a:srgbClr val="F59E0B"/>
                </a:solidFill>
              </a:defRPr>
            </a:pPr>
            <a:r>
              <a:t>✓ Advantages of Soft Computing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