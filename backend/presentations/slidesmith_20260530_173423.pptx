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F51B5"/>
        </a:solidFill>
        <a:effectLst/>
      </p:bgPr>
    </p:bg>
    <p:spTree>
      <p:nvGrpSpPr>
        <p:cNvPr id="1" name=""/>
        <p:cNvGrpSpPr/>
        <p:nvPr/>
      </p:nvGrpSpPr>
      <p:grpSpPr/>
      <p:sp>
        <p:nvSpPr>
          <p:cNvPr id="2" name="Oval 1"/>
          <p:cNvSpPr/>
          <p:nvPr/>
        </p:nvSpPr>
        <p:spPr>
          <a:xfrm>
            <a:off x="6355079" y="-1143000"/>
            <a:ext cx="4114800" cy="4114800"/>
          </a:xfrm>
          <a:prstGeom prst="ellipse">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 y="4754880"/>
            <a:ext cx="2011680" cy="2011680"/>
          </a:xfrm>
          <a:prstGeom prst="ellipse">
            <a:avLst/>
          </a:prstGeom>
          <a:noFill/>
          <a:ln w="31750">
            <a:solidFill>
              <a:srgbClr val="5C6B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377440"/>
            <a:ext cx="7680960" cy="2011680"/>
          </a:xfrm>
          <a:prstGeom prst="rect">
            <a:avLst/>
          </a:prstGeom>
          <a:noFill/>
        </p:spPr>
        <p:txBody>
          <a:bodyPr wrap="square">
            <a:spAutoFit/>
          </a:bodyPr>
          <a:lstStyle/>
          <a:p>
            <a:pPr algn="ctr">
              <a:lnSpc>
                <a:spcPct val="115000"/>
              </a:lnSpc>
              <a:defRPr sz="4000" b="1">
                <a:solidFill>
                  <a:srgbClr val="FFFFFF"/>
                </a:solidFill>
              </a:defRPr>
            </a:pPr>
            <a:r>
              <a:t>Google's Revenue Growth</a:t>
            </a:r>
          </a:p>
        </p:txBody>
      </p:sp>
      <p:sp>
        <p:nvSpPr>
          <p:cNvPr id="5" name="Rectangle 4"/>
          <p:cNvSpPr/>
          <p:nvPr/>
        </p:nvSpPr>
        <p:spPr>
          <a:xfrm>
            <a:off x="0" y="6748272"/>
            <a:ext cx="9144000" cy="109728"/>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85800"/>
          </a:xfrm>
          <a:prstGeom prst="rect">
            <a:avLst/>
          </a:prstGeom>
          <a:noFill/>
        </p:spPr>
        <p:txBody>
          <a:bodyPr wrap="square">
            <a:spAutoFit/>
          </a:bodyPr>
          <a:lstStyle/>
          <a:p>
            <a:pPr>
              <a:defRPr sz="2800" b="1">
                <a:solidFill>
                  <a:srgbClr val="1E40AF"/>
                </a:solidFill>
              </a:defRPr>
            </a:pPr>
            <a:r>
              <a:t>Introduction to Google's Revenue</a:t>
            </a:r>
          </a:p>
        </p:txBody>
      </p:sp>
      <p:sp>
        <p:nvSpPr>
          <p:cNvPr id="4" name="Rectangle 3"/>
          <p:cNvSpPr/>
          <p:nvPr/>
        </p:nvSpPr>
        <p:spPr>
          <a:xfrm>
            <a:off x="3291840" y="1234440"/>
            <a:ext cx="2560320" cy="173736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91840" y="1234440"/>
            <a:ext cx="2560320" cy="6400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383280" y="1344168"/>
            <a:ext cx="2377439" cy="822960"/>
          </a:xfrm>
          <a:prstGeom prst="rect">
            <a:avLst/>
          </a:prstGeom>
          <a:noFill/>
        </p:spPr>
        <p:txBody>
          <a:bodyPr wrap="none">
            <a:spAutoFit/>
          </a:bodyPr>
          <a:lstStyle/>
          <a:p>
            <a:pPr algn="ctr">
              <a:defRPr sz="3600" b="1">
                <a:solidFill>
                  <a:srgbClr val="1E40AF"/>
                </a:solidFill>
              </a:defRPr>
            </a:pPr>
            <a:r>
              <a:t>1998</a:t>
            </a:r>
          </a:p>
        </p:txBody>
      </p:sp>
      <p:sp>
        <p:nvSpPr>
          <p:cNvPr id="7" name="TextBox 6"/>
          <p:cNvSpPr txBox="1"/>
          <p:nvPr/>
        </p:nvSpPr>
        <p:spPr>
          <a:xfrm>
            <a:off x="3383280" y="2194560"/>
            <a:ext cx="2377439" cy="685800"/>
          </a:xfrm>
          <a:prstGeom prst="rect">
            <a:avLst/>
          </a:prstGeom>
          <a:noFill/>
        </p:spPr>
        <p:txBody>
          <a:bodyPr wrap="square">
            <a:spAutoFit/>
          </a:bodyPr>
          <a:lstStyle/>
          <a:p>
            <a:pPr algn="ctr">
              <a:lnSpc>
                <a:spcPct val="120000"/>
              </a:lnSpc>
              <a:defRPr sz="1200">
                <a:solidFill>
                  <a:srgbClr val="64748B"/>
                </a:solidFill>
              </a:defRPr>
            </a:pPr>
            <a:r>
              <a:t>Founded in</a:t>
            </a:r>
          </a:p>
        </p:txBody>
      </p:sp>
      <p:sp>
        <p:nvSpPr>
          <p:cNvPr id="8" name="TextBox 7"/>
          <p:cNvSpPr txBox="1"/>
          <p:nvPr/>
        </p:nvSpPr>
        <p:spPr>
          <a:xfrm>
            <a:off x="731520" y="3154680"/>
            <a:ext cx="7680960" cy="640080"/>
          </a:xfrm>
          <a:prstGeom prst="rect">
            <a:avLst/>
          </a:prstGeom>
          <a:noFill/>
        </p:spPr>
        <p:txBody>
          <a:bodyPr wrap="square">
            <a:spAutoFit/>
          </a:bodyPr>
          <a:lstStyle/>
          <a:p>
            <a:pPr>
              <a:lnSpc>
                <a:spcPct val="130000"/>
              </a:lnSpc>
              <a:defRPr sz="1400">
                <a:solidFill>
                  <a:srgbClr val="64748B"/>
                </a:solidFill>
              </a:defRPr>
            </a:pPr>
            <a:r>
              <a:t>Google's revenue growth has been remarkable over the years. Founded in 1998 by Larry Page and Sergey Brin, Google has evolved into one of the world's largest technology companies.</a:t>
            </a:r>
          </a:p>
        </p:txBody>
      </p:sp>
      <p:sp>
        <p:nvSpPr>
          <p:cNvPr id="9" name="Oval 8"/>
          <p:cNvSpPr/>
          <p:nvPr/>
        </p:nvSpPr>
        <p:spPr>
          <a:xfrm>
            <a:off x="502920" y="4069080"/>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023360"/>
            <a:ext cx="7589520" cy="868680"/>
          </a:xfrm>
          <a:prstGeom prst="rect">
            <a:avLst/>
          </a:prstGeom>
          <a:noFill/>
        </p:spPr>
        <p:txBody>
          <a:bodyPr wrap="square">
            <a:spAutoFit/>
          </a:bodyPr>
          <a:lstStyle/>
          <a:p>
            <a:pPr>
              <a:lnSpc>
                <a:spcPct val="130000"/>
              </a:lnSpc>
              <a:defRPr sz="1600">
                <a:solidFill>
                  <a:srgbClr val="0F172A"/>
                </a:solidFill>
              </a:defRPr>
            </a:pPr>
            <a:r>
              <a:t>Primary source: Advertising</a:t>
            </a:r>
          </a:p>
        </p:txBody>
      </p:sp>
      <p:sp>
        <p:nvSpPr>
          <p:cNvPr id="11" name="Oval 10"/>
          <p:cNvSpPr/>
          <p:nvPr/>
        </p:nvSpPr>
        <p:spPr>
          <a:xfrm>
            <a:off x="502920" y="4800600"/>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754880"/>
            <a:ext cx="7589520" cy="868680"/>
          </a:xfrm>
          <a:prstGeom prst="rect">
            <a:avLst/>
          </a:prstGeom>
          <a:noFill/>
        </p:spPr>
        <p:txBody>
          <a:bodyPr wrap="square">
            <a:spAutoFit/>
          </a:bodyPr>
          <a:lstStyle/>
          <a:p>
            <a:pPr>
              <a:lnSpc>
                <a:spcPct val="130000"/>
              </a:lnSpc>
              <a:defRPr sz="1600">
                <a:solidFill>
                  <a:srgbClr val="0F172A"/>
                </a:solidFill>
              </a:defRPr>
            </a:pPr>
            <a:r>
              <a:t>Diversified revenue streams</a:t>
            </a:r>
          </a:p>
        </p:txBody>
      </p:sp>
      <p:sp>
        <p:nvSpPr>
          <p:cNvPr id="13" name="Oval 12"/>
          <p:cNvSpPr/>
          <p:nvPr/>
        </p:nvSpPr>
        <p:spPr>
          <a:xfrm>
            <a:off x="502920" y="5532120"/>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5486400"/>
            <a:ext cx="7589520" cy="868680"/>
          </a:xfrm>
          <a:prstGeom prst="rect">
            <a:avLst/>
          </a:prstGeom>
          <a:noFill/>
        </p:spPr>
        <p:txBody>
          <a:bodyPr wrap="square">
            <a:spAutoFit/>
          </a:bodyPr>
          <a:lstStyle/>
          <a:p>
            <a:pPr>
              <a:lnSpc>
                <a:spcPct val="130000"/>
              </a:lnSpc>
              <a:defRPr sz="1600">
                <a:solidFill>
                  <a:srgbClr val="0F172A"/>
                </a:solidFill>
              </a:defRPr>
            </a:pPr>
            <a:r>
              <a:t>Remarkable growth over years</a:t>
            </a:r>
          </a:p>
        </p:txBody>
      </p:sp>
      <p:sp>
        <p:nvSpPr>
          <p:cNvPr id="15" name="Rectangle 14"/>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Google's Revenue Growth</a:t>
            </a:r>
          </a:p>
        </p:txBody>
      </p:sp>
      <p:sp>
        <p:nvSpPr>
          <p:cNvPr id="17" name="TextBox 16"/>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Google's Revenue Breakdown</a:t>
            </a:r>
          </a:p>
        </p:txBody>
      </p:sp>
      <p:sp>
        <p:nvSpPr>
          <p:cNvPr id="4" name="TextBox 3"/>
          <p:cNvSpPr txBox="1"/>
          <p:nvPr/>
        </p:nvSpPr>
        <p:spPr>
          <a:xfrm>
            <a:off x="457200" y="1417320"/>
            <a:ext cx="4114800" cy="1600200"/>
          </a:xfrm>
          <a:prstGeom prst="rect">
            <a:avLst/>
          </a:prstGeom>
          <a:noFill/>
        </p:spPr>
        <p:txBody>
          <a:bodyPr wrap="square">
            <a:spAutoFit/>
          </a:bodyPr>
          <a:lstStyle/>
          <a:p>
            <a:pPr>
              <a:lnSpc>
                <a:spcPct val="130000"/>
              </a:lnSpc>
              <a:defRPr sz="1400">
                <a:solidFill>
                  <a:srgbClr val="0F172A"/>
                </a:solidFill>
              </a:defRPr>
            </a:pPr>
            <a:r>
              <a:t>Google's revenue breakdown is dominated by advertising, with Google Ads (formerly Google AdWords) and Google AdSense being the primary drivers. Additionally, Google's cloud computing business, Google Cloud Platform, has seen significant growth in recent years.</a:t>
            </a:r>
          </a:p>
        </p:txBody>
      </p:sp>
      <p:sp>
        <p:nvSpPr>
          <p:cNvPr id="5" name="Oval 4"/>
          <p:cNvSpPr/>
          <p:nvPr/>
        </p:nvSpPr>
        <p:spPr>
          <a:xfrm>
            <a:off x="457200" y="339242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3337560"/>
            <a:ext cx="3858768" cy="658368"/>
          </a:xfrm>
          <a:prstGeom prst="rect">
            <a:avLst/>
          </a:prstGeom>
          <a:noFill/>
        </p:spPr>
        <p:txBody>
          <a:bodyPr wrap="square">
            <a:spAutoFit/>
          </a:bodyPr>
          <a:lstStyle/>
          <a:p>
            <a:pPr>
              <a:lnSpc>
                <a:spcPct val="130000"/>
              </a:lnSpc>
              <a:defRPr sz="1500">
                <a:solidFill>
                  <a:srgbClr val="0F172A"/>
                </a:solidFill>
              </a:defRPr>
            </a:pPr>
            <a:r>
              <a:t>Advertising: 99% of revenue</a:t>
            </a:r>
          </a:p>
        </p:txBody>
      </p:sp>
      <p:sp>
        <p:nvSpPr>
          <p:cNvPr id="7" name="Oval 6"/>
          <p:cNvSpPr/>
          <p:nvPr/>
        </p:nvSpPr>
        <p:spPr>
          <a:xfrm>
            <a:off x="457200" y="412394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4069080"/>
            <a:ext cx="3858768" cy="658368"/>
          </a:xfrm>
          <a:prstGeom prst="rect">
            <a:avLst/>
          </a:prstGeom>
          <a:noFill/>
        </p:spPr>
        <p:txBody>
          <a:bodyPr wrap="square">
            <a:spAutoFit/>
          </a:bodyPr>
          <a:lstStyle/>
          <a:p>
            <a:pPr>
              <a:lnSpc>
                <a:spcPct val="130000"/>
              </a:lnSpc>
              <a:defRPr sz="1500">
                <a:solidFill>
                  <a:srgbClr val="0F172A"/>
                </a:solidFill>
              </a:defRPr>
            </a:pPr>
            <a:r>
              <a:t>Google Ads (AdWords) dominant</a:t>
            </a:r>
          </a:p>
        </p:txBody>
      </p:sp>
      <p:sp>
        <p:nvSpPr>
          <p:cNvPr id="9" name="Oval 8"/>
          <p:cNvSpPr/>
          <p:nvPr/>
        </p:nvSpPr>
        <p:spPr>
          <a:xfrm>
            <a:off x="457200" y="485546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4800600"/>
            <a:ext cx="3858768" cy="658368"/>
          </a:xfrm>
          <a:prstGeom prst="rect">
            <a:avLst/>
          </a:prstGeom>
          <a:noFill/>
        </p:spPr>
        <p:txBody>
          <a:bodyPr wrap="square">
            <a:spAutoFit/>
          </a:bodyPr>
          <a:lstStyle/>
          <a:p>
            <a:pPr>
              <a:lnSpc>
                <a:spcPct val="130000"/>
              </a:lnSpc>
              <a:defRPr sz="1500">
                <a:solidFill>
                  <a:srgbClr val="0F172A"/>
                </a:solidFill>
              </a:defRPr>
            </a:pPr>
            <a:r>
              <a:t>Google AdSense growing</a:t>
            </a:r>
          </a:p>
        </p:txBody>
      </p:sp>
      <p:sp>
        <p:nvSpPr>
          <p:cNvPr id="11" name="Oval 10"/>
          <p:cNvSpPr/>
          <p:nvPr/>
        </p:nvSpPr>
        <p:spPr>
          <a:xfrm>
            <a:off x="457200" y="5586983"/>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5532120"/>
            <a:ext cx="3858768" cy="658368"/>
          </a:xfrm>
          <a:prstGeom prst="rect">
            <a:avLst/>
          </a:prstGeom>
          <a:noFill/>
        </p:spPr>
        <p:txBody>
          <a:bodyPr wrap="square">
            <a:spAutoFit/>
          </a:bodyPr>
          <a:lstStyle/>
          <a:p>
            <a:pPr>
              <a:lnSpc>
                <a:spcPct val="130000"/>
              </a:lnSpc>
              <a:defRPr sz="1500">
                <a:solidFill>
                  <a:srgbClr val="0F172A"/>
                </a:solidFill>
              </a:defRPr>
            </a:pPr>
            <a:r>
              <a:t>Cloud Computing: rapid growth</a:t>
            </a:r>
          </a:p>
        </p:txBody>
      </p:sp>
      <p:pic>
        <p:nvPicPr>
          <p:cNvPr id="13" name="Picture 12" descr="unsplash_r-oebX7qWxM.jpg"/>
          <p:cNvPicPr>
            <a:picLocks noChangeAspect="1"/>
          </p:cNvPicPr>
          <p:nvPr/>
        </p:nvPicPr>
        <p:blipFill>
          <a:blip r:embed="rId2"/>
          <a:stretch>
            <a:fillRect/>
          </a:stretch>
        </p:blipFill>
        <p:spPr>
          <a:xfrm>
            <a:off x="4754880" y="1280160"/>
            <a:ext cx="3840480" cy="4937760"/>
          </a:xfrm>
          <a:prstGeom prst="rect">
            <a:avLst/>
          </a:prstGeom>
        </p:spPr>
      </p:pic>
      <p:sp>
        <p:nvSpPr>
          <p:cNvPr id="14" name="Rectangle 13"/>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Google's Revenue Growth</a:t>
            </a:r>
          </a:p>
        </p:txBody>
      </p:sp>
      <p:sp>
        <p:nvSpPr>
          <p:cNvPr id="16" name="TextBox 15"/>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Google's Revenue Streams</a:t>
            </a:r>
          </a:p>
        </p:txBody>
      </p:sp>
      <p:sp>
        <p:nvSpPr>
          <p:cNvPr id="4" name="TextBox 3"/>
          <p:cNvSpPr txBox="1"/>
          <p:nvPr/>
        </p:nvSpPr>
        <p:spPr>
          <a:xfrm>
            <a:off x="731520" y="1417320"/>
            <a:ext cx="7680960" cy="685800"/>
          </a:xfrm>
          <a:prstGeom prst="rect">
            <a:avLst/>
          </a:prstGeom>
          <a:noFill/>
        </p:spPr>
        <p:txBody>
          <a:bodyPr wrap="square">
            <a:spAutoFit/>
          </a:bodyPr>
          <a:lstStyle/>
          <a:p>
            <a:pPr>
              <a:lnSpc>
                <a:spcPct val="130000"/>
              </a:lnSpc>
              <a:defRPr sz="1600">
                <a:solidFill>
                  <a:srgbClr val="0F172A"/>
                </a:solidFill>
              </a:defRPr>
            </a:pPr>
            <a:r>
              <a:t>Google has multiple revenue streams that contribute to its overall income. These include advertising on Google Search and other platforms, such as YouTube, Google Maps, and Google Play.</a:t>
            </a:r>
          </a:p>
        </p:txBody>
      </p:sp>
      <p:sp>
        <p:nvSpPr>
          <p:cNvPr id="5" name="Oval 4"/>
          <p:cNvSpPr/>
          <p:nvPr/>
        </p:nvSpPr>
        <p:spPr>
          <a:xfrm>
            <a:off x="502920" y="2423160"/>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377440"/>
            <a:ext cx="7589520" cy="868680"/>
          </a:xfrm>
          <a:prstGeom prst="rect">
            <a:avLst/>
          </a:prstGeom>
          <a:noFill/>
        </p:spPr>
        <p:txBody>
          <a:bodyPr wrap="square">
            <a:spAutoFit/>
          </a:bodyPr>
          <a:lstStyle/>
          <a:p>
            <a:pPr>
              <a:lnSpc>
                <a:spcPct val="130000"/>
              </a:lnSpc>
              <a:defRPr sz="1600">
                <a:solidFill>
                  <a:srgbClr val="0F172A"/>
                </a:solidFill>
              </a:defRPr>
            </a:pPr>
            <a:r>
              <a:t>Advertising: Google Search</a:t>
            </a:r>
          </a:p>
        </p:txBody>
      </p:sp>
      <p:sp>
        <p:nvSpPr>
          <p:cNvPr id="7" name="Oval 6"/>
          <p:cNvSpPr/>
          <p:nvPr/>
        </p:nvSpPr>
        <p:spPr>
          <a:xfrm>
            <a:off x="502920" y="3172968"/>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127248"/>
            <a:ext cx="7589520" cy="868680"/>
          </a:xfrm>
          <a:prstGeom prst="rect">
            <a:avLst/>
          </a:prstGeom>
          <a:noFill/>
        </p:spPr>
        <p:txBody>
          <a:bodyPr wrap="square">
            <a:spAutoFit/>
          </a:bodyPr>
          <a:lstStyle/>
          <a:p>
            <a:pPr>
              <a:lnSpc>
                <a:spcPct val="130000"/>
              </a:lnSpc>
              <a:defRPr sz="1600">
                <a:solidFill>
                  <a:srgbClr val="0F172A"/>
                </a:solidFill>
              </a:defRPr>
            </a:pPr>
            <a:r>
              <a:t>YouTube advertising</a:t>
            </a:r>
          </a:p>
        </p:txBody>
      </p:sp>
      <p:sp>
        <p:nvSpPr>
          <p:cNvPr id="9" name="Oval 8"/>
          <p:cNvSpPr/>
          <p:nvPr/>
        </p:nvSpPr>
        <p:spPr>
          <a:xfrm>
            <a:off x="502920" y="3922776"/>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877056"/>
            <a:ext cx="7589520" cy="868680"/>
          </a:xfrm>
          <a:prstGeom prst="rect">
            <a:avLst/>
          </a:prstGeom>
          <a:noFill/>
        </p:spPr>
        <p:txBody>
          <a:bodyPr wrap="square">
            <a:spAutoFit/>
          </a:bodyPr>
          <a:lstStyle/>
          <a:p>
            <a:pPr>
              <a:lnSpc>
                <a:spcPct val="130000"/>
              </a:lnSpc>
              <a:defRPr sz="1600">
                <a:solidFill>
                  <a:srgbClr val="0F172A"/>
                </a:solidFill>
              </a:defRPr>
            </a:pPr>
            <a:r>
              <a:t>Google Maps advertising</a:t>
            </a:r>
          </a:p>
        </p:txBody>
      </p:sp>
      <p:sp>
        <p:nvSpPr>
          <p:cNvPr id="11" name="Oval 10"/>
          <p:cNvSpPr/>
          <p:nvPr/>
        </p:nvSpPr>
        <p:spPr>
          <a:xfrm>
            <a:off x="502920" y="4672584"/>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626864"/>
            <a:ext cx="7589520" cy="868680"/>
          </a:xfrm>
          <a:prstGeom prst="rect">
            <a:avLst/>
          </a:prstGeom>
          <a:noFill/>
        </p:spPr>
        <p:txBody>
          <a:bodyPr wrap="square">
            <a:spAutoFit/>
          </a:bodyPr>
          <a:lstStyle/>
          <a:p>
            <a:pPr>
              <a:lnSpc>
                <a:spcPct val="130000"/>
              </a:lnSpc>
              <a:defRPr sz="1600">
                <a:solidFill>
                  <a:srgbClr val="0F172A"/>
                </a:solidFill>
              </a:defRPr>
            </a:pPr>
            <a:r>
              <a:t>Cloud Computing: GCP</a:t>
            </a:r>
          </a:p>
        </p:txBody>
      </p:sp>
      <p:sp>
        <p:nvSpPr>
          <p:cNvPr id="13" name="Rectangle 12"/>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Google's Revenue Growth</a:t>
            </a:r>
          </a:p>
        </p:txBody>
      </p:sp>
      <p:sp>
        <p:nvSpPr>
          <p:cNvPr id="15" name="TextBox 14"/>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Challenges and Opportunities</a:t>
            </a:r>
          </a:p>
        </p:txBody>
      </p:sp>
      <p:sp>
        <p:nvSpPr>
          <p:cNvPr id="4" name="TextBox 3"/>
          <p:cNvSpPr txBox="1"/>
          <p:nvPr/>
        </p:nvSpPr>
        <p:spPr>
          <a:xfrm>
            <a:off x="457200" y="1417320"/>
            <a:ext cx="4114800" cy="1600200"/>
          </a:xfrm>
          <a:prstGeom prst="rect">
            <a:avLst/>
          </a:prstGeom>
          <a:noFill/>
        </p:spPr>
        <p:txBody>
          <a:bodyPr wrap="square">
            <a:spAutoFit/>
          </a:bodyPr>
          <a:lstStyle/>
          <a:p>
            <a:pPr>
              <a:lnSpc>
                <a:spcPct val="130000"/>
              </a:lnSpc>
              <a:defRPr sz="1400">
                <a:solidFill>
                  <a:srgbClr val="0F172A"/>
                </a:solidFill>
              </a:defRPr>
            </a:pPr>
            <a:r>
              <a:t>Despite its success, Google faces challenges from emerging technologies such as artificial intelligence (AI) and the rise of social media platforms. However, these trends also present opportunities for the company to diversify its revenue streams and expand its services.</a:t>
            </a:r>
          </a:p>
        </p:txBody>
      </p:sp>
      <p:sp>
        <p:nvSpPr>
          <p:cNvPr id="5" name="Oval 4"/>
          <p:cNvSpPr/>
          <p:nvPr/>
        </p:nvSpPr>
        <p:spPr>
          <a:xfrm>
            <a:off x="457200" y="339242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3337560"/>
            <a:ext cx="3858768" cy="658368"/>
          </a:xfrm>
          <a:prstGeom prst="rect">
            <a:avLst/>
          </a:prstGeom>
          <a:noFill/>
        </p:spPr>
        <p:txBody>
          <a:bodyPr wrap="square">
            <a:spAutoFit/>
          </a:bodyPr>
          <a:lstStyle/>
          <a:p>
            <a:pPr>
              <a:lnSpc>
                <a:spcPct val="130000"/>
              </a:lnSpc>
              <a:defRPr sz="1500">
                <a:solidFill>
                  <a:srgbClr val="0F172A"/>
                </a:solidFill>
              </a:defRPr>
            </a:pPr>
            <a:r>
              <a:t>Artificial Intelligence: competition</a:t>
            </a:r>
          </a:p>
        </p:txBody>
      </p:sp>
      <p:sp>
        <p:nvSpPr>
          <p:cNvPr id="7" name="Oval 6"/>
          <p:cNvSpPr/>
          <p:nvPr/>
        </p:nvSpPr>
        <p:spPr>
          <a:xfrm>
            <a:off x="457200" y="412394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4069080"/>
            <a:ext cx="3858768" cy="658368"/>
          </a:xfrm>
          <a:prstGeom prst="rect">
            <a:avLst/>
          </a:prstGeom>
          <a:noFill/>
        </p:spPr>
        <p:txBody>
          <a:bodyPr wrap="square">
            <a:spAutoFit/>
          </a:bodyPr>
          <a:lstStyle/>
          <a:p>
            <a:pPr>
              <a:lnSpc>
                <a:spcPct val="130000"/>
              </a:lnSpc>
              <a:defRPr sz="1500">
                <a:solidFill>
                  <a:srgbClr val="0F172A"/>
                </a:solidFill>
              </a:defRPr>
            </a:pPr>
            <a:r>
              <a:t>Social Media: new advertising channels</a:t>
            </a:r>
          </a:p>
        </p:txBody>
      </p:sp>
      <p:sp>
        <p:nvSpPr>
          <p:cNvPr id="9" name="Oval 8"/>
          <p:cNvSpPr/>
          <p:nvPr/>
        </p:nvSpPr>
        <p:spPr>
          <a:xfrm>
            <a:off x="457200" y="485546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4800600"/>
            <a:ext cx="3858768" cy="658368"/>
          </a:xfrm>
          <a:prstGeom prst="rect">
            <a:avLst/>
          </a:prstGeom>
          <a:noFill/>
        </p:spPr>
        <p:txBody>
          <a:bodyPr wrap="square">
            <a:spAutoFit/>
          </a:bodyPr>
          <a:lstStyle/>
          <a:p>
            <a:pPr>
              <a:lnSpc>
                <a:spcPct val="130000"/>
              </a:lnSpc>
              <a:defRPr sz="1500">
                <a:solidFill>
                  <a:srgbClr val="0F172A"/>
                </a:solidFill>
              </a:defRPr>
            </a:pPr>
            <a:r>
              <a:t>Diversification opportunities</a:t>
            </a:r>
          </a:p>
        </p:txBody>
      </p:sp>
      <p:sp>
        <p:nvSpPr>
          <p:cNvPr id="11" name="Oval 10"/>
          <p:cNvSpPr/>
          <p:nvPr/>
        </p:nvSpPr>
        <p:spPr>
          <a:xfrm>
            <a:off x="457200" y="5586983"/>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5532120"/>
            <a:ext cx="3858768" cy="658368"/>
          </a:xfrm>
          <a:prstGeom prst="rect">
            <a:avLst/>
          </a:prstGeom>
          <a:noFill/>
        </p:spPr>
        <p:txBody>
          <a:bodyPr wrap="square">
            <a:spAutoFit/>
          </a:bodyPr>
          <a:lstStyle/>
          <a:p>
            <a:pPr>
              <a:lnSpc>
                <a:spcPct val="130000"/>
              </a:lnSpc>
              <a:defRPr sz="1500">
                <a:solidFill>
                  <a:srgbClr val="0F172A"/>
                </a:solidFill>
              </a:defRPr>
            </a:pPr>
            <a:r>
              <a:t>Expansion into new markets</a:t>
            </a:r>
          </a:p>
        </p:txBody>
      </p:sp>
      <p:pic>
        <p:nvPicPr>
          <p:cNvPr id="13" name="Picture 12" descr="unsplash__vz9pFWoNjc.jpg"/>
          <p:cNvPicPr>
            <a:picLocks noChangeAspect="1"/>
          </p:cNvPicPr>
          <p:nvPr/>
        </p:nvPicPr>
        <p:blipFill>
          <a:blip r:embed="rId2"/>
          <a:stretch>
            <a:fillRect/>
          </a:stretch>
        </p:blipFill>
        <p:spPr>
          <a:xfrm>
            <a:off x="4754880" y="1280160"/>
            <a:ext cx="3840480" cy="4937760"/>
          </a:xfrm>
          <a:prstGeom prst="rect">
            <a:avLst/>
          </a:prstGeom>
        </p:spPr>
      </p:pic>
      <p:sp>
        <p:nvSpPr>
          <p:cNvPr id="14" name="Rectangle 13"/>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Google's Revenue Growth</a:t>
            </a:r>
          </a:p>
        </p:txBody>
      </p:sp>
      <p:sp>
        <p:nvSpPr>
          <p:cNvPr id="16" name="TextBox 15"/>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ctr">
              <a:defRPr sz="3200" b="1">
                <a:solidFill>
                  <a:srgbClr val="1E40AF"/>
                </a:solidFill>
              </a:defRPr>
            </a:pPr>
            <a:r>
              <a:t>Conclusion: Google's Revenue Growth</a:t>
            </a:r>
          </a:p>
        </p:txBody>
      </p:sp>
      <p:sp>
        <p:nvSpPr>
          <p:cNvPr id="4" name="Rectangle 3"/>
          <p:cNvSpPr/>
          <p:nvPr/>
        </p:nvSpPr>
        <p:spPr>
          <a:xfrm>
            <a:off x="32004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88720"/>
            <a:ext cx="2560320" cy="548640"/>
          </a:xfrm>
          <a:prstGeom prst="rect">
            <a:avLst/>
          </a:prstGeom>
          <a:noFill/>
        </p:spPr>
        <p:txBody>
          <a:bodyPr wrap="square">
            <a:spAutoFit/>
          </a:bodyPr>
          <a:lstStyle/>
          <a:p>
            <a:pPr algn="ctr">
              <a:defRPr sz="1400" b="1">
                <a:solidFill>
                  <a:srgbClr val="F59E0B"/>
                </a:solidFill>
              </a:defRPr>
            </a:pPr>
            <a:r>
              <a:t>What We</a:t>
            </a:r>
            <a:br/>
            <a:r>
              <a:t>Learned</a:t>
            </a:r>
          </a:p>
        </p:txBody>
      </p:sp>
      <p:sp>
        <p:nvSpPr>
          <p:cNvPr id="7" name="TextBox 6"/>
          <p:cNvSpPr txBox="1"/>
          <p:nvPr/>
        </p:nvSpPr>
        <p:spPr>
          <a:xfrm>
            <a:off x="8229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Impressive revenue growth</a:t>
            </a:r>
          </a:p>
        </p:txBody>
      </p:sp>
      <p:sp>
        <p:nvSpPr>
          <p:cNvPr id="8" name="TextBox 7"/>
          <p:cNvSpPr txBox="1"/>
          <p:nvPr/>
        </p:nvSpPr>
        <p:spPr>
          <a:xfrm>
            <a:off x="3474720" y="1188720"/>
            <a:ext cx="2560320" cy="548640"/>
          </a:xfrm>
          <a:prstGeom prst="rect">
            <a:avLst/>
          </a:prstGeom>
          <a:noFill/>
        </p:spPr>
        <p:txBody>
          <a:bodyPr wrap="square">
            <a:spAutoFit/>
          </a:bodyPr>
          <a:lstStyle/>
          <a:p>
            <a:pPr algn="ctr">
              <a:defRPr sz="1400" b="1">
                <a:solidFill>
                  <a:srgbClr val="F59E0B"/>
                </a:solidFill>
              </a:defRPr>
            </a:pPr>
            <a:r>
              <a:t>Key</a:t>
            </a:r>
            <a:br/>
            <a:r>
              <a:t>Actions</a:t>
            </a:r>
          </a:p>
        </p:txBody>
      </p:sp>
      <p:sp>
        <p:nvSpPr>
          <p:cNvPr id="9" name="TextBox 8"/>
          <p:cNvSpPr txBox="1"/>
          <p:nvPr/>
        </p:nvSpPr>
        <p:spPr>
          <a:xfrm>
            <a:off x="35661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Diversified revenue streams</a:t>
            </a:r>
          </a:p>
        </p:txBody>
      </p:sp>
      <p:sp>
        <p:nvSpPr>
          <p:cNvPr id="10" name="TextBox 9"/>
          <p:cNvSpPr txBox="1"/>
          <p:nvPr/>
        </p:nvSpPr>
        <p:spPr>
          <a:xfrm>
            <a:off x="6217920" y="1188720"/>
            <a:ext cx="2560320" cy="548640"/>
          </a:xfrm>
          <a:prstGeom prst="rect">
            <a:avLst/>
          </a:prstGeom>
          <a:noFill/>
        </p:spPr>
        <p:txBody>
          <a:bodyPr wrap="square">
            <a:spAutoFit/>
          </a:bodyPr>
          <a:lstStyle/>
          <a:p>
            <a:pPr algn="ctr">
              <a:defRPr sz="1400" b="1">
                <a:solidFill>
                  <a:srgbClr val="F59E0B"/>
                </a:solidFill>
              </a:defRPr>
            </a:pPr>
            <a:r>
              <a:t>What's</a:t>
            </a:r>
            <a:br/>
            <a:r>
              <a:t>Next</a:t>
            </a:r>
          </a:p>
        </p:txBody>
      </p:sp>
      <p:sp>
        <p:nvSpPr>
          <p:cNvPr id="11" name="TextBox 10"/>
          <p:cNvSpPr txBox="1"/>
          <p:nvPr/>
        </p:nvSpPr>
        <p:spPr>
          <a:xfrm>
            <a:off x="6309359"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Adaptability drives success</a:t>
            </a:r>
          </a:p>
          <a:p>
            <a:pPr>
              <a:lnSpc>
                <a:spcPct val="120000"/>
              </a:lnSpc>
              <a:spcBef>
                <a:spcPts val="600"/>
              </a:spcBef>
              <a:spcAft>
                <a:spcPts val="600"/>
              </a:spcAft>
              <a:defRPr sz="1200">
                <a:solidFill>
                  <a:srgbClr val="0F172A"/>
                </a:solidFill>
              </a:defRPr>
            </a:pPr>
            <a:r>
              <a:t>• Well-positioned for future growth</a:t>
            </a:r>
          </a:p>
          <a:p>
            <a:pPr>
              <a:lnSpc>
                <a:spcPct val="120000"/>
              </a:lnSpc>
              <a:spcBef>
                <a:spcPts val="600"/>
              </a:spcBef>
              <a:spcAft>
                <a:spcPts val="600"/>
              </a:spcAft>
              <a:defRPr sz="1200">
                <a:solidFill>
                  <a:srgbClr val="0F172A"/>
                </a:solidFill>
              </a:defRPr>
            </a:pPr>
            <a:r>
              <a:t>• Continuous innovation</a:t>
            </a:r>
          </a:p>
        </p:txBody>
      </p:sp>
      <p:sp>
        <p:nvSpPr>
          <p:cNvPr id="12" name="Rectangle 11"/>
          <p:cNvSpPr/>
          <p:nvPr/>
        </p:nvSpPr>
        <p:spPr>
          <a:xfrm>
            <a:off x="457200" y="5120640"/>
            <a:ext cx="822960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5303520"/>
            <a:ext cx="8229600" cy="457200"/>
          </a:xfrm>
          <a:prstGeom prst="rect">
            <a:avLst/>
          </a:prstGeom>
          <a:noFill/>
        </p:spPr>
        <p:txBody>
          <a:bodyPr wrap="none">
            <a:spAutoFit/>
          </a:bodyPr>
          <a:lstStyle/>
          <a:p>
            <a:pPr algn="ctr">
              <a:defRPr sz="1100">
                <a:solidFill>
                  <a:srgbClr val="64748B"/>
                </a:solidFill>
              </a:defRPr>
            </a:pPr>
            <a:r>
              <a:t>Thank you for your attention | Questions?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256032"/>
            <a:ext cx="9144000" cy="54864"/>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9184"/>
            <a:ext cx="8229600" cy="658368"/>
          </a:xfrm>
          <a:prstGeom prst="rect">
            <a:avLst/>
          </a:prstGeom>
          <a:noFill/>
        </p:spPr>
        <p:txBody>
          <a:bodyPr wrap="square">
            <a:spAutoFit/>
          </a:bodyPr>
          <a:lstStyle/>
          <a:p>
            <a:pPr>
              <a:defRPr sz="2600" b="1">
                <a:solidFill>
                  <a:srgbClr val="1E40AF"/>
                </a:solidFill>
              </a:defRPr>
            </a:pPr>
            <a:r>
              <a:t>Presentation Flow</a:t>
            </a:r>
          </a:p>
        </p:txBody>
      </p:sp>
      <p:cxnSp>
        <p:nvCxnSpPr>
          <p:cNvPr id="900" name="DiagConnector"/>
          <p:cNvCxnSpPr/>
          <p:nvPr/>
        </p:nvCxnSpPr>
        <p:spPr>
          <a:xfrm>
            <a:off x="758952" y="1444752"/>
            <a:ext cx="5029200" cy="2743200"/>
          </a:xfrm>
          <a:prstGeom prst="line">
            <a:avLst/>
          </a:prstGeom>
          <a:ln w="18000">
            <a:solidFill>
              <a:srgbClr val="CBD5E1"/>
            </a:solidFill>
            <a:prstDash val="sysDash"/>
          </a:ln>
        </p:spPr>
      </p:cxnSp>
      <p:sp>
        <p:nvSpPr>
          <p:cNvPr id="901" name="Rectangle 900"/>
          <p:cNvSpPr/>
          <p:nvPr/>
        </p:nvSpPr>
        <p:spPr>
          <a:xfrm>
            <a:off x="557784" y="11521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Rectangle 901"/>
          <p:cNvSpPr/>
          <p:nvPr/>
        </p:nvSpPr>
        <p:spPr>
          <a:xfrm>
            <a:off x="502920" y="10972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Rectangle 902"/>
          <p:cNvSpPr/>
          <p:nvPr/>
        </p:nvSpPr>
        <p:spPr>
          <a:xfrm>
            <a:off x="502920" y="10972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Oval 903"/>
          <p:cNvSpPr/>
          <p:nvPr/>
        </p:nvSpPr>
        <p:spPr>
          <a:xfrm>
            <a:off x="502920" y="11887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1</a:t>
            </a:r>
          </a:p>
        </p:txBody>
      </p:sp>
      <p:sp>
        <p:nvSpPr>
          <p:cNvPr id="905" name="TextBox 904"/>
          <p:cNvSpPr txBox="1"/>
          <p:nvPr/>
        </p:nvSpPr>
        <p:spPr>
          <a:xfrm>
            <a:off x="1271016" y="1261872"/>
            <a:ext cx="2176272" cy="384048"/>
          </a:xfrm>
          <a:prstGeom prst="rect">
            <a:avLst/>
          </a:prstGeom>
          <a:noFill/>
        </p:spPr>
        <p:txBody>
          <a:bodyPr wrap="square">
            <a:spAutoFit/>
          </a:bodyPr>
          <a:lstStyle/>
          <a:p>
            <a:pPr>
              <a:defRPr sz="1400" b="1">
                <a:solidFill>
                  <a:srgbClr val="1E40AF"/>
                </a:solidFill>
              </a:defRPr>
            </a:pPr>
            <a:r>
              <a:t>Introduction to Google's Revenue</a:t>
            </a:r>
          </a:p>
        </p:txBody>
      </p:sp>
      <p:sp>
        <p:nvSpPr>
          <p:cNvPr id="906" name="Rectangle 905"/>
          <p:cNvSpPr/>
          <p:nvPr/>
        </p:nvSpPr>
        <p:spPr>
          <a:xfrm>
            <a:off x="667512" y="17007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TextBox 906"/>
          <p:cNvSpPr txBox="1"/>
          <p:nvPr/>
        </p:nvSpPr>
        <p:spPr>
          <a:xfrm>
            <a:off x="704088" y="17739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Founded in 1998</a:t>
            </a:r>
          </a:p>
          <a:p>
            <a:pPr>
              <a:lnSpc>
                <a:spcPct val="120000"/>
              </a:lnSpc>
              <a:spcBef>
                <a:spcPts val="300"/>
              </a:spcBef>
              <a:spcAft>
                <a:spcPts val="300"/>
              </a:spcAft>
              <a:defRPr sz="1100">
                <a:solidFill>
                  <a:srgbClr val="64748B"/>
                </a:solidFill>
              </a:defRPr>
            </a:pPr>
            <a:r>
              <a:t>• Primary source: Advertising</a:t>
            </a:r>
          </a:p>
          <a:p>
            <a:pPr>
              <a:lnSpc>
                <a:spcPct val="120000"/>
              </a:lnSpc>
              <a:spcBef>
                <a:spcPts val="300"/>
              </a:spcBef>
              <a:spcAft>
                <a:spcPts val="300"/>
              </a:spcAft>
              <a:defRPr sz="1100">
                <a:solidFill>
                  <a:srgbClr val="64748B"/>
                </a:solidFill>
              </a:defRPr>
            </a:pPr>
            <a:r>
              <a:t>• Diversified revenue streams</a:t>
            </a:r>
          </a:p>
        </p:txBody>
      </p:sp>
      <p:sp>
        <p:nvSpPr>
          <p:cNvPr id="908" name="Rectangle 907"/>
          <p:cNvSpPr/>
          <p:nvPr/>
        </p:nvSpPr>
        <p:spPr>
          <a:xfrm>
            <a:off x="3072384" y="25237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Rectangle 908"/>
          <p:cNvSpPr/>
          <p:nvPr/>
        </p:nvSpPr>
        <p:spPr>
          <a:xfrm>
            <a:off x="3017520" y="24688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Rectangle 909"/>
          <p:cNvSpPr/>
          <p:nvPr/>
        </p:nvSpPr>
        <p:spPr>
          <a:xfrm>
            <a:off x="3017520" y="24688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Oval 910"/>
          <p:cNvSpPr/>
          <p:nvPr/>
        </p:nvSpPr>
        <p:spPr>
          <a:xfrm>
            <a:off x="3017520" y="25603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2</a:t>
            </a:r>
          </a:p>
        </p:txBody>
      </p:sp>
      <p:sp>
        <p:nvSpPr>
          <p:cNvPr id="912" name="TextBox 911"/>
          <p:cNvSpPr txBox="1"/>
          <p:nvPr/>
        </p:nvSpPr>
        <p:spPr>
          <a:xfrm>
            <a:off x="3785615" y="2633472"/>
            <a:ext cx="2176272" cy="384048"/>
          </a:xfrm>
          <a:prstGeom prst="rect">
            <a:avLst/>
          </a:prstGeom>
          <a:noFill/>
        </p:spPr>
        <p:txBody>
          <a:bodyPr wrap="square">
            <a:spAutoFit/>
          </a:bodyPr>
          <a:lstStyle/>
          <a:p>
            <a:pPr>
              <a:defRPr sz="1400" b="1">
                <a:solidFill>
                  <a:srgbClr val="1E40AF"/>
                </a:solidFill>
              </a:defRPr>
            </a:pPr>
            <a:r>
              <a:t>Google's Revenue Breakdown</a:t>
            </a:r>
          </a:p>
        </p:txBody>
      </p:sp>
      <p:sp>
        <p:nvSpPr>
          <p:cNvPr id="913" name="Rectangle 912"/>
          <p:cNvSpPr/>
          <p:nvPr/>
        </p:nvSpPr>
        <p:spPr>
          <a:xfrm>
            <a:off x="3182112" y="30723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TextBox 913"/>
          <p:cNvSpPr txBox="1"/>
          <p:nvPr/>
        </p:nvSpPr>
        <p:spPr>
          <a:xfrm>
            <a:off x="3218688" y="31455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Advertising: 99% of revenue</a:t>
            </a:r>
          </a:p>
          <a:p>
            <a:pPr>
              <a:lnSpc>
                <a:spcPct val="120000"/>
              </a:lnSpc>
              <a:spcBef>
                <a:spcPts val="300"/>
              </a:spcBef>
              <a:spcAft>
                <a:spcPts val="300"/>
              </a:spcAft>
              <a:defRPr sz="1100">
                <a:solidFill>
                  <a:srgbClr val="64748B"/>
                </a:solidFill>
              </a:defRPr>
            </a:pPr>
            <a:r>
              <a:t>• Google Ads (AdWords) dominant</a:t>
            </a:r>
          </a:p>
          <a:p>
            <a:pPr>
              <a:lnSpc>
                <a:spcPct val="120000"/>
              </a:lnSpc>
              <a:spcBef>
                <a:spcPts val="300"/>
              </a:spcBef>
              <a:spcAft>
                <a:spcPts val="300"/>
              </a:spcAft>
              <a:defRPr sz="1100">
                <a:solidFill>
                  <a:srgbClr val="64748B"/>
                </a:solidFill>
              </a:defRPr>
            </a:pPr>
            <a:r>
              <a:t>• Google AdSense growing</a:t>
            </a:r>
          </a:p>
        </p:txBody>
      </p:sp>
      <p:sp>
        <p:nvSpPr>
          <p:cNvPr id="915" name="Rectangle 914"/>
          <p:cNvSpPr/>
          <p:nvPr/>
        </p:nvSpPr>
        <p:spPr>
          <a:xfrm>
            <a:off x="5586983" y="38953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Rectangle 915"/>
          <p:cNvSpPr/>
          <p:nvPr/>
        </p:nvSpPr>
        <p:spPr>
          <a:xfrm>
            <a:off x="5532120" y="38404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Rectangle 916"/>
          <p:cNvSpPr/>
          <p:nvPr/>
        </p:nvSpPr>
        <p:spPr>
          <a:xfrm>
            <a:off x="5532120" y="38404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Oval 917"/>
          <p:cNvSpPr/>
          <p:nvPr/>
        </p:nvSpPr>
        <p:spPr>
          <a:xfrm>
            <a:off x="5532120" y="39319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3</a:t>
            </a:r>
          </a:p>
        </p:txBody>
      </p:sp>
      <p:sp>
        <p:nvSpPr>
          <p:cNvPr id="919" name="TextBox 918"/>
          <p:cNvSpPr txBox="1"/>
          <p:nvPr/>
        </p:nvSpPr>
        <p:spPr>
          <a:xfrm>
            <a:off x="6300215" y="4005072"/>
            <a:ext cx="2176272" cy="384048"/>
          </a:xfrm>
          <a:prstGeom prst="rect">
            <a:avLst/>
          </a:prstGeom>
          <a:noFill/>
        </p:spPr>
        <p:txBody>
          <a:bodyPr wrap="square">
            <a:spAutoFit/>
          </a:bodyPr>
          <a:lstStyle/>
          <a:p>
            <a:pPr>
              <a:defRPr sz="1400" b="1">
                <a:solidFill>
                  <a:srgbClr val="1E40AF"/>
                </a:solidFill>
              </a:defRPr>
            </a:pPr>
            <a:r>
              <a:t>Google's Revenue Streams</a:t>
            </a:r>
          </a:p>
        </p:txBody>
      </p:sp>
      <p:sp>
        <p:nvSpPr>
          <p:cNvPr id="920" name="Rectangle 919"/>
          <p:cNvSpPr/>
          <p:nvPr/>
        </p:nvSpPr>
        <p:spPr>
          <a:xfrm>
            <a:off x="5696712" y="44439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TextBox 920"/>
          <p:cNvSpPr txBox="1"/>
          <p:nvPr/>
        </p:nvSpPr>
        <p:spPr>
          <a:xfrm>
            <a:off x="5733288" y="45171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Advertising: Google Search</a:t>
            </a:r>
          </a:p>
          <a:p>
            <a:pPr>
              <a:lnSpc>
                <a:spcPct val="120000"/>
              </a:lnSpc>
              <a:spcBef>
                <a:spcPts val="300"/>
              </a:spcBef>
              <a:spcAft>
                <a:spcPts val="300"/>
              </a:spcAft>
              <a:defRPr sz="1100">
                <a:solidFill>
                  <a:srgbClr val="64748B"/>
                </a:solidFill>
              </a:defRPr>
            </a:pPr>
            <a:r>
              <a:t>• YouTube advertising</a:t>
            </a:r>
          </a:p>
          <a:p>
            <a:pPr>
              <a:lnSpc>
                <a:spcPct val="120000"/>
              </a:lnSpc>
              <a:spcBef>
                <a:spcPts val="300"/>
              </a:spcBef>
              <a:spcAft>
                <a:spcPts val="300"/>
              </a:spcAft>
              <a:defRPr sz="1100">
                <a:solidFill>
                  <a:srgbClr val="64748B"/>
                </a:solidFill>
              </a:defRPr>
            </a:pPr>
            <a:r>
              <a:t>• Google Maps advertising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74320"/>
            <a:ext cx="8229600" cy="594360"/>
          </a:xfrm>
          <a:prstGeom prst="rect">
            <a:avLst/>
          </a:prstGeom>
          <a:noFill/>
        </p:spPr>
        <p:txBody>
          <a:bodyPr wrap="none">
            <a:spAutoFit/>
          </a:bodyPr>
          <a:lstStyle/>
          <a:p>
            <a:pPr algn="ctr">
              <a:defRPr sz="3200" b="1">
                <a:solidFill>
                  <a:srgbClr val="FFFFFF"/>
                </a:solidFill>
              </a:defRPr>
            </a:pPr>
            <a:r>
              <a:t>Key Takeaways</a:t>
            </a:r>
          </a:p>
        </p:txBody>
      </p:sp>
      <p:sp>
        <p:nvSpPr>
          <p:cNvPr id="3" name="Rectangle 2"/>
          <p:cNvSpPr/>
          <p:nvPr/>
        </p:nvSpPr>
        <p:spPr>
          <a:xfrm>
            <a:off x="3200400" y="896112"/>
            <a:ext cx="27432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0120" y="1097280"/>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 y="1051560"/>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15568" y="1293876"/>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1</a:t>
            </a:r>
          </a:p>
        </p:txBody>
      </p:sp>
      <p:sp>
        <p:nvSpPr>
          <p:cNvPr id="7" name="TextBox 6"/>
          <p:cNvSpPr txBox="1"/>
          <p:nvPr/>
        </p:nvSpPr>
        <p:spPr>
          <a:xfrm>
            <a:off x="1554480" y="1216151"/>
            <a:ext cx="6565392" cy="457200"/>
          </a:xfrm>
          <a:prstGeom prst="rect">
            <a:avLst/>
          </a:prstGeom>
          <a:noFill/>
        </p:spPr>
        <p:txBody>
          <a:bodyPr wrap="square">
            <a:spAutoFit/>
          </a:bodyPr>
          <a:lstStyle/>
          <a:p>
            <a:pPr>
              <a:lnSpc>
                <a:spcPct val="120000"/>
              </a:lnSpc>
              <a:defRPr sz="1600" b="1">
                <a:solidFill>
                  <a:srgbClr val="1E40AF"/>
                </a:solidFill>
              </a:defRPr>
            </a:pPr>
            <a:r>
              <a:t>Introduction to Google's Revenue</a:t>
            </a:r>
          </a:p>
        </p:txBody>
      </p:sp>
      <p:sp>
        <p:nvSpPr>
          <p:cNvPr id="8" name="Rectangle 7"/>
          <p:cNvSpPr/>
          <p:nvPr/>
        </p:nvSpPr>
        <p:spPr>
          <a:xfrm>
            <a:off x="960120" y="1984248"/>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1938528"/>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5568" y="2180844"/>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2</a:t>
            </a:r>
          </a:p>
        </p:txBody>
      </p:sp>
      <p:sp>
        <p:nvSpPr>
          <p:cNvPr id="11" name="TextBox 10"/>
          <p:cNvSpPr txBox="1"/>
          <p:nvPr/>
        </p:nvSpPr>
        <p:spPr>
          <a:xfrm>
            <a:off x="1554480" y="2103120"/>
            <a:ext cx="6565392" cy="457200"/>
          </a:xfrm>
          <a:prstGeom prst="rect">
            <a:avLst/>
          </a:prstGeom>
          <a:noFill/>
        </p:spPr>
        <p:txBody>
          <a:bodyPr wrap="square">
            <a:spAutoFit/>
          </a:bodyPr>
          <a:lstStyle/>
          <a:p>
            <a:pPr>
              <a:lnSpc>
                <a:spcPct val="120000"/>
              </a:lnSpc>
              <a:defRPr sz="1600" b="1">
                <a:solidFill>
                  <a:srgbClr val="1E40AF"/>
                </a:solidFill>
              </a:defRPr>
            </a:pPr>
            <a:r>
              <a:t>Google's Revenue Breakdown</a:t>
            </a:r>
          </a:p>
        </p:txBody>
      </p:sp>
      <p:sp>
        <p:nvSpPr>
          <p:cNvPr id="12" name="Rectangle 11"/>
          <p:cNvSpPr/>
          <p:nvPr/>
        </p:nvSpPr>
        <p:spPr>
          <a:xfrm>
            <a:off x="960120" y="2871215"/>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2825496"/>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15568" y="3067812"/>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3</a:t>
            </a:r>
          </a:p>
        </p:txBody>
      </p:sp>
      <p:sp>
        <p:nvSpPr>
          <p:cNvPr id="15" name="TextBox 14"/>
          <p:cNvSpPr txBox="1"/>
          <p:nvPr/>
        </p:nvSpPr>
        <p:spPr>
          <a:xfrm>
            <a:off x="1554480" y="2990088"/>
            <a:ext cx="6565392" cy="457200"/>
          </a:xfrm>
          <a:prstGeom prst="rect">
            <a:avLst/>
          </a:prstGeom>
          <a:noFill/>
        </p:spPr>
        <p:txBody>
          <a:bodyPr wrap="square">
            <a:spAutoFit/>
          </a:bodyPr>
          <a:lstStyle/>
          <a:p>
            <a:pPr>
              <a:lnSpc>
                <a:spcPct val="120000"/>
              </a:lnSpc>
              <a:defRPr sz="1600" b="1">
                <a:solidFill>
                  <a:srgbClr val="1E40AF"/>
                </a:solidFill>
              </a:defRPr>
            </a:pPr>
            <a:r>
              <a:t>Google's Revenue Streams</a:t>
            </a:r>
          </a:p>
        </p:txBody>
      </p:sp>
      <p:sp>
        <p:nvSpPr>
          <p:cNvPr id="16" name="Rectangle 15"/>
          <p:cNvSpPr/>
          <p:nvPr/>
        </p:nvSpPr>
        <p:spPr>
          <a:xfrm>
            <a:off x="960120" y="3758184"/>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400" y="3712464"/>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15568" y="3954780"/>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4</a:t>
            </a:r>
          </a:p>
        </p:txBody>
      </p:sp>
      <p:sp>
        <p:nvSpPr>
          <p:cNvPr id="19" name="TextBox 18"/>
          <p:cNvSpPr txBox="1"/>
          <p:nvPr/>
        </p:nvSpPr>
        <p:spPr>
          <a:xfrm>
            <a:off x="1554480" y="3877056"/>
            <a:ext cx="6565392" cy="457200"/>
          </a:xfrm>
          <a:prstGeom prst="rect">
            <a:avLst/>
          </a:prstGeom>
          <a:noFill/>
        </p:spPr>
        <p:txBody>
          <a:bodyPr wrap="square">
            <a:spAutoFit/>
          </a:bodyPr>
          <a:lstStyle/>
          <a:p>
            <a:pPr>
              <a:lnSpc>
                <a:spcPct val="120000"/>
              </a:lnSpc>
              <a:defRPr sz="1600" b="1">
                <a:solidFill>
                  <a:srgbClr val="1E40AF"/>
                </a:solidFill>
              </a:defRPr>
            </a:pPr>
            <a:r>
              <a:t>Challenges and Opportunities</a:t>
            </a:r>
          </a:p>
        </p:txBody>
      </p:sp>
      <p:sp>
        <p:nvSpPr>
          <p:cNvPr id="20" name="Rectangle 19"/>
          <p:cNvSpPr/>
          <p:nvPr/>
        </p:nvSpPr>
        <p:spPr>
          <a:xfrm>
            <a:off x="960120" y="4645151"/>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4400" y="4599431"/>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15568" y="4841747"/>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5</a:t>
            </a:r>
          </a:p>
        </p:txBody>
      </p:sp>
      <p:sp>
        <p:nvSpPr>
          <p:cNvPr id="23" name="TextBox 22"/>
          <p:cNvSpPr txBox="1"/>
          <p:nvPr/>
        </p:nvSpPr>
        <p:spPr>
          <a:xfrm>
            <a:off x="1554480" y="4764023"/>
            <a:ext cx="6565392" cy="457200"/>
          </a:xfrm>
          <a:prstGeom prst="rect">
            <a:avLst/>
          </a:prstGeom>
          <a:noFill/>
        </p:spPr>
        <p:txBody>
          <a:bodyPr wrap="square">
            <a:spAutoFit/>
          </a:bodyPr>
          <a:lstStyle/>
          <a:p>
            <a:pPr>
              <a:lnSpc>
                <a:spcPct val="120000"/>
              </a:lnSpc>
              <a:defRPr sz="1600" b="1">
                <a:solidFill>
                  <a:srgbClr val="1E40AF"/>
                </a:solidFill>
              </a:defRPr>
            </a:pPr>
            <a:r>
              <a:t>Conclusion: Google's Revenue Growth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