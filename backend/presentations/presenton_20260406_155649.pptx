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Market Share (%)</c:v>
                </c:pt>
              </c:strCache>
            </c:strRef>
          </c:tx>
          <c:cat>
            <c:strRef>
              <c:f>Sheet1!$A$2:$A$6</c:f>
              <c:strCache>
                <c:ptCount val="5"/>
                <c:pt idx="0">
                  <c:v>Oracle</c:v>
                </c:pt>
                <c:pt idx="1">
                  <c:v>SQL Server</c:v>
                </c:pt>
                <c:pt idx="2">
                  <c:v>PostgreSQL</c:v>
                </c:pt>
                <c:pt idx="3">
                  <c:v>MySQL</c:v>
                </c:pt>
                <c:pt idx="4">
                  <c:v>MariaDB</c:v>
                </c:pt>
              </c:strCache>
            </c:strRef>
          </c:cat>
          <c:val>
            <c:numRef>
              <c:f>Sheet1!$B$2:$B$6</c:f>
              <c:numCache>
                <c:formatCode>General</c:formatCode>
                <c:ptCount val="5"/>
                <c:pt idx="0">
                  <c:v>35</c:v>
                </c:pt>
                <c:pt idx="1">
                  <c:v>28</c:v>
                </c:pt>
                <c:pt idx="2">
                  <c:v>15</c:v>
                </c:pt>
                <c:pt idx="3">
                  <c:v>15</c:v>
                </c:pt>
                <c:pt idx="4">
                  <c:v>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Wireless Communication for 5G: Unlocking the Future of Connectivity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Introduction to 5G Wireless Communication - Market Share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5G Network Architecture</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The architecture of a 5G network is designed to support the high-speed, low-latency requirements of next-generation wireless communication. This slide will explore the key components of a 5G network, including the radio access network (RAN), core network, and edge computing.</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Overview of the RAN and its role in 5G</a:t>
            </a:r>
          </a:p>
          <a:p>
            <a:pPr>
              <a:lnSpc>
                <a:spcPct val="115000"/>
              </a:lnSpc>
              <a:spcBef>
                <a:spcPts val="200"/>
              </a:spcBef>
              <a:spcAft>
                <a:spcPts val="200"/>
              </a:spcAft>
              <a:defRPr sz="1500">
                <a:solidFill>
                  <a:srgbClr val="0F172A"/>
                </a:solidFill>
              </a:defRPr>
            </a:pPr>
            <a:r>
              <a:t>• Key functions of the core network</a:t>
            </a:r>
          </a:p>
          <a:p>
            <a:pPr>
              <a:lnSpc>
                <a:spcPct val="115000"/>
              </a:lnSpc>
              <a:spcBef>
                <a:spcPts val="200"/>
              </a:spcBef>
              <a:spcAft>
                <a:spcPts val="200"/>
              </a:spcAft>
              <a:defRPr sz="1500">
                <a:solidFill>
                  <a:srgbClr val="0F172A"/>
                </a:solidFill>
              </a:defRPr>
            </a:pPr>
            <a:r>
              <a:t>• Edge computing and its applications</a:t>
            </a:r>
          </a:p>
          <a:p>
            <a:pPr>
              <a:lnSpc>
                <a:spcPct val="115000"/>
              </a:lnSpc>
              <a:spcBef>
                <a:spcPts val="200"/>
              </a:spcBef>
              <a:spcAft>
                <a:spcPts val="200"/>
              </a:spcAft>
              <a:defRPr sz="1500">
                <a:solidFill>
                  <a:srgbClr val="0F172A"/>
                </a:solidFill>
              </a:defRPr>
            </a:pPr>
            <a:r>
              <a:t>• Network slicing and its benefits</a:t>
            </a:r>
          </a:p>
          <a:p>
            <a:pPr>
              <a:lnSpc>
                <a:spcPct val="115000"/>
              </a:lnSpc>
              <a:spcBef>
                <a:spcPts val="200"/>
              </a:spcBef>
              <a:spcAft>
                <a:spcPts val="200"/>
              </a:spcAft>
              <a:defRPr sz="1500">
                <a:solidFill>
                  <a:srgbClr val="0F172A"/>
                </a:solidFill>
              </a:defRPr>
            </a:pPr>
            <a:r>
              <a:t>• Interoperability and standardization efforts</a:t>
            </a:r>
          </a:p>
        </p:txBody>
      </p:sp>
      <p:pic>
        <p:nvPicPr>
          <p:cNvPr id="5" name="Picture 4" descr="picsum_slide_2_seed_551.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5G Wireless Technologies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This slide will delve into the wireless technologies that enable 5G's high-speed data transmission, including massive MIMO, beamforming, and millimeter wave (mmWave) technology.</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Massive MIMO: definition and benefits</a:t>
            </a:r>
          </a:p>
          <a:p>
            <a:pPr>
              <a:lnSpc>
                <a:spcPct val="120000"/>
              </a:lnSpc>
              <a:spcBef>
                <a:spcPts val="300"/>
              </a:spcBef>
              <a:spcAft>
                <a:spcPts val="300"/>
              </a:spcAft>
              <a:defRPr sz="1600">
                <a:solidFill>
                  <a:srgbClr val="0F172A"/>
                </a:solidFill>
              </a:defRPr>
            </a:pPr>
            <a:r>
              <a:t>• Beamforming: its role in improving signal quality</a:t>
            </a:r>
          </a:p>
          <a:p>
            <a:pPr>
              <a:lnSpc>
                <a:spcPct val="120000"/>
              </a:lnSpc>
              <a:spcBef>
                <a:spcPts val="300"/>
              </a:spcBef>
              <a:spcAft>
                <a:spcPts val="300"/>
              </a:spcAft>
              <a:defRPr sz="1600">
                <a:solidFill>
                  <a:srgbClr val="0F172A"/>
                </a:solidFill>
              </a:defRPr>
            </a:pPr>
            <a:r>
              <a:t>• mmWave technology: advantages and challenges</a:t>
            </a:r>
          </a:p>
          <a:p>
            <a:pPr>
              <a:lnSpc>
                <a:spcPct val="120000"/>
              </a:lnSpc>
              <a:spcBef>
                <a:spcPts val="300"/>
              </a:spcBef>
              <a:spcAft>
                <a:spcPts val="300"/>
              </a:spcAft>
              <a:defRPr sz="1600">
                <a:solidFill>
                  <a:srgbClr val="0F172A"/>
                </a:solidFill>
              </a:defRPr>
            </a:pPr>
            <a:r>
              <a:t>• Hybrid Beamforming: a combination of both</a:t>
            </a:r>
          </a:p>
          <a:p>
            <a:pPr>
              <a:lnSpc>
                <a:spcPct val="120000"/>
              </a:lnSpc>
              <a:spcBef>
                <a:spcPts val="300"/>
              </a:spcBef>
              <a:spcAft>
                <a:spcPts val="300"/>
              </a:spcAft>
              <a:defRPr sz="1600">
                <a:solidFill>
                  <a:srgbClr val="0F172A"/>
                </a:solidFill>
              </a:defRPr>
            </a:pPr>
            <a:r>
              <a:t>• Future directions for wireless technologies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Use Cases for 5G Wireless Communication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From smart cities to IoT applications, 5G wireless communication has the potential to revolutionize various industries. This slide will explore some of the key use cases that benefit from 5G's capabilities.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Smart cities and urban planning</a:t>
            </a:r>
          </a:p>
          <a:p>
            <a:pPr>
              <a:lnSpc>
                <a:spcPct val="120000"/>
              </a:lnSpc>
              <a:spcBef>
                <a:spcPts val="300"/>
              </a:spcBef>
              <a:spcAft>
                <a:spcPts val="300"/>
              </a:spcAft>
              <a:defRPr sz="1600">
                <a:solidFill>
                  <a:srgbClr val="0F172A"/>
                </a:solidFill>
              </a:defRPr>
            </a:pPr>
            <a:r>
              <a:t>• IoT applications: industrial automation and more</a:t>
            </a:r>
          </a:p>
          <a:p>
            <a:pPr>
              <a:lnSpc>
                <a:spcPct val="120000"/>
              </a:lnSpc>
              <a:spcBef>
                <a:spcPts val="300"/>
              </a:spcBef>
              <a:spcAft>
                <a:spcPts val="300"/>
              </a:spcAft>
              <a:defRPr sz="1600">
                <a:solidFill>
                  <a:srgbClr val="0F172A"/>
                </a:solidFill>
              </a:defRPr>
            </a:pPr>
            <a:r>
              <a:t>• Autonomous vehicles and mobility</a:t>
            </a:r>
          </a:p>
          <a:p>
            <a:pPr>
              <a:lnSpc>
                <a:spcPct val="120000"/>
              </a:lnSpc>
              <a:spcBef>
                <a:spcPts val="300"/>
              </a:spcBef>
              <a:spcAft>
                <a:spcPts val="300"/>
              </a:spcAft>
              <a:defRPr sz="1600">
                <a:solidFill>
                  <a:srgbClr val="0F172A"/>
                </a:solidFill>
              </a:defRPr>
            </a:pPr>
            <a:r>
              <a:t>• Remote healthcare and telemedicine</a:t>
            </a:r>
          </a:p>
          <a:p>
            <a:pPr>
              <a:lnSpc>
                <a:spcPct val="120000"/>
              </a:lnSpc>
              <a:spcBef>
                <a:spcPts val="300"/>
              </a:spcBef>
              <a:spcAft>
                <a:spcPts val="300"/>
              </a:spcAft>
              <a:defRPr sz="1600">
                <a:solidFill>
                  <a:srgbClr val="0F172A"/>
                </a:solidFill>
              </a:defRPr>
            </a:pPr>
            <a:r>
              <a:t>• Enhanced mobile broadband (eMBB) for consumers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Challenges and Future Directions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While 5G offers many advantages, there are still challenges to overcome before widespread adoption. This slide will discuss some of the key hurdles facing 5G implementation, as well as future directions for research and development.</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Spectrum allocation and management</a:t>
            </a:r>
          </a:p>
          <a:p>
            <a:pPr>
              <a:lnSpc>
                <a:spcPct val="115000"/>
              </a:lnSpc>
              <a:spcBef>
                <a:spcPts val="200"/>
              </a:spcBef>
              <a:spcAft>
                <a:spcPts val="200"/>
              </a:spcAft>
              <a:defRPr sz="1500">
                <a:solidFill>
                  <a:srgbClr val="0F172A"/>
                </a:solidFill>
              </a:defRPr>
            </a:pPr>
            <a:r>
              <a:t>• Network infrastructure costs and deployment</a:t>
            </a:r>
          </a:p>
          <a:p>
            <a:pPr>
              <a:lnSpc>
                <a:spcPct val="115000"/>
              </a:lnSpc>
              <a:spcBef>
                <a:spcPts val="200"/>
              </a:spcBef>
              <a:spcAft>
                <a:spcPts val="200"/>
              </a:spcAft>
              <a:defRPr sz="1500">
                <a:solidFill>
                  <a:srgbClr val="0F172A"/>
                </a:solidFill>
              </a:defRPr>
            </a:pPr>
            <a:r>
              <a:t>• Interoperability and standardization efforts</a:t>
            </a:r>
          </a:p>
          <a:p>
            <a:pPr>
              <a:lnSpc>
                <a:spcPct val="115000"/>
              </a:lnSpc>
              <a:spcBef>
                <a:spcPts val="200"/>
              </a:spcBef>
              <a:spcAft>
                <a:spcPts val="200"/>
              </a:spcAft>
              <a:defRPr sz="1500">
                <a:solidFill>
                  <a:srgbClr val="0F172A"/>
                </a:solidFill>
              </a:defRPr>
            </a:pPr>
            <a:r>
              <a:t>• Cybersecurity risks and mitigation strategies</a:t>
            </a:r>
          </a:p>
          <a:p>
            <a:pPr>
              <a:lnSpc>
                <a:spcPct val="115000"/>
              </a:lnSpc>
              <a:spcBef>
                <a:spcPts val="200"/>
              </a:spcBef>
              <a:spcAft>
                <a:spcPts val="200"/>
              </a:spcAft>
              <a:defRPr sz="1500">
                <a:solidFill>
                  <a:srgbClr val="0F172A"/>
                </a:solidFill>
              </a:defRPr>
            </a:pPr>
            <a:r>
              <a:t>• Emerging technologies like AI and blockchain</a:t>
            </a:r>
          </a:p>
        </p:txBody>
      </p:sp>
      <p:pic>
        <p:nvPicPr>
          <p:cNvPr id="5" name="Picture 4" descr="picsum_slide_5_seed_112.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Conclusion: The Future of Wireless Communication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In conclusion, 5G wireless communication represents a significant leap forward in connectivity. By understanding the key features, benefits, and challenges of 5G, we can unlock its potential to transform industries and improve our daily lives.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Summary of key takeaways from the presentation</a:t>
            </a:r>
          </a:p>
          <a:p>
            <a:pPr>
              <a:lnSpc>
                <a:spcPct val="120000"/>
              </a:lnSpc>
              <a:spcBef>
                <a:spcPts val="300"/>
              </a:spcBef>
              <a:spcAft>
                <a:spcPts val="300"/>
              </a:spcAft>
              <a:defRPr sz="1600">
                <a:solidFill>
                  <a:srgbClr val="0F172A"/>
                </a:solidFill>
              </a:defRPr>
            </a:pPr>
            <a:r>
              <a:t>• Future directions for research and development</a:t>
            </a:r>
          </a:p>
          <a:p>
            <a:pPr>
              <a:lnSpc>
                <a:spcPct val="120000"/>
              </a:lnSpc>
              <a:spcBef>
                <a:spcPts val="300"/>
              </a:spcBef>
              <a:spcAft>
                <a:spcPts val="300"/>
              </a:spcAft>
              <a:defRPr sz="1600">
                <a:solidFill>
                  <a:srgbClr val="0F172A"/>
                </a:solidFill>
              </a:defRPr>
            </a:pPr>
            <a:r>
              <a:t>• Impact on society and the economy</a:t>
            </a:r>
          </a:p>
          <a:p>
            <a:pPr>
              <a:lnSpc>
                <a:spcPct val="120000"/>
              </a:lnSpc>
              <a:spcBef>
                <a:spcPts val="300"/>
              </a:spcBef>
              <a:spcAft>
                <a:spcPts val="300"/>
              </a:spcAft>
              <a:defRPr sz="1600">
                <a:solidFill>
                  <a:srgbClr val="0F172A"/>
                </a:solidFill>
              </a:defRPr>
            </a:pPr>
            <a:r>
              <a:t>• Call to action: embracing the future of wireless communication</a:t>
            </a:r>
          </a:p>
          <a:p>
            <a:pPr>
              <a:lnSpc>
                <a:spcPct val="120000"/>
              </a:lnSpc>
              <a:spcBef>
                <a:spcPts val="300"/>
              </a:spcBef>
              <a:spcAft>
                <a:spcPts val="300"/>
              </a:spcAft>
              <a:defRPr sz="1600">
                <a:solidFill>
                  <a:srgbClr val="0F172A"/>
                </a:solidFill>
              </a:defRPr>
            </a:pPr>
            <a:r>
              <a:t>• Final thoughts and reflections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 to 5G Wireless Communication</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Use Cases for 5G Wireless Communication</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 The Future of Wireless Communication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5G Wireless Communication</a:t>
            </a:r>
          </a:p>
          <a:p>
            <a:pPr>
              <a:spcBef>
                <a:spcPts val="800"/>
              </a:spcBef>
              <a:spcAft>
                <a:spcPts val="800"/>
              </a:spcAft>
              <a:defRPr sz="2000">
                <a:solidFill>
                  <a:srgbClr val="F59E0B"/>
                </a:solidFill>
              </a:defRPr>
            </a:pPr>
            <a:r>
              <a:t>✓ 5G Network Architecture</a:t>
            </a:r>
          </a:p>
          <a:p>
            <a:pPr>
              <a:spcBef>
                <a:spcPts val="800"/>
              </a:spcBef>
              <a:spcAft>
                <a:spcPts val="800"/>
              </a:spcAft>
              <a:defRPr sz="2000">
                <a:solidFill>
                  <a:srgbClr val="F59E0B"/>
                </a:solidFill>
              </a:defRPr>
            </a:pPr>
            <a:r>
              <a:t>✓ 5G Wireless Technologies</a:t>
            </a:r>
          </a:p>
          <a:p>
            <a:pPr>
              <a:spcBef>
                <a:spcPts val="800"/>
              </a:spcBef>
              <a:spcAft>
                <a:spcPts val="800"/>
              </a:spcAft>
              <a:defRPr sz="2000">
                <a:solidFill>
                  <a:srgbClr val="F59E0B"/>
                </a:solidFill>
              </a:defRPr>
            </a:pPr>
            <a:r>
              <a:t>✓ Use Cases for 5G Wireless Communication</a:t>
            </a:r>
          </a:p>
          <a:p>
            <a:pPr>
              <a:spcBef>
                <a:spcPts val="800"/>
              </a:spcBef>
              <a:spcAft>
                <a:spcPts val="800"/>
              </a:spcAft>
              <a:defRPr sz="2000">
                <a:solidFill>
                  <a:srgbClr val="F59E0B"/>
                </a:solidFill>
              </a:defRPr>
            </a:pPr>
            <a:r>
              <a:t>✓ Challenges and Future Directions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