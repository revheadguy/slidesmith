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Codex in Data Science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What is Codex?</a:t>
            </a:r>
          </a:p>
        </p:txBody>
      </p:sp>
      <p:sp>
        <p:nvSpPr>
          <p:cNvPr id="4" name="Rectangle 3"/>
          <p:cNvSpPr/>
          <p:nvPr/>
        </p:nvSpPr>
        <p:spPr>
          <a:xfrm>
            <a:off x="4480560" y="1371600"/>
            <a:ext cx="18288" cy="411480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3657600" cy="365760"/>
          </a:xfrm>
          <a:prstGeom prst="rect">
            <a:avLst/>
          </a:prstGeom>
          <a:noFill/>
        </p:spPr>
        <p:txBody>
          <a:bodyPr wrap="none">
            <a:spAutoFit/>
          </a:bodyPr>
          <a:lstStyle/>
          <a:p>
            <a:pPr>
              <a:defRPr sz="1600" b="1">
                <a:solidFill>
                  <a:srgbClr val="1E40AF"/>
                </a:solidFill>
              </a:defRPr>
            </a:pPr>
            <a:r>
              <a:t>Left</a:t>
            </a:r>
          </a:p>
        </p:txBody>
      </p:sp>
      <p:sp>
        <p:nvSpPr>
          <p:cNvPr id="6" name="TextBox 5"/>
          <p:cNvSpPr txBox="1"/>
          <p:nvPr/>
        </p:nvSpPr>
        <p:spPr>
          <a:xfrm>
            <a:off x="457200" y="1737360"/>
            <a:ext cx="3840480" cy="3657600"/>
          </a:xfrm>
          <a:prstGeom prst="rect">
            <a:avLst/>
          </a:prstGeom>
          <a:noFill/>
        </p:spPr>
        <p:txBody>
          <a:bodyPr wrap="square">
            <a:spAutoFit/>
          </a:bodyPr>
          <a:lstStyle/>
          <a:p>
            <a:pPr>
              <a:lnSpc>
                <a:spcPct val="110000"/>
              </a:lnSpc>
              <a:spcBef>
                <a:spcPts val="400"/>
              </a:spcBef>
              <a:spcAft>
                <a:spcPts val="400"/>
              </a:spcAft>
              <a:defRPr sz="1400">
                <a:solidFill>
                  <a:srgbClr val="0F172A"/>
                </a:solidFill>
              </a:defRPr>
            </a:pPr>
            <a:r>
              <a:t>AI-powered tool</a:t>
            </a:r>
          </a:p>
          <a:p>
            <a:pPr>
              <a:lnSpc>
                <a:spcPct val="110000"/>
              </a:lnSpc>
              <a:spcBef>
                <a:spcPts val="400"/>
              </a:spcBef>
              <a:spcAft>
                <a:spcPts val="400"/>
              </a:spcAft>
              <a:defRPr sz="1400">
                <a:solidFill>
                  <a:srgbClr val="0F172A"/>
                </a:solidFill>
              </a:defRPr>
            </a:pPr>
            <a:r>
              <a:t>Human-like text generation</a:t>
            </a:r>
          </a:p>
        </p:txBody>
      </p:sp>
      <p:sp>
        <p:nvSpPr>
          <p:cNvPr id="7" name="TextBox 6"/>
          <p:cNvSpPr txBox="1"/>
          <p:nvPr/>
        </p:nvSpPr>
        <p:spPr>
          <a:xfrm>
            <a:off x="4846320" y="1280160"/>
            <a:ext cx="3657600" cy="365760"/>
          </a:xfrm>
          <a:prstGeom prst="rect">
            <a:avLst/>
          </a:prstGeom>
          <a:noFill/>
        </p:spPr>
        <p:txBody>
          <a:bodyPr wrap="none">
            <a:spAutoFit/>
          </a:bodyPr>
          <a:lstStyle/>
          <a:p>
            <a:pPr>
              <a:defRPr sz="1600" b="1">
                <a:solidFill>
                  <a:srgbClr val="1E40AF"/>
                </a:solidFill>
              </a:defRPr>
            </a:pPr>
            <a:r>
              <a:t>Right</a:t>
            </a:r>
          </a:p>
        </p:txBody>
      </p:sp>
      <p:sp>
        <p:nvSpPr>
          <p:cNvPr id="8" name="TextBox 7"/>
          <p:cNvSpPr txBox="1"/>
          <p:nvPr/>
        </p:nvSpPr>
        <p:spPr>
          <a:xfrm>
            <a:off x="4846320" y="1737360"/>
            <a:ext cx="3840480" cy="3657600"/>
          </a:xfrm>
          <a:prstGeom prst="rect">
            <a:avLst/>
          </a:prstGeom>
          <a:noFill/>
        </p:spPr>
        <p:txBody>
          <a:bodyPr wrap="square">
            <a:spAutoFit/>
          </a:bodyPr>
          <a:lstStyle/>
          <a:p>
            <a:pPr>
              <a:lnSpc>
                <a:spcPct val="110000"/>
              </a:lnSpc>
              <a:spcBef>
                <a:spcPts val="400"/>
              </a:spcBef>
              <a:spcAft>
                <a:spcPts val="400"/>
              </a:spcAft>
              <a:defRPr sz="1400">
                <a:solidFill>
                  <a:srgbClr val="0F172A"/>
                </a:solidFill>
              </a:defRPr>
            </a:pPr>
            <a:r>
              <a:t>Machine learning algorithms</a:t>
            </a:r>
          </a:p>
          <a:p>
            <a:pPr>
              <a:lnSpc>
                <a:spcPct val="110000"/>
              </a:lnSpc>
              <a:spcBef>
                <a:spcPts val="400"/>
              </a:spcBef>
              <a:spcAft>
                <a:spcPts val="400"/>
              </a:spcAft>
              <a:defRPr sz="1400">
                <a:solidFill>
                  <a:srgbClr val="0F172A"/>
                </a:solidFill>
              </a:defRPr>
            </a:pPr>
            <a:r>
              <a:t>Natural language processing techniques</a:t>
            </a:r>
          </a:p>
          <a:p>
            <a:pPr>
              <a:lnSpc>
                <a:spcPct val="110000"/>
              </a:lnSpc>
              <a:spcBef>
                <a:spcPts val="400"/>
              </a:spcBef>
              <a:spcAft>
                <a:spcPts val="400"/>
              </a:spcAft>
              <a:defRPr sz="1400">
                <a:solidFill>
                  <a:srgbClr val="0F172A"/>
                </a:solidFill>
              </a:defRPr>
            </a:pPr>
            <a:r>
              <a:t>Vast amounts of training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How Does Codex Work?</a:t>
            </a:r>
          </a:p>
        </p:txBody>
      </p:sp>
      <p:sp>
        <p:nvSpPr>
          <p:cNvPr id="4" name="Rectangle 3"/>
          <p:cNvSpPr/>
          <p:nvPr/>
        </p:nvSpPr>
        <p:spPr>
          <a:xfrm>
            <a:off x="4480560" y="1371600"/>
            <a:ext cx="18288" cy="411480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3657600" cy="365760"/>
          </a:xfrm>
          <a:prstGeom prst="rect">
            <a:avLst/>
          </a:prstGeom>
          <a:noFill/>
        </p:spPr>
        <p:txBody>
          <a:bodyPr wrap="none">
            <a:spAutoFit/>
          </a:bodyPr>
          <a:lstStyle/>
          <a:p>
            <a:pPr>
              <a:defRPr sz="1600" b="1">
                <a:solidFill>
                  <a:srgbClr val="1E40AF"/>
                </a:solidFill>
              </a:defRPr>
            </a:pPr>
            <a:r>
              <a:t>Left</a:t>
            </a:r>
          </a:p>
        </p:txBody>
      </p:sp>
      <p:sp>
        <p:nvSpPr>
          <p:cNvPr id="6" name="TextBox 5"/>
          <p:cNvSpPr txBox="1"/>
          <p:nvPr/>
        </p:nvSpPr>
        <p:spPr>
          <a:xfrm>
            <a:off x="457200" y="1737360"/>
            <a:ext cx="3840480" cy="3657600"/>
          </a:xfrm>
          <a:prstGeom prst="rect">
            <a:avLst/>
          </a:prstGeom>
          <a:noFill/>
        </p:spPr>
        <p:txBody>
          <a:bodyPr wrap="square">
            <a:spAutoFit/>
          </a:bodyPr>
          <a:lstStyle/>
          <a:p>
            <a:pPr>
              <a:lnSpc>
                <a:spcPct val="110000"/>
              </a:lnSpc>
              <a:spcBef>
                <a:spcPts val="400"/>
              </a:spcBef>
              <a:spcAft>
                <a:spcPts val="400"/>
              </a:spcAft>
              <a:defRPr sz="1400">
                <a:solidFill>
                  <a:srgbClr val="0F172A"/>
                </a:solidFill>
              </a:defRPr>
            </a:pPr>
            <a:r>
              <a:t>Machine learning algorithms</a:t>
            </a:r>
          </a:p>
          <a:p>
            <a:pPr>
              <a:lnSpc>
                <a:spcPct val="110000"/>
              </a:lnSpc>
              <a:spcBef>
                <a:spcPts val="400"/>
              </a:spcBef>
              <a:spcAft>
                <a:spcPts val="400"/>
              </a:spcAft>
              <a:defRPr sz="1400">
                <a:solidFill>
                  <a:srgbClr val="0F172A"/>
                </a:solidFill>
              </a:defRPr>
            </a:pPr>
            <a:r>
              <a:t>Deep learning algorithms</a:t>
            </a:r>
          </a:p>
        </p:txBody>
      </p:sp>
      <p:sp>
        <p:nvSpPr>
          <p:cNvPr id="7" name="TextBox 6"/>
          <p:cNvSpPr txBox="1"/>
          <p:nvPr/>
        </p:nvSpPr>
        <p:spPr>
          <a:xfrm>
            <a:off x="4846320" y="1280160"/>
            <a:ext cx="3657600" cy="365760"/>
          </a:xfrm>
          <a:prstGeom prst="rect">
            <a:avLst/>
          </a:prstGeom>
          <a:noFill/>
        </p:spPr>
        <p:txBody>
          <a:bodyPr wrap="none">
            <a:spAutoFit/>
          </a:bodyPr>
          <a:lstStyle/>
          <a:p>
            <a:pPr>
              <a:defRPr sz="1600" b="1">
                <a:solidFill>
                  <a:srgbClr val="1E40AF"/>
                </a:solidFill>
              </a:defRPr>
            </a:pPr>
            <a:r>
              <a:t>Right</a:t>
            </a:r>
          </a:p>
        </p:txBody>
      </p:sp>
      <p:sp>
        <p:nvSpPr>
          <p:cNvPr id="8" name="TextBox 7"/>
          <p:cNvSpPr txBox="1"/>
          <p:nvPr/>
        </p:nvSpPr>
        <p:spPr>
          <a:xfrm>
            <a:off x="4846320" y="1737360"/>
            <a:ext cx="3840480" cy="3657600"/>
          </a:xfrm>
          <a:prstGeom prst="rect">
            <a:avLst/>
          </a:prstGeom>
          <a:noFill/>
        </p:spPr>
        <p:txBody>
          <a:bodyPr wrap="square">
            <a:spAutoFit/>
          </a:bodyPr>
          <a:lstStyle/>
          <a:p>
            <a:pPr>
              <a:lnSpc>
                <a:spcPct val="110000"/>
              </a:lnSpc>
              <a:spcBef>
                <a:spcPts val="400"/>
              </a:spcBef>
              <a:spcAft>
                <a:spcPts val="400"/>
              </a:spcAft>
              <a:defRPr sz="1400">
                <a:solidFill>
                  <a:srgbClr val="0F172A"/>
                </a:solidFill>
              </a:defRPr>
            </a:pPr>
            <a:r>
              <a:t>Pattern recognition</a:t>
            </a:r>
          </a:p>
          <a:p>
            <a:pPr>
              <a:lnSpc>
                <a:spcPct val="110000"/>
              </a:lnSpc>
              <a:spcBef>
                <a:spcPts val="400"/>
              </a:spcBef>
              <a:spcAft>
                <a:spcPts val="400"/>
              </a:spcAft>
              <a:defRPr sz="1400">
                <a:solidFill>
                  <a:srgbClr val="0F172A"/>
                </a:solidFill>
              </a:defRPr>
            </a:pPr>
            <a:r>
              <a:t>Language understanding</a:t>
            </a:r>
          </a:p>
          <a:p>
            <a:pPr>
              <a:lnSpc>
                <a:spcPct val="110000"/>
              </a:lnSpc>
              <a:spcBef>
                <a:spcPts val="400"/>
              </a:spcBef>
              <a:spcAft>
                <a:spcPts val="400"/>
              </a:spcAft>
              <a:defRPr sz="1400">
                <a:solidFill>
                  <a:srgbClr val="0F172A"/>
                </a:solidFill>
              </a:defRPr>
            </a:pPr>
            <a:r>
              <a:t>Original content generation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Applications of Codex</a:t>
            </a:r>
          </a:p>
        </p:txBody>
      </p:sp>
      <p:sp>
        <p:nvSpPr>
          <p:cNvPr id="4" name="Rectangle 3"/>
          <p:cNvSpPr/>
          <p:nvPr/>
        </p:nvSpPr>
        <p:spPr>
          <a:xfrm>
            <a:off x="4480560" y="1371600"/>
            <a:ext cx="18288" cy="411480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3657600" cy="365760"/>
          </a:xfrm>
          <a:prstGeom prst="rect">
            <a:avLst/>
          </a:prstGeom>
          <a:noFill/>
        </p:spPr>
        <p:txBody>
          <a:bodyPr wrap="none">
            <a:spAutoFit/>
          </a:bodyPr>
          <a:lstStyle/>
          <a:p>
            <a:pPr>
              <a:defRPr sz="1600" b="1">
                <a:solidFill>
                  <a:srgbClr val="1E40AF"/>
                </a:solidFill>
              </a:defRPr>
            </a:pPr>
            <a:r>
              <a:t>Left</a:t>
            </a:r>
          </a:p>
        </p:txBody>
      </p:sp>
      <p:sp>
        <p:nvSpPr>
          <p:cNvPr id="6" name="TextBox 5"/>
          <p:cNvSpPr txBox="1"/>
          <p:nvPr/>
        </p:nvSpPr>
        <p:spPr>
          <a:xfrm>
            <a:off x="457200" y="1737360"/>
            <a:ext cx="3840480" cy="3657600"/>
          </a:xfrm>
          <a:prstGeom prst="rect">
            <a:avLst/>
          </a:prstGeom>
          <a:noFill/>
        </p:spPr>
        <p:txBody>
          <a:bodyPr wrap="square">
            <a:spAutoFit/>
          </a:bodyPr>
          <a:lstStyle/>
          <a:p>
            <a:pPr>
              <a:lnSpc>
                <a:spcPct val="110000"/>
              </a:lnSpc>
              <a:spcBef>
                <a:spcPts val="400"/>
              </a:spcBef>
              <a:spcAft>
                <a:spcPts val="400"/>
              </a:spcAft>
              <a:defRPr sz="1400">
                <a:solidFill>
                  <a:srgbClr val="0F172A"/>
                </a:solidFill>
              </a:defRPr>
            </a:pPr>
            <a:r>
              <a:t>Data summarization</a:t>
            </a:r>
          </a:p>
          <a:p>
            <a:pPr>
              <a:lnSpc>
                <a:spcPct val="110000"/>
              </a:lnSpc>
              <a:spcBef>
                <a:spcPts val="400"/>
              </a:spcBef>
              <a:spcAft>
                <a:spcPts val="400"/>
              </a:spcAft>
              <a:defRPr sz="1400">
                <a:solidFill>
                  <a:srgbClr val="0F172A"/>
                </a:solidFill>
              </a:defRPr>
            </a:pPr>
            <a:r>
              <a:t>Original content generation</a:t>
            </a:r>
          </a:p>
        </p:txBody>
      </p:sp>
      <p:sp>
        <p:nvSpPr>
          <p:cNvPr id="7" name="TextBox 6"/>
          <p:cNvSpPr txBox="1"/>
          <p:nvPr/>
        </p:nvSpPr>
        <p:spPr>
          <a:xfrm>
            <a:off x="4846320" y="1280160"/>
            <a:ext cx="3657600" cy="365760"/>
          </a:xfrm>
          <a:prstGeom prst="rect">
            <a:avLst/>
          </a:prstGeom>
          <a:noFill/>
        </p:spPr>
        <p:txBody>
          <a:bodyPr wrap="none">
            <a:spAutoFit/>
          </a:bodyPr>
          <a:lstStyle/>
          <a:p>
            <a:pPr>
              <a:defRPr sz="1600" b="1">
                <a:solidFill>
                  <a:srgbClr val="1E40AF"/>
                </a:solidFill>
              </a:defRPr>
            </a:pPr>
            <a:r>
              <a:t>Right</a:t>
            </a:r>
          </a:p>
        </p:txBody>
      </p:sp>
      <p:sp>
        <p:nvSpPr>
          <p:cNvPr id="8" name="TextBox 7"/>
          <p:cNvSpPr txBox="1"/>
          <p:nvPr/>
        </p:nvSpPr>
        <p:spPr>
          <a:xfrm>
            <a:off x="4846320" y="1737360"/>
            <a:ext cx="3840480" cy="3657600"/>
          </a:xfrm>
          <a:prstGeom prst="rect">
            <a:avLst/>
          </a:prstGeom>
          <a:noFill/>
        </p:spPr>
        <p:txBody>
          <a:bodyPr wrap="square">
            <a:spAutoFit/>
          </a:bodyPr>
          <a:lstStyle/>
          <a:p>
            <a:pPr>
              <a:lnSpc>
                <a:spcPct val="110000"/>
              </a:lnSpc>
              <a:spcBef>
                <a:spcPts val="400"/>
              </a:spcBef>
              <a:spcAft>
                <a:spcPts val="400"/>
              </a:spcAft>
              <a:defRPr sz="1400">
                <a:solidFill>
                  <a:srgbClr val="0F172A"/>
                </a:solidFill>
              </a:defRPr>
            </a:pPr>
            <a:r>
              <a:t>Marketing and advertising</a:t>
            </a:r>
          </a:p>
          <a:p>
            <a:pPr>
              <a:lnSpc>
                <a:spcPct val="110000"/>
              </a:lnSpc>
              <a:spcBef>
                <a:spcPts val="400"/>
              </a:spcBef>
              <a:spcAft>
                <a:spcPts val="400"/>
              </a:spcAft>
              <a:defRPr sz="1400">
                <a:solidFill>
                  <a:srgbClr val="0F172A"/>
                </a:solidFill>
              </a:defRPr>
            </a:pPr>
            <a:r>
              <a:t>Research paper writing</a:t>
            </a:r>
          </a:p>
          <a:p>
            <a:pPr>
              <a:lnSpc>
                <a:spcPct val="110000"/>
              </a:lnSpc>
              <a:spcBef>
                <a:spcPts val="400"/>
              </a:spcBef>
              <a:spcAft>
                <a:spcPts val="400"/>
              </a:spcAft>
              <a:defRPr sz="1400">
                <a:solidFill>
                  <a:srgbClr val="0F172A"/>
                </a:solidFill>
              </a:defRPr>
            </a:pPr>
            <a:r>
              <a:t>Sentiment analysis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Challenges and Limitations of Codex</a:t>
            </a:r>
          </a:p>
        </p:txBody>
      </p:sp>
      <p:sp>
        <p:nvSpPr>
          <p:cNvPr id="4" name="Rectangle 3"/>
          <p:cNvSpPr/>
          <p:nvPr/>
        </p:nvSpPr>
        <p:spPr>
          <a:xfrm>
            <a:off x="4480560" y="1371600"/>
            <a:ext cx="18288" cy="411480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3657600" cy="365760"/>
          </a:xfrm>
          <a:prstGeom prst="rect">
            <a:avLst/>
          </a:prstGeom>
          <a:noFill/>
        </p:spPr>
        <p:txBody>
          <a:bodyPr wrap="none">
            <a:spAutoFit/>
          </a:bodyPr>
          <a:lstStyle/>
          <a:p>
            <a:pPr>
              <a:defRPr sz="1600" b="1">
                <a:solidFill>
                  <a:srgbClr val="1E40AF"/>
                </a:solidFill>
              </a:defRPr>
            </a:pPr>
            <a:r>
              <a:t>Left</a:t>
            </a:r>
          </a:p>
        </p:txBody>
      </p:sp>
      <p:sp>
        <p:nvSpPr>
          <p:cNvPr id="6" name="TextBox 5"/>
          <p:cNvSpPr txBox="1"/>
          <p:nvPr/>
        </p:nvSpPr>
        <p:spPr>
          <a:xfrm>
            <a:off x="457200" y="1737360"/>
            <a:ext cx="3840480" cy="3657600"/>
          </a:xfrm>
          <a:prstGeom prst="rect">
            <a:avLst/>
          </a:prstGeom>
          <a:noFill/>
        </p:spPr>
        <p:txBody>
          <a:bodyPr wrap="square">
            <a:spAutoFit/>
          </a:bodyPr>
          <a:lstStyle/>
          <a:p>
            <a:pPr>
              <a:lnSpc>
                <a:spcPct val="110000"/>
              </a:lnSpc>
              <a:spcBef>
                <a:spcPts val="400"/>
              </a:spcBef>
              <a:spcAft>
                <a:spcPts val="400"/>
              </a:spcAft>
              <a:defRPr sz="1400">
                <a:solidFill>
                  <a:srgbClr val="0F172A"/>
                </a:solidFill>
              </a:defRPr>
            </a:pPr>
            <a:r>
              <a:t>Lack of human intuition</a:t>
            </a:r>
          </a:p>
          <a:p>
            <a:pPr>
              <a:lnSpc>
                <a:spcPct val="110000"/>
              </a:lnSpc>
              <a:spcBef>
                <a:spcPts val="400"/>
              </a:spcBef>
              <a:spcAft>
                <a:spcPts val="400"/>
              </a:spcAft>
              <a:defRPr sz="1400">
                <a:solidFill>
                  <a:srgbClr val="0F172A"/>
                </a:solidFill>
              </a:defRPr>
            </a:pPr>
            <a:r>
              <a:t>Language pattern limitations</a:t>
            </a:r>
          </a:p>
        </p:txBody>
      </p:sp>
      <p:sp>
        <p:nvSpPr>
          <p:cNvPr id="7" name="TextBox 6"/>
          <p:cNvSpPr txBox="1"/>
          <p:nvPr/>
        </p:nvSpPr>
        <p:spPr>
          <a:xfrm>
            <a:off x="4846320" y="1280160"/>
            <a:ext cx="3657600" cy="365760"/>
          </a:xfrm>
          <a:prstGeom prst="rect">
            <a:avLst/>
          </a:prstGeom>
          <a:noFill/>
        </p:spPr>
        <p:txBody>
          <a:bodyPr wrap="none">
            <a:spAutoFit/>
          </a:bodyPr>
          <a:lstStyle/>
          <a:p>
            <a:pPr>
              <a:defRPr sz="1600" b="1">
                <a:solidFill>
                  <a:srgbClr val="1E40AF"/>
                </a:solidFill>
              </a:defRPr>
            </a:pPr>
            <a:r>
              <a:t>Right</a:t>
            </a:r>
          </a:p>
        </p:txBody>
      </p:sp>
      <p:sp>
        <p:nvSpPr>
          <p:cNvPr id="8" name="TextBox 7"/>
          <p:cNvSpPr txBox="1"/>
          <p:nvPr/>
        </p:nvSpPr>
        <p:spPr>
          <a:xfrm>
            <a:off x="4846320" y="1737360"/>
            <a:ext cx="3840480" cy="3657600"/>
          </a:xfrm>
          <a:prstGeom prst="rect">
            <a:avLst/>
          </a:prstGeom>
          <a:noFill/>
        </p:spPr>
        <p:txBody>
          <a:bodyPr wrap="square">
            <a:spAutoFit/>
          </a:bodyPr>
          <a:lstStyle/>
          <a:p>
            <a:pPr>
              <a:lnSpc>
                <a:spcPct val="110000"/>
              </a:lnSpc>
              <a:spcBef>
                <a:spcPts val="400"/>
              </a:spcBef>
              <a:spcAft>
                <a:spcPts val="400"/>
              </a:spcAft>
              <a:defRPr sz="1400">
                <a:solidFill>
                  <a:srgbClr val="0F172A"/>
                </a:solidFill>
              </a:defRPr>
            </a:pPr>
            <a:r>
              <a:t>Complex nuance understanding challenges</a:t>
            </a:r>
          </a:p>
          <a:p>
            <a:pPr>
              <a:lnSpc>
                <a:spcPct val="110000"/>
              </a:lnSpc>
              <a:spcBef>
                <a:spcPts val="400"/>
              </a:spcBef>
              <a:spcAft>
                <a:spcPts val="400"/>
              </a:spcAft>
              <a:defRPr sz="1400">
                <a:solidFill>
                  <a:srgbClr val="0F172A"/>
                </a:solidFill>
              </a:defRPr>
            </a:pPr>
            <a:r>
              <a:t>Potential misuse concerns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Future Directions for Codex</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As Codex continues to evolve and improve, it is likely that we will see even more innovative applications in the future. One potential direction is the integration of Codex with other AI tools to create a comprehensive language processing system. Another direction could be exploring the use of Codex in areas such as education and healthcare.</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Integration with other AI tools</a:t>
            </a:r>
          </a:p>
          <a:p>
            <a:pPr>
              <a:lnSpc>
                <a:spcPct val="120000"/>
              </a:lnSpc>
              <a:spcBef>
                <a:spcPts val="300"/>
              </a:spcBef>
              <a:spcAft>
                <a:spcPts val="300"/>
              </a:spcAft>
              <a:defRPr sz="1600">
                <a:solidFill>
                  <a:srgbClr val="0F172A"/>
                </a:solidFill>
              </a:defRPr>
            </a:pPr>
            <a:r>
              <a:t>• Comprehensive language processing system</a:t>
            </a:r>
          </a:p>
          <a:p>
            <a:pPr>
              <a:lnSpc>
                <a:spcPct val="120000"/>
              </a:lnSpc>
              <a:spcBef>
                <a:spcPts val="300"/>
              </a:spcBef>
              <a:spcAft>
                <a:spcPts val="300"/>
              </a:spcAft>
              <a:defRPr sz="1600">
                <a:solidFill>
                  <a:srgbClr val="0F172A"/>
                </a:solidFill>
              </a:defRPr>
            </a:pPr>
            <a:r>
              <a:t>• Education and healthcare applications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What is Codex?</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AI-powered tool</a:t>
            </a:r>
            <a:br/>
            <a:r>
              <a:t>Human-like text generation</a:t>
            </a:r>
            <a:br/>
            <a:r>
              <a:t>Machine learning algorithms</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How Does Codex Work?</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Machine learning algorithms</a:t>
            </a:r>
            <a:br/>
            <a:r>
              <a:t>Deep learning algorithms</a:t>
            </a:r>
            <a:br/>
            <a:r>
              <a:t>Pattern recognition</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Applications of Codex</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Data summarization</a:t>
            </a:r>
            <a:br/>
            <a:r>
              <a:t>Original content generation</a:t>
            </a:r>
            <a:br/>
            <a:r>
              <a:t>Marketing and advertising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What is Codex?</a:t>
            </a:r>
          </a:p>
          <a:p>
            <a:pPr>
              <a:spcBef>
                <a:spcPts val="800"/>
              </a:spcBef>
              <a:spcAft>
                <a:spcPts val="800"/>
              </a:spcAft>
              <a:defRPr sz="2000">
                <a:solidFill>
                  <a:srgbClr val="F59E0B"/>
                </a:solidFill>
              </a:defRPr>
            </a:pPr>
            <a:r>
              <a:t>✓ How Does Codex Work?</a:t>
            </a:r>
          </a:p>
          <a:p>
            <a:pPr>
              <a:spcBef>
                <a:spcPts val="800"/>
              </a:spcBef>
              <a:spcAft>
                <a:spcPts val="800"/>
              </a:spcAft>
              <a:defRPr sz="2000">
                <a:solidFill>
                  <a:srgbClr val="F59E0B"/>
                </a:solidFill>
              </a:defRPr>
            </a:pPr>
            <a:r>
              <a:t>✓ Applications of Codex</a:t>
            </a:r>
          </a:p>
          <a:p>
            <a:pPr>
              <a:spcBef>
                <a:spcPts val="800"/>
              </a:spcBef>
              <a:spcAft>
                <a:spcPts val="800"/>
              </a:spcAft>
              <a:defRPr sz="2000">
                <a:solidFill>
                  <a:srgbClr val="F59E0B"/>
                </a:solidFill>
              </a:defRPr>
            </a:pPr>
            <a:r>
              <a:t>✓ Challenges and Limitations of Codex</a:t>
            </a:r>
          </a:p>
          <a:p>
            <a:pPr>
              <a:spcBef>
                <a:spcPts val="800"/>
              </a:spcBef>
              <a:spcAft>
                <a:spcPts val="800"/>
              </a:spcAft>
              <a:defRPr sz="2000">
                <a:solidFill>
                  <a:srgbClr val="F59E0B"/>
                </a:solidFill>
              </a:defRPr>
            </a:pPr>
            <a:r>
              <a:t>✓ Future Directions for Codex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