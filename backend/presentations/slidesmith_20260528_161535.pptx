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Unlocking the Potential of AI in Healthcare</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9144000" cy="45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AI in Healthcare</a:t>
            </a:r>
          </a:p>
        </p:txBody>
      </p:sp>
      <p:sp>
        <p:nvSpPr>
          <p:cNvPr id="6" name="TextBox 5"/>
          <p:cNvSpPr txBox="1"/>
          <p:nvPr/>
        </p:nvSpPr>
        <p:spPr>
          <a:xfrm>
            <a:off x="731520" y="1417320"/>
            <a:ext cx="7680960" cy="1234439"/>
          </a:xfrm>
          <a:prstGeom prst="rect">
            <a:avLst/>
          </a:prstGeom>
          <a:noFill/>
        </p:spPr>
        <p:txBody>
          <a:bodyPr wrap="square">
            <a:spAutoFit/>
          </a:bodyPr>
          <a:lstStyle/>
          <a:p>
            <a:pPr>
              <a:lnSpc>
                <a:spcPct val="130000"/>
              </a:lnSpc>
              <a:defRPr sz="1600">
                <a:solidFill>
                  <a:srgbClr val="0F172A"/>
                </a:solidFill>
              </a:defRPr>
            </a:pPr>
            <a:r>
              <a:t>Artificial intelligence (AI) has revolutionized healthcare by providing personalized treatment options and improving patient outcomes. The integration of AI-powered systems into healthcare facilities is becoming increasingly common, allowing for more accurate diagnoses and efficient treatment plans.</a:t>
            </a:r>
          </a:p>
        </p:txBody>
      </p:sp>
      <p:sp>
        <p:nvSpPr>
          <p:cNvPr id="7" name="Oval 6"/>
          <p:cNvSpPr/>
          <p:nvPr/>
        </p:nvSpPr>
        <p:spPr>
          <a:xfrm>
            <a:off x="502920" y="29718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926080"/>
            <a:ext cx="7589520" cy="685800"/>
          </a:xfrm>
          <a:prstGeom prst="rect">
            <a:avLst/>
          </a:prstGeom>
          <a:noFill/>
        </p:spPr>
        <p:txBody>
          <a:bodyPr wrap="square">
            <a:spAutoFit/>
          </a:bodyPr>
          <a:lstStyle/>
          <a:p>
            <a:pPr>
              <a:lnSpc>
                <a:spcPct val="130000"/>
              </a:lnSpc>
              <a:defRPr sz="1600">
                <a:solidFill>
                  <a:srgbClr val="0F172A"/>
                </a:solidFill>
              </a:defRPr>
            </a:pPr>
            <a:r>
              <a:t>Enhanced patient outcomes</a:t>
            </a:r>
          </a:p>
        </p:txBody>
      </p:sp>
      <p:sp>
        <p:nvSpPr>
          <p:cNvPr id="9" name="Oval 8"/>
          <p:cNvSpPr/>
          <p:nvPr/>
        </p:nvSpPr>
        <p:spPr>
          <a:xfrm>
            <a:off x="502920" y="3721608"/>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675888"/>
            <a:ext cx="7589520" cy="685800"/>
          </a:xfrm>
          <a:prstGeom prst="rect">
            <a:avLst/>
          </a:prstGeom>
          <a:noFill/>
        </p:spPr>
        <p:txBody>
          <a:bodyPr wrap="square">
            <a:spAutoFit/>
          </a:bodyPr>
          <a:lstStyle/>
          <a:p>
            <a:pPr>
              <a:lnSpc>
                <a:spcPct val="130000"/>
              </a:lnSpc>
              <a:defRPr sz="1600">
                <a:solidFill>
                  <a:srgbClr val="0F172A"/>
                </a:solidFill>
              </a:defRPr>
            </a:pPr>
            <a:r>
              <a:t>Improved diagnosis accuracy</a:t>
            </a:r>
          </a:p>
        </p:txBody>
      </p:sp>
      <p:sp>
        <p:nvSpPr>
          <p:cNvPr id="11" name="Oval 10"/>
          <p:cNvSpPr/>
          <p:nvPr/>
        </p:nvSpPr>
        <p:spPr>
          <a:xfrm>
            <a:off x="502920" y="447141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425696"/>
            <a:ext cx="7589520" cy="685800"/>
          </a:xfrm>
          <a:prstGeom prst="rect">
            <a:avLst/>
          </a:prstGeom>
          <a:noFill/>
        </p:spPr>
        <p:txBody>
          <a:bodyPr wrap="square">
            <a:spAutoFit/>
          </a:bodyPr>
          <a:lstStyle/>
          <a:p>
            <a:pPr>
              <a:lnSpc>
                <a:spcPct val="130000"/>
              </a:lnSpc>
              <a:defRPr sz="1600">
                <a:solidFill>
                  <a:srgbClr val="0F172A"/>
                </a:solidFill>
              </a:defRPr>
            </a:pPr>
            <a:r>
              <a:t>Personalized treatment options</a:t>
            </a:r>
          </a:p>
        </p:txBody>
      </p:sp>
      <p:sp>
        <p:nvSpPr>
          <p:cNvPr id="13" name="Oval 12"/>
          <p:cNvSpPr/>
          <p:nvPr/>
        </p:nvSpPr>
        <p:spPr>
          <a:xfrm>
            <a:off x="502920" y="522122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175504"/>
            <a:ext cx="7589520" cy="685800"/>
          </a:xfrm>
          <a:prstGeom prst="rect">
            <a:avLst/>
          </a:prstGeom>
          <a:noFill/>
        </p:spPr>
        <p:txBody>
          <a:bodyPr wrap="square">
            <a:spAutoFit/>
          </a:bodyPr>
          <a:lstStyle/>
          <a:p>
            <a:pPr>
              <a:lnSpc>
                <a:spcPct val="130000"/>
              </a:lnSpc>
              <a:defRPr sz="1600">
                <a:solidFill>
                  <a:srgbClr val="0F172A"/>
                </a:solidFill>
              </a:defRPr>
            </a:pPr>
            <a:r>
              <a:t>Increased efficiency</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Unlocking the Potential of AI in Healthcare</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9144000" cy="45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AI-Powered Diagnostics</a:t>
            </a:r>
          </a:p>
        </p:txBody>
      </p:sp>
      <p:sp>
        <p:nvSpPr>
          <p:cNvPr id="6" name="TextBox 5"/>
          <p:cNvSpPr txBox="1"/>
          <p:nvPr/>
        </p:nvSpPr>
        <p:spPr>
          <a:xfrm>
            <a:off x="457200" y="1417320"/>
            <a:ext cx="4114800" cy="1161288"/>
          </a:xfrm>
          <a:prstGeom prst="rect">
            <a:avLst/>
          </a:prstGeom>
          <a:noFill/>
        </p:spPr>
        <p:txBody>
          <a:bodyPr wrap="square">
            <a:spAutoFit/>
          </a:bodyPr>
          <a:lstStyle/>
          <a:p>
            <a:pPr>
              <a:lnSpc>
                <a:spcPct val="130000"/>
              </a:lnSpc>
              <a:defRPr sz="1400">
                <a:solidFill>
                  <a:srgbClr val="0F172A"/>
                </a:solidFill>
              </a:defRPr>
            </a:pPr>
            <a:r>
              <a:t>AI-powered diagnostic tools are transforming the way healthcare professionals diagnose and treat patients. Advanced algorithms enable AI systems to analyze medical images and data with unprecedented accuracy, allowing for earlier detection of diseases and more effective treatment plans.</a:t>
            </a:r>
          </a:p>
        </p:txBody>
      </p:sp>
      <p:sp>
        <p:nvSpPr>
          <p:cNvPr id="7" name="Oval 6"/>
          <p:cNvSpPr/>
          <p:nvPr/>
        </p:nvSpPr>
        <p:spPr>
          <a:xfrm>
            <a:off x="457200" y="2898648"/>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2852928"/>
            <a:ext cx="3877056" cy="658368"/>
          </a:xfrm>
          <a:prstGeom prst="rect">
            <a:avLst/>
          </a:prstGeom>
          <a:noFill/>
        </p:spPr>
        <p:txBody>
          <a:bodyPr wrap="square">
            <a:spAutoFit/>
          </a:bodyPr>
          <a:lstStyle/>
          <a:p>
            <a:pPr>
              <a:lnSpc>
                <a:spcPct val="130000"/>
              </a:lnSpc>
              <a:defRPr sz="1500">
                <a:solidFill>
                  <a:srgbClr val="0F172A"/>
                </a:solidFill>
              </a:defRPr>
            </a:pPr>
            <a:r>
              <a:t>Enhanced diagnostic accuracy</a:t>
            </a:r>
          </a:p>
        </p:txBody>
      </p:sp>
      <p:sp>
        <p:nvSpPr>
          <p:cNvPr id="9" name="Oval 8"/>
          <p:cNvSpPr/>
          <p:nvPr/>
        </p:nvSpPr>
        <p:spPr>
          <a:xfrm>
            <a:off x="457200" y="3611880"/>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3566160"/>
            <a:ext cx="3877056" cy="658368"/>
          </a:xfrm>
          <a:prstGeom prst="rect">
            <a:avLst/>
          </a:prstGeom>
          <a:noFill/>
        </p:spPr>
        <p:txBody>
          <a:bodyPr wrap="square">
            <a:spAutoFit/>
          </a:bodyPr>
          <a:lstStyle/>
          <a:p>
            <a:pPr>
              <a:lnSpc>
                <a:spcPct val="130000"/>
              </a:lnSpc>
              <a:defRPr sz="1500">
                <a:solidFill>
                  <a:srgbClr val="0F172A"/>
                </a:solidFill>
              </a:defRPr>
            </a:pPr>
            <a:r>
              <a:t>Improved disease detection</a:t>
            </a:r>
          </a:p>
        </p:txBody>
      </p:sp>
      <p:sp>
        <p:nvSpPr>
          <p:cNvPr id="11" name="Oval 10"/>
          <p:cNvSpPr/>
          <p:nvPr/>
        </p:nvSpPr>
        <p:spPr>
          <a:xfrm>
            <a:off x="457200" y="4325112"/>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4279392"/>
            <a:ext cx="3877056" cy="658368"/>
          </a:xfrm>
          <a:prstGeom prst="rect">
            <a:avLst/>
          </a:prstGeom>
          <a:noFill/>
        </p:spPr>
        <p:txBody>
          <a:bodyPr wrap="square">
            <a:spAutoFit/>
          </a:bodyPr>
          <a:lstStyle/>
          <a:p>
            <a:pPr>
              <a:lnSpc>
                <a:spcPct val="130000"/>
              </a:lnSpc>
              <a:defRPr sz="1500">
                <a:solidFill>
                  <a:srgbClr val="0F172A"/>
                </a:solidFill>
              </a:defRPr>
            </a:pPr>
            <a:r>
              <a:t>Personalized treatment options</a:t>
            </a:r>
          </a:p>
        </p:txBody>
      </p:sp>
      <p:sp>
        <p:nvSpPr>
          <p:cNvPr id="13" name="Oval 12"/>
          <p:cNvSpPr/>
          <p:nvPr/>
        </p:nvSpPr>
        <p:spPr>
          <a:xfrm>
            <a:off x="457200" y="50383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4992624"/>
            <a:ext cx="3877056" cy="658368"/>
          </a:xfrm>
          <a:prstGeom prst="rect">
            <a:avLst/>
          </a:prstGeom>
          <a:noFill/>
        </p:spPr>
        <p:txBody>
          <a:bodyPr wrap="square">
            <a:spAutoFit/>
          </a:bodyPr>
          <a:lstStyle/>
          <a:p>
            <a:pPr>
              <a:lnSpc>
                <a:spcPct val="130000"/>
              </a:lnSpc>
              <a:defRPr sz="1500">
                <a:solidFill>
                  <a:srgbClr val="0F172A"/>
                </a:solidFill>
              </a:defRPr>
            </a:pPr>
            <a:r>
              <a:t>Increased efficiency</a:t>
            </a:r>
          </a:p>
        </p:txBody>
      </p:sp>
      <p:pic>
        <p:nvPicPr>
          <p:cNvPr id="15" name="Picture 14" descr="unsplash_ZPOoDQc8yMw.jpg"/>
          <p:cNvPicPr>
            <a:picLocks noChangeAspect="1"/>
          </p:cNvPicPr>
          <p:nvPr/>
        </p:nvPicPr>
        <p:blipFill>
          <a:blip r:embed="rId2"/>
          <a:stretch>
            <a:fillRect/>
          </a:stretch>
        </p:blipFill>
        <p:spPr>
          <a:xfrm>
            <a:off x="4754880" y="1280160"/>
            <a:ext cx="3840480" cy="4937760"/>
          </a:xfrm>
          <a:prstGeom prst="rect">
            <a:avLst/>
          </a:prstGeom>
        </p:spPr>
      </p:pic>
      <p:sp>
        <p:nvSpPr>
          <p:cNvPr id="16" name="Rectangle 15"/>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Unlocking the Potential of AI in Healthcare</a:t>
            </a:r>
          </a:p>
        </p:txBody>
      </p:sp>
      <p:sp>
        <p:nvSpPr>
          <p:cNvPr id="18" name="TextBox 17"/>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Oval 1"/>
          <p:cNvSpPr/>
          <p:nvPr/>
        </p:nvSpPr>
        <p:spPr>
          <a:xfrm>
            <a:off x="6858000" y="-914400"/>
            <a:ext cx="4114800" cy="41148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834640"/>
            <a:ext cx="7772400" cy="1463040"/>
          </a:xfrm>
          <a:prstGeom prst="rect">
            <a:avLst/>
          </a:prstGeom>
          <a:noFill/>
        </p:spPr>
        <p:txBody>
          <a:bodyPr wrap="square">
            <a:spAutoFit/>
          </a:bodyPr>
          <a:lstStyle/>
          <a:p>
            <a:pPr>
              <a:lnSpc>
                <a:spcPct val="110000"/>
              </a:lnSpc>
              <a:defRPr sz="3800" b="1">
                <a:solidFill>
                  <a:srgbClr val="FFFFFF"/>
                </a:solidFill>
              </a:defRPr>
            </a:pPr>
            <a:r>
              <a:t>AI-Driven Treatment Planning</a:t>
            </a:r>
          </a:p>
        </p:txBody>
      </p:sp>
      <p:sp>
        <p:nvSpPr>
          <p:cNvPr id="5" name="Rectangle 4"/>
          <p:cNvSpPr/>
          <p:nvPr/>
        </p:nvSpPr>
        <p:spPr>
          <a:xfrm>
            <a:off x="0" y="6748272"/>
            <a:ext cx="9144000"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9144000" cy="45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AI-Driven Treatment Planning</a:t>
            </a:r>
          </a:p>
        </p:txBody>
      </p:sp>
      <p:sp>
        <p:nvSpPr>
          <p:cNvPr id="6" name="TextBox 5"/>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AI-driven treatment planning is revolutionizing the way healthcare professionals develop personalized treatment plans for patients. Advanced algorithms analyze a patient's medical history, genetic profile, and current health status to provide a tailored treatment plan.</a:t>
            </a:r>
          </a:p>
        </p:txBody>
      </p:sp>
      <p:sp>
        <p:nvSpPr>
          <p:cNvPr id="7" name="Oval 6"/>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Personalized treatment options</a:t>
            </a:r>
          </a:p>
        </p:txBody>
      </p:sp>
      <p:sp>
        <p:nvSpPr>
          <p:cNvPr id="9" name="Oval 8"/>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Improved patient outcomes</a:t>
            </a:r>
          </a:p>
        </p:txBody>
      </p:sp>
      <p:sp>
        <p:nvSpPr>
          <p:cNvPr id="11" name="Oval 10"/>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Reduced treatment costs</a:t>
            </a:r>
          </a:p>
        </p:txBody>
      </p:sp>
      <p:sp>
        <p:nvSpPr>
          <p:cNvPr id="13" name="Oval 12"/>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Enhanced patient engagement</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Unlocking the Potential of AI in Healthcare</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9144000" cy="45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Challenges and Limitations of AI in Healthcare</a:t>
            </a:r>
          </a:p>
        </p:txBody>
      </p:sp>
      <p:sp>
        <p:nvSpPr>
          <p:cNvPr id="6" name="TextBox 5"/>
          <p:cNvSpPr txBox="1"/>
          <p:nvPr/>
        </p:nvSpPr>
        <p:spPr>
          <a:xfrm>
            <a:off x="457200" y="1417320"/>
            <a:ext cx="4114800" cy="1161288"/>
          </a:xfrm>
          <a:prstGeom prst="rect">
            <a:avLst/>
          </a:prstGeom>
          <a:noFill/>
        </p:spPr>
        <p:txBody>
          <a:bodyPr wrap="square">
            <a:spAutoFit/>
          </a:bodyPr>
          <a:lstStyle/>
          <a:p>
            <a:pPr>
              <a:lnSpc>
                <a:spcPct val="130000"/>
              </a:lnSpc>
              <a:defRPr sz="1400">
                <a:solidFill>
                  <a:srgbClr val="0F172A"/>
                </a:solidFill>
              </a:defRPr>
            </a:pPr>
            <a:r>
              <a:t>While AI has the potential to transform healthcare, there are several challenges and limitations that must be addressed. These include data quality and bias issues, lack of transparency and explainability, and concerns about job displacement.</a:t>
            </a:r>
          </a:p>
        </p:txBody>
      </p:sp>
      <p:sp>
        <p:nvSpPr>
          <p:cNvPr id="7" name="Oval 6"/>
          <p:cNvSpPr/>
          <p:nvPr/>
        </p:nvSpPr>
        <p:spPr>
          <a:xfrm>
            <a:off x="457200" y="2898648"/>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2852928"/>
            <a:ext cx="3877056" cy="658368"/>
          </a:xfrm>
          <a:prstGeom prst="rect">
            <a:avLst/>
          </a:prstGeom>
          <a:noFill/>
        </p:spPr>
        <p:txBody>
          <a:bodyPr wrap="square">
            <a:spAutoFit/>
          </a:bodyPr>
          <a:lstStyle/>
          <a:p>
            <a:pPr>
              <a:lnSpc>
                <a:spcPct val="130000"/>
              </a:lnSpc>
              <a:defRPr sz="1500">
                <a:solidFill>
                  <a:srgbClr val="0F172A"/>
                </a:solidFill>
              </a:defRPr>
            </a:pPr>
            <a:r>
              <a:t>Data quality and bias</a:t>
            </a:r>
          </a:p>
        </p:txBody>
      </p:sp>
      <p:sp>
        <p:nvSpPr>
          <p:cNvPr id="9" name="Oval 8"/>
          <p:cNvSpPr/>
          <p:nvPr/>
        </p:nvSpPr>
        <p:spPr>
          <a:xfrm>
            <a:off x="457200" y="3611880"/>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3566160"/>
            <a:ext cx="3877056" cy="658368"/>
          </a:xfrm>
          <a:prstGeom prst="rect">
            <a:avLst/>
          </a:prstGeom>
          <a:noFill/>
        </p:spPr>
        <p:txBody>
          <a:bodyPr wrap="square">
            <a:spAutoFit/>
          </a:bodyPr>
          <a:lstStyle/>
          <a:p>
            <a:pPr>
              <a:lnSpc>
                <a:spcPct val="130000"/>
              </a:lnSpc>
              <a:defRPr sz="1500">
                <a:solidFill>
                  <a:srgbClr val="0F172A"/>
                </a:solidFill>
              </a:defRPr>
            </a:pPr>
            <a:r>
              <a:t>Lack of transparency</a:t>
            </a:r>
          </a:p>
        </p:txBody>
      </p:sp>
      <p:sp>
        <p:nvSpPr>
          <p:cNvPr id="11" name="Oval 10"/>
          <p:cNvSpPr/>
          <p:nvPr/>
        </p:nvSpPr>
        <p:spPr>
          <a:xfrm>
            <a:off x="457200" y="4325112"/>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4279392"/>
            <a:ext cx="3877056" cy="658368"/>
          </a:xfrm>
          <a:prstGeom prst="rect">
            <a:avLst/>
          </a:prstGeom>
          <a:noFill/>
        </p:spPr>
        <p:txBody>
          <a:bodyPr wrap="square">
            <a:spAutoFit/>
          </a:bodyPr>
          <a:lstStyle/>
          <a:p>
            <a:pPr>
              <a:lnSpc>
                <a:spcPct val="130000"/>
              </a:lnSpc>
              <a:defRPr sz="1500">
                <a:solidFill>
                  <a:srgbClr val="0F172A"/>
                </a:solidFill>
              </a:defRPr>
            </a:pPr>
            <a:r>
              <a:t>Job displacement concerns</a:t>
            </a:r>
          </a:p>
        </p:txBody>
      </p:sp>
      <p:sp>
        <p:nvSpPr>
          <p:cNvPr id="13" name="Oval 12"/>
          <p:cNvSpPr/>
          <p:nvPr/>
        </p:nvSpPr>
        <p:spPr>
          <a:xfrm>
            <a:off x="457200" y="50383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4992624"/>
            <a:ext cx="3877056" cy="658368"/>
          </a:xfrm>
          <a:prstGeom prst="rect">
            <a:avLst/>
          </a:prstGeom>
          <a:noFill/>
        </p:spPr>
        <p:txBody>
          <a:bodyPr wrap="square">
            <a:spAutoFit/>
          </a:bodyPr>
          <a:lstStyle/>
          <a:p>
            <a:pPr>
              <a:lnSpc>
                <a:spcPct val="130000"/>
              </a:lnSpc>
              <a:defRPr sz="1500">
                <a:solidFill>
                  <a:srgbClr val="0F172A"/>
                </a:solidFill>
              </a:defRPr>
            </a:pPr>
            <a:r>
              <a:t>Research and development needs</a:t>
            </a:r>
          </a:p>
        </p:txBody>
      </p:sp>
      <p:pic>
        <p:nvPicPr>
          <p:cNvPr id="15" name="Picture 14" descr="unsplash_Jxi526YIQgA.jpg"/>
          <p:cNvPicPr>
            <a:picLocks noChangeAspect="1"/>
          </p:cNvPicPr>
          <p:nvPr/>
        </p:nvPicPr>
        <p:blipFill>
          <a:blip r:embed="rId2"/>
          <a:stretch>
            <a:fillRect/>
          </a:stretch>
        </p:blipFill>
        <p:spPr>
          <a:xfrm>
            <a:off x="4754880" y="1280160"/>
            <a:ext cx="3840480" cy="4937760"/>
          </a:xfrm>
          <a:prstGeom prst="rect">
            <a:avLst/>
          </a:prstGeom>
        </p:spPr>
      </p:pic>
      <p:sp>
        <p:nvSpPr>
          <p:cNvPr id="16" name="Rectangle 15"/>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Unlocking the Potential of AI in Healthcare</a:t>
            </a:r>
          </a:p>
        </p:txBody>
      </p:sp>
      <p:sp>
        <p:nvSpPr>
          <p:cNvPr id="18" name="TextBox 17"/>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Oval 1"/>
          <p:cNvSpPr/>
          <p:nvPr/>
        </p:nvSpPr>
        <p:spPr>
          <a:xfrm>
            <a:off x="6858000" y="-914400"/>
            <a:ext cx="4114800" cy="41148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834640"/>
            <a:ext cx="7772400" cy="1463040"/>
          </a:xfrm>
          <a:prstGeom prst="rect">
            <a:avLst/>
          </a:prstGeom>
          <a:noFill/>
        </p:spPr>
        <p:txBody>
          <a:bodyPr wrap="square">
            <a:spAutoFit/>
          </a:bodyPr>
          <a:lstStyle/>
          <a:p>
            <a:pPr>
              <a:lnSpc>
                <a:spcPct val="110000"/>
              </a:lnSpc>
              <a:defRPr sz="3800" b="1">
                <a:solidFill>
                  <a:srgbClr val="FFFFFF"/>
                </a:solidFill>
              </a:defRPr>
            </a:pPr>
            <a:r>
              <a:t>Conclusion and Future Directions</a:t>
            </a:r>
          </a:p>
        </p:txBody>
      </p:sp>
      <p:sp>
        <p:nvSpPr>
          <p:cNvPr id="5" name="Rectangle 4"/>
          <p:cNvSpPr/>
          <p:nvPr/>
        </p:nvSpPr>
        <p:spPr>
          <a:xfrm>
            <a:off x="0" y="6748272"/>
            <a:ext cx="9144000"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and Future Directions</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Prioritize patient-centered design</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Ensure data quality and transparency</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Foster research and development</a:t>
            </a:r>
          </a:p>
          <a:p>
            <a:pPr>
              <a:lnSpc>
                <a:spcPct val="120000"/>
              </a:lnSpc>
              <a:spcBef>
                <a:spcPts val="600"/>
              </a:spcBef>
              <a:spcAft>
                <a:spcPts val="600"/>
              </a:spcAft>
              <a:defRPr sz="1200">
                <a:solidFill>
                  <a:srgbClr val="0F172A"/>
                </a:solidFill>
              </a:defRPr>
            </a:pPr>
            <a:r>
              <a:t>• Address job displacement concerns</a:t>
            </a:r>
          </a:p>
          <a:p>
            <a:pPr>
              <a:lnSpc>
                <a:spcPct val="120000"/>
              </a:lnSpc>
              <a:spcBef>
                <a:spcPts val="600"/>
              </a:spcBef>
              <a:spcAft>
                <a:spcPts val="600"/>
              </a:spcAft>
              <a:defRPr sz="1200">
                <a:solidFill>
                  <a:srgbClr val="0F172A"/>
                </a:solidFill>
              </a:defRPr>
            </a:pPr>
            <a:r>
              <a:t>• Unlock the full potential</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 to AI in Healthcare</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Enhanced patient outcomes</a:t>
            </a:r>
          </a:p>
          <a:p>
            <a:pPr>
              <a:lnSpc>
                <a:spcPct val="120000"/>
              </a:lnSpc>
              <a:spcBef>
                <a:spcPts val="300"/>
              </a:spcBef>
              <a:spcAft>
                <a:spcPts val="300"/>
              </a:spcAft>
              <a:defRPr sz="1100">
                <a:solidFill>
                  <a:srgbClr val="64748B"/>
                </a:solidFill>
              </a:defRPr>
            </a:pPr>
            <a:r>
              <a:t>• Improved diagnosis accuracy</a:t>
            </a:r>
          </a:p>
          <a:p>
            <a:pPr>
              <a:lnSpc>
                <a:spcPct val="120000"/>
              </a:lnSpc>
              <a:spcBef>
                <a:spcPts val="300"/>
              </a:spcBef>
              <a:spcAft>
                <a:spcPts val="300"/>
              </a:spcAft>
              <a:defRPr sz="1100">
                <a:solidFill>
                  <a:srgbClr val="64748B"/>
                </a:solidFill>
              </a:defRPr>
            </a:pPr>
            <a:r>
              <a:t>• Personalized treatment options</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AI-Powered Diagnostics</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Enhanced diagnostic accuracy</a:t>
            </a:r>
          </a:p>
          <a:p>
            <a:pPr>
              <a:lnSpc>
                <a:spcPct val="120000"/>
              </a:lnSpc>
              <a:spcBef>
                <a:spcPts val="300"/>
              </a:spcBef>
              <a:spcAft>
                <a:spcPts val="300"/>
              </a:spcAft>
              <a:defRPr sz="1100">
                <a:solidFill>
                  <a:srgbClr val="64748B"/>
                </a:solidFill>
              </a:defRPr>
            </a:pPr>
            <a:r>
              <a:t>• Improved disease detection</a:t>
            </a:r>
          </a:p>
          <a:p>
            <a:pPr>
              <a:lnSpc>
                <a:spcPct val="120000"/>
              </a:lnSpc>
              <a:spcBef>
                <a:spcPts val="300"/>
              </a:spcBef>
              <a:spcAft>
                <a:spcPts val="300"/>
              </a:spcAft>
              <a:defRPr sz="1100">
                <a:solidFill>
                  <a:srgbClr val="64748B"/>
                </a:solidFill>
              </a:defRPr>
            </a:pPr>
            <a:r>
              <a:t>• Personalized treatment options</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AI-Driven Treatment Planning</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Personalized treatment options</a:t>
            </a:r>
          </a:p>
          <a:p>
            <a:pPr>
              <a:lnSpc>
                <a:spcPct val="120000"/>
              </a:lnSpc>
              <a:spcBef>
                <a:spcPts val="300"/>
              </a:spcBef>
              <a:spcAft>
                <a:spcPts val="300"/>
              </a:spcAft>
              <a:defRPr sz="1100">
                <a:solidFill>
                  <a:srgbClr val="64748B"/>
                </a:solidFill>
              </a:defRPr>
            </a:pPr>
            <a:r>
              <a:t>• Improved patient outcomes</a:t>
            </a:r>
          </a:p>
          <a:p>
            <a:pPr>
              <a:lnSpc>
                <a:spcPct val="120000"/>
              </a:lnSpc>
              <a:spcBef>
                <a:spcPts val="300"/>
              </a:spcBef>
              <a:spcAft>
                <a:spcPts val="300"/>
              </a:spcAft>
              <a:defRPr sz="1100">
                <a:solidFill>
                  <a:srgbClr val="64748B"/>
                </a:solidFill>
              </a:defRPr>
            </a:pPr>
            <a:r>
              <a:t>• Reduced treatment costs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AI in Healthcare</a:t>
            </a:r>
          </a:p>
          <a:p>
            <a:pPr>
              <a:spcBef>
                <a:spcPts val="800"/>
              </a:spcBef>
              <a:spcAft>
                <a:spcPts val="800"/>
              </a:spcAft>
              <a:defRPr sz="2000">
                <a:solidFill>
                  <a:srgbClr val="F59E0B"/>
                </a:solidFill>
              </a:defRPr>
            </a:pPr>
            <a:r>
              <a:t>✓ AI-Powered Diagnostics</a:t>
            </a:r>
          </a:p>
          <a:p>
            <a:pPr>
              <a:spcBef>
                <a:spcPts val="800"/>
              </a:spcBef>
              <a:spcAft>
                <a:spcPts val="800"/>
              </a:spcAft>
              <a:defRPr sz="2000">
                <a:solidFill>
                  <a:srgbClr val="F59E0B"/>
                </a:solidFill>
              </a:defRPr>
            </a:pPr>
            <a:r>
              <a:t>✓ AI-Driven Treatment Planning</a:t>
            </a:r>
          </a:p>
          <a:p>
            <a:pPr>
              <a:spcBef>
                <a:spcPts val="800"/>
              </a:spcBef>
              <a:spcAft>
                <a:spcPts val="800"/>
              </a:spcAft>
              <a:defRPr sz="2000">
                <a:solidFill>
                  <a:srgbClr val="F59E0B"/>
                </a:solidFill>
              </a:defRPr>
            </a:pPr>
            <a:r>
              <a:t>✓ Challenges and Limitations of AI in Healthcare</a:t>
            </a:r>
          </a:p>
          <a:p>
            <a:pPr>
              <a:spcBef>
                <a:spcPts val="800"/>
              </a:spcBef>
              <a:spcAft>
                <a:spcPts val="800"/>
              </a:spcAft>
              <a:defRPr sz="2000">
                <a:solidFill>
                  <a:srgbClr val="F59E0B"/>
                </a:solidFill>
              </a:defRPr>
            </a:pPr>
            <a:r>
              <a:t>✓ Conclusion and Future Directions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