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Revenue of SunPharma: A Comprehensive Overview</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Introduction to SunPharma</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1983</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64748B"/>
                </a:solidFill>
              </a:defRPr>
            </a:pPr>
            <a:r>
              <a:t>Founded in</a:t>
            </a:r>
          </a:p>
        </p:txBody>
      </p:sp>
      <p:sp>
        <p:nvSpPr>
          <p:cNvPr id="8" name="TextBox 7"/>
          <p:cNvSpPr txBox="1"/>
          <p:nvPr/>
        </p:nvSpPr>
        <p:spPr>
          <a:xfrm>
            <a:off x="731520" y="3154680"/>
            <a:ext cx="7680960" cy="914399"/>
          </a:xfrm>
          <a:prstGeom prst="rect">
            <a:avLst/>
          </a:prstGeom>
          <a:noFill/>
        </p:spPr>
        <p:txBody>
          <a:bodyPr wrap="square">
            <a:spAutoFit/>
          </a:bodyPr>
          <a:lstStyle/>
          <a:p>
            <a:pPr>
              <a:lnSpc>
                <a:spcPct val="130000"/>
              </a:lnSpc>
              <a:defRPr sz="1400">
                <a:solidFill>
                  <a:srgbClr val="64748B"/>
                </a:solidFill>
              </a:defRPr>
            </a:pPr>
            <a:r>
              <a:t>SunPharma is a leading Indian multinational pharmaceutical company with a strong presence in over 100 countries. Founded in 1983, the company has been consistently delivering high-quality products and services.</a:t>
            </a:r>
          </a:p>
        </p:txBody>
      </p:sp>
      <p:sp>
        <p:nvSpPr>
          <p:cNvPr id="9" name="Oval 8"/>
          <p:cNvSpPr/>
          <p:nvPr/>
        </p:nvSpPr>
        <p:spPr>
          <a:xfrm>
            <a:off x="502920" y="43434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97680"/>
            <a:ext cx="7589520" cy="868680"/>
          </a:xfrm>
          <a:prstGeom prst="rect">
            <a:avLst/>
          </a:prstGeom>
          <a:noFill/>
        </p:spPr>
        <p:txBody>
          <a:bodyPr wrap="square">
            <a:spAutoFit/>
          </a:bodyPr>
          <a:lstStyle/>
          <a:p>
            <a:pPr>
              <a:lnSpc>
                <a:spcPct val="130000"/>
              </a:lnSpc>
              <a:defRPr sz="1600">
                <a:solidFill>
                  <a:srgbClr val="0F172A"/>
                </a:solidFill>
              </a:defRPr>
            </a:pPr>
            <a:r>
              <a:t>Indian multinational</a:t>
            </a:r>
          </a:p>
        </p:txBody>
      </p:sp>
      <p:sp>
        <p:nvSpPr>
          <p:cNvPr id="11" name="Oval 10"/>
          <p:cNvSpPr/>
          <p:nvPr/>
        </p:nvSpPr>
        <p:spPr>
          <a:xfrm>
            <a:off x="502920" y="50749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29200"/>
            <a:ext cx="7589520" cy="868680"/>
          </a:xfrm>
          <a:prstGeom prst="rect">
            <a:avLst/>
          </a:prstGeom>
          <a:noFill/>
        </p:spPr>
        <p:txBody>
          <a:bodyPr wrap="square">
            <a:spAutoFit/>
          </a:bodyPr>
          <a:lstStyle/>
          <a:p>
            <a:pPr>
              <a:lnSpc>
                <a:spcPct val="130000"/>
              </a:lnSpc>
              <a:defRPr sz="1600">
                <a:solidFill>
                  <a:srgbClr val="0F172A"/>
                </a:solidFill>
              </a:defRPr>
            </a:pPr>
            <a:r>
              <a:t>Strong global presence</a:t>
            </a:r>
          </a:p>
        </p:txBody>
      </p:sp>
      <p:sp>
        <p:nvSpPr>
          <p:cNvPr id="13" name="Oval 12"/>
          <p:cNvSpPr/>
          <p:nvPr/>
        </p:nvSpPr>
        <p:spPr>
          <a:xfrm>
            <a:off x="502920" y="58064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760720"/>
            <a:ext cx="7589520" cy="868680"/>
          </a:xfrm>
          <a:prstGeom prst="rect">
            <a:avLst/>
          </a:prstGeom>
          <a:noFill/>
        </p:spPr>
        <p:txBody>
          <a:bodyPr wrap="square">
            <a:spAutoFit/>
          </a:bodyPr>
          <a:lstStyle/>
          <a:p>
            <a:pPr>
              <a:lnSpc>
                <a:spcPct val="130000"/>
              </a:lnSpc>
              <a:defRPr sz="1600">
                <a:solidFill>
                  <a:srgbClr val="0F172A"/>
                </a:solidFill>
              </a:defRPr>
            </a:pPr>
            <a:r>
              <a:t>Diverse product portfolio</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Revenue Growth of SunPharma</a:t>
            </a:r>
          </a:p>
        </p:txBody>
      </p:sp>
      <p:sp>
        <p:nvSpPr>
          <p:cNvPr id="4" name="TextBox 3"/>
          <p:cNvSpPr txBox="1"/>
          <p:nvPr/>
        </p:nvSpPr>
        <p:spPr>
          <a:xfrm>
            <a:off x="731520" y="1417320"/>
            <a:ext cx="7680960" cy="914399"/>
          </a:xfrm>
          <a:prstGeom prst="rect">
            <a:avLst/>
          </a:prstGeom>
          <a:noFill/>
        </p:spPr>
        <p:txBody>
          <a:bodyPr wrap="square">
            <a:spAutoFit/>
          </a:bodyPr>
          <a:lstStyle/>
          <a:p>
            <a:pPr>
              <a:lnSpc>
                <a:spcPct val="130000"/>
              </a:lnSpc>
              <a:defRPr sz="1400">
                <a:solidFill>
                  <a:srgbClr val="64748B"/>
                </a:solidFill>
              </a:defRPr>
            </a:pPr>
            <a:r>
              <a:t>SunPharma has consistently demonstrated revenue growth over the years, with a compound annual growth rate (CAGR) of 10% since 2010. The company's revenue has grown significantly due to its strong product pipeline and strategic acquisitions.</a:t>
            </a:r>
          </a:p>
        </p:txBody>
      </p:sp>
      <p:sp>
        <p:nvSpPr>
          <p:cNvPr id="5" name="Oval 4"/>
          <p:cNvSpPr/>
          <p:nvPr/>
        </p:nvSpPr>
        <p:spPr>
          <a:xfrm>
            <a:off x="502920" y="26060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60320"/>
            <a:ext cx="7589520" cy="868680"/>
          </a:xfrm>
          <a:prstGeom prst="rect">
            <a:avLst/>
          </a:prstGeom>
          <a:noFill/>
        </p:spPr>
        <p:txBody>
          <a:bodyPr wrap="square">
            <a:spAutoFit/>
          </a:bodyPr>
          <a:lstStyle/>
          <a:p>
            <a:pPr>
              <a:lnSpc>
                <a:spcPct val="130000"/>
              </a:lnSpc>
              <a:defRPr sz="1600">
                <a:solidFill>
                  <a:srgbClr val="0F172A"/>
                </a:solidFill>
              </a:defRPr>
            </a:pPr>
            <a:r>
              <a:t>Revenue growth</a:t>
            </a:r>
          </a:p>
        </p:txBody>
      </p:sp>
      <p:sp>
        <p:nvSpPr>
          <p:cNvPr id="7" name="Oval 6"/>
          <p:cNvSpPr/>
          <p:nvPr/>
        </p:nvSpPr>
        <p:spPr>
          <a:xfrm>
            <a:off x="502920" y="333755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91839"/>
            <a:ext cx="7589520" cy="868680"/>
          </a:xfrm>
          <a:prstGeom prst="rect">
            <a:avLst/>
          </a:prstGeom>
          <a:noFill/>
        </p:spPr>
        <p:txBody>
          <a:bodyPr wrap="square">
            <a:spAutoFit/>
          </a:bodyPr>
          <a:lstStyle/>
          <a:p>
            <a:pPr>
              <a:lnSpc>
                <a:spcPct val="130000"/>
              </a:lnSpc>
              <a:defRPr sz="1600">
                <a:solidFill>
                  <a:srgbClr val="0F172A"/>
                </a:solidFill>
              </a:defRPr>
            </a:pPr>
            <a:r>
              <a:t>Compound annual growth rate</a:t>
            </a:r>
          </a:p>
        </p:txBody>
      </p:sp>
      <p:sp>
        <p:nvSpPr>
          <p:cNvPr id="9" name="Oval 8"/>
          <p:cNvSpPr/>
          <p:nvPr/>
        </p:nvSpPr>
        <p:spPr>
          <a:xfrm>
            <a:off x="502920" y="40690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59"/>
            <a:ext cx="7589520" cy="868680"/>
          </a:xfrm>
          <a:prstGeom prst="rect">
            <a:avLst/>
          </a:prstGeom>
          <a:noFill/>
        </p:spPr>
        <p:txBody>
          <a:bodyPr wrap="square">
            <a:spAutoFit/>
          </a:bodyPr>
          <a:lstStyle/>
          <a:p>
            <a:pPr>
              <a:lnSpc>
                <a:spcPct val="130000"/>
              </a:lnSpc>
              <a:defRPr sz="1600">
                <a:solidFill>
                  <a:srgbClr val="0F172A"/>
                </a:solidFill>
              </a:defRPr>
            </a:pPr>
            <a:r>
              <a:t>Strong product pipeline</a:t>
            </a:r>
          </a:p>
        </p:txBody>
      </p:sp>
      <p:sp>
        <p:nvSpPr>
          <p:cNvPr id="11" name="Rectangle 10"/>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Key Drivers of Revenue Growth</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SunPharma's revenue growth can be attributed to several key drivers. The company's focus on research and development has led to the development of innovative products, which have contributed significantly to its revenue growth.</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Research and development</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Innovative products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Strong pipeline</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Strategic acquisitions</a:t>
            </a:r>
          </a:p>
        </p:txBody>
      </p:sp>
      <p:pic>
        <p:nvPicPr>
          <p:cNvPr id="13" name="Picture 12" descr="unsplash_zd-QsNq50bA.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Geographic Revenue Breakdown</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SunPharma's revenue is generated from its operations in various geographies. The company has a significant presence in the US and Europe, with a growing presence in emerging markets such as Asia-Pacific and Latin America.</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US market</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European market</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Asia-Pacific market</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Latin American market</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Revenue Segmentation</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SunPharma's revenue is segmented into various product categories. The company generates a significant portion of its revenue from its formulations business, with a smaller but growing contribution from its generics business.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Formulations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Generics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APIs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Other products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Revenue by Business Segment</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SunPharma's revenue is also segmented by business segments. The company has a significant presence in the specialty and hospital segment, with a smaller but growing contribution from its retail segment.</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Specialty and hospital</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Retail</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Generics</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Formulations</a:t>
            </a:r>
          </a:p>
        </p:txBody>
      </p:sp>
      <p:pic>
        <p:nvPicPr>
          <p:cNvPr id="13" name="Picture 12" descr="unsplash_E7RLgUjjazc.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Financial Performance</a:t>
            </a:r>
          </a:p>
        </p:txBody>
      </p:sp>
      <p:sp>
        <p:nvSpPr>
          <p:cNvPr id="4" name="TextBox 3"/>
          <p:cNvSpPr txBox="1"/>
          <p:nvPr/>
        </p:nvSpPr>
        <p:spPr>
          <a:xfrm>
            <a:off x="731520" y="1417320"/>
            <a:ext cx="7680960" cy="914399"/>
          </a:xfrm>
          <a:prstGeom prst="rect">
            <a:avLst/>
          </a:prstGeom>
          <a:noFill/>
        </p:spPr>
        <p:txBody>
          <a:bodyPr wrap="square">
            <a:spAutoFit/>
          </a:bodyPr>
          <a:lstStyle/>
          <a:p>
            <a:pPr>
              <a:lnSpc>
                <a:spcPct val="130000"/>
              </a:lnSpc>
              <a:defRPr sz="1400">
                <a:solidFill>
                  <a:srgbClr val="64748B"/>
                </a:solidFill>
              </a:defRPr>
            </a:pPr>
            <a:r>
              <a:t>SunPharma has consistently demonstrated strong financial performance, with a revenue growth rate of over 10% in recent years. The company's financial performance is driven by its strong product pipeline and strategic acquisitions.</a:t>
            </a:r>
          </a:p>
        </p:txBody>
      </p:sp>
      <p:sp>
        <p:nvSpPr>
          <p:cNvPr id="5" name="Oval 4"/>
          <p:cNvSpPr/>
          <p:nvPr/>
        </p:nvSpPr>
        <p:spPr>
          <a:xfrm>
            <a:off x="502920" y="26060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60320"/>
            <a:ext cx="7589520" cy="868680"/>
          </a:xfrm>
          <a:prstGeom prst="rect">
            <a:avLst/>
          </a:prstGeom>
          <a:noFill/>
        </p:spPr>
        <p:txBody>
          <a:bodyPr wrap="square">
            <a:spAutoFit/>
          </a:bodyPr>
          <a:lstStyle/>
          <a:p>
            <a:pPr>
              <a:lnSpc>
                <a:spcPct val="130000"/>
              </a:lnSpc>
              <a:defRPr sz="1600">
                <a:solidFill>
                  <a:srgbClr val="0F172A"/>
                </a:solidFill>
              </a:defRPr>
            </a:pPr>
            <a:r>
              <a:t>Revenue growth</a:t>
            </a:r>
          </a:p>
        </p:txBody>
      </p:sp>
      <p:sp>
        <p:nvSpPr>
          <p:cNvPr id="7" name="Oval 6"/>
          <p:cNvSpPr/>
          <p:nvPr/>
        </p:nvSpPr>
        <p:spPr>
          <a:xfrm>
            <a:off x="502920" y="333755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91839"/>
            <a:ext cx="7589520" cy="868680"/>
          </a:xfrm>
          <a:prstGeom prst="rect">
            <a:avLst/>
          </a:prstGeom>
          <a:noFill/>
        </p:spPr>
        <p:txBody>
          <a:bodyPr wrap="square">
            <a:spAutoFit/>
          </a:bodyPr>
          <a:lstStyle/>
          <a:p>
            <a:pPr>
              <a:lnSpc>
                <a:spcPct val="130000"/>
              </a:lnSpc>
              <a:defRPr sz="1600">
                <a:solidFill>
                  <a:srgbClr val="0F172A"/>
                </a:solidFill>
              </a:defRPr>
            </a:pPr>
            <a:r>
              <a:t>Financial performance</a:t>
            </a:r>
          </a:p>
        </p:txBody>
      </p:sp>
      <p:sp>
        <p:nvSpPr>
          <p:cNvPr id="9" name="Oval 8"/>
          <p:cNvSpPr/>
          <p:nvPr/>
        </p:nvSpPr>
        <p:spPr>
          <a:xfrm>
            <a:off x="502920" y="40690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59"/>
            <a:ext cx="7589520" cy="868680"/>
          </a:xfrm>
          <a:prstGeom prst="rect">
            <a:avLst/>
          </a:prstGeom>
          <a:noFill/>
        </p:spPr>
        <p:txBody>
          <a:bodyPr wrap="square">
            <a:spAutoFit/>
          </a:bodyPr>
          <a:lstStyle/>
          <a:p>
            <a:pPr>
              <a:lnSpc>
                <a:spcPct val="130000"/>
              </a:lnSpc>
              <a:defRPr sz="1600">
                <a:solidFill>
                  <a:srgbClr val="0F172A"/>
                </a:solidFill>
              </a:defRPr>
            </a:pPr>
            <a:r>
              <a:t>Strong pipeline</a:t>
            </a:r>
          </a:p>
        </p:txBody>
      </p:sp>
      <p:sp>
        <p:nvSpPr>
          <p:cNvPr id="11" name="Rectangle 10"/>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of SunPharma: A Comprehensive Overview</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Strong revenue growth</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Focus on R&amp;D</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Strategic acquisitions</a:t>
            </a:r>
          </a:p>
          <a:p>
            <a:pPr>
              <a:lnSpc>
                <a:spcPct val="120000"/>
              </a:lnSpc>
              <a:spcBef>
                <a:spcPts val="600"/>
              </a:spcBef>
              <a:spcAft>
                <a:spcPts val="600"/>
              </a:spcAft>
              <a:defRPr sz="1200">
                <a:solidFill>
                  <a:srgbClr val="0F172A"/>
                </a:solidFill>
              </a:defRPr>
            </a:pPr>
            <a:r>
              <a:t>• Geographic expansion</a:t>
            </a:r>
          </a:p>
          <a:p>
            <a:pPr>
              <a:lnSpc>
                <a:spcPct val="120000"/>
              </a:lnSpc>
              <a:spcBef>
                <a:spcPts val="600"/>
              </a:spcBef>
              <a:spcAft>
                <a:spcPts val="600"/>
              </a:spcAft>
              <a:defRPr sz="1200">
                <a:solidFill>
                  <a:srgbClr val="0F172A"/>
                </a:solidFill>
              </a:defRPr>
            </a:pPr>
            <a:r>
              <a:t>• Financial performance</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SunPharma</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Indian multinational</a:t>
            </a:r>
          </a:p>
          <a:p>
            <a:pPr>
              <a:lnSpc>
                <a:spcPct val="120000"/>
              </a:lnSpc>
              <a:spcBef>
                <a:spcPts val="300"/>
              </a:spcBef>
              <a:spcAft>
                <a:spcPts val="300"/>
              </a:spcAft>
              <a:defRPr sz="1100">
                <a:solidFill>
                  <a:srgbClr val="64748B"/>
                </a:solidFill>
              </a:defRPr>
            </a:pPr>
            <a:r>
              <a:t>• Founded in 1983</a:t>
            </a:r>
          </a:p>
          <a:p>
            <a:pPr>
              <a:lnSpc>
                <a:spcPct val="120000"/>
              </a:lnSpc>
              <a:spcBef>
                <a:spcPts val="300"/>
              </a:spcBef>
              <a:spcAft>
                <a:spcPts val="300"/>
              </a:spcAft>
              <a:defRPr sz="1100">
                <a:solidFill>
                  <a:srgbClr val="64748B"/>
                </a:solidFill>
              </a:defRPr>
            </a:pPr>
            <a:r>
              <a:t>• Strong global presence</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Revenue Growth of SunPharma</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Revenue growth</a:t>
            </a:r>
          </a:p>
          <a:p>
            <a:pPr>
              <a:lnSpc>
                <a:spcPct val="120000"/>
              </a:lnSpc>
              <a:spcBef>
                <a:spcPts val="300"/>
              </a:spcBef>
              <a:spcAft>
                <a:spcPts val="300"/>
              </a:spcAft>
              <a:defRPr sz="1100">
                <a:solidFill>
                  <a:srgbClr val="64748B"/>
                </a:solidFill>
              </a:defRPr>
            </a:pPr>
            <a:r>
              <a:t>• Compound annual growth rate</a:t>
            </a:r>
          </a:p>
          <a:p>
            <a:pPr>
              <a:lnSpc>
                <a:spcPct val="120000"/>
              </a:lnSpc>
              <a:spcBef>
                <a:spcPts val="300"/>
              </a:spcBef>
              <a:spcAft>
                <a:spcPts val="300"/>
              </a:spcAft>
              <a:defRPr sz="1100">
                <a:solidFill>
                  <a:srgbClr val="64748B"/>
                </a:solidFill>
              </a:defRPr>
            </a:pPr>
            <a:r>
              <a:t>• Strong product pipeline</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Key Drivers of Revenue Growth</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Research and development</a:t>
            </a:r>
          </a:p>
          <a:p>
            <a:pPr>
              <a:lnSpc>
                <a:spcPct val="120000"/>
              </a:lnSpc>
              <a:spcBef>
                <a:spcPts val="300"/>
              </a:spcBef>
              <a:spcAft>
                <a:spcPts val="300"/>
              </a:spcAft>
              <a:defRPr sz="1100">
                <a:solidFill>
                  <a:srgbClr val="64748B"/>
                </a:solidFill>
              </a:defRPr>
            </a:pPr>
            <a:r>
              <a:t>• Innovative products</a:t>
            </a:r>
          </a:p>
          <a:p>
            <a:pPr>
              <a:lnSpc>
                <a:spcPct val="120000"/>
              </a:lnSpc>
              <a:spcBef>
                <a:spcPts val="300"/>
              </a:spcBef>
              <a:spcAft>
                <a:spcPts val="300"/>
              </a:spcAft>
              <a:defRPr sz="1100">
                <a:solidFill>
                  <a:srgbClr val="64748B"/>
                </a:solidFill>
              </a:defRPr>
            </a:pPr>
            <a:r>
              <a:t>• Strong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 to SunPharma</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Revenue Growth of SunPharma</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Key Drivers of Revenue Growth</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Geographic Revenue Breakdown</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Revenue Segmentation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