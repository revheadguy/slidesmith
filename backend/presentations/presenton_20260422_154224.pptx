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Sheet1!$A$2:$A$5</c:f>
              <c:strCache>
                <c:ptCount val="4"/>
                <c:pt idx="0">
                  <c:v>World-class</c:v>
                </c:pt>
                <c:pt idx="1">
                  <c:v>Rigorous academic</c:v>
                </c:pt>
                <c:pt idx="2">
                  <c:v>Innovative</c:v>
                </c:pt>
                <c:pt idx="3">
                  <c:v>Extensive global</c:v>
                </c:pt>
              </c:strCache>
            </c:strRef>
          </c:cat>
          <c:val>
            <c:numRef>
              <c:f>Sheet1!$B$2:$B$5</c:f>
              <c:numCache>
                <c:formatCode>General</c:formatCode>
                <c:ptCount val="4"/>
                <c:pt idx="0">
                  <c:v>23</c:v>
                </c:pt>
                <c:pt idx="1">
                  <c:v>41</c:v>
                </c:pt>
                <c:pt idx="2">
                  <c:v>60</c:v>
                </c:pt>
                <c:pt idx="3">
                  <c:v>64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Harvard Law School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Introduction to Harvard Law School</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Harvard Law School is one of the most prestigious and highly respected law schools in the world. Established in 1870, it is located in Cambridge, Massachusetts, and is part of Harvard University. With a long history of producing influential alumni, including eight U.S. Supreme Court justices, Harvard Law School is known for its rigorous academic programs, innovative research opportunities, and extensive network of global connections.</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Established in 1870</a:t>
            </a:r>
          </a:p>
          <a:p>
            <a:pPr>
              <a:lnSpc>
                <a:spcPct val="120000"/>
              </a:lnSpc>
              <a:spcBef>
                <a:spcPts val="300"/>
              </a:spcBef>
              <a:spcAft>
                <a:spcPts val="300"/>
              </a:spcAft>
              <a:defRPr sz="1600">
                <a:solidFill>
                  <a:srgbClr val="F3F4F6"/>
                </a:solidFill>
              </a:defRPr>
            </a:pPr>
            <a:r>
              <a:t>• Part of Harvard University</a:t>
            </a:r>
          </a:p>
          <a:p>
            <a:pPr>
              <a:lnSpc>
                <a:spcPct val="120000"/>
              </a:lnSpc>
              <a:spcBef>
                <a:spcPts val="300"/>
              </a:spcBef>
              <a:spcAft>
                <a:spcPts val="300"/>
              </a:spcAft>
              <a:defRPr sz="1600">
                <a:solidFill>
                  <a:srgbClr val="F3F4F6"/>
                </a:solidFill>
              </a:defRPr>
            </a:pPr>
            <a:r>
              <a:t>• Rigorous academic programs</a:t>
            </a:r>
          </a:p>
          <a:p>
            <a:pPr>
              <a:lnSpc>
                <a:spcPct val="120000"/>
              </a:lnSpc>
              <a:spcBef>
                <a:spcPts val="300"/>
              </a:spcBef>
              <a:spcAft>
                <a:spcPts val="300"/>
              </a:spcAft>
              <a:defRPr sz="1600">
                <a:solidFill>
                  <a:srgbClr val="F3F4F6"/>
                </a:solidFill>
              </a:defRPr>
            </a:pPr>
            <a:r>
              <a:t>• Innovative research opportunities</a:t>
            </a:r>
          </a:p>
          <a:p>
            <a:pPr>
              <a:lnSpc>
                <a:spcPct val="120000"/>
              </a:lnSpc>
              <a:spcBef>
                <a:spcPts val="300"/>
              </a:spcBef>
              <a:spcAft>
                <a:spcPts val="300"/>
              </a:spcAft>
              <a:defRPr sz="1600">
                <a:solidFill>
                  <a:srgbClr val="F3F4F6"/>
                </a:solidFill>
              </a:defRPr>
            </a:pPr>
            <a:r>
              <a:t>• Extensive global connections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Admissions and Selectivity</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Harvard Law School is highly selective, with an acceptance rate of around 12%. The admissions process is highly competitive, with applicants required to submit a personal statement, letters of recommendation, and transcripts. The school looks for candidates who demonstrate exceptional academic achievement, leadership potential, and a commitment to public service.</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Acceptance rate: around 12%</a:t>
            </a:r>
          </a:p>
          <a:p>
            <a:pPr>
              <a:lnSpc>
                <a:spcPct val="120000"/>
              </a:lnSpc>
              <a:spcBef>
                <a:spcPts val="300"/>
              </a:spcBef>
              <a:spcAft>
                <a:spcPts val="300"/>
              </a:spcAft>
              <a:defRPr sz="1600">
                <a:solidFill>
                  <a:srgbClr val="F3F4F6"/>
                </a:solidFill>
              </a:defRPr>
            </a:pPr>
            <a:r>
              <a:t>• Highly competitive</a:t>
            </a:r>
          </a:p>
          <a:p>
            <a:pPr>
              <a:lnSpc>
                <a:spcPct val="120000"/>
              </a:lnSpc>
              <a:spcBef>
                <a:spcPts val="300"/>
              </a:spcBef>
              <a:spcAft>
                <a:spcPts val="300"/>
              </a:spcAft>
              <a:defRPr sz="1600">
                <a:solidFill>
                  <a:srgbClr val="F3F4F6"/>
                </a:solidFill>
              </a:defRPr>
            </a:pPr>
            <a:r>
              <a:t>• Personal statement required</a:t>
            </a:r>
          </a:p>
          <a:p>
            <a:pPr>
              <a:lnSpc>
                <a:spcPct val="120000"/>
              </a:lnSpc>
              <a:spcBef>
                <a:spcPts val="300"/>
              </a:spcBef>
              <a:spcAft>
                <a:spcPts val="300"/>
              </a:spcAft>
              <a:defRPr sz="1600">
                <a:solidFill>
                  <a:srgbClr val="F3F4F6"/>
                </a:solidFill>
              </a:defRPr>
            </a:pPr>
            <a:r>
              <a:t>• Letters of recommendation required</a:t>
            </a:r>
          </a:p>
          <a:p>
            <a:pPr>
              <a:lnSpc>
                <a:spcPct val="120000"/>
              </a:lnSpc>
              <a:spcBef>
                <a:spcPts val="300"/>
              </a:spcBef>
              <a:spcAft>
                <a:spcPts val="300"/>
              </a:spcAft>
              <a:defRPr sz="1600">
                <a:solidFill>
                  <a:srgbClr val="F3F4F6"/>
                </a:solidFill>
              </a:defRPr>
            </a:pPr>
            <a:r>
              <a:t>• Transcripts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Curriculum and Specializations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F3F4F6"/>
                </a:solidFill>
              </a:defRPr>
            </a:pPr>
            <a:r>
              <a:t>Harvard Law School offers a wide range of courses and programs, including JD, LLM, and SJD degrees. Students can choose from over 400 courses, covering topics such as corporate law, international law, intellectual property, and more. The school also offers various specializations, such as the Harvard-MIT Program in Health Law, Bioethics &amp; Policy.</a:t>
            </a:r>
          </a:p>
          <a:p>
            <a:pPr>
              <a:lnSpc>
                <a:spcPct val="115000"/>
              </a:lnSpc>
              <a:spcBef>
                <a:spcPts val="200"/>
              </a:spcBef>
              <a:spcAft>
                <a:spcPts val="200"/>
              </a:spcAft>
              <a:defRPr sz="1500">
                <a:solidFill>
                  <a:srgbClr val="F3F4F6"/>
                </a:solidFill>
              </a:defRPr>
            </a:pPr>
          </a:p>
          <a:p>
            <a:pPr>
              <a:lnSpc>
                <a:spcPct val="115000"/>
              </a:lnSpc>
              <a:spcBef>
                <a:spcPts val="200"/>
              </a:spcBef>
              <a:spcAft>
                <a:spcPts val="200"/>
              </a:spcAft>
              <a:defRPr sz="1500">
                <a:solidFill>
                  <a:srgbClr val="F3F4F6"/>
                </a:solidFill>
              </a:defRPr>
            </a:pPr>
            <a:r>
              <a:t>• Wide range of courses</a:t>
            </a:r>
          </a:p>
          <a:p>
            <a:pPr>
              <a:lnSpc>
                <a:spcPct val="115000"/>
              </a:lnSpc>
              <a:spcBef>
                <a:spcPts val="200"/>
              </a:spcBef>
              <a:spcAft>
                <a:spcPts val="200"/>
              </a:spcAft>
              <a:defRPr sz="1500">
                <a:solidFill>
                  <a:srgbClr val="F3F4F6"/>
                </a:solidFill>
              </a:defRPr>
            </a:pPr>
            <a:r>
              <a:t>• JD, LLM, SJD degrees offered</a:t>
            </a:r>
          </a:p>
          <a:p>
            <a:pPr>
              <a:lnSpc>
                <a:spcPct val="115000"/>
              </a:lnSpc>
              <a:spcBef>
                <a:spcPts val="200"/>
              </a:spcBef>
              <a:spcAft>
                <a:spcPts val="200"/>
              </a:spcAft>
              <a:defRPr sz="1500">
                <a:solidFill>
                  <a:srgbClr val="F3F4F6"/>
                </a:solidFill>
              </a:defRPr>
            </a:pPr>
            <a:r>
              <a:t>• Over 400 courses available</a:t>
            </a:r>
          </a:p>
          <a:p>
            <a:pPr>
              <a:lnSpc>
                <a:spcPct val="115000"/>
              </a:lnSpc>
              <a:spcBef>
                <a:spcPts val="200"/>
              </a:spcBef>
              <a:spcAft>
                <a:spcPts val="200"/>
              </a:spcAft>
              <a:defRPr sz="1500">
                <a:solidFill>
                  <a:srgbClr val="F3F4F6"/>
                </a:solidFill>
              </a:defRPr>
            </a:pPr>
            <a:r>
              <a:t>• Specializations include corporate law and intellectual property</a:t>
            </a:r>
          </a:p>
        </p:txBody>
      </p:sp>
      <p:pic>
        <p:nvPicPr>
          <p:cNvPr id="5" name="Picture 4" descr="unsplash_zFSo6bnZJTw.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Clinical Programs and Experiential Learning</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Harvard Law School is renowned for its clinical programs, which provide students with hands-on experience in real-world legal settings. The school offers over 20 clinics, covering topics such as poverty law, environmental law, and international human rights. This experiential learning approach helps students develop practical skills and build a network of connections.</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Over 20 clinical programs available</a:t>
            </a:r>
          </a:p>
          <a:p>
            <a:pPr>
              <a:lnSpc>
                <a:spcPct val="120000"/>
              </a:lnSpc>
              <a:spcBef>
                <a:spcPts val="300"/>
              </a:spcBef>
              <a:spcAft>
                <a:spcPts val="300"/>
              </a:spcAft>
              <a:defRPr sz="1600">
                <a:solidFill>
                  <a:srgbClr val="F3F4F6"/>
                </a:solidFill>
              </a:defRPr>
            </a:pPr>
            <a:r>
              <a:t>• Hands-on experience in real-world legal settings</a:t>
            </a:r>
          </a:p>
          <a:p>
            <a:pPr>
              <a:lnSpc>
                <a:spcPct val="120000"/>
              </a:lnSpc>
              <a:spcBef>
                <a:spcPts val="300"/>
              </a:spcBef>
              <a:spcAft>
                <a:spcPts val="300"/>
              </a:spcAft>
              <a:defRPr sz="1600">
                <a:solidFill>
                  <a:srgbClr val="F3F4F6"/>
                </a:solidFill>
              </a:defRPr>
            </a:pPr>
            <a:r>
              <a:t>• Topics include poverty law and environmental law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Research Opportunities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Harvard Law School is a hub for innovative research, with faculty and students working on cutting-edge projects. The school offers various research opportunities, including fellowships, grants, and collaborations with leading organizations. This enables students to develop their research skills, build their professional network, and make meaningful contributions to the legal field.</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Cutting-edge research opportunities</a:t>
            </a:r>
          </a:p>
          <a:p>
            <a:pPr>
              <a:lnSpc>
                <a:spcPct val="120000"/>
              </a:lnSpc>
              <a:spcBef>
                <a:spcPts val="300"/>
              </a:spcBef>
              <a:spcAft>
                <a:spcPts val="300"/>
              </a:spcAft>
              <a:defRPr sz="1600">
                <a:solidFill>
                  <a:srgbClr val="F3F4F6"/>
                </a:solidFill>
              </a:defRPr>
            </a:pPr>
            <a:r>
              <a:t>• Faculty-student collaboration</a:t>
            </a:r>
          </a:p>
          <a:p>
            <a:pPr>
              <a:lnSpc>
                <a:spcPct val="120000"/>
              </a:lnSpc>
              <a:spcBef>
                <a:spcPts val="300"/>
              </a:spcBef>
              <a:spcAft>
                <a:spcPts val="300"/>
              </a:spcAft>
              <a:defRPr sz="1600">
                <a:solidFill>
                  <a:srgbClr val="F3F4F6"/>
                </a:solidFill>
              </a:defRPr>
            </a:pPr>
            <a:r>
              <a:t>• Fellowships and grants available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11827"/>
                </a:solidFill>
              </a:defRPr>
            </a:pPr>
            <a:r>
              <a:t>Campus Life and Student Organizations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F3F4F6"/>
                </a:solidFill>
              </a:defRPr>
            </a:pPr>
            <a:r>
              <a:t>Harvard Law School has a vibrant campus life, with over 100 student organizations and clubs. Students can participate in extracurricular activities such as moot courts, debate teams, and community service projects. The school also offers various cultural and social events, fostering a sense of community and camaraderie among students.</a:t>
            </a:r>
          </a:p>
          <a:p>
            <a:pPr>
              <a:lnSpc>
                <a:spcPct val="115000"/>
              </a:lnSpc>
              <a:spcBef>
                <a:spcPts val="200"/>
              </a:spcBef>
              <a:spcAft>
                <a:spcPts val="200"/>
              </a:spcAft>
              <a:defRPr sz="1500">
                <a:solidFill>
                  <a:srgbClr val="F3F4F6"/>
                </a:solidFill>
              </a:defRPr>
            </a:pPr>
          </a:p>
          <a:p>
            <a:pPr>
              <a:lnSpc>
                <a:spcPct val="115000"/>
              </a:lnSpc>
              <a:spcBef>
                <a:spcPts val="200"/>
              </a:spcBef>
              <a:spcAft>
                <a:spcPts val="200"/>
              </a:spcAft>
              <a:defRPr sz="1500">
                <a:solidFill>
                  <a:srgbClr val="F3F4F6"/>
                </a:solidFill>
              </a:defRPr>
            </a:pPr>
            <a:r>
              <a:t>• Over 100 student organizations</a:t>
            </a:r>
          </a:p>
          <a:p>
            <a:pPr>
              <a:lnSpc>
                <a:spcPct val="115000"/>
              </a:lnSpc>
              <a:spcBef>
                <a:spcPts val="200"/>
              </a:spcBef>
              <a:spcAft>
                <a:spcPts val="200"/>
              </a:spcAft>
              <a:defRPr sz="1500">
                <a:solidFill>
                  <a:srgbClr val="F3F4F6"/>
                </a:solidFill>
              </a:defRPr>
            </a:pPr>
            <a:r>
              <a:t>• Extracurricular activities include moot courts and debate teams</a:t>
            </a:r>
          </a:p>
          <a:p>
            <a:pPr>
              <a:lnSpc>
                <a:spcPct val="115000"/>
              </a:lnSpc>
              <a:spcBef>
                <a:spcPts val="200"/>
              </a:spcBef>
              <a:spcAft>
                <a:spcPts val="200"/>
              </a:spcAft>
              <a:defRPr sz="1500">
                <a:solidFill>
                  <a:srgbClr val="F3F4F6"/>
                </a:solidFill>
              </a:defRPr>
            </a:pPr>
            <a:r>
              <a:t>• Cultural and social events available</a:t>
            </a:r>
          </a:p>
        </p:txBody>
      </p:sp>
      <p:pic>
        <p:nvPicPr>
          <p:cNvPr id="5" name="Picture 4" descr="unsplash_z8XO8BfqpYc.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11827"/>
                </a:solidFill>
              </a:defRPr>
            </a:pPr>
            <a:r>
              <a:t>Alumni Network</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F3F4F6"/>
                </a:solidFill>
              </a:defRPr>
            </a:pPr>
            <a:r>
              <a:t>Harvard Law School has an extensive network of influential alumni, including eight U.S. Supreme Court justices, numerous federal judges, and prominent business leaders. The school's strong alumni connections provide students with valuable networking opportunities, mentorship, and career guidance.</a:t>
            </a:r>
          </a:p>
          <a:p>
            <a:pPr>
              <a:lnSpc>
                <a:spcPct val="120000"/>
              </a:lnSpc>
              <a:spcBef>
                <a:spcPts val="300"/>
              </a:spcBef>
              <a:spcAft>
                <a:spcPts val="300"/>
              </a:spcAft>
              <a:defRPr sz="1600">
                <a:solidFill>
                  <a:srgbClr val="F3F4F6"/>
                </a:solidFill>
              </a:defRPr>
            </a:pPr>
          </a:p>
          <a:p>
            <a:pPr>
              <a:lnSpc>
                <a:spcPct val="120000"/>
              </a:lnSpc>
              <a:spcBef>
                <a:spcPts val="300"/>
              </a:spcBef>
              <a:spcAft>
                <a:spcPts val="300"/>
              </a:spcAft>
              <a:defRPr sz="1600">
                <a:solidFill>
                  <a:srgbClr val="F3F4F6"/>
                </a:solidFill>
              </a:defRPr>
            </a:pPr>
            <a:r>
              <a:t>• Extensive alumni network</a:t>
            </a:r>
          </a:p>
          <a:p>
            <a:pPr>
              <a:lnSpc>
                <a:spcPct val="120000"/>
              </a:lnSpc>
              <a:spcBef>
                <a:spcPts val="300"/>
              </a:spcBef>
              <a:spcAft>
                <a:spcPts val="300"/>
              </a:spcAft>
              <a:defRPr sz="1600">
                <a:solidFill>
                  <a:srgbClr val="F3F4F6"/>
                </a:solidFill>
              </a:defRPr>
            </a:pPr>
            <a:r>
              <a:t>• Influential alumni include U.S. Supreme Court justices</a:t>
            </a:r>
          </a:p>
          <a:p>
            <a:pPr>
              <a:lnSpc>
                <a:spcPct val="120000"/>
              </a:lnSpc>
              <a:spcBef>
                <a:spcPts val="300"/>
              </a:spcBef>
              <a:spcAft>
                <a:spcPts val="300"/>
              </a:spcAft>
              <a:defRPr sz="1600">
                <a:solidFill>
                  <a:srgbClr val="F3F4F6"/>
                </a:solidFill>
              </a:defRPr>
            </a:pPr>
            <a:r>
              <a:t>• Networking opportunities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11827"/>
                </a:solidFill>
              </a:defRPr>
            </a:pPr>
            <a:r>
              <a:t>Conclusion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11827"/>
                </a:solidFill>
              </a:defRPr>
            </a:pPr>
            <a:r>
              <a:t>Presentation Flow</a:t>
            </a:r>
          </a:p>
        </p:txBody>
      </p:sp>
      <p:sp>
        <p:nvSpPr>
          <p:cNvPr id="4" name="Rectangle 3"/>
          <p:cNvSpPr/>
          <p:nvPr/>
        </p:nvSpPr>
        <p:spPr>
          <a:xfrm>
            <a:off x="457200" y="1371600"/>
            <a:ext cx="2499360" cy="4572000"/>
          </a:xfrm>
          <a:prstGeom prst="rect">
            <a:avLst/>
          </a:prstGeom>
          <a:solidFill>
            <a:srgbClr val="141C28"/>
          </a:solidFill>
          <a:ln w="1270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11827"/>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D1D5DB"/>
                </a:solidFill>
              </a:defRPr>
            </a:pPr>
            <a:r>
              <a:t>Introduction to Harvard Law School</a:t>
            </a:r>
          </a:p>
        </p:txBody>
      </p:sp>
      <p:sp>
        <p:nvSpPr>
          <p:cNvPr id="7" name="Rectangle 6"/>
          <p:cNvSpPr/>
          <p:nvPr/>
        </p:nvSpPr>
        <p:spPr>
          <a:xfrm>
            <a:off x="3048000" y="1371600"/>
            <a:ext cx="2499360" cy="4572000"/>
          </a:xfrm>
          <a:prstGeom prst="rect">
            <a:avLst/>
          </a:prstGeom>
          <a:solidFill>
            <a:srgbClr val="141C28"/>
          </a:solidFill>
          <a:ln w="1270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11827"/>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D1D5DB"/>
                </a:solidFill>
              </a:defRPr>
            </a:pPr>
            <a:r>
              <a:t>Research Opportunities</a:t>
            </a:r>
          </a:p>
        </p:txBody>
      </p:sp>
      <p:sp>
        <p:nvSpPr>
          <p:cNvPr id="10" name="Rectangle 9"/>
          <p:cNvSpPr/>
          <p:nvPr/>
        </p:nvSpPr>
        <p:spPr>
          <a:xfrm>
            <a:off x="5638800" y="1371600"/>
            <a:ext cx="2499360" cy="4572000"/>
          </a:xfrm>
          <a:prstGeom prst="rect">
            <a:avLst/>
          </a:prstGeom>
          <a:solidFill>
            <a:srgbClr val="141C28"/>
          </a:solidFill>
          <a:ln w="1270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11827"/>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D1D5DB"/>
                </a:solidFill>
              </a:defRPr>
            </a:pPr>
            <a:r>
              <a:t>Conclusion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3F4F6"/>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22C55E"/>
                </a:solidFill>
              </a:defRPr>
            </a:pPr>
            <a:r>
              <a:t>✓ Introduction to Harvard Law School</a:t>
            </a:r>
          </a:p>
          <a:p>
            <a:pPr>
              <a:spcBef>
                <a:spcPts val="800"/>
              </a:spcBef>
              <a:spcAft>
                <a:spcPts val="800"/>
              </a:spcAft>
              <a:defRPr sz="2000">
                <a:solidFill>
                  <a:srgbClr val="22C55E"/>
                </a:solidFill>
              </a:defRPr>
            </a:pPr>
            <a:r>
              <a:t>✓ Admissions and Selectivity</a:t>
            </a:r>
          </a:p>
          <a:p>
            <a:pPr>
              <a:spcBef>
                <a:spcPts val="800"/>
              </a:spcBef>
              <a:spcAft>
                <a:spcPts val="800"/>
              </a:spcAft>
              <a:defRPr sz="2000">
                <a:solidFill>
                  <a:srgbClr val="22C55E"/>
                </a:solidFill>
              </a:defRPr>
            </a:pPr>
            <a:r>
              <a:t>✓ Curriculum and Specializations</a:t>
            </a:r>
          </a:p>
          <a:p>
            <a:pPr>
              <a:spcBef>
                <a:spcPts val="800"/>
              </a:spcBef>
              <a:spcAft>
                <a:spcPts val="800"/>
              </a:spcAft>
              <a:defRPr sz="2000">
                <a:solidFill>
                  <a:srgbClr val="22C55E"/>
                </a:solidFill>
              </a:defRPr>
            </a:pPr>
            <a:r>
              <a:t>✓ Clinical Programs and Experiential Learning</a:t>
            </a:r>
          </a:p>
          <a:p>
            <a:pPr>
              <a:spcBef>
                <a:spcPts val="800"/>
              </a:spcBef>
              <a:spcAft>
                <a:spcPts val="800"/>
              </a:spcAft>
              <a:defRPr sz="2000">
                <a:solidFill>
                  <a:srgbClr val="22C55E"/>
                </a:solidFill>
              </a:defRPr>
            </a:pPr>
            <a:r>
              <a:t>✓ Research Opportunities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