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 Type="http://schemas.openxmlformats.org/officeDocument/2006/relationships/printerSettings" Target="printerSettings/printerSettings1.bin"/><Relationship Id="rId20" Type="http://schemas.openxmlformats.org/officeDocument/2006/relationships/slide" Target="slides/slide14.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Conclusion Index (%)</c:v>
                </c:pt>
              </c:strCache>
            </c:strRef>
          </c:tx>
          <c:cat>
            <c:strRef>
              <c:f>Sheet1!$A$2:$A$6</c:f>
              <c:strCache>
                <c:ptCount val="5"/>
                <c:pt idx="0">
                  <c:v>Research-based</c:v>
                </c:pt>
                <c:pt idx="1">
                  <c:v>Networking</c:v>
                </c:pt>
                <c:pt idx="2">
                  <c:v>Career advancement</c:v>
                </c:pt>
                <c:pt idx="3">
                  <c:v>Expertise</c:v>
                </c:pt>
                <c:pt idx="4">
                  <c:v>Academic</c:v>
                </c:pt>
              </c:strCache>
            </c:strRef>
          </c:cat>
          <c:val>
            <c:numRef>
              <c:f>Sheet1!$B$2:$B$6</c:f>
              <c:numCache>
                <c:formatCode>General</c:formatCode>
                <c:ptCount val="5"/>
                <c:pt idx="0">
                  <c:v>77</c:v>
                </c:pt>
                <c:pt idx="1">
                  <c:v>60</c:v>
                </c:pt>
                <c:pt idx="2">
                  <c:v>54</c:v>
                </c:pt>
                <c:pt idx="3">
                  <c:v>44</c:v>
                </c:pt>
                <c:pt idx="4">
                  <c:v>20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011680"/>
            <a:ext cx="8229600" cy="2011680"/>
          </a:xfrm>
          <a:prstGeom prst="rect">
            <a:avLst/>
          </a:prstGeom>
          <a:noFill/>
        </p:spPr>
        <p:txBody>
          <a:bodyPr wrap="square">
            <a:normAutofit/>
          </a:bodyPr>
          <a:lstStyle/>
          <a:p>
            <a:pPr algn="ctr">
              <a:lnSpc>
                <a:spcPct val="110000"/>
              </a:lnSpc>
              <a:defRPr sz="4000" b="1">
                <a:solidFill>
                  <a:srgbClr val="FFFFFF"/>
                </a:solidFill>
              </a:defRPr>
            </a:pPr>
            <a:r>
              <a:t>Masters from Boston University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Introduction</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Boston University's Master's programs offer students a unique opportunity to advance their knowledge and skills in a specific field. With a rich history of academic excellence, BU's Master's programs are designed to equip students with the expertise needed to succeed in today's fast-paced world. From business to engineering, education to healthcare, BU's Master's programs cater to a wide range of interests and career goals.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Academic excellence</a:t>
            </a:r>
          </a:p>
          <a:p>
            <a:pPr>
              <a:lnSpc>
                <a:spcPct val="120000"/>
              </a:lnSpc>
              <a:spcBef>
                <a:spcPts val="300"/>
              </a:spcBef>
              <a:spcAft>
                <a:spcPts val="300"/>
              </a:spcAft>
              <a:defRPr sz="1600">
                <a:solidFill>
                  <a:srgbClr val="0F172A"/>
                </a:solidFill>
              </a:defRPr>
            </a:pPr>
            <a:r>
              <a:t>• Expertise in specific fields</a:t>
            </a:r>
          </a:p>
          <a:p>
            <a:pPr>
              <a:lnSpc>
                <a:spcPct val="120000"/>
              </a:lnSpc>
              <a:spcBef>
                <a:spcPts val="300"/>
              </a:spcBef>
              <a:spcAft>
                <a:spcPts val="300"/>
              </a:spcAft>
              <a:defRPr sz="1600">
                <a:solidFill>
                  <a:srgbClr val="0F172A"/>
                </a:solidFill>
              </a:defRPr>
            </a:pPr>
            <a:r>
              <a:t>• Career advancement</a:t>
            </a:r>
          </a:p>
          <a:p>
            <a:pPr>
              <a:lnSpc>
                <a:spcPct val="120000"/>
              </a:lnSpc>
              <a:spcBef>
                <a:spcPts val="300"/>
              </a:spcBef>
              <a:spcAft>
                <a:spcPts val="300"/>
              </a:spcAft>
              <a:defRPr sz="1600">
                <a:solidFill>
                  <a:srgbClr val="0F172A"/>
                </a:solidFill>
              </a:defRPr>
            </a:pPr>
            <a:r>
              <a:t>• Networking opportunities</a:t>
            </a:r>
          </a:p>
          <a:p>
            <a:pPr>
              <a:lnSpc>
                <a:spcPct val="120000"/>
              </a:lnSpc>
              <a:spcBef>
                <a:spcPts val="300"/>
              </a:spcBef>
              <a:spcAft>
                <a:spcPts val="300"/>
              </a:spcAft>
              <a:defRPr sz="1600">
                <a:solidFill>
                  <a:srgbClr val="0F172A"/>
                </a:solidFill>
              </a:defRPr>
            </a:pPr>
            <a:r>
              <a:t>• Research-based learning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Why Choose Boston University?</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Boston University is renowned for its commitment to academic rigor and innovative research. The university's faculty includes some of the world's leading experts in their fields, providing students with unparalleled access to knowledge and mentorship. Additionally, BU's campus offers a diverse range of resources and facilities to support student learning and success.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Academic excellence</a:t>
            </a:r>
          </a:p>
          <a:p>
            <a:pPr>
              <a:lnSpc>
                <a:spcPct val="120000"/>
              </a:lnSpc>
              <a:spcBef>
                <a:spcPts val="300"/>
              </a:spcBef>
              <a:spcAft>
                <a:spcPts val="300"/>
              </a:spcAft>
              <a:defRPr sz="1600">
                <a:solidFill>
                  <a:srgbClr val="0F172A"/>
                </a:solidFill>
              </a:defRPr>
            </a:pPr>
            <a:r>
              <a:t>• World-class faculty</a:t>
            </a:r>
          </a:p>
          <a:p>
            <a:pPr>
              <a:lnSpc>
                <a:spcPct val="120000"/>
              </a:lnSpc>
              <a:spcBef>
                <a:spcPts val="300"/>
              </a:spcBef>
              <a:spcAft>
                <a:spcPts val="300"/>
              </a:spcAft>
              <a:defRPr sz="1600">
                <a:solidFill>
                  <a:srgbClr val="0F172A"/>
                </a:solidFill>
              </a:defRPr>
            </a:pPr>
            <a:r>
              <a:t>• State-of-the-art facilities</a:t>
            </a:r>
          </a:p>
          <a:p>
            <a:pPr>
              <a:lnSpc>
                <a:spcPct val="120000"/>
              </a:lnSpc>
              <a:spcBef>
                <a:spcPts val="300"/>
              </a:spcBef>
              <a:spcAft>
                <a:spcPts val="300"/>
              </a:spcAft>
              <a:defRPr sz="1600">
                <a:solidFill>
                  <a:srgbClr val="0F172A"/>
                </a:solidFill>
              </a:defRPr>
            </a:pPr>
            <a:r>
              <a:t>• Research opportunities</a:t>
            </a:r>
          </a:p>
          <a:p>
            <a:pPr>
              <a:lnSpc>
                <a:spcPct val="120000"/>
              </a:lnSpc>
              <a:spcBef>
                <a:spcPts val="300"/>
              </a:spcBef>
              <a:spcAft>
                <a:spcPts val="300"/>
              </a:spcAft>
              <a:defRPr sz="1600">
                <a:solidFill>
                  <a:srgbClr val="0F172A"/>
                </a:solidFill>
              </a:defRPr>
            </a:pPr>
            <a:r>
              <a:t>• Diverse community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Master's Programs Offered</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Boston University offers a wide range of Master's programs across various disciplines. From the arts and humanities to the sciences and engineering, BU's programs cater to students with different interests and career goals. Some popular programs include master's degrees in business, education, healthcare, and engineering.</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Arts and humanities</a:t>
            </a:r>
          </a:p>
          <a:p>
            <a:pPr>
              <a:lnSpc>
                <a:spcPct val="115000"/>
              </a:lnSpc>
              <a:spcBef>
                <a:spcPts val="200"/>
              </a:spcBef>
              <a:spcAft>
                <a:spcPts val="200"/>
              </a:spcAft>
              <a:defRPr sz="1500">
                <a:solidFill>
                  <a:srgbClr val="0F172A"/>
                </a:solidFill>
              </a:defRPr>
            </a:pPr>
            <a:r>
              <a:t>• Sciences and engineering</a:t>
            </a:r>
          </a:p>
          <a:p>
            <a:pPr>
              <a:lnSpc>
                <a:spcPct val="115000"/>
              </a:lnSpc>
              <a:spcBef>
                <a:spcPts val="200"/>
              </a:spcBef>
              <a:spcAft>
                <a:spcPts val="200"/>
              </a:spcAft>
              <a:defRPr sz="1500">
                <a:solidFill>
                  <a:srgbClr val="0F172A"/>
                </a:solidFill>
              </a:defRPr>
            </a:pPr>
            <a:r>
              <a:t>• Business and management</a:t>
            </a:r>
          </a:p>
          <a:p>
            <a:pPr>
              <a:lnSpc>
                <a:spcPct val="115000"/>
              </a:lnSpc>
              <a:spcBef>
                <a:spcPts val="200"/>
              </a:spcBef>
              <a:spcAft>
                <a:spcPts val="200"/>
              </a:spcAft>
              <a:defRPr sz="1500">
                <a:solidFill>
                  <a:srgbClr val="0F172A"/>
                </a:solidFill>
              </a:defRPr>
            </a:pPr>
            <a:r>
              <a:t>• Education and teaching</a:t>
            </a:r>
          </a:p>
          <a:p>
            <a:pPr>
              <a:lnSpc>
                <a:spcPct val="115000"/>
              </a:lnSpc>
              <a:spcBef>
                <a:spcPts val="200"/>
              </a:spcBef>
              <a:spcAft>
                <a:spcPts val="200"/>
              </a:spcAft>
              <a:defRPr sz="1500">
                <a:solidFill>
                  <a:srgbClr val="0F172A"/>
                </a:solidFill>
              </a:defRPr>
            </a:pPr>
            <a:r>
              <a:t>• Healthcare and medicine</a:t>
            </a:r>
          </a:p>
        </p:txBody>
      </p:sp>
      <p:pic>
        <p:nvPicPr>
          <p:cNvPr id="5" name="Picture 4" descr="unsplash_nxBucBB_ihQ.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Curriculum Design</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Boston University's Master's programs are designed to provide students with a comprehensive understanding of their chosen field. The curriculum is structured to accommodate both full-time and part-time students, offering flexibility and convenience for those balancing work and academic responsibilities.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Comprehensive curriculum</a:t>
            </a:r>
          </a:p>
          <a:p>
            <a:pPr>
              <a:lnSpc>
                <a:spcPct val="120000"/>
              </a:lnSpc>
              <a:spcBef>
                <a:spcPts val="300"/>
              </a:spcBef>
              <a:spcAft>
                <a:spcPts val="300"/>
              </a:spcAft>
              <a:defRPr sz="1600">
                <a:solidFill>
                  <a:srgbClr val="0F172A"/>
                </a:solidFill>
              </a:defRPr>
            </a:pPr>
            <a:r>
              <a:t>• Flexibility and convenience</a:t>
            </a:r>
          </a:p>
          <a:p>
            <a:pPr>
              <a:lnSpc>
                <a:spcPct val="120000"/>
              </a:lnSpc>
              <a:spcBef>
                <a:spcPts val="300"/>
              </a:spcBef>
              <a:spcAft>
                <a:spcPts val="300"/>
              </a:spcAft>
              <a:defRPr sz="1600">
                <a:solidFill>
                  <a:srgbClr val="0F172A"/>
                </a:solidFill>
              </a:defRPr>
            </a:pPr>
            <a:r>
              <a:t>• Research-based learning</a:t>
            </a:r>
          </a:p>
          <a:p>
            <a:pPr>
              <a:lnSpc>
                <a:spcPct val="120000"/>
              </a:lnSpc>
              <a:spcBef>
                <a:spcPts val="300"/>
              </a:spcBef>
              <a:spcAft>
                <a:spcPts val="300"/>
              </a:spcAft>
              <a:defRPr sz="1600">
                <a:solidFill>
                  <a:srgbClr val="0F172A"/>
                </a:solidFill>
              </a:defRPr>
            </a:pPr>
            <a:r>
              <a:t>• Practical application</a:t>
            </a:r>
          </a:p>
          <a:p>
            <a:pPr>
              <a:lnSpc>
                <a:spcPct val="120000"/>
              </a:lnSpc>
              <a:spcBef>
                <a:spcPts val="300"/>
              </a:spcBef>
              <a:spcAft>
                <a:spcPts val="300"/>
              </a:spcAft>
              <a:defRPr sz="1600">
                <a:solidFill>
                  <a:srgbClr val="0F172A"/>
                </a:solidFill>
              </a:defRPr>
            </a:pPr>
            <a:r>
              <a:t>• Industry connections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Career Opportunities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Boston University's Master's programs are designed to equip students with the skills and knowledge needed to succeed in their chosen field. Graduates of BU's programs have gone on to pursue a wide range of careers, from leadership positions in industry to roles in academia and research.</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Career advancement</a:t>
            </a:r>
          </a:p>
          <a:p>
            <a:pPr>
              <a:lnSpc>
                <a:spcPct val="120000"/>
              </a:lnSpc>
              <a:spcBef>
                <a:spcPts val="300"/>
              </a:spcBef>
              <a:spcAft>
                <a:spcPts val="300"/>
              </a:spcAft>
              <a:defRPr sz="1600">
                <a:solidFill>
                  <a:srgbClr val="0F172A"/>
                </a:solidFill>
              </a:defRPr>
            </a:pPr>
            <a:r>
              <a:t>• Leadership opportunities</a:t>
            </a:r>
          </a:p>
          <a:p>
            <a:pPr>
              <a:lnSpc>
                <a:spcPct val="120000"/>
              </a:lnSpc>
              <a:spcBef>
                <a:spcPts val="300"/>
              </a:spcBef>
              <a:spcAft>
                <a:spcPts val="300"/>
              </a:spcAft>
              <a:defRPr sz="1600">
                <a:solidFill>
                  <a:srgbClr val="0F172A"/>
                </a:solidFill>
              </a:defRPr>
            </a:pPr>
            <a:r>
              <a:t>• Research-based careers</a:t>
            </a:r>
          </a:p>
          <a:p>
            <a:pPr>
              <a:lnSpc>
                <a:spcPct val="120000"/>
              </a:lnSpc>
              <a:spcBef>
                <a:spcPts val="300"/>
              </a:spcBef>
              <a:spcAft>
                <a:spcPts val="300"/>
              </a:spcAft>
              <a:defRPr sz="1600">
                <a:solidFill>
                  <a:srgbClr val="0F172A"/>
                </a:solidFill>
              </a:defRPr>
            </a:pPr>
            <a:r>
              <a:t>• Industry connections</a:t>
            </a:r>
          </a:p>
          <a:p>
            <a:pPr>
              <a:lnSpc>
                <a:spcPct val="120000"/>
              </a:lnSpc>
              <a:spcBef>
                <a:spcPts val="300"/>
              </a:spcBef>
              <a:spcAft>
                <a:spcPts val="300"/>
              </a:spcAft>
              <a:defRPr sz="1600">
                <a:solidFill>
                  <a:srgbClr val="0F172A"/>
                </a:solidFill>
              </a:defRPr>
            </a:pPr>
            <a:r>
              <a:t>• Academic pathways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Faculty and Staff</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Boston University's faculty and staff are renowned for their expertise and dedication to student learning. With diverse backgrounds and experiences, BU's faculty provide students with unparalleled access to knowledge and mentorship.</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Expertise in specific fields</a:t>
            </a:r>
          </a:p>
          <a:p>
            <a:pPr>
              <a:lnSpc>
                <a:spcPct val="115000"/>
              </a:lnSpc>
              <a:spcBef>
                <a:spcPts val="200"/>
              </a:spcBef>
              <a:spcAft>
                <a:spcPts val="200"/>
              </a:spcAft>
              <a:defRPr sz="1500">
                <a:solidFill>
                  <a:srgbClr val="0F172A"/>
                </a:solidFill>
              </a:defRPr>
            </a:pPr>
            <a:r>
              <a:t>• Dedication to student learning</a:t>
            </a:r>
          </a:p>
          <a:p>
            <a:pPr>
              <a:lnSpc>
                <a:spcPct val="115000"/>
              </a:lnSpc>
              <a:spcBef>
                <a:spcPts val="200"/>
              </a:spcBef>
              <a:spcAft>
                <a:spcPts val="200"/>
              </a:spcAft>
              <a:defRPr sz="1500">
                <a:solidFill>
                  <a:srgbClr val="0F172A"/>
                </a:solidFill>
              </a:defRPr>
            </a:pPr>
            <a:r>
              <a:t>• Mentorship opportunities</a:t>
            </a:r>
          </a:p>
          <a:p>
            <a:pPr>
              <a:lnSpc>
                <a:spcPct val="115000"/>
              </a:lnSpc>
              <a:spcBef>
                <a:spcPts val="200"/>
              </a:spcBef>
              <a:spcAft>
                <a:spcPts val="200"/>
              </a:spcAft>
              <a:defRPr sz="1500">
                <a:solidFill>
                  <a:srgbClr val="0F172A"/>
                </a:solidFill>
              </a:defRPr>
            </a:pPr>
            <a:r>
              <a:t>• Industry connections</a:t>
            </a:r>
          </a:p>
          <a:p>
            <a:pPr>
              <a:lnSpc>
                <a:spcPct val="115000"/>
              </a:lnSpc>
              <a:spcBef>
                <a:spcPts val="200"/>
              </a:spcBef>
              <a:spcAft>
                <a:spcPts val="200"/>
              </a:spcAft>
              <a:defRPr sz="1500">
                <a:solidFill>
                  <a:srgbClr val="0F172A"/>
                </a:solidFill>
              </a:defRPr>
            </a:pPr>
            <a:r>
              <a:t>• Research collaborations</a:t>
            </a:r>
          </a:p>
        </p:txBody>
      </p:sp>
      <p:pic>
        <p:nvPicPr>
          <p:cNvPr id="5" name="Picture 4" descr="unsplash_nxBucBB_ihQ.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Campus Resources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Boston University's campus offers a wide range of resources and facilities designed to support student learning and success. From libraries and research centers to career services and counseling, BU's campus provides students with the tools they need to succeed.</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Libraries and research centers</a:t>
            </a:r>
          </a:p>
          <a:p>
            <a:pPr>
              <a:lnSpc>
                <a:spcPct val="120000"/>
              </a:lnSpc>
              <a:spcBef>
                <a:spcPts val="300"/>
              </a:spcBef>
              <a:spcAft>
                <a:spcPts val="300"/>
              </a:spcAft>
              <a:defRPr sz="1600">
                <a:solidFill>
                  <a:srgbClr val="0F172A"/>
                </a:solidFill>
              </a:defRPr>
            </a:pPr>
            <a:r>
              <a:t>• Career services and counseling</a:t>
            </a:r>
          </a:p>
          <a:p>
            <a:pPr>
              <a:lnSpc>
                <a:spcPct val="120000"/>
              </a:lnSpc>
              <a:spcBef>
                <a:spcPts val="300"/>
              </a:spcBef>
              <a:spcAft>
                <a:spcPts val="300"/>
              </a:spcAft>
              <a:defRPr sz="1600">
                <a:solidFill>
                  <a:srgbClr val="0F172A"/>
                </a:solidFill>
              </a:defRPr>
            </a:pPr>
            <a:r>
              <a:t>• Fitness and wellness programs</a:t>
            </a:r>
          </a:p>
          <a:p>
            <a:pPr>
              <a:lnSpc>
                <a:spcPct val="120000"/>
              </a:lnSpc>
              <a:spcBef>
                <a:spcPts val="300"/>
              </a:spcBef>
              <a:spcAft>
                <a:spcPts val="300"/>
              </a:spcAft>
              <a:defRPr sz="1600">
                <a:solidFill>
                  <a:srgbClr val="0F172A"/>
                </a:solidFill>
              </a:defRPr>
            </a:pPr>
            <a:r>
              <a:t>• Student organizations and clubs</a:t>
            </a:r>
          </a:p>
          <a:p>
            <a:pPr>
              <a:lnSpc>
                <a:spcPct val="120000"/>
              </a:lnSpc>
              <a:spcBef>
                <a:spcPts val="300"/>
              </a:spcBef>
              <a:spcAft>
                <a:spcPts val="300"/>
              </a:spcAft>
              <a:defRPr sz="1600">
                <a:solidFill>
                  <a:srgbClr val="0F172A"/>
                </a:solidFill>
              </a:defRPr>
            </a:pPr>
            <a:r>
              <a:t>• Campus events and activities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Admissions and Financial Aid</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Boston University's admissions process is designed to provide students with a seamless and supportive experience. The university also offers a range of financial aid options to help make education more affordable.</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Seamless admissions process</a:t>
            </a:r>
          </a:p>
          <a:p>
            <a:pPr>
              <a:lnSpc>
                <a:spcPct val="120000"/>
              </a:lnSpc>
              <a:spcBef>
                <a:spcPts val="300"/>
              </a:spcBef>
              <a:spcAft>
                <a:spcPts val="300"/>
              </a:spcAft>
              <a:defRPr sz="1600">
                <a:solidFill>
                  <a:srgbClr val="0F172A"/>
                </a:solidFill>
              </a:defRPr>
            </a:pPr>
            <a:r>
              <a:t>• Financial aid options</a:t>
            </a:r>
          </a:p>
          <a:p>
            <a:pPr>
              <a:lnSpc>
                <a:spcPct val="120000"/>
              </a:lnSpc>
              <a:spcBef>
                <a:spcPts val="300"/>
              </a:spcBef>
              <a:spcAft>
                <a:spcPts val="300"/>
              </a:spcAft>
              <a:defRPr sz="1600">
                <a:solidFill>
                  <a:srgbClr val="0F172A"/>
                </a:solidFill>
              </a:defRPr>
            </a:pPr>
            <a:r>
              <a:t>• Scholarships and grants</a:t>
            </a:r>
          </a:p>
          <a:p>
            <a:pPr>
              <a:lnSpc>
                <a:spcPct val="120000"/>
              </a:lnSpc>
              <a:spcBef>
                <a:spcPts val="300"/>
              </a:spcBef>
              <a:spcAft>
                <a:spcPts val="300"/>
              </a:spcAft>
              <a:defRPr sz="1600">
                <a:solidFill>
                  <a:srgbClr val="0F172A"/>
                </a:solidFill>
              </a:defRPr>
            </a:pPr>
            <a:r>
              <a:t>• Student loans and work-study programs</a:t>
            </a:r>
          </a:p>
          <a:p>
            <a:pPr>
              <a:lnSpc>
                <a:spcPct val="120000"/>
              </a:lnSpc>
              <a:spcBef>
                <a:spcPts val="300"/>
              </a:spcBef>
              <a:spcAft>
                <a:spcPts val="300"/>
              </a:spcAft>
              <a:defRPr sz="1600">
                <a:solidFill>
                  <a:srgbClr val="0F172A"/>
                </a:solidFill>
              </a:defRPr>
            </a:pPr>
            <a:r>
              <a:t>• Tuition and fees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Accreditation and Rankings</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Boston University's Master's programs are accredited by the appropriate accrediting agencies for each field. BU is also consistently ranked among the top universities in the world, providing students with a globally recognized education.</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Accreditation by relevant agencies</a:t>
            </a:r>
          </a:p>
          <a:p>
            <a:pPr>
              <a:lnSpc>
                <a:spcPct val="115000"/>
              </a:lnSpc>
              <a:spcBef>
                <a:spcPts val="200"/>
              </a:spcBef>
              <a:spcAft>
                <a:spcPts val="200"/>
              </a:spcAft>
              <a:defRPr sz="1500">
                <a:solidFill>
                  <a:srgbClr val="0F172A"/>
                </a:solidFill>
              </a:defRPr>
            </a:pPr>
            <a:r>
              <a:t>• Global recognition and rankings</a:t>
            </a:r>
          </a:p>
          <a:p>
            <a:pPr>
              <a:lnSpc>
                <a:spcPct val="115000"/>
              </a:lnSpc>
              <a:spcBef>
                <a:spcPts val="200"/>
              </a:spcBef>
              <a:spcAft>
                <a:spcPts val="200"/>
              </a:spcAft>
              <a:defRPr sz="1500">
                <a:solidFill>
                  <a:srgbClr val="0F172A"/>
                </a:solidFill>
              </a:defRPr>
            </a:pPr>
            <a:r>
              <a:t>• Industry connections and partnerships</a:t>
            </a:r>
          </a:p>
          <a:p>
            <a:pPr>
              <a:lnSpc>
                <a:spcPct val="115000"/>
              </a:lnSpc>
              <a:spcBef>
                <a:spcPts val="200"/>
              </a:spcBef>
              <a:spcAft>
                <a:spcPts val="200"/>
              </a:spcAft>
              <a:defRPr sz="1500">
                <a:solidFill>
                  <a:srgbClr val="0F172A"/>
                </a:solidFill>
              </a:defRPr>
            </a:pPr>
            <a:r>
              <a:t>• Research collaborations and grants</a:t>
            </a:r>
          </a:p>
          <a:p>
            <a:pPr>
              <a:lnSpc>
                <a:spcPct val="115000"/>
              </a:lnSpc>
              <a:spcBef>
                <a:spcPts val="200"/>
              </a:spcBef>
              <a:spcAft>
                <a:spcPts val="200"/>
              </a:spcAft>
              <a:defRPr sz="1500">
                <a:solidFill>
                  <a:srgbClr val="0F172A"/>
                </a:solidFill>
              </a:defRPr>
            </a:pPr>
            <a:r>
              <a:t>• Alumni network</a:t>
            </a:r>
          </a:p>
        </p:txBody>
      </p:sp>
      <p:pic>
        <p:nvPicPr>
          <p:cNvPr id="5" name="Picture 4" descr="unsplash_VoCy3z3bihg.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Conclusion - Conclusion Index (%)</a:t>
            </a:r>
          </a:p>
        </p:txBody>
      </p:sp>
      <p:graphicFrame>
        <p:nvGraphicFramePr>
          <p:cNvPr id="4" name="Chart 3"/>
          <p:cNvGraphicFramePr>
            <a:graphicFrameLocks noGrp="1"/>
          </p:cNvGraphicFramePr>
          <p:nvPr/>
        </p:nvGraphicFramePr>
        <p:xfrm>
          <a:off x="457200" y="1463040"/>
          <a:ext cx="8229600" cy="4572000"/>
        </p:xfrm>
        <a:graphic>
          <a:graphicData uri="http://schemas.openxmlformats.org/drawingml/2006/chart">
            <c:chart xmlns:c="http://schemas.openxmlformats.org/drawingml/2006/chart" r:id="rId2"/>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Conclusion - Conclusion Index (%)</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Chart data: {'Conclusion Index (%)': [77, 60, 54, 44, 20]}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Presentation Flow</a:t>
            </a:r>
          </a:p>
        </p:txBody>
      </p:sp>
      <p:sp>
        <p:nvSpPr>
          <p:cNvPr id="4" name="Rectangle 3"/>
          <p:cNvSpPr/>
          <p:nvPr/>
        </p:nvSpPr>
        <p:spPr>
          <a:xfrm>
            <a:off x="4572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554480"/>
            <a:ext cx="2225040" cy="457200"/>
          </a:xfrm>
          <a:prstGeom prst="rect">
            <a:avLst/>
          </a:prstGeom>
          <a:noFill/>
        </p:spPr>
        <p:txBody>
          <a:bodyPr wrap="square">
            <a:spAutoFit/>
          </a:bodyPr>
          <a:lstStyle/>
          <a:p>
            <a:pPr algn="ctr">
              <a:defRPr sz="1600" b="1">
                <a:solidFill>
                  <a:srgbClr val="1E40AF"/>
                </a:solidFill>
              </a:defRPr>
            </a:pPr>
            <a:r>
              <a:t>Beginning</a:t>
            </a:r>
          </a:p>
        </p:txBody>
      </p:sp>
      <p:sp>
        <p:nvSpPr>
          <p:cNvPr id="6" name="TextBox 5"/>
          <p:cNvSpPr txBox="1"/>
          <p:nvPr/>
        </p:nvSpPr>
        <p:spPr>
          <a:xfrm>
            <a:off x="594360" y="2194560"/>
            <a:ext cx="2225040" cy="3657600"/>
          </a:xfrm>
          <a:prstGeom prst="rect">
            <a:avLst/>
          </a:prstGeom>
          <a:noFill/>
        </p:spPr>
        <p:txBody>
          <a:bodyPr wrap="square">
            <a:spAutoFit/>
          </a:bodyPr>
          <a:lstStyle/>
          <a:p>
            <a:pPr>
              <a:lnSpc>
                <a:spcPct val="140000"/>
              </a:lnSpc>
              <a:defRPr sz="1300">
                <a:solidFill>
                  <a:srgbClr val="64748B"/>
                </a:solidFill>
              </a:defRPr>
            </a:pPr>
            <a:r>
              <a:t>Introduction</a:t>
            </a:r>
          </a:p>
        </p:txBody>
      </p:sp>
      <p:sp>
        <p:nvSpPr>
          <p:cNvPr id="7" name="Rectangle 6"/>
          <p:cNvSpPr/>
          <p:nvPr/>
        </p:nvSpPr>
        <p:spPr>
          <a:xfrm>
            <a:off x="30480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85160" y="1554480"/>
            <a:ext cx="2225040" cy="457200"/>
          </a:xfrm>
          <a:prstGeom prst="rect">
            <a:avLst/>
          </a:prstGeom>
          <a:noFill/>
        </p:spPr>
        <p:txBody>
          <a:bodyPr wrap="square">
            <a:spAutoFit/>
          </a:bodyPr>
          <a:lstStyle/>
          <a:p>
            <a:pPr algn="ctr">
              <a:defRPr sz="1600" b="1">
                <a:solidFill>
                  <a:srgbClr val="1E40AF"/>
                </a:solidFill>
              </a:defRPr>
            </a:pPr>
            <a:r>
              <a:t>Middle</a:t>
            </a:r>
          </a:p>
        </p:txBody>
      </p:sp>
      <p:sp>
        <p:nvSpPr>
          <p:cNvPr id="9" name="TextBox 8"/>
          <p:cNvSpPr txBox="1"/>
          <p:nvPr/>
        </p:nvSpPr>
        <p:spPr>
          <a:xfrm>
            <a:off x="3185160" y="2194560"/>
            <a:ext cx="2225040" cy="3657600"/>
          </a:xfrm>
          <a:prstGeom prst="rect">
            <a:avLst/>
          </a:prstGeom>
          <a:noFill/>
        </p:spPr>
        <p:txBody>
          <a:bodyPr wrap="square">
            <a:spAutoFit/>
          </a:bodyPr>
          <a:lstStyle/>
          <a:p>
            <a:pPr>
              <a:lnSpc>
                <a:spcPct val="140000"/>
              </a:lnSpc>
              <a:defRPr sz="1300">
                <a:solidFill>
                  <a:srgbClr val="64748B"/>
                </a:solidFill>
              </a:defRPr>
            </a:pPr>
            <a:r>
              <a:t>Faculty and Staff</a:t>
            </a:r>
          </a:p>
        </p:txBody>
      </p:sp>
      <p:sp>
        <p:nvSpPr>
          <p:cNvPr id="10" name="Rectangle 9"/>
          <p:cNvSpPr/>
          <p:nvPr/>
        </p:nvSpPr>
        <p:spPr>
          <a:xfrm>
            <a:off x="56388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75960" y="1554480"/>
            <a:ext cx="2225040" cy="457200"/>
          </a:xfrm>
          <a:prstGeom prst="rect">
            <a:avLst/>
          </a:prstGeom>
          <a:noFill/>
        </p:spPr>
        <p:txBody>
          <a:bodyPr wrap="square">
            <a:spAutoFit/>
          </a:bodyPr>
          <a:lstStyle/>
          <a:p>
            <a:pPr algn="ctr">
              <a:defRPr sz="1600" b="1">
                <a:solidFill>
                  <a:srgbClr val="1E40AF"/>
                </a:solidFill>
              </a:defRPr>
            </a:pPr>
            <a:r>
              <a:t>End</a:t>
            </a:r>
          </a:p>
        </p:txBody>
      </p:sp>
      <p:sp>
        <p:nvSpPr>
          <p:cNvPr id="12" name="TextBox 11"/>
          <p:cNvSpPr txBox="1"/>
          <p:nvPr/>
        </p:nvSpPr>
        <p:spPr>
          <a:xfrm>
            <a:off x="5775960" y="2194560"/>
            <a:ext cx="2225040" cy="3657600"/>
          </a:xfrm>
          <a:prstGeom prst="rect">
            <a:avLst/>
          </a:prstGeom>
          <a:noFill/>
        </p:spPr>
        <p:txBody>
          <a:bodyPr wrap="square">
            <a:spAutoFit/>
          </a:bodyPr>
          <a:lstStyle/>
          <a:p>
            <a:pPr>
              <a:lnSpc>
                <a:spcPct val="140000"/>
              </a:lnSpc>
              <a:defRPr sz="1300">
                <a:solidFill>
                  <a:srgbClr val="64748B"/>
                </a:solidFill>
              </a:defRPr>
            </a:pPr>
            <a:r>
              <a:t>Conclusion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Introduction</a:t>
            </a:r>
          </a:p>
          <a:p>
            <a:pPr>
              <a:spcBef>
                <a:spcPts val="800"/>
              </a:spcBef>
              <a:spcAft>
                <a:spcPts val="800"/>
              </a:spcAft>
              <a:defRPr sz="2000">
                <a:solidFill>
                  <a:srgbClr val="F59E0B"/>
                </a:solidFill>
              </a:defRPr>
            </a:pPr>
            <a:r>
              <a:t>✓ Why Choose Boston University?</a:t>
            </a:r>
          </a:p>
          <a:p>
            <a:pPr>
              <a:spcBef>
                <a:spcPts val="800"/>
              </a:spcBef>
              <a:spcAft>
                <a:spcPts val="800"/>
              </a:spcAft>
              <a:defRPr sz="2000">
                <a:solidFill>
                  <a:srgbClr val="F59E0B"/>
                </a:solidFill>
              </a:defRPr>
            </a:pPr>
            <a:r>
              <a:t>✓ Master's Programs Offered</a:t>
            </a:r>
          </a:p>
          <a:p>
            <a:pPr>
              <a:spcBef>
                <a:spcPts val="800"/>
              </a:spcBef>
              <a:spcAft>
                <a:spcPts val="800"/>
              </a:spcAft>
              <a:defRPr sz="2000">
                <a:solidFill>
                  <a:srgbClr val="F59E0B"/>
                </a:solidFill>
              </a:defRPr>
            </a:pPr>
            <a:r>
              <a:t>✓ Curriculum Design</a:t>
            </a:r>
          </a:p>
          <a:p>
            <a:pPr>
              <a:spcBef>
                <a:spcPts val="800"/>
              </a:spcBef>
              <a:spcAft>
                <a:spcPts val="800"/>
              </a:spcAft>
              <a:defRPr sz="2000">
                <a:solidFill>
                  <a:srgbClr val="F59E0B"/>
                </a:solidFill>
              </a:defRPr>
            </a:pPr>
            <a:r>
              <a:t>✓ Career Opportunities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