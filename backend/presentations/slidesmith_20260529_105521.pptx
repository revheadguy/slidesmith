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
                </c:pt>
              </c:strCache>
            </c:strRef>
          </c:tx>
          <c:dPt>
            <c:idx val="0"/>
            <c:spPr>
              <a:solidFill>
                <a:srgbClr val="1E40AF"/>
              </a:solidFill>
            </c:spPr>
          </c:dPt>
          <c:dPt>
            <c:idx val="1"/>
            <c:spPr>
              <a:solidFill>
                <a:srgbClr val="F59E0B"/>
              </a:solidFill>
            </c:spPr>
          </c:dPt>
          <c:dPt>
            <c:idx val="2"/>
            <c:spPr>
              <a:solidFill>
                <a:srgbClr val="3B82F6"/>
              </a:solidFill>
            </c:spPr>
          </c:dPt>
          <c:dPt>
            <c:idx val="3"/>
            <c:spPr>
              <a:solidFill>
                <a:srgbClr val="10B981"/>
              </a:solidFill>
            </c:spPr>
          </c:dPt>
          <c:dPt>
            <c:idx val="4"/>
            <c:spPr>
              <a:solidFill>
                <a:srgbClr val="EF4444"/>
              </a:solidFill>
            </c:spPr>
          </c:dPt>
          <c:cat>
            <c:strRef>
              <c:f>Sheet1!$A$2:$A$6</c:f>
              <c:strCache>
                <c:ptCount val="5"/>
                <c:pt idx="0">
                  <c:v>Advertising</c:v>
                </c:pt>
                <c:pt idx="1">
                  <c:v>Search</c:v>
                </c:pt>
                <c:pt idx="2">
                  <c:v>Cloud Computing</c:v>
                </c:pt>
                <c:pt idx="3">
                  <c:v>Hardware</c:v>
                </c:pt>
                <c:pt idx="4">
                  <c:v>Software</c:v>
                </c:pt>
              </c:strCache>
            </c:strRef>
          </c:cat>
          <c:val>
            <c:numRef>
              <c:f>Sheet1!$B$2:$B$6</c:f>
              <c:numCache>
                <c:formatCode>General</c:formatCode>
                <c:ptCount val="5"/>
                <c:pt idx="0">
                  <c:v>80.0</c:v>
                </c:pt>
                <c:pt idx="1">
                  <c:v>40.0</c:v>
                </c:pt>
                <c:pt idx="2">
                  <c:v>10.0</c:v>
                </c:pt>
                <c:pt idx="3">
                  <c:v>5.0</c:v>
                </c:pt>
                <c:pt idx="4">
                  <c:v>3.0</c:v>
                </c:pt>
              </c:numCache>
            </c:numRef>
          </c:val>
        </c:ser>
        <c:dLbls>
          <c:txPr>
            <a:bodyPr/>
            <a:lstStyle/>
            <a:p>
              <a:pPr>
                <a:defRPr sz="1100" b="1">
                  <a:solidFill>
                    <a:srgbClr val="FFFFFF"/>
                  </a:solidFill>
                </a:defRPr>
              </a:pPr>
            </a:p>
          </c:txPr>
          <c:showLegendKey val="0"/>
          <c:showVal val="0"/>
          <c:showCatName val="0"/>
          <c:showSerName val="0"/>
          <c:showPercent val="1"/>
          <c:showBubbleSize val="0"/>
          <c:showLeaderLines val="1"/>
        </c:dLbls>
      </c:pieChart>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
                </c:pt>
              </c:strCache>
            </c:strRef>
          </c:tx>
          <c:dPt>
            <c:idx val="0"/>
            <c:spPr>
              <a:solidFill>
                <a:srgbClr val="1E40AF"/>
              </a:solidFill>
            </c:spPr>
          </c:dPt>
          <c:dPt>
            <c:idx val="1"/>
            <c:spPr>
              <a:solidFill>
                <a:srgbClr val="F59E0B"/>
              </a:solidFill>
            </c:spPr>
          </c:dPt>
          <c:dPt>
            <c:idx val="2"/>
            <c:spPr>
              <a:solidFill>
                <a:srgbClr val="3B82F6"/>
              </a:solidFill>
            </c:spPr>
          </c:dPt>
          <c:dPt>
            <c:idx val="3"/>
            <c:spPr>
              <a:solidFill>
                <a:srgbClr val="10B981"/>
              </a:solidFill>
            </c:spPr>
          </c:dPt>
          <c:dPt>
            <c:idx val="4"/>
            <c:spPr>
              <a:solidFill>
                <a:srgbClr val="EF4444"/>
              </a:solidFill>
            </c:spPr>
          </c:dPt>
          <c:cat>
            <c:strRef>
              <c:f>Sheet1!$A$2:$A$6</c:f>
              <c:strCache>
                <c:ptCount val="5"/>
                <c:pt idx="0">
                  <c:v>Cloud Computing</c:v>
                </c:pt>
                <c:pt idx="1">
                  <c:v>Hardware Products</c:v>
                </c:pt>
                <c:pt idx="2">
                  <c:v>Search</c:v>
                </c:pt>
                <c:pt idx="3">
                  <c:v>Advertising</c:v>
                </c:pt>
                <c:pt idx="4">
                  <c:v>Software</c:v>
                </c:pt>
              </c:strCache>
            </c:strRef>
          </c:cat>
          <c:val>
            <c:numRef>
              <c:f>Sheet1!$B$2:$B$6</c:f>
              <c:numCache>
                <c:formatCode>General</c:formatCode>
                <c:ptCount val="5"/>
                <c:pt idx="0">
                  <c:v>20.0</c:v>
                </c:pt>
                <c:pt idx="1">
                  <c:v>15.0</c:v>
                </c:pt>
                <c:pt idx="2">
                  <c:v>10.0</c:v>
                </c:pt>
                <c:pt idx="3">
                  <c:v>5.0</c:v>
                </c:pt>
                <c:pt idx="4">
                  <c:v>3.0</c:v>
                </c:pt>
              </c:numCache>
            </c:numRef>
          </c:val>
        </c:ser>
        <c:dLbls>
          <c:txPr>
            <a:bodyPr/>
            <a:lstStyle/>
            <a:p>
              <a:pPr>
                <a:defRPr sz="1100" b="1">
                  <a:solidFill>
                    <a:srgbClr val="FFFFFF"/>
                  </a:solidFill>
                </a:defRPr>
              </a:pPr>
            </a:p>
          </c:txPr>
          <c:showLegendKey val="0"/>
          <c:showVal val="0"/>
          <c:showCatName val="0"/>
          <c:showSerName val="0"/>
          <c:showPercent val="1"/>
          <c:showBubbleSize val="0"/>
          <c:showLeaderLines val="1"/>
        </c:dLbls>
      </c:pieChart>
    </c:plotArea>
    <c:legend>
      <c:legendPos val="b"/>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51B5"/>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5C6B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Market Segmentation: Revenue Split &amp; Growth Forecast of Google</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a:t>
            </a:r>
          </a:p>
        </p:txBody>
      </p:sp>
      <p:sp>
        <p:nvSpPr>
          <p:cNvPr id="4" name="TextBox 3"/>
          <p:cNvSpPr txBox="1"/>
          <p:nvPr/>
        </p:nvSpPr>
        <p:spPr>
          <a:xfrm>
            <a:off x="731520" y="1417320"/>
            <a:ext cx="7680960" cy="685800"/>
          </a:xfrm>
          <a:prstGeom prst="rect">
            <a:avLst/>
          </a:prstGeom>
          <a:noFill/>
        </p:spPr>
        <p:txBody>
          <a:bodyPr wrap="square">
            <a:spAutoFit/>
          </a:bodyPr>
          <a:lstStyle/>
          <a:p>
            <a:pPr>
              <a:lnSpc>
                <a:spcPct val="130000"/>
              </a:lnSpc>
              <a:defRPr sz="1600">
                <a:solidFill>
                  <a:srgbClr val="0F172A"/>
                </a:solidFill>
              </a:defRPr>
            </a:pPr>
            <a:r>
              <a:t>Google is a leading technology company with diverse revenue streams. Understanding market segmentation and revenue split is crucial for strategic planning and decision-making.</a:t>
            </a:r>
          </a:p>
        </p:txBody>
      </p:sp>
      <p:sp>
        <p:nvSpPr>
          <p:cNvPr id="5" name="Oval 4"/>
          <p:cNvSpPr/>
          <p:nvPr/>
        </p:nvSpPr>
        <p:spPr>
          <a:xfrm>
            <a:off x="502920" y="2423160"/>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377440"/>
            <a:ext cx="7589520" cy="868680"/>
          </a:xfrm>
          <a:prstGeom prst="rect">
            <a:avLst/>
          </a:prstGeom>
          <a:noFill/>
        </p:spPr>
        <p:txBody>
          <a:bodyPr wrap="square">
            <a:spAutoFit/>
          </a:bodyPr>
          <a:lstStyle/>
          <a:p>
            <a:pPr>
              <a:lnSpc>
                <a:spcPct val="130000"/>
              </a:lnSpc>
              <a:defRPr sz="1600">
                <a:solidFill>
                  <a:srgbClr val="0F172A"/>
                </a:solidFill>
              </a:defRPr>
            </a:pPr>
            <a:r>
              <a:t>Global leader in search</a:t>
            </a:r>
          </a:p>
        </p:txBody>
      </p:sp>
      <p:sp>
        <p:nvSpPr>
          <p:cNvPr id="7" name="Oval 6"/>
          <p:cNvSpPr/>
          <p:nvPr/>
        </p:nvSpPr>
        <p:spPr>
          <a:xfrm>
            <a:off x="502920" y="3172968"/>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127248"/>
            <a:ext cx="7589520" cy="868680"/>
          </a:xfrm>
          <a:prstGeom prst="rect">
            <a:avLst/>
          </a:prstGeom>
          <a:noFill/>
        </p:spPr>
        <p:txBody>
          <a:bodyPr wrap="square">
            <a:spAutoFit/>
          </a:bodyPr>
          <a:lstStyle/>
          <a:p>
            <a:pPr>
              <a:lnSpc>
                <a:spcPct val="130000"/>
              </a:lnSpc>
              <a:defRPr sz="1600">
                <a:solidFill>
                  <a:srgbClr val="0F172A"/>
                </a:solidFill>
              </a:defRPr>
            </a:pPr>
            <a:r>
              <a:t>Diverse revenue streams</a:t>
            </a:r>
          </a:p>
        </p:txBody>
      </p:sp>
      <p:sp>
        <p:nvSpPr>
          <p:cNvPr id="9" name="Oval 8"/>
          <p:cNvSpPr/>
          <p:nvPr/>
        </p:nvSpPr>
        <p:spPr>
          <a:xfrm>
            <a:off x="502920" y="392277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877056"/>
            <a:ext cx="7589520" cy="868680"/>
          </a:xfrm>
          <a:prstGeom prst="rect">
            <a:avLst/>
          </a:prstGeom>
          <a:noFill/>
        </p:spPr>
        <p:txBody>
          <a:bodyPr wrap="square">
            <a:spAutoFit/>
          </a:bodyPr>
          <a:lstStyle/>
          <a:p>
            <a:pPr>
              <a:lnSpc>
                <a:spcPct val="130000"/>
              </a:lnSpc>
              <a:defRPr sz="1600">
                <a:solidFill>
                  <a:srgbClr val="0F172A"/>
                </a:solidFill>
              </a:defRPr>
            </a:pPr>
            <a:r>
              <a:t>Strategic importance</a:t>
            </a:r>
          </a:p>
        </p:txBody>
      </p:sp>
      <p:sp>
        <p:nvSpPr>
          <p:cNvPr id="11" name="Oval 10"/>
          <p:cNvSpPr/>
          <p:nvPr/>
        </p:nvSpPr>
        <p:spPr>
          <a:xfrm>
            <a:off x="502920" y="467258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626864"/>
            <a:ext cx="7589520" cy="868680"/>
          </a:xfrm>
          <a:prstGeom prst="rect">
            <a:avLst/>
          </a:prstGeom>
          <a:noFill/>
        </p:spPr>
        <p:txBody>
          <a:bodyPr wrap="square">
            <a:spAutoFit/>
          </a:bodyPr>
          <a:lstStyle/>
          <a:p>
            <a:pPr>
              <a:lnSpc>
                <a:spcPct val="130000"/>
              </a:lnSpc>
              <a:defRPr sz="1600">
                <a:solidFill>
                  <a:srgbClr val="0F172A"/>
                </a:solidFill>
              </a:defRPr>
            </a:pPr>
            <a:r>
              <a:t>Market dominance</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Market Segmentation: Revenue Split &amp; Growth Forecast of Google</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Revenue Streams</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Google's primary revenue stream comes from advertising, particularly Google Ads. Additionally, the company generates revenue through its cloud computing services, hardware products, and subscription-based offerings like Google Drive and YouTube Premium.</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Advertising</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Cloud Computing</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Hardware Products</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Subscription Services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Market Segmentation: Revenue Split &amp; Growth Forecast of Google</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Market Segmentation</a:t>
            </a:r>
          </a:p>
        </p:txBody>
      </p:sp>
      <p:sp>
        <p:nvSpPr>
          <p:cNvPr id="4" name="TextBox 3"/>
          <p:cNvSpPr txBox="1"/>
          <p:nvPr/>
        </p:nvSpPr>
        <p:spPr>
          <a:xfrm>
            <a:off x="457200" y="1417320"/>
            <a:ext cx="4114800" cy="1892807"/>
          </a:xfrm>
          <a:prstGeom prst="rect">
            <a:avLst/>
          </a:prstGeom>
          <a:noFill/>
        </p:spPr>
        <p:txBody>
          <a:bodyPr wrap="square">
            <a:spAutoFit/>
          </a:bodyPr>
          <a:lstStyle/>
          <a:p>
            <a:pPr>
              <a:lnSpc>
                <a:spcPct val="130000"/>
              </a:lnSpc>
              <a:defRPr sz="1400">
                <a:solidFill>
                  <a:srgbClr val="0F172A"/>
                </a:solidFill>
              </a:defRPr>
            </a:pPr>
            <a:r>
              <a:t>Google operates in various markets and segments, including search, advertising, cloud computing, hardware, and software. Understanding these market segments is essential for identifying opportunities and challenges, as well as informing strategic decisions about resource allocation and investment.</a:t>
            </a:r>
          </a:p>
        </p:txBody>
      </p:sp>
      <p:sp>
        <p:nvSpPr>
          <p:cNvPr id="5" name="Oval 4"/>
          <p:cNvSpPr/>
          <p:nvPr/>
        </p:nvSpPr>
        <p:spPr>
          <a:xfrm>
            <a:off x="457200" y="3685031"/>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630168"/>
            <a:ext cx="3858768" cy="658368"/>
          </a:xfrm>
          <a:prstGeom prst="rect">
            <a:avLst/>
          </a:prstGeom>
          <a:noFill/>
        </p:spPr>
        <p:txBody>
          <a:bodyPr wrap="square">
            <a:spAutoFit/>
          </a:bodyPr>
          <a:lstStyle/>
          <a:p>
            <a:pPr>
              <a:lnSpc>
                <a:spcPct val="130000"/>
              </a:lnSpc>
              <a:defRPr sz="1500">
                <a:solidFill>
                  <a:srgbClr val="0F172A"/>
                </a:solidFill>
              </a:defRPr>
            </a:pPr>
            <a:r>
              <a:t>Search Market</a:t>
            </a:r>
          </a:p>
        </p:txBody>
      </p:sp>
      <p:sp>
        <p:nvSpPr>
          <p:cNvPr id="7" name="Oval 6"/>
          <p:cNvSpPr/>
          <p:nvPr/>
        </p:nvSpPr>
        <p:spPr>
          <a:xfrm>
            <a:off x="457200" y="4416551"/>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361688"/>
            <a:ext cx="3858768" cy="658368"/>
          </a:xfrm>
          <a:prstGeom prst="rect">
            <a:avLst/>
          </a:prstGeom>
          <a:noFill/>
        </p:spPr>
        <p:txBody>
          <a:bodyPr wrap="square">
            <a:spAutoFit/>
          </a:bodyPr>
          <a:lstStyle/>
          <a:p>
            <a:pPr>
              <a:lnSpc>
                <a:spcPct val="130000"/>
              </a:lnSpc>
              <a:defRPr sz="1500">
                <a:solidFill>
                  <a:srgbClr val="0F172A"/>
                </a:solidFill>
              </a:defRPr>
            </a:pPr>
            <a:r>
              <a:t>Advertising Market</a:t>
            </a:r>
          </a:p>
        </p:txBody>
      </p:sp>
      <p:sp>
        <p:nvSpPr>
          <p:cNvPr id="9" name="Oval 8"/>
          <p:cNvSpPr/>
          <p:nvPr/>
        </p:nvSpPr>
        <p:spPr>
          <a:xfrm>
            <a:off x="457200" y="5148071"/>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093207"/>
            <a:ext cx="3858768" cy="658368"/>
          </a:xfrm>
          <a:prstGeom prst="rect">
            <a:avLst/>
          </a:prstGeom>
          <a:noFill/>
        </p:spPr>
        <p:txBody>
          <a:bodyPr wrap="square">
            <a:spAutoFit/>
          </a:bodyPr>
          <a:lstStyle/>
          <a:p>
            <a:pPr>
              <a:lnSpc>
                <a:spcPct val="130000"/>
              </a:lnSpc>
              <a:defRPr sz="1500">
                <a:solidFill>
                  <a:srgbClr val="0F172A"/>
                </a:solidFill>
              </a:defRPr>
            </a:pPr>
            <a:r>
              <a:t>Cloud Computing Market</a:t>
            </a:r>
          </a:p>
        </p:txBody>
      </p:sp>
      <p:sp>
        <p:nvSpPr>
          <p:cNvPr id="11" name="Oval 10"/>
          <p:cNvSpPr/>
          <p:nvPr/>
        </p:nvSpPr>
        <p:spPr>
          <a:xfrm>
            <a:off x="457200" y="5879591"/>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824727"/>
            <a:ext cx="3858768" cy="658368"/>
          </a:xfrm>
          <a:prstGeom prst="rect">
            <a:avLst/>
          </a:prstGeom>
          <a:noFill/>
        </p:spPr>
        <p:txBody>
          <a:bodyPr wrap="square">
            <a:spAutoFit/>
          </a:bodyPr>
          <a:lstStyle/>
          <a:p>
            <a:pPr>
              <a:lnSpc>
                <a:spcPct val="130000"/>
              </a:lnSpc>
              <a:defRPr sz="1500">
                <a:solidFill>
                  <a:srgbClr val="0F172A"/>
                </a:solidFill>
              </a:defRPr>
            </a:pPr>
            <a:r>
              <a:t>Hardware Market</a:t>
            </a:r>
          </a:p>
        </p:txBody>
      </p:sp>
      <p:pic>
        <p:nvPicPr>
          <p:cNvPr id="13" name="Picture 12" descr="unsplash_yktK2qaiVHI.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Market Segmentation: Revenue Split &amp; Growth Forecast of Google</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Revenue Split by Segment</a:t>
            </a:r>
          </a:p>
        </p:txBody>
      </p:sp>
      <p:sp>
        <p:nvSpPr>
          <p:cNvPr id="4" name="TextBox 3"/>
          <p:cNvSpPr txBox="1"/>
          <p:nvPr/>
        </p:nvSpPr>
        <p:spPr>
          <a:xfrm>
            <a:off x="457200" y="1325880"/>
            <a:ext cx="3931920" cy="2048256"/>
          </a:xfrm>
          <a:prstGeom prst="rect">
            <a:avLst/>
          </a:prstGeom>
          <a:noFill/>
        </p:spPr>
        <p:txBody>
          <a:bodyPr wrap="square">
            <a:normAutofit/>
          </a:bodyPr>
          <a:lstStyle/>
          <a:p>
            <a:pPr>
              <a:lnSpc>
                <a:spcPct val="130000"/>
              </a:lnSpc>
              <a:defRPr sz="1300">
                <a:solidFill>
                  <a:srgbClr val="64748B"/>
                </a:solidFill>
              </a:defRPr>
            </a:pPr>
            <a:r>
              <a:t>According to Google's financial reports, the company generates revenue primarily from advertising, with search and YouTube driving significant revenue. Cloud computing and hardware products also contribute to Google's overall revenue.</a:t>
            </a:r>
          </a:p>
        </p:txBody>
      </p:sp>
      <p:graphicFrame>
        <p:nvGraphicFramePr>
          <p:cNvPr id="5" name="Chart 4"/>
          <p:cNvGraphicFramePr>
            <a:graphicFrameLocks noGrp="1"/>
          </p:cNvGraphicFramePr>
          <p:nvPr/>
        </p:nvGraphicFramePr>
        <p:xfrm>
          <a:off x="4389120" y="1097280"/>
          <a:ext cx="4572000" cy="5029200"/>
        </p:xfrm>
        <a:graphic>
          <a:graphicData uri="http://schemas.openxmlformats.org/drawingml/2006/chart">
            <c:chart xmlns:c="http://schemas.openxmlformats.org/drawingml/2006/chart" r:id="rId2"/>
          </a:graphicData>
        </a:graphic>
      </p:graphicFrame>
      <p:sp>
        <p:nvSpPr>
          <p:cNvPr id="6" name="Rectangle 5"/>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Market Segmentation: Revenue Split &amp; Growth Forecast of Google</a:t>
            </a:r>
          </a:p>
        </p:txBody>
      </p:sp>
      <p:sp>
        <p:nvSpPr>
          <p:cNvPr id="8" name="TextBox 7"/>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E40AF"/>
                </a:solidFill>
              </a:defRPr>
            </a:pPr>
            <a:r>
              <a:t>Growth Forecast</a:t>
            </a:r>
          </a:p>
        </p:txBody>
      </p:sp>
      <p:sp>
        <p:nvSpPr>
          <p:cNvPr id="4" name="TextBox 3"/>
          <p:cNvSpPr txBox="1"/>
          <p:nvPr/>
        </p:nvSpPr>
        <p:spPr>
          <a:xfrm>
            <a:off x="457200" y="1325880"/>
            <a:ext cx="3931920" cy="2048256"/>
          </a:xfrm>
          <a:prstGeom prst="rect">
            <a:avLst/>
          </a:prstGeom>
          <a:noFill/>
        </p:spPr>
        <p:txBody>
          <a:bodyPr wrap="square">
            <a:normAutofit/>
          </a:bodyPr>
          <a:lstStyle/>
          <a:p>
            <a:pPr>
              <a:lnSpc>
                <a:spcPct val="130000"/>
              </a:lnSpc>
              <a:defRPr sz="1300">
                <a:solidFill>
                  <a:srgbClr val="64748B"/>
                </a:solidFill>
              </a:defRPr>
            </a:pPr>
            <a:r>
              <a:t>Google's growth forecast is driven by the expansion of its cloud computing and hardware product lines. Additionally, the company's continued dominance in search and advertising will contribute to its overall revenue growth.</a:t>
            </a:r>
          </a:p>
        </p:txBody>
      </p:sp>
      <p:graphicFrame>
        <p:nvGraphicFramePr>
          <p:cNvPr id="5" name="Chart 4"/>
          <p:cNvGraphicFramePr>
            <a:graphicFrameLocks noGrp="1"/>
          </p:cNvGraphicFramePr>
          <p:nvPr/>
        </p:nvGraphicFramePr>
        <p:xfrm>
          <a:off x="4389120" y="1097280"/>
          <a:ext cx="4572000" cy="5029200"/>
        </p:xfrm>
        <a:graphic>
          <a:graphicData uri="http://schemas.openxmlformats.org/drawingml/2006/chart">
            <c:chart xmlns:c="http://schemas.openxmlformats.org/drawingml/2006/chart" r:id="rId2"/>
          </a:graphicData>
        </a:graphic>
      </p:graphicFrame>
      <p:sp>
        <p:nvSpPr>
          <p:cNvPr id="6" name="Rectangle 5"/>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Market Segmentation: Revenue Split &amp; Growth Forecast of Google</a:t>
            </a:r>
          </a:p>
        </p:txBody>
      </p:sp>
      <p:sp>
        <p:nvSpPr>
          <p:cNvPr id="8" name="TextBox 7"/>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Market Trends and Opportunities</a:t>
            </a:r>
          </a:p>
        </p:txBody>
      </p:sp>
      <p:sp>
        <p:nvSpPr>
          <p:cNvPr id="4" name="TextBox 3"/>
          <p:cNvSpPr txBox="1"/>
          <p:nvPr/>
        </p:nvSpPr>
        <p:spPr>
          <a:xfrm>
            <a:off x="457200" y="1417320"/>
            <a:ext cx="4114800" cy="1600200"/>
          </a:xfrm>
          <a:prstGeom prst="rect">
            <a:avLst/>
          </a:prstGeom>
          <a:noFill/>
        </p:spPr>
        <p:txBody>
          <a:bodyPr wrap="square">
            <a:spAutoFit/>
          </a:bodyPr>
          <a:lstStyle/>
          <a:p>
            <a:pPr>
              <a:lnSpc>
                <a:spcPct val="130000"/>
              </a:lnSpc>
              <a:defRPr sz="1400">
                <a:solidFill>
                  <a:srgbClr val="0F172A"/>
                </a:solidFill>
              </a:defRPr>
            </a:pPr>
            <a:r>
              <a:t>The market trends and opportunities for Google include the increasing adoption of cloud computing, the growth of e-commerce, and the rise of artificial intelligence. These trends will shape the company's strategy and inform its investment decisions.</a:t>
            </a:r>
          </a:p>
        </p:txBody>
      </p:sp>
      <p:sp>
        <p:nvSpPr>
          <p:cNvPr id="5" name="Oval 4"/>
          <p:cNvSpPr/>
          <p:nvPr/>
        </p:nvSpPr>
        <p:spPr>
          <a:xfrm>
            <a:off x="457200" y="339242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337560"/>
            <a:ext cx="3858768" cy="658368"/>
          </a:xfrm>
          <a:prstGeom prst="rect">
            <a:avLst/>
          </a:prstGeom>
          <a:noFill/>
        </p:spPr>
        <p:txBody>
          <a:bodyPr wrap="square">
            <a:spAutoFit/>
          </a:bodyPr>
          <a:lstStyle/>
          <a:p>
            <a:pPr>
              <a:lnSpc>
                <a:spcPct val="130000"/>
              </a:lnSpc>
              <a:defRPr sz="1500">
                <a:solidFill>
                  <a:srgbClr val="0F172A"/>
                </a:solidFill>
              </a:defRPr>
            </a:pPr>
            <a:r>
              <a:t>Cloud Computing Adoption</a:t>
            </a:r>
          </a:p>
        </p:txBody>
      </p:sp>
      <p:sp>
        <p:nvSpPr>
          <p:cNvPr id="7" name="Oval 6"/>
          <p:cNvSpPr/>
          <p:nvPr/>
        </p:nvSpPr>
        <p:spPr>
          <a:xfrm>
            <a:off x="457200" y="412394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069080"/>
            <a:ext cx="3858768" cy="658368"/>
          </a:xfrm>
          <a:prstGeom prst="rect">
            <a:avLst/>
          </a:prstGeom>
          <a:noFill/>
        </p:spPr>
        <p:txBody>
          <a:bodyPr wrap="square">
            <a:spAutoFit/>
          </a:bodyPr>
          <a:lstStyle/>
          <a:p>
            <a:pPr>
              <a:lnSpc>
                <a:spcPct val="130000"/>
              </a:lnSpc>
              <a:defRPr sz="1500">
                <a:solidFill>
                  <a:srgbClr val="0F172A"/>
                </a:solidFill>
              </a:defRPr>
            </a:pPr>
            <a:r>
              <a:t>E-commerce Growth</a:t>
            </a:r>
          </a:p>
        </p:txBody>
      </p:sp>
      <p:sp>
        <p:nvSpPr>
          <p:cNvPr id="9" name="Oval 8"/>
          <p:cNvSpPr/>
          <p:nvPr/>
        </p:nvSpPr>
        <p:spPr>
          <a:xfrm>
            <a:off x="457200" y="4855464"/>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800600"/>
            <a:ext cx="3858768" cy="658368"/>
          </a:xfrm>
          <a:prstGeom prst="rect">
            <a:avLst/>
          </a:prstGeom>
          <a:noFill/>
        </p:spPr>
        <p:txBody>
          <a:bodyPr wrap="square">
            <a:spAutoFit/>
          </a:bodyPr>
          <a:lstStyle/>
          <a:p>
            <a:pPr>
              <a:lnSpc>
                <a:spcPct val="130000"/>
              </a:lnSpc>
              <a:defRPr sz="1500">
                <a:solidFill>
                  <a:srgbClr val="0F172A"/>
                </a:solidFill>
              </a:defRPr>
            </a:pPr>
            <a:r>
              <a:t>Artificial Intelligence Adoption</a:t>
            </a:r>
          </a:p>
        </p:txBody>
      </p:sp>
      <p:sp>
        <p:nvSpPr>
          <p:cNvPr id="11" name="Oval 10"/>
          <p:cNvSpPr/>
          <p:nvPr/>
        </p:nvSpPr>
        <p:spPr>
          <a:xfrm>
            <a:off x="457200" y="5586983"/>
            <a:ext cx="146304" cy="14630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532120"/>
            <a:ext cx="3858768" cy="658368"/>
          </a:xfrm>
          <a:prstGeom prst="rect">
            <a:avLst/>
          </a:prstGeom>
          <a:noFill/>
        </p:spPr>
        <p:txBody>
          <a:bodyPr wrap="square">
            <a:spAutoFit/>
          </a:bodyPr>
          <a:lstStyle/>
          <a:p>
            <a:pPr>
              <a:lnSpc>
                <a:spcPct val="130000"/>
              </a:lnSpc>
              <a:defRPr sz="1500">
                <a:solidFill>
                  <a:srgbClr val="0F172A"/>
                </a:solidFill>
              </a:defRPr>
            </a:pPr>
            <a:r>
              <a:t>Digital Transformation</a:t>
            </a:r>
          </a:p>
        </p:txBody>
      </p:sp>
      <p:pic>
        <p:nvPicPr>
          <p:cNvPr id="13" name="Picture 12" descr="unsplash_fiXLQXAhCfk.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Market Segmentation: Revenue Split &amp; Growth Forecast of Google</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Threats and Challenges</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0F172A"/>
                </a:solidFill>
              </a:defRPr>
            </a:pPr>
            <a:r>
              <a:t>Google faces several threats and challenges, including competition from other technology companies, regulatory risks, and the need to continuously innovate. The company must navigate these challenges to maintain its market leadership.</a:t>
            </a:r>
          </a:p>
        </p:txBody>
      </p:sp>
      <p:sp>
        <p:nvSpPr>
          <p:cNvPr id="5" name="Oval 4"/>
          <p:cNvSpPr/>
          <p:nvPr/>
        </p:nvSpPr>
        <p:spPr>
          <a:xfrm>
            <a:off x="502920" y="2697479"/>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0F172A"/>
                </a:solidFill>
              </a:defRPr>
            </a:pPr>
            <a:r>
              <a:t>Competition</a:t>
            </a:r>
          </a:p>
        </p:txBody>
      </p:sp>
      <p:sp>
        <p:nvSpPr>
          <p:cNvPr id="7" name="Oval 6"/>
          <p:cNvSpPr/>
          <p:nvPr/>
        </p:nvSpPr>
        <p:spPr>
          <a:xfrm>
            <a:off x="502920" y="3447287"/>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0F172A"/>
                </a:solidFill>
              </a:defRPr>
            </a:pPr>
            <a:r>
              <a:t>Regulatory Risks</a:t>
            </a:r>
          </a:p>
        </p:txBody>
      </p:sp>
      <p:sp>
        <p:nvSpPr>
          <p:cNvPr id="9" name="Oval 8"/>
          <p:cNvSpPr/>
          <p:nvPr/>
        </p:nvSpPr>
        <p:spPr>
          <a:xfrm>
            <a:off x="502920" y="4197096"/>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0F172A"/>
                </a:solidFill>
              </a:defRPr>
            </a:pPr>
            <a:r>
              <a:t>Innovation Pressure</a:t>
            </a:r>
          </a:p>
        </p:txBody>
      </p:sp>
      <p:sp>
        <p:nvSpPr>
          <p:cNvPr id="11" name="Oval 10"/>
          <p:cNvSpPr/>
          <p:nvPr/>
        </p:nvSpPr>
        <p:spPr>
          <a:xfrm>
            <a:off x="502920" y="4946904"/>
            <a:ext cx="164592" cy="16459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0F172A"/>
                </a:solidFill>
              </a:defRPr>
            </a:pPr>
            <a:r>
              <a:t>Cybersecurity Threats</a:t>
            </a:r>
          </a:p>
        </p:txBody>
      </p:sp>
      <p:sp>
        <p:nvSpPr>
          <p:cNvPr id="13" name="Rectangle 12"/>
          <p:cNvSpPr/>
          <p:nvPr/>
        </p:nvSpPr>
        <p:spPr>
          <a:xfrm>
            <a:off x="457200" y="6537960"/>
            <a:ext cx="8229600"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64748B"/>
                </a:solidFill>
              </a:defRPr>
            </a:pPr>
            <a:r>
              <a:t>Market Segmentation: Revenue Split &amp; Growth Forecast of Google</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64748B"/>
                </a:solidFil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1E40AF"/>
                </a:solidFill>
              </a:defRPr>
            </a:pPr>
            <a:r>
              <a:t>Conclusion and Recommendations</a:t>
            </a:r>
          </a:p>
        </p:txBody>
      </p:sp>
      <p:sp>
        <p:nvSpPr>
          <p:cNvPr id="4" name="Rectangle 3"/>
          <p:cNvSpPr/>
          <p:nvPr/>
        </p:nvSpPr>
        <p:spPr>
          <a:xfrm>
            <a:off x="32004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F59E0B"/>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Innovation Focus</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F59E0B"/>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Emerging Technology Investment</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F59E0B"/>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0F172A"/>
                </a:solidFill>
              </a:defRPr>
            </a:pPr>
            <a:r>
              <a:t>• Global Expansion</a:t>
            </a:r>
          </a:p>
          <a:p>
            <a:pPr>
              <a:lnSpc>
                <a:spcPct val="120000"/>
              </a:lnSpc>
              <a:spcBef>
                <a:spcPts val="600"/>
              </a:spcBef>
              <a:spcAft>
                <a:spcPts val="600"/>
              </a:spcAft>
              <a:defRPr sz="1200">
                <a:solidFill>
                  <a:srgbClr val="0F172A"/>
                </a:solidFill>
              </a:defRPr>
            </a:pPr>
            <a:r>
              <a:t>• Market Diversification</a:t>
            </a:r>
          </a:p>
          <a:p>
            <a:pPr>
              <a:lnSpc>
                <a:spcPct val="120000"/>
              </a:lnSpc>
              <a:spcBef>
                <a:spcPts val="600"/>
              </a:spcBef>
              <a:spcAft>
                <a:spcPts val="600"/>
              </a:spcAft>
              <a:defRPr sz="1200">
                <a:solidFill>
                  <a:srgbClr val="0F172A"/>
                </a:solidFill>
              </a:defRPr>
            </a:pPr>
            <a:r>
              <a:t>• Strategic Partnerships</a:t>
            </a:r>
          </a:p>
        </p:txBody>
      </p:sp>
      <p:sp>
        <p:nvSpPr>
          <p:cNvPr id="12" name="Rectangle 11"/>
          <p:cNvSpPr/>
          <p:nvPr/>
        </p:nvSpPr>
        <p:spPr>
          <a:xfrm>
            <a:off x="457200" y="5120640"/>
            <a:ext cx="8229600"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64748B"/>
                </a:solidFill>
              </a:defRPr>
            </a:pPr>
            <a:r>
              <a:t>Thank you for your attention |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1E40A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1E40AF"/>
                </a:solidFill>
              </a:defRPr>
            </a:pPr>
            <a:r>
              <a:t>Introduction</a:t>
            </a:r>
          </a:p>
        </p:txBody>
      </p:sp>
      <p:sp>
        <p:nvSpPr>
          <p:cNvPr id="906" name="Rectangle 905"/>
          <p:cNvSpPr/>
          <p:nvPr/>
        </p:nvSpPr>
        <p:spPr>
          <a:xfrm>
            <a:off x="667512" y="17007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Global leader in search</a:t>
            </a:r>
          </a:p>
          <a:p>
            <a:pPr>
              <a:lnSpc>
                <a:spcPct val="120000"/>
              </a:lnSpc>
              <a:spcBef>
                <a:spcPts val="300"/>
              </a:spcBef>
              <a:spcAft>
                <a:spcPts val="300"/>
              </a:spcAft>
              <a:defRPr sz="1100">
                <a:solidFill>
                  <a:srgbClr val="64748B"/>
                </a:solidFill>
              </a:defRPr>
            </a:pPr>
            <a:r>
              <a:t>• Diverse revenue streams</a:t>
            </a:r>
          </a:p>
          <a:p>
            <a:pPr>
              <a:lnSpc>
                <a:spcPct val="120000"/>
              </a:lnSpc>
              <a:spcBef>
                <a:spcPts val="300"/>
              </a:spcBef>
              <a:spcAft>
                <a:spcPts val="300"/>
              </a:spcAft>
              <a:defRPr sz="1100">
                <a:solidFill>
                  <a:srgbClr val="64748B"/>
                </a:solidFill>
              </a:defRPr>
            </a:pPr>
            <a:r>
              <a:t>• Strategic importance</a:t>
            </a:r>
          </a:p>
        </p:txBody>
      </p:sp>
      <p:sp>
        <p:nvSpPr>
          <p:cNvPr id="908" name="Rectangle 907"/>
          <p:cNvSpPr/>
          <p:nvPr/>
        </p:nvSpPr>
        <p:spPr>
          <a:xfrm>
            <a:off x="3072384" y="25237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1E40AF"/>
                </a:solidFill>
              </a:defRPr>
            </a:pPr>
            <a:r>
              <a:t>Revenue Streams</a:t>
            </a:r>
          </a:p>
        </p:txBody>
      </p:sp>
      <p:sp>
        <p:nvSpPr>
          <p:cNvPr id="913" name="Rectangle 912"/>
          <p:cNvSpPr/>
          <p:nvPr/>
        </p:nvSpPr>
        <p:spPr>
          <a:xfrm>
            <a:off x="3182112" y="30723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Advertising</a:t>
            </a:r>
          </a:p>
          <a:p>
            <a:pPr>
              <a:lnSpc>
                <a:spcPct val="120000"/>
              </a:lnSpc>
              <a:spcBef>
                <a:spcPts val="300"/>
              </a:spcBef>
              <a:spcAft>
                <a:spcPts val="300"/>
              </a:spcAft>
              <a:defRPr sz="1100">
                <a:solidFill>
                  <a:srgbClr val="64748B"/>
                </a:solidFill>
              </a:defRPr>
            </a:pPr>
            <a:r>
              <a:t>• Cloud Computing</a:t>
            </a:r>
          </a:p>
          <a:p>
            <a:pPr>
              <a:lnSpc>
                <a:spcPct val="120000"/>
              </a:lnSpc>
              <a:spcBef>
                <a:spcPts val="300"/>
              </a:spcBef>
              <a:spcAft>
                <a:spcPts val="300"/>
              </a:spcAft>
              <a:defRPr sz="1100">
                <a:solidFill>
                  <a:srgbClr val="64748B"/>
                </a:solidFill>
              </a:defRPr>
            </a:pPr>
            <a:r>
              <a:t>• Hardware Products</a:t>
            </a:r>
          </a:p>
        </p:txBody>
      </p:sp>
      <p:sp>
        <p:nvSpPr>
          <p:cNvPr id="915" name="Rectangle 914"/>
          <p:cNvSpPr/>
          <p:nvPr/>
        </p:nvSpPr>
        <p:spPr>
          <a:xfrm>
            <a:off x="5586983" y="3895344"/>
            <a:ext cx="3108960" cy="19202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E40AF"/>
          </a:solidFill>
          <a:ln>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1E40AF"/>
                </a:solidFill>
              </a:defRPr>
            </a:pPr>
            <a:r>
              <a:t>Market Segmentation</a:t>
            </a:r>
          </a:p>
        </p:txBody>
      </p:sp>
      <p:sp>
        <p:nvSpPr>
          <p:cNvPr id="920" name="Rectangle 919"/>
          <p:cNvSpPr/>
          <p:nvPr/>
        </p:nvSpPr>
        <p:spPr>
          <a:xfrm>
            <a:off x="5696712" y="4443984"/>
            <a:ext cx="2779776"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64748B"/>
                </a:solidFill>
              </a:defRPr>
            </a:pPr>
            <a:r>
              <a:t>• Search Market</a:t>
            </a:r>
          </a:p>
          <a:p>
            <a:pPr>
              <a:lnSpc>
                <a:spcPct val="120000"/>
              </a:lnSpc>
              <a:spcBef>
                <a:spcPts val="300"/>
              </a:spcBef>
              <a:spcAft>
                <a:spcPts val="300"/>
              </a:spcAft>
              <a:defRPr sz="1100">
                <a:solidFill>
                  <a:srgbClr val="64748B"/>
                </a:solidFill>
              </a:defRPr>
            </a:pPr>
            <a:r>
              <a:t>• Advertising Market</a:t>
            </a:r>
          </a:p>
          <a:p>
            <a:pPr>
              <a:lnSpc>
                <a:spcPct val="120000"/>
              </a:lnSpc>
              <a:spcBef>
                <a:spcPts val="300"/>
              </a:spcBef>
              <a:spcAft>
                <a:spcPts val="300"/>
              </a:spcAft>
              <a:defRPr sz="1100">
                <a:solidFill>
                  <a:srgbClr val="64748B"/>
                </a:solidFill>
              </a:defRPr>
            </a:pPr>
            <a:r>
              <a:t>• Cloud Computing Market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E40AF"/>
                </a:solidFill>
              </a:defRPr>
            </a:pPr>
            <a:r>
              <a:t>Introduction</a:t>
            </a:r>
          </a:p>
        </p:txBody>
      </p:sp>
      <p:sp>
        <p:nvSpPr>
          <p:cNvPr id="8" name="Rectangle 7"/>
          <p:cNvSpPr/>
          <p:nvPr/>
        </p:nvSpPr>
        <p:spPr>
          <a:xfrm>
            <a:off x="960120" y="1984248"/>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E40AF"/>
                </a:solidFill>
              </a:defRPr>
            </a:pPr>
            <a:r>
              <a:t>Revenue Streams</a:t>
            </a:r>
          </a:p>
        </p:txBody>
      </p:sp>
      <p:sp>
        <p:nvSpPr>
          <p:cNvPr id="12" name="Rectangle 11"/>
          <p:cNvSpPr/>
          <p:nvPr/>
        </p:nvSpPr>
        <p:spPr>
          <a:xfrm>
            <a:off x="960120" y="2871215"/>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E40AF"/>
                </a:solidFill>
              </a:defRPr>
            </a:pPr>
            <a:r>
              <a:t>Market Segmentation</a:t>
            </a:r>
          </a:p>
        </p:txBody>
      </p:sp>
      <p:sp>
        <p:nvSpPr>
          <p:cNvPr id="16" name="Rectangle 15"/>
          <p:cNvSpPr/>
          <p:nvPr/>
        </p:nvSpPr>
        <p:spPr>
          <a:xfrm>
            <a:off x="960120" y="3758184"/>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E40AF"/>
                </a:solidFill>
              </a:defRPr>
            </a:pPr>
            <a:r>
              <a:t>Revenue Split by Segment</a:t>
            </a:r>
          </a:p>
        </p:txBody>
      </p:sp>
      <p:sp>
        <p:nvSpPr>
          <p:cNvPr id="20" name="Rectangle 19"/>
          <p:cNvSpPr/>
          <p:nvPr/>
        </p:nvSpPr>
        <p:spPr>
          <a:xfrm>
            <a:off x="960120" y="4645151"/>
            <a:ext cx="7315200"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E40AF"/>
                </a:solidFill>
              </a:defRPr>
            </a:pPr>
            <a:r>
              <a:t>Growth Forecast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