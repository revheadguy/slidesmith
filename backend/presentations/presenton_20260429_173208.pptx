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Adoption (%)</c:v>
                </c:pt>
              </c:strCache>
            </c:strRef>
          </c:tx>
          <c:cat>
            <c:strRef>
              <c:f>Sheet1!$A$2:$A$6</c:f>
              <c:strCache>
                <c:ptCount val="5"/>
                <c:pt idx="0">
                  <c:v>OpenAI</c:v>
                </c:pt>
                <c:pt idx="1">
                  <c:v>Google</c:v>
                </c:pt>
                <c:pt idx="2">
                  <c:v>Meta</c:v>
                </c:pt>
                <c:pt idx="3">
                  <c:v>Anthropic</c:v>
                </c:pt>
                <c:pt idx="4">
                  <c:v>Others</c:v>
                </c:pt>
              </c:strCache>
            </c:strRef>
          </c:cat>
          <c:val>
            <c:numRef>
              <c:f>Sheet1!$B$2:$B$6</c:f>
              <c:numCache>
                <c:formatCode>General</c:formatCode>
                <c:ptCount val="5"/>
                <c:pt idx="0">
                  <c:v>32</c:v>
                </c:pt>
                <c:pt idx="1">
                  <c:v>28</c:v>
                </c:pt>
                <c:pt idx="2">
                  <c:v>18</c:v>
                </c:pt>
                <c:pt idx="3">
                  <c:v>15</c:v>
                </c:pt>
                <c:pt idx="4">
                  <c:v>7</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overlay val="0"/>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40AF"/>
        </a:solidFill>
        <a:effectLst/>
      </p:bgPr>
    </p:bg>
    <p:spTree>
      <p:nvGrpSpPr>
        <p:cNvPr id="1" name=""/>
        <p:cNvGrpSpPr/>
        <p:nvPr/>
      </p:nvGrpSpPr>
      <p:grpSpPr/>
      <p:sp>
        <p:nvSpPr>
          <p:cNvPr id="2" name="TextBox 1"/>
          <p:cNvSpPr txBox="1"/>
          <p:nvPr/>
        </p:nvSpPr>
        <p:spPr>
          <a:xfrm>
            <a:off x="457200" y="2011680"/>
            <a:ext cx="8229600" cy="2011680"/>
          </a:xfrm>
          <a:prstGeom prst="rect">
            <a:avLst/>
          </a:prstGeom>
          <a:noFill/>
        </p:spPr>
        <p:txBody>
          <a:bodyPr wrap="square">
            <a:normAutofit/>
          </a:bodyPr>
          <a:lstStyle/>
          <a:p>
            <a:pPr algn="ctr">
              <a:lnSpc>
                <a:spcPct val="110000"/>
              </a:lnSpc>
              <a:defRPr sz="4000" b="1">
                <a:solidFill>
                  <a:srgbClr val="FFFFFF"/>
                </a:solidFill>
              </a:defRPr>
            </a:pPr>
            <a:r>
              <a:t>AI in Healthcare: Revolutionizing Patient Care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Introduction to AI in Healthcare</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The integration of artificial intelligence (AI) into healthcare is transforming the way patients receive care. AI-powered systems are being used to analyze medical images, diagnose diseases, and develop personalized treatment plans. With its ability to process large amounts of data quickly and accurately, AI is revolutionizing patient care by improving diagnosis accuracy, reducing costs, and enhancing patient outcomes. Furthermore, AI can help reduce healthcare disparities by providing accessible and equitable care to all patients. This presentation will explore the current state of AI in healthcare and its potential applications.</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Introduction to AI in Healthcare</a:t>
            </a:r>
          </a:p>
          <a:p>
            <a:pPr>
              <a:lnSpc>
                <a:spcPct val="120000"/>
              </a:lnSpc>
              <a:spcBef>
                <a:spcPts val="300"/>
              </a:spcBef>
              <a:spcAft>
                <a:spcPts val="300"/>
              </a:spcAft>
              <a:defRPr sz="1600">
                <a:solidFill>
                  <a:srgbClr val="0F172A"/>
                </a:solidFill>
              </a:defRPr>
            </a:pPr>
            <a:r>
              <a:t>• Current State of AI in Healthcare</a:t>
            </a:r>
          </a:p>
          <a:p>
            <a:pPr>
              <a:lnSpc>
                <a:spcPct val="120000"/>
              </a:lnSpc>
              <a:spcBef>
                <a:spcPts val="300"/>
              </a:spcBef>
              <a:spcAft>
                <a:spcPts val="300"/>
              </a:spcAft>
              <a:defRPr sz="1600">
                <a:solidFill>
                  <a:srgbClr val="0F172A"/>
                </a:solidFill>
              </a:defRPr>
            </a:pPr>
            <a:r>
              <a:t>• Potential Applications of AI in Healthcare</a:t>
            </a:r>
          </a:p>
          <a:p>
            <a:pPr>
              <a:lnSpc>
                <a:spcPct val="120000"/>
              </a:lnSpc>
              <a:spcBef>
                <a:spcPts val="300"/>
              </a:spcBef>
              <a:spcAft>
                <a:spcPts val="300"/>
              </a:spcAft>
              <a:defRPr sz="1600">
                <a:solidFill>
                  <a:srgbClr val="0F172A"/>
                </a:solidFill>
              </a:defRPr>
            </a:pPr>
            <a:r>
              <a:t>• Benefits of AI in Healthcare</a:t>
            </a:r>
          </a:p>
          <a:p>
            <a:pPr>
              <a:lnSpc>
                <a:spcPct val="120000"/>
              </a:lnSpc>
              <a:spcBef>
                <a:spcPts val="300"/>
              </a:spcBef>
              <a:spcAft>
                <a:spcPts val="300"/>
              </a:spcAft>
              <a:defRPr sz="1600">
                <a:solidFill>
                  <a:srgbClr val="0F172A"/>
                </a:solidFill>
              </a:defRPr>
            </a:pPr>
            <a:r>
              <a:t>• Challenges of Implementing AI in Healthcare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8229600" cy="640080"/>
          </a:xfrm>
          <a:prstGeom prst="rect">
            <a:avLst/>
          </a:prstGeom>
          <a:noFill/>
        </p:spPr>
        <p:txBody>
          <a:bodyPr wrap="square">
            <a:spAutoFit/>
          </a:bodyPr>
          <a:lstStyle/>
          <a:p>
            <a:pPr>
              <a:defRPr sz="2800" b="1">
                <a:solidFill>
                  <a:srgbClr val="1E40AF"/>
                </a:solidFill>
              </a:defRPr>
            </a:pPr>
            <a:r>
              <a:t>AI-Powered Diagnostic Tools</a:t>
            </a:r>
          </a:p>
        </p:txBody>
      </p:sp>
      <p:sp>
        <p:nvSpPr>
          <p:cNvPr id="4" name="TextBox 3"/>
          <p:cNvSpPr txBox="1"/>
          <p:nvPr/>
        </p:nvSpPr>
        <p:spPr>
          <a:xfrm>
            <a:off x="457200" y="1463040"/>
            <a:ext cx="4114800" cy="4572000"/>
          </a:xfrm>
          <a:prstGeom prst="rect">
            <a:avLst/>
          </a:prstGeom>
          <a:noFill/>
        </p:spPr>
        <p:txBody>
          <a:bodyPr wrap="square">
            <a:spAutoFit/>
          </a:bodyPr>
          <a:lstStyle/>
          <a:p>
            <a:pPr>
              <a:lnSpc>
                <a:spcPct val="115000"/>
              </a:lnSpc>
              <a:spcBef>
                <a:spcPts val="200"/>
              </a:spcBef>
              <a:spcAft>
                <a:spcPts val="200"/>
              </a:spcAft>
              <a:defRPr sz="1500">
                <a:solidFill>
                  <a:srgbClr val="0F172A"/>
                </a:solidFill>
              </a:defRPr>
            </a:pPr>
            <a:r>
              <a:t>AI-powered diagnostic tools are being used to analyze medical images such as X-rays and MRIs. These tools can help diagnose diseases more accurately than human radiologists, reducing errors and improving patient outcomes. Additionally, AI-powered diagnostic tools can provide real-time feedback to healthcare providers, enabling them to make informed decisions quickly. This has the potential to revolutionize patient care by providing accurate diagnoses and timely treatment.</a:t>
            </a:r>
          </a:p>
          <a:p>
            <a:pPr>
              <a:lnSpc>
                <a:spcPct val="115000"/>
              </a:lnSpc>
              <a:spcBef>
                <a:spcPts val="200"/>
              </a:spcBef>
              <a:spcAft>
                <a:spcPts val="200"/>
              </a:spcAft>
              <a:defRPr sz="1500">
                <a:solidFill>
                  <a:srgbClr val="0F172A"/>
                </a:solidFill>
              </a:defRPr>
            </a:pPr>
          </a:p>
          <a:p>
            <a:pPr>
              <a:lnSpc>
                <a:spcPct val="115000"/>
              </a:lnSpc>
              <a:spcBef>
                <a:spcPts val="200"/>
              </a:spcBef>
              <a:spcAft>
                <a:spcPts val="200"/>
              </a:spcAft>
              <a:defRPr sz="1500">
                <a:solidFill>
                  <a:srgbClr val="0F172A"/>
                </a:solidFill>
              </a:defRPr>
            </a:pPr>
            <a:r>
              <a:t>• AI-Powered Radiology</a:t>
            </a:r>
          </a:p>
          <a:p>
            <a:pPr>
              <a:lnSpc>
                <a:spcPct val="115000"/>
              </a:lnSpc>
              <a:spcBef>
                <a:spcPts val="200"/>
              </a:spcBef>
              <a:spcAft>
                <a:spcPts val="200"/>
              </a:spcAft>
              <a:defRPr sz="1500">
                <a:solidFill>
                  <a:srgbClr val="0F172A"/>
                </a:solidFill>
              </a:defRPr>
            </a:pPr>
            <a:r>
              <a:t>• Accuracy of AI-Powered Diagnoses</a:t>
            </a:r>
          </a:p>
          <a:p>
            <a:pPr>
              <a:lnSpc>
                <a:spcPct val="115000"/>
              </a:lnSpc>
              <a:spcBef>
                <a:spcPts val="200"/>
              </a:spcBef>
              <a:spcAft>
                <a:spcPts val="200"/>
              </a:spcAft>
              <a:defRPr sz="1500">
                <a:solidFill>
                  <a:srgbClr val="0F172A"/>
                </a:solidFill>
              </a:defRPr>
            </a:pPr>
            <a:r>
              <a:t>• Real-Time Feedback for Healthcare Providers</a:t>
            </a:r>
          </a:p>
          <a:p>
            <a:pPr>
              <a:lnSpc>
                <a:spcPct val="115000"/>
              </a:lnSpc>
              <a:spcBef>
                <a:spcPts val="200"/>
              </a:spcBef>
              <a:spcAft>
                <a:spcPts val="200"/>
              </a:spcAft>
              <a:defRPr sz="1500">
                <a:solidFill>
                  <a:srgbClr val="0F172A"/>
                </a:solidFill>
              </a:defRPr>
            </a:pPr>
            <a:r>
              <a:t>• Potential Applications of AI-Powered Diagnostic Tools</a:t>
            </a:r>
          </a:p>
          <a:p>
            <a:pPr>
              <a:lnSpc>
                <a:spcPct val="115000"/>
              </a:lnSpc>
              <a:spcBef>
                <a:spcPts val="200"/>
              </a:spcBef>
              <a:spcAft>
                <a:spcPts val="200"/>
              </a:spcAft>
              <a:defRPr sz="1500">
                <a:solidFill>
                  <a:srgbClr val="0F172A"/>
                </a:solidFill>
              </a:defRPr>
            </a:pPr>
            <a:r>
              <a:t>• Limitations of AI-Powered Diagnostic Tools</a:t>
            </a:r>
          </a:p>
        </p:txBody>
      </p:sp>
      <p:pic>
        <p:nvPicPr>
          <p:cNvPr id="5" name="Picture 4" descr="unsplash_0mVMuiH3hvE.jpg"/>
          <p:cNvPicPr>
            <a:picLocks noChangeAspect="1"/>
          </p:cNvPicPr>
          <p:nvPr/>
        </p:nvPicPr>
        <p:blipFill>
          <a:blip r:embed="rId2"/>
          <a:stretch>
            <a:fillRect/>
          </a:stretch>
        </p:blipFill>
        <p:spPr>
          <a:xfrm>
            <a:off x="4754880" y="1463040"/>
            <a:ext cx="3474720" cy="4572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Personalized Medicine with AI</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AI is being used to develop personalized treatment plans tailored to individual patients. This is achieved by analyzing a patient's genetic profile and medical history to identify the most effective treatment options. AI-powered systems can also help identify potential side effects of treatments, enabling healthcare providers to make informed decisions about patient care. Personalized medicine has the potential to revolutionize patient care by improving outcomes and reducing costs.</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Personalized Medicine with AI</a:t>
            </a:r>
          </a:p>
          <a:p>
            <a:pPr>
              <a:lnSpc>
                <a:spcPct val="120000"/>
              </a:lnSpc>
              <a:spcBef>
                <a:spcPts val="300"/>
              </a:spcBef>
              <a:spcAft>
                <a:spcPts val="300"/>
              </a:spcAft>
              <a:defRPr sz="1600">
                <a:solidFill>
                  <a:srgbClr val="0F172A"/>
                </a:solidFill>
              </a:defRPr>
            </a:pPr>
            <a:r>
              <a:t>• Benefits of Personalized Medicine</a:t>
            </a:r>
          </a:p>
          <a:p>
            <a:pPr>
              <a:lnSpc>
                <a:spcPct val="120000"/>
              </a:lnSpc>
              <a:spcBef>
                <a:spcPts val="300"/>
              </a:spcBef>
              <a:spcAft>
                <a:spcPts val="300"/>
              </a:spcAft>
              <a:defRPr sz="1600">
                <a:solidFill>
                  <a:srgbClr val="0F172A"/>
                </a:solidFill>
              </a:defRPr>
            </a:pPr>
            <a:r>
              <a:t>• Limitations of Personalized Medicine</a:t>
            </a:r>
          </a:p>
          <a:p>
            <a:pPr>
              <a:lnSpc>
                <a:spcPct val="120000"/>
              </a:lnSpc>
              <a:spcBef>
                <a:spcPts val="300"/>
              </a:spcBef>
              <a:spcAft>
                <a:spcPts val="300"/>
              </a:spcAft>
              <a:defRPr sz="1600">
                <a:solidFill>
                  <a:srgbClr val="0F172A"/>
                </a:solidFill>
              </a:defRPr>
            </a:pPr>
            <a:r>
              <a:t>• Potential Applications of AI-Powered Personalized Medicine</a:t>
            </a:r>
          </a:p>
          <a:p>
            <a:pPr>
              <a:lnSpc>
                <a:spcPct val="120000"/>
              </a:lnSpc>
              <a:spcBef>
                <a:spcPts val="300"/>
              </a:spcBef>
              <a:spcAft>
                <a:spcPts val="300"/>
              </a:spcAft>
              <a:defRPr sz="1600">
                <a:solidFill>
                  <a:srgbClr val="0F172A"/>
                </a:solidFill>
              </a:defRPr>
            </a:pPr>
            <a:r>
              <a:t>• Challenges of Implementing AI-Powered Personalized Medicine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AI in Chronic Disease Management</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AI is being used to manage chronic diseases such as diabetes and hypertension. AI-powered systems can analyze patient data and provide personalized recommendations for treatment and lifestyle changes. This has the potential to improve patient outcomes by reducing hospitalizations and improving quality of life. Additionally, AI can help identify high-risk patients early on, enabling healthcare providers to provide targeted interventions.</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AI in Chronic Disease Management</a:t>
            </a:r>
          </a:p>
          <a:p>
            <a:pPr>
              <a:lnSpc>
                <a:spcPct val="120000"/>
              </a:lnSpc>
              <a:spcBef>
                <a:spcPts val="300"/>
              </a:spcBef>
              <a:spcAft>
                <a:spcPts val="300"/>
              </a:spcAft>
              <a:defRPr sz="1600">
                <a:solidFill>
                  <a:srgbClr val="0F172A"/>
                </a:solidFill>
              </a:defRPr>
            </a:pPr>
            <a:r>
              <a:t>• Benefits of AI-Powered Chronic Disease Management</a:t>
            </a:r>
          </a:p>
          <a:p>
            <a:pPr>
              <a:lnSpc>
                <a:spcPct val="120000"/>
              </a:lnSpc>
              <a:spcBef>
                <a:spcPts val="300"/>
              </a:spcBef>
              <a:spcAft>
                <a:spcPts val="300"/>
              </a:spcAft>
              <a:defRPr sz="1600">
                <a:solidFill>
                  <a:srgbClr val="0F172A"/>
                </a:solidFill>
              </a:defRPr>
            </a:pPr>
            <a:r>
              <a:t>• Limitations of AI-Powered Chronic Disease Management</a:t>
            </a:r>
          </a:p>
          <a:p>
            <a:pPr>
              <a:lnSpc>
                <a:spcPct val="120000"/>
              </a:lnSpc>
              <a:spcBef>
                <a:spcPts val="300"/>
              </a:spcBef>
              <a:spcAft>
                <a:spcPts val="300"/>
              </a:spcAft>
              <a:defRPr sz="1600">
                <a:solidFill>
                  <a:srgbClr val="0F172A"/>
                </a:solidFill>
              </a:defRPr>
            </a:pPr>
            <a:r>
              <a:t>• Potential Applications of AI-Powered Chronic Disease Management</a:t>
            </a:r>
          </a:p>
          <a:p>
            <a:pPr>
              <a:lnSpc>
                <a:spcPct val="120000"/>
              </a:lnSpc>
              <a:spcBef>
                <a:spcPts val="300"/>
              </a:spcBef>
              <a:spcAft>
                <a:spcPts val="300"/>
              </a:spcAft>
              <a:defRPr sz="1600">
                <a:solidFill>
                  <a:srgbClr val="0F172A"/>
                </a:solidFill>
              </a:defRPr>
            </a:pPr>
            <a:r>
              <a:t>• Challenges of Implementing AI-Powered Chronic Disease Management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8229600" cy="640080"/>
          </a:xfrm>
          <a:prstGeom prst="rect">
            <a:avLst/>
          </a:prstGeom>
          <a:noFill/>
        </p:spPr>
        <p:txBody>
          <a:bodyPr wrap="square">
            <a:spAutoFit/>
          </a:bodyPr>
          <a:lstStyle/>
          <a:p>
            <a:pPr>
              <a:defRPr sz="2800" b="1">
                <a:solidFill>
                  <a:srgbClr val="1E40AF"/>
                </a:solidFill>
              </a:defRPr>
            </a:pPr>
            <a:r>
              <a:t>Ethical Considerations in AI-Driven Healthcare</a:t>
            </a:r>
          </a:p>
        </p:txBody>
      </p:sp>
      <p:sp>
        <p:nvSpPr>
          <p:cNvPr id="4" name="TextBox 3"/>
          <p:cNvSpPr txBox="1"/>
          <p:nvPr/>
        </p:nvSpPr>
        <p:spPr>
          <a:xfrm>
            <a:off x="457200" y="1463040"/>
            <a:ext cx="4114800" cy="4572000"/>
          </a:xfrm>
          <a:prstGeom prst="rect">
            <a:avLst/>
          </a:prstGeom>
          <a:noFill/>
        </p:spPr>
        <p:txBody>
          <a:bodyPr wrap="square">
            <a:spAutoFit/>
          </a:bodyPr>
          <a:lstStyle/>
          <a:p>
            <a:pPr>
              <a:lnSpc>
                <a:spcPct val="115000"/>
              </a:lnSpc>
              <a:spcBef>
                <a:spcPts val="200"/>
              </a:spcBef>
              <a:spcAft>
                <a:spcPts val="200"/>
              </a:spcAft>
              <a:defRPr sz="1500">
                <a:solidFill>
                  <a:srgbClr val="0F172A"/>
                </a:solidFill>
              </a:defRPr>
            </a:pPr>
            <a:r>
              <a:t>As AI becomes increasingly integrated into healthcare, there are several ethical considerations that need to be addressed. These include issues related to patient privacy and data security, as well as the potential for bias in AI-driven decision-making. Additionally, there is a need to ensure that AI systems are transparent and accountable, enabling patients to make informed decisions about their care.</a:t>
            </a:r>
          </a:p>
          <a:p>
            <a:pPr>
              <a:lnSpc>
                <a:spcPct val="115000"/>
              </a:lnSpc>
              <a:spcBef>
                <a:spcPts val="200"/>
              </a:spcBef>
              <a:spcAft>
                <a:spcPts val="200"/>
              </a:spcAft>
              <a:defRPr sz="1500">
                <a:solidFill>
                  <a:srgbClr val="0F172A"/>
                </a:solidFill>
              </a:defRPr>
            </a:pPr>
          </a:p>
          <a:p>
            <a:pPr>
              <a:lnSpc>
                <a:spcPct val="115000"/>
              </a:lnSpc>
              <a:spcBef>
                <a:spcPts val="200"/>
              </a:spcBef>
              <a:spcAft>
                <a:spcPts val="200"/>
              </a:spcAft>
              <a:defRPr sz="1500">
                <a:solidFill>
                  <a:srgbClr val="0F172A"/>
                </a:solidFill>
              </a:defRPr>
            </a:pPr>
            <a:r>
              <a:t>• Ethical Considerations in AI-Driven Healthcare</a:t>
            </a:r>
          </a:p>
          <a:p>
            <a:pPr>
              <a:lnSpc>
                <a:spcPct val="115000"/>
              </a:lnSpc>
              <a:spcBef>
                <a:spcPts val="200"/>
              </a:spcBef>
              <a:spcAft>
                <a:spcPts val="200"/>
              </a:spcAft>
              <a:defRPr sz="1500">
                <a:solidFill>
                  <a:srgbClr val="0F172A"/>
                </a:solidFill>
              </a:defRPr>
            </a:pPr>
            <a:r>
              <a:t>• Patient Privacy and Data Security</a:t>
            </a:r>
          </a:p>
          <a:p>
            <a:pPr>
              <a:lnSpc>
                <a:spcPct val="115000"/>
              </a:lnSpc>
              <a:spcBef>
                <a:spcPts val="200"/>
              </a:spcBef>
              <a:spcAft>
                <a:spcPts val="200"/>
              </a:spcAft>
              <a:defRPr sz="1500">
                <a:solidFill>
                  <a:srgbClr val="0F172A"/>
                </a:solidFill>
              </a:defRPr>
            </a:pPr>
            <a:r>
              <a:t>• Potential Bias in AI-Driven Decision-Making</a:t>
            </a:r>
          </a:p>
          <a:p>
            <a:pPr>
              <a:lnSpc>
                <a:spcPct val="115000"/>
              </a:lnSpc>
              <a:spcBef>
                <a:spcPts val="200"/>
              </a:spcBef>
              <a:spcAft>
                <a:spcPts val="200"/>
              </a:spcAft>
              <a:defRPr sz="1500">
                <a:solidFill>
                  <a:srgbClr val="0F172A"/>
                </a:solidFill>
              </a:defRPr>
            </a:pPr>
            <a:r>
              <a:t>• Transparency and Accountability of AI Systems</a:t>
            </a:r>
          </a:p>
          <a:p>
            <a:pPr>
              <a:lnSpc>
                <a:spcPct val="115000"/>
              </a:lnSpc>
              <a:spcBef>
                <a:spcPts val="200"/>
              </a:spcBef>
              <a:spcAft>
                <a:spcPts val="200"/>
              </a:spcAft>
              <a:defRPr sz="1500">
                <a:solidFill>
                  <a:srgbClr val="0F172A"/>
                </a:solidFill>
              </a:defRPr>
            </a:pPr>
            <a:r>
              <a:t>• Challenges of Ensuring Ethical Considerations</a:t>
            </a:r>
          </a:p>
        </p:txBody>
      </p:sp>
      <p:pic>
        <p:nvPicPr>
          <p:cNvPr id="5" name="Picture 4" descr="unsplash_0mVMuiH3hvE.jpg"/>
          <p:cNvPicPr>
            <a:picLocks noChangeAspect="1"/>
          </p:cNvPicPr>
          <p:nvPr/>
        </p:nvPicPr>
        <p:blipFill>
          <a:blip r:embed="rId2"/>
          <a:stretch>
            <a:fillRect/>
          </a:stretch>
        </p:blipFill>
        <p:spPr>
          <a:xfrm>
            <a:off x="4754880" y="1463040"/>
            <a:ext cx="3474720" cy="4572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914400"/>
          </a:xfrm>
          <a:prstGeom prst="rect">
            <a:avLst/>
          </a:prstGeom>
          <a:noFill/>
        </p:spPr>
        <p:txBody>
          <a:bodyPr wrap="square">
            <a:spAutoFit/>
          </a:bodyPr>
          <a:lstStyle/>
          <a:p>
            <a:pPr>
              <a:defRPr sz="4000" b="1">
                <a:solidFill>
                  <a:srgbClr val="1E40AF"/>
                </a:solidFill>
              </a:defRPr>
            </a:pPr>
            <a:r>
              <a:t>Conclusion - Adoption (%)</a:t>
            </a:r>
          </a:p>
        </p:txBody>
      </p:sp>
      <p:graphicFrame>
        <p:nvGraphicFramePr>
          <p:cNvPr id="4" name="Chart 3"/>
          <p:cNvGraphicFramePr>
            <a:graphicFrameLocks noGrp="1"/>
          </p:cNvGraphicFramePr>
          <p:nvPr/>
        </p:nvGraphicFramePr>
        <p:xfrm>
          <a:off x="457200" y="1463040"/>
          <a:ext cx="8229600" cy="4572000"/>
        </p:xfrm>
        <a:graphic>
          <a:graphicData uri="http://schemas.openxmlformats.org/drawingml/2006/chart">
            <c:chart xmlns:c="http://schemas.openxmlformats.org/drawingml/2006/chart" r:id="rId2"/>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914400"/>
          </a:xfrm>
          <a:prstGeom prst="rect">
            <a:avLst/>
          </a:prstGeom>
          <a:noFill/>
        </p:spPr>
        <p:txBody>
          <a:bodyPr wrap="square">
            <a:spAutoFit/>
          </a:bodyPr>
          <a:lstStyle/>
          <a:p>
            <a:pPr>
              <a:defRPr sz="4000" b="1">
                <a:solidFill>
                  <a:srgbClr val="1E40AF"/>
                </a:solidFill>
              </a:defRPr>
            </a:pPr>
            <a:r>
              <a:t>Presentation Flow</a:t>
            </a:r>
          </a:p>
        </p:txBody>
      </p:sp>
      <p:sp>
        <p:nvSpPr>
          <p:cNvPr id="4" name="Rectangle 3"/>
          <p:cNvSpPr/>
          <p:nvPr/>
        </p:nvSpPr>
        <p:spPr>
          <a:xfrm>
            <a:off x="457200" y="1371600"/>
            <a:ext cx="2499360" cy="457200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554480"/>
            <a:ext cx="2225040" cy="457200"/>
          </a:xfrm>
          <a:prstGeom prst="rect">
            <a:avLst/>
          </a:prstGeom>
          <a:noFill/>
        </p:spPr>
        <p:txBody>
          <a:bodyPr wrap="square">
            <a:spAutoFit/>
          </a:bodyPr>
          <a:lstStyle/>
          <a:p>
            <a:pPr algn="ctr">
              <a:defRPr sz="1600" b="1">
                <a:solidFill>
                  <a:srgbClr val="1E40AF"/>
                </a:solidFill>
              </a:defRPr>
            </a:pPr>
            <a:r>
              <a:t>Beginning</a:t>
            </a:r>
          </a:p>
        </p:txBody>
      </p:sp>
      <p:sp>
        <p:nvSpPr>
          <p:cNvPr id="6" name="TextBox 5"/>
          <p:cNvSpPr txBox="1"/>
          <p:nvPr/>
        </p:nvSpPr>
        <p:spPr>
          <a:xfrm>
            <a:off x="594360" y="2194560"/>
            <a:ext cx="2225040" cy="3657600"/>
          </a:xfrm>
          <a:prstGeom prst="rect">
            <a:avLst/>
          </a:prstGeom>
          <a:noFill/>
        </p:spPr>
        <p:txBody>
          <a:bodyPr wrap="square">
            <a:spAutoFit/>
          </a:bodyPr>
          <a:lstStyle/>
          <a:p>
            <a:pPr>
              <a:lnSpc>
                <a:spcPct val="140000"/>
              </a:lnSpc>
              <a:defRPr sz="1300">
                <a:solidFill>
                  <a:srgbClr val="64748B"/>
                </a:solidFill>
              </a:defRPr>
            </a:pPr>
            <a:r>
              <a:t>Introduction to AI in Healthcare</a:t>
            </a:r>
          </a:p>
        </p:txBody>
      </p:sp>
      <p:sp>
        <p:nvSpPr>
          <p:cNvPr id="7" name="Rectangle 6"/>
          <p:cNvSpPr/>
          <p:nvPr/>
        </p:nvSpPr>
        <p:spPr>
          <a:xfrm>
            <a:off x="3048000" y="1371600"/>
            <a:ext cx="2499360" cy="457200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185160" y="1554480"/>
            <a:ext cx="2225040" cy="457200"/>
          </a:xfrm>
          <a:prstGeom prst="rect">
            <a:avLst/>
          </a:prstGeom>
          <a:noFill/>
        </p:spPr>
        <p:txBody>
          <a:bodyPr wrap="square">
            <a:spAutoFit/>
          </a:bodyPr>
          <a:lstStyle/>
          <a:p>
            <a:pPr algn="ctr">
              <a:defRPr sz="1600" b="1">
                <a:solidFill>
                  <a:srgbClr val="1E40AF"/>
                </a:solidFill>
              </a:defRPr>
            </a:pPr>
            <a:r>
              <a:t>Middle</a:t>
            </a:r>
          </a:p>
        </p:txBody>
      </p:sp>
      <p:sp>
        <p:nvSpPr>
          <p:cNvPr id="9" name="TextBox 8"/>
          <p:cNvSpPr txBox="1"/>
          <p:nvPr/>
        </p:nvSpPr>
        <p:spPr>
          <a:xfrm>
            <a:off x="3185160" y="2194560"/>
            <a:ext cx="2225040" cy="3657600"/>
          </a:xfrm>
          <a:prstGeom prst="rect">
            <a:avLst/>
          </a:prstGeom>
          <a:noFill/>
        </p:spPr>
        <p:txBody>
          <a:bodyPr wrap="square">
            <a:spAutoFit/>
          </a:bodyPr>
          <a:lstStyle/>
          <a:p>
            <a:pPr>
              <a:lnSpc>
                <a:spcPct val="140000"/>
              </a:lnSpc>
              <a:defRPr sz="1300">
                <a:solidFill>
                  <a:srgbClr val="64748B"/>
                </a:solidFill>
              </a:defRPr>
            </a:pPr>
            <a:r>
              <a:t>AI in Chronic Disease Management</a:t>
            </a:r>
          </a:p>
        </p:txBody>
      </p:sp>
      <p:sp>
        <p:nvSpPr>
          <p:cNvPr id="10" name="Rectangle 9"/>
          <p:cNvSpPr/>
          <p:nvPr/>
        </p:nvSpPr>
        <p:spPr>
          <a:xfrm>
            <a:off x="5638800" y="1371600"/>
            <a:ext cx="2499360" cy="457200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775960" y="1554480"/>
            <a:ext cx="2225040" cy="457200"/>
          </a:xfrm>
          <a:prstGeom prst="rect">
            <a:avLst/>
          </a:prstGeom>
          <a:noFill/>
        </p:spPr>
        <p:txBody>
          <a:bodyPr wrap="square">
            <a:spAutoFit/>
          </a:bodyPr>
          <a:lstStyle/>
          <a:p>
            <a:pPr algn="ctr">
              <a:defRPr sz="1600" b="1">
                <a:solidFill>
                  <a:srgbClr val="1E40AF"/>
                </a:solidFill>
              </a:defRPr>
            </a:pPr>
            <a:r>
              <a:t>End</a:t>
            </a:r>
          </a:p>
        </p:txBody>
      </p:sp>
      <p:sp>
        <p:nvSpPr>
          <p:cNvPr id="12" name="TextBox 11"/>
          <p:cNvSpPr txBox="1"/>
          <p:nvPr/>
        </p:nvSpPr>
        <p:spPr>
          <a:xfrm>
            <a:off x="5775960" y="2194560"/>
            <a:ext cx="2225040" cy="3657600"/>
          </a:xfrm>
          <a:prstGeom prst="rect">
            <a:avLst/>
          </a:prstGeom>
          <a:noFill/>
        </p:spPr>
        <p:txBody>
          <a:bodyPr wrap="square">
            <a:spAutoFit/>
          </a:bodyPr>
          <a:lstStyle/>
          <a:p>
            <a:pPr>
              <a:lnSpc>
                <a:spcPct val="140000"/>
              </a:lnSpc>
              <a:defRPr sz="1300">
                <a:solidFill>
                  <a:srgbClr val="64748B"/>
                </a:solidFill>
              </a:defRPr>
            </a:pPr>
            <a:r>
              <a:t>Conclusion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E40AF"/>
        </a:solidFill>
        <a:effectLst/>
      </p:bgPr>
    </p:bg>
    <p:spTree>
      <p:nvGrpSpPr>
        <p:cNvPr id="1" name=""/>
        <p:cNvGrpSpPr/>
        <p:nvPr/>
      </p:nvGrpSpPr>
      <p:grpSpPr/>
      <p:sp>
        <p:nvSpPr>
          <p:cNvPr id="2" name="TextBox 1"/>
          <p:cNvSpPr txBox="1"/>
          <p:nvPr/>
        </p:nvSpPr>
        <p:spPr>
          <a:xfrm>
            <a:off x="457200" y="731520"/>
            <a:ext cx="8229600" cy="731520"/>
          </a:xfrm>
          <a:prstGeom prst="rect">
            <a:avLst/>
          </a:prstGeom>
          <a:noFill/>
        </p:spPr>
        <p:txBody>
          <a:bodyPr wrap="none">
            <a:spAutoFit/>
          </a:bodyPr>
          <a:lstStyle/>
          <a:p>
            <a:pPr algn="ctr">
              <a:defRPr sz="4400" b="1">
                <a:solidFill>
                  <a:srgbClr val="FFFFFF"/>
                </a:solidFill>
              </a:defRPr>
            </a:pPr>
            <a:r>
              <a:t>Key Takeaways</a:t>
            </a:r>
          </a:p>
        </p:txBody>
      </p:sp>
      <p:sp>
        <p:nvSpPr>
          <p:cNvPr id="3" name="TextBox 2"/>
          <p:cNvSpPr txBox="1"/>
          <p:nvPr/>
        </p:nvSpPr>
        <p:spPr>
          <a:xfrm>
            <a:off x="1371600" y="1828800"/>
            <a:ext cx="6400800" cy="4114800"/>
          </a:xfrm>
          <a:prstGeom prst="rect">
            <a:avLst/>
          </a:prstGeom>
          <a:noFill/>
        </p:spPr>
        <p:txBody>
          <a:bodyPr wrap="square">
            <a:spAutoFit/>
          </a:bodyPr>
          <a:lstStyle/>
          <a:p>
            <a:pPr>
              <a:spcBef>
                <a:spcPts val="800"/>
              </a:spcBef>
              <a:spcAft>
                <a:spcPts val="800"/>
              </a:spcAft>
              <a:defRPr sz="2000">
                <a:solidFill>
                  <a:srgbClr val="F59E0B"/>
                </a:solidFill>
              </a:defRPr>
            </a:pPr>
            <a:r>
              <a:t>✓ Introduction to AI in Healthcare</a:t>
            </a:r>
          </a:p>
          <a:p>
            <a:pPr>
              <a:spcBef>
                <a:spcPts val="800"/>
              </a:spcBef>
              <a:spcAft>
                <a:spcPts val="800"/>
              </a:spcAft>
              <a:defRPr sz="2000">
                <a:solidFill>
                  <a:srgbClr val="F59E0B"/>
                </a:solidFill>
              </a:defRPr>
            </a:pPr>
            <a:r>
              <a:t>✓ AI-Powered Diagnostic Tools</a:t>
            </a:r>
          </a:p>
          <a:p>
            <a:pPr>
              <a:spcBef>
                <a:spcPts val="800"/>
              </a:spcBef>
              <a:spcAft>
                <a:spcPts val="800"/>
              </a:spcAft>
              <a:defRPr sz="2000">
                <a:solidFill>
                  <a:srgbClr val="F59E0B"/>
                </a:solidFill>
              </a:defRPr>
            </a:pPr>
            <a:r>
              <a:t>✓ Personalized Medicine with AI</a:t>
            </a:r>
          </a:p>
          <a:p>
            <a:pPr>
              <a:spcBef>
                <a:spcPts val="800"/>
              </a:spcBef>
              <a:spcAft>
                <a:spcPts val="800"/>
              </a:spcAft>
              <a:defRPr sz="2000">
                <a:solidFill>
                  <a:srgbClr val="F59E0B"/>
                </a:solidFill>
              </a:defRPr>
            </a:pPr>
            <a:r>
              <a:t>✓ AI in Chronic Disease Management</a:t>
            </a:r>
          </a:p>
          <a:p>
            <a:pPr>
              <a:spcBef>
                <a:spcPts val="800"/>
              </a:spcBef>
              <a:spcAft>
                <a:spcPts val="800"/>
              </a:spcAft>
              <a:defRPr sz="2000">
                <a:solidFill>
                  <a:srgbClr val="F59E0B"/>
                </a:solidFill>
              </a:defRPr>
            </a:pPr>
            <a:r>
              <a:t>✓ Ethical Considerations in AI-Driven Healthcare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