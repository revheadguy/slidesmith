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Oval 1"/>
          <p:cNvSpPr/>
          <p:nvPr/>
        </p:nvSpPr>
        <p:spPr>
          <a:xfrm>
            <a:off x="6355079" y="-1143000"/>
            <a:ext cx="4114800" cy="4114800"/>
          </a:xfrm>
          <a:prstGeom prst="ellipse">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1440" y="4754880"/>
            <a:ext cx="2011680" cy="2011680"/>
          </a:xfrm>
          <a:prstGeom prst="ellipse">
            <a:avLst/>
          </a:prstGeom>
          <a:noFill/>
          <a:ln w="317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377440"/>
            <a:ext cx="7680960" cy="2011680"/>
          </a:xfrm>
          <a:prstGeom prst="rect">
            <a:avLst/>
          </a:prstGeom>
          <a:noFill/>
        </p:spPr>
        <p:txBody>
          <a:bodyPr wrap="square">
            <a:spAutoFit/>
          </a:bodyPr>
          <a:lstStyle/>
          <a:p>
            <a:pPr algn="ctr">
              <a:lnSpc>
                <a:spcPct val="115000"/>
              </a:lnSpc>
              <a:defRPr sz="4000" b="1">
                <a:solidFill>
                  <a:srgbClr val="FFFFFF"/>
                </a:solidFill>
              </a:defRPr>
            </a:pPr>
            <a:r>
              <a:t>Singapore Management University</a:t>
            </a:r>
          </a:p>
        </p:txBody>
      </p:sp>
      <p:sp>
        <p:nvSpPr>
          <p:cNvPr id="5" name="Rectangle 4"/>
          <p:cNvSpPr/>
          <p:nvPr/>
        </p:nvSpPr>
        <p:spPr>
          <a:xfrm>
            <a:off x="0" y="6748272"/>
            <a:ext cx="9144000" cy="109728"/>
          </a:xfrm>
          <a:prstGeom prst="rect">
            <a:avLst/>
          </a:prstGeom>
          <a:solidFill>
            <a:srgbClr val="5C6B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85800"/>
          </a:xfrm>
          <a:prstGeom prst="rect">
            <a:avLst/>
          </a:prstGeom>
          <a:noFill/>
        </p:spPr>
        <p:txBody>
          <a:bodyPr wrap="square">
            <a:spAutoFit/>
          </a:bodyPr>
          <a:lstStyle/>
          <a:p>
            <a:pPr>
              <a:defRPr sz="2800" b="1">
                <a:solidFill>
                  <a:srgbClr val="111827"/>
                </a:solidFill>
              </a:defRPr>
            </a:pPr>
            <a:r>
              <a:t>Introduction to SMU</a:t>
            </a:r>
          </a:p>
        </p:txBody>
      </p:sp>
      <p:sp>
        <p:nvSpPr>
          <p:cNvPr id="4" name="TextBox 3"/>
          <p:cNvSpPr txBox="1"/>
          <p:nvPr/>
        </p:nvSpPr>
        <p:spPr>
          <a:xfrm>
            <a:off x="731520" y="1417320"/>
            <a:ext cx="7680960" cy="640080"/>
          </a:xfrm>
          <a:prstGeom prst="rect">
            <a:avLst/>
          </a:prstGeom>
          <a:noFill/>
        </p:spPr>
        <p:txBody>
          <a:bodyPr wrap="square">
            <a:spAutoFit/>
          </a:bodyPr>
          <a:lstStyle/>
          <a:p>
            <a:pPr>
              <a:lnSpc>
                <a:spcPct val="130000"/>
              </a:lnSpc>
              <a:defRPr sz="1400">
                <a:solidFill>
                  <a:srgbClr val="D1D5DB"/>
                </a:solidFill>
              </a:defRPr>
            </a:pPr>
            <a:r>
              <a:t>Singapore Management University (SMU) is a leading research university in Singapore. Founded in 2000, SMU has established itself as a premier institution for business education and research.</a:t>
            </a:r>
          </a:p>
        </p:txBody>
      </p:sp>
      <p:sp>
        <p:nvSpPr>
          <p:cNvPr id="5" name="Oval 4"/>
          <p:cNvSpPr/>
          <p:nvPr/>
        </p:nvSpPr>
        <p:spPr>
          <a:xfrm>
            <a:off x="502920" y="2331720"/>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286000"/>
            <a:ext cx="7589520" cy="868680"/>
          </a:xfrm>
          <a:prstGeom prst="rect">
            <a:avLst/>
          </a:prstGeom>
          <a:noFill/>
        </p:spPr>
        <p:txBody>
          <a:bodyPr wrap="square">
            <a:spAutoFit/>
          </a:bodyPr>
          <a:lstStyle/>
          <a:p>
            <a:pPr>
              <a:lnSpc>
                <a:spcPct val="130000"/>
              </a:lnSpc>
              <a:defRPr sz="1600">
                <a:solidFill>
                  <a:srgbClr val="F3F4F6"/>
                </a:solidFill>
              </a:defRPr>
            </a:pPr>
            <a:r>
              <a:t>SMU's flagship campus in Singapore</a:t>
            </a:r>
          </a:p>
        </p:txBody>
      </p:sp>
      <p:sp>
        <p:nvSpPr>
          <p:cNvPr id="7" name="Oval 6"/>
          <p:cNvSpPr/>
          <p:nvPr/>
        </p:nvSpPr>
        <p:spPr>
          <a:xfrm>
            <a:off x="502920" y="306323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17520"/>
            <a:ext cx="7589520" cy="868680"/>
          </a:xfrm>
          <a:prstGeom prst="rect">
            <a:avLst/>
          </a:prstGeom>
          <a:noFill/>
        </p:spPr>
        <p:txBody>
          <a:bodyPr wrap="square">
            <a:spAutoFit/>
          </a:bodyPr>
          <a:lstStyle/>
          <a:p>
            <a:pPr>
              <a:lnSpc>
                <a:spcPct val="130000"/>
              </a:lnSpc>
              <a:defRPr sz="1600">
                <a:solidFill>
                  <a:srgbClr val="F3F4F6"/>
                </a:solidFill>
              </a:defRPr>
            </a:pPr>
            <a:r>
              <a:t>Strong research focus in business and technology</a:t>
            </a:r>
          </a:p>
        </p:txBody>
      </p:sp>
      <p:sp>
        <p:nvSpPr>
          <p:cNvPr id="9" name="Oval 8"/>
          <p:cNvSpPr/>
          <p:nvPr/>
        </p:nvSpPr>
        <p:spPr>
          <a:xfrm>
            <a:off x="502920" y="379475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749039"/>
            <a:ext cx="7589520" cy="868680"/>
          </a:xfrm>
          <a:prstGeom prst="rect">
            <a:avLst/>
          </a:prstGeom>
          <a:noFill/>
        </p:spPr>
        <p:txBody>
          <a:bodyPr wrap="square">
            <a:spAutoFit/>
          </a:bodyPr>
          <a:lstStyle/>
          <a:p>
            <a:pPr>
              <a:lnSpc>
                <a:spcPct val="130000"/>
              </a:lnSpc>
              <a:defRPr sz="1600">
                <a:solidFill>
                  <a:srgbClr val="F3F4F6"/>
                </a:solidFill>
              </a:defRPr>
            </a:pPr>
            <a:r>
              <a:t>Collaborative learning environment</a:t>
            </a:r>
          </a:p>
        </p:txBody>
      </p:sp>
      <p:sp>
        <p:nvSpPr>
          <p:cNvPr id="11" name="Rectangle 10"/>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Singapore Management University</a:t>
            </a:r>
          </a:p>
        </p:txBody>
      </p:sp>
      <p:sp>
        <p:nvSpPr>
          <p:cNvPr id="13" name="TextBox 12"/>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FFFFFF"/>
                </a:solidFill>
              </a:defRPr>
            </a:pPr>
            <a:r>
              <a:t>Academic Programs</a:t>
            </a:r>
          </a:p>
        </p:txBody>
      </p:sp>
      <p:sp>
        <p:nvSpPr>
          <p:cNvPr id="4" name="TextBox 3"/>
          <p:cNvSpPr txBox="1"/>
          <p:nvPr/>
        </p:nvSpPr>
        <p:spPr>
          <a:xfrm>
            <a:off x="457200" y="1417320"/>
            <a:ext cx="4114800" cy="2185416"/>
          </a:xfrm>
          <a:prstGeom prst="rect">
            <a:avLst/>
          </a:prstGeom>
          <a:noFill/>
        </p:spPr>
        <p:txBody>
          <a:bodyPr wrap="square">
            <a:spAutoFit/>
          </a:bodyPr>
          <a:lstStyle/>
          <a:p>
            <a:pPr>
              <a:lnSpc>
                <a:spcPct val="130000"/>
              </a:lnSpc>
              <a:defRPr sz="1400">
                <a:solidFill>
                  <a:srgbClr val="F3F4F6"/>
                </a:solidFill>
              </a:defRPr>
            </a:pPr>
            <a:r>
              <a:t>SMU offers a range of undergraduate and graduate programs across its four schools: School of Business, School of Information Systems, School of Economics, and School of Social Sciences. These programs are designed to provide students with a comprehensive understanding of their chosen field, as well as the skills and knowledge needed to succeed in today's rapidly changing world.</a:t>
            </a:r>
          </a:p>
        </p:txBody>
      </p:sp>
      <p:sp>
        <p:nvSpPr>
          <p:cNvPr id="5" name="Oval 4"/>
          <p:cNvSpPr/>
          <p:nvPr/>
        </p:nvSpPr>
        <p:spPr>
          <a:xfrm>
            <a:off x="457200" y="3977639"/>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922776"/>
            <a:ext cx="3858768" cy="658368"/>
          </a:xfrm>
          <a:prstGeom prst="rect">
            <a:avLst/>
          </a:prstGeom>
          <a:noFill/>
        </p:spPr>
        <p:txBody>
          <a:bodyPr wrap="square">
            <a:spAutoFit/>
          </a:bodyPr>
          <a:lstStyle/>
          <a:p>
            <a:pPr>
              <a:lnSpc>
                <a:spcPct val="130000"/>
              </a:lnSpc>
              <a:defRPr sz="1500">
                <a:solidFill>
                  <a:srgbClr val="F3F4F6"/>
                </a:solidFill>
              </a:defRPr>
            </a:pPr>
            <a:r>
              <a:t>Undergraduate and graduate programs</a:t>
            </a:r>
          </a:p>
        </p:txBody>
      </p:sp>
      <p:sp>
        <p:nvSpPr>
          <p:cNvPr id="7" name="Oval 6"/>
          <p:cNvSpPr/>
          <p:nvPr/>
        </p:nvSpPr>
        <p:spPr>
          <a:xfrm>
            <a:off x="457200" y="4709159"/>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654296"/>
            <a:ext cx="3858768" cy="658368"/>
          </a:xfrm>
          <a:prstGeom prst="rect">
            <a:avLst/>
          </a:prstGeom>
          <a:noFill/>
        </p:spPr>
        <p:txBody>
          <a:bodyPr wrap="square">
            <a:spAutoFit/>
          </a:bodyPr>
          <a:lstStyle/>
          <a:p>
            <a:pPr>
              <a:lnSpc>
                <a:spcPct val="130000"/>
              </a:lnSpc>
              <a:defRPr sz="1500">
                <a:solidFill>
                  <a:srgbClr val="F3F4F6"/>
                </a:solidFill>
              </a:defRPr>
            </a:pPr>
            <a:r>
              <a:t>Four schools: Business, IS, Economics, Social Sciences</a:t>
            </a:r>
          </a:p>
        </p:txBody>
      </p:sp>
      <p:sp>
        <p:nvSpPr>
          <p:cNvPr id="9" name="Oval 8"/>
          <p:cNvSpPr/>
          <p:nvPr/>
        </p:nvSpPr>
        <p:spPr>
          <a:xfrm>
            <a:off x="457200" y="5440679"/>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385816"/>
            <a:ext cx="3858768" cy="658368"/>
          </a:xfrm>
          <a:prstGeom prst="rect">
            <a:avLst/>
          </a:prstGeom>
          <a:noFill/>
        </p:spPr>
        <p:txBody>
          <a:bodyPr wrap="square">
            <a:spAutoFit/>
          </a:bodyPr>
          <a:lstStyle/>
          <a:p>
            <a:pPr>
              <a:lnSpc>
                <a:spcPct val="130000"/>
              </a:lnSpc>
              <a:defRPr sz="1500">
                <a:solidFill>
                  <a:srgbClr val="F3F4F6"/>
                </a:solidFill>
              </a:defRPr>
            </a:pPr>
            <a:r>
              <a:t>Major options: Business Administration, Finance, Accounting, etc.</a:t>
            </a:r>
          </a:p>
        </p:txBody>
      </p:sp>
      <p:sp>
        <p:nvSpPr>
          <p:cNvPr id="11" name="Oval 10"/>
          <p:cNvSpPr/>
          <p:nvPr/>
        </p:nvSpPr>
        <p:spPr>
          <a:xfrm>
            <a:off x="457200" y="6172199"/>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6117336"/>
            <a:ext cx="3858768" cy="658368"/>
          </a:xfrm>
          <a:prstGeom prst="rect">
            <a:avLst/>
          </a:prstGeom>
          <a:noFill/>
        </p:spPr>
        <p:txBody>
          <a:bodyPr wrap="square">
            <a:spAutoFit/>
          </a:bodyPr>
          <a:lstStyle/>
          <a:p>
            <a:pPr>
              <a:lnSpc>
                <a:spcPct val="130000"/>
              </a:lnSpc>
              <a:defRPr sz="1500">
                <a:solidFill>
                  <a:srgbClr val="F3F4F6"/>
                </a:solidFill>
              </a:defRPr>
            </a:pPr>
            <a:r>
              <a:t>Emphasis on practical skills and knowledge</a:t>
            </a:r>
          </a:p>
        </p:txBody>
      </p:sp>
      <p:pic>
        <p:nvPicPr>
          <p:cNvPr id="13" name="Picture 12" descr="unsplash_iQPr1XkF5F0.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Singapore Management University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FFFFFF"/>
                </a:solidFill>
              </a:defRPr>
            </a:pPr>
            <a:r>
              <a:t>Research at SMU</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F3F4F6"/>
                </a:solidFill>
              </a:defRPr>
            </a:pPr>
            <a:r>
              <a:t>Research is a core aspect of SMU's mission. The university has established several research centers and institutes that focus on topics such as entrepreneurship, innovation, sustainability, and more.</a:t>
            </a:r>
          </a:p>
        </p:txBody>
      </p:sp>
      <p:sp>
        <p:nvSpPr>
          <p:cNvPr id="5" name="Oval 4"/>
          <p:cNvSpPr/>
          <p:nvPr/>
        </p:nvSpPr>
        <p:spPr>
          <a:xfrm>
            <a:off x="502920" y="269747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F3F4F6"/>
                </a:solidFill>
              </a:defRPr>
            </a:pPr>
            <a:r>
              <a:t>Research centers and institutes</a:t>
            </a:r>
          </a:p>
        </p:txBody>
      </p:sp>
      <p:sp>
        <p:nvSpPr>
          <p:cNvPr id="7" name="Oval 6"/>
          <p:cNvSpPr/>
          <p:nvPr/>
        </p:nvSpPr>
        <p:spPr>
          <a:xfrm>
            <a:off x="502920" y="3447287"/>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F3F4F6"/>
                </a:solidFill>
              </a:defRPr>
            </a:pPr>
            <a:r>
              <a:t>Focus areas: Entrepreneurship, Innovation, Sustainability, etc.</a:t>
            </a:r>
          </a:p>
        </p:txBody>
      </p:sp>
      <p:sp>
        <p:nvSpPr>
          <p:cNvPr id="9" name="Oval 8"/>
          <p:cNvSpPr/>
          <p:nvPr/>
        </p:nvSpPr>
        <p:spPr>
          <a:xfrm>
            <a:off x="502920" y="4197096"/>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F3F4F6"/>
                </a:solidFill>
              </a:defRPr>
            </a:pPr>
            <a:r>
              <a:t>Student-faculty collaboration</a:t>
            </a:r>
          </a:p>
        </p:txBody>
      </p:sp>
      <p:sp>
        <p:nvSpPr>
          <p:cNvPr id="11" name="Oval 10"/>
          <p:cNvSpPr/>
          <p:nvPr/>
        </p:nvSpPr>
        <p:spPr>
          <a:xfrm>
            <a:off x="502920" y="4946904"/>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F3F4F6"/>
                </a:solidFill>
              </a:defRPr>
            </a:pPr>
            <a:r>
              <a:t>Industry partnerships and collaborations</a:t>
            </a:r>
          </a:p>
        </p:txBody>
      </p:sp>
      <p:sp>
        <p:nvSpPr>
          <p:cNvPr id="13" name="Rectangle 12"/>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Singapore Management University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FFFFFF"/>
                </a:solidFill>
              </a:defRPr>
            </a:pPr>
            <a:r>
              <a:t>Campus Life</a:t>
            </a:r>
          </a:p>
        </p:txBody>
      </p:sp>
      <p:sp>
        <p:nvSpPr>
          <p:cNvPr id="4" name="TextBox 3"/>
          <p:cNvSpPr txBox="1"/>
          <p:nvPr/>
        </p:nvSpPr>
        <p:spPr>
          <a:xfrm>
            <a:off x="731520" y="1417320"/>
            <a:ext cx="7680960" cy="960119"/>
          </a:xfrm>
          <a:prstGeom prst="rect">
            <a:avLst/>
          </a:prstGeom>
          <a:noFill/>
        </p:spPr>
        <p:txBody>
          <a:bodyPr wrap="square">
            <a:spAutoFit/>
          </a:bodyPr>
          <a:lstStyle/>
          <a:p>
            <a:pPr>
              <a:lnSpc>
                <a:spcPct val="130000"/>
              </a:lnSpc>
              <a:defRPr sz="1600">
                <a:solidFill>
                  <a:srgbClr val="F3F4F6"/>
                </a:solidFill>
              </a:defRPr>
            </a:pPr>
            <a:r>
              <a:t>SMU's campus is a vibrant community that offers students a wide range of extracurricular activities, clubs, and organizations. From sports teams to cultural groups, there are plenty of opportunities for students to get involved and build lasting relationships with their peers.</a:t>
            </a:r>
          </a:p>
        </p:txBody>
      </p:sp>
      <p:sp>
        <p:nvSpPr>
          <p:cNvPr id="5" name="Oval 4"/>
          <p:cNvSpPr/>
          <p:nvPr/>
        </p:nvSpPr>
        <p:spPr>
          <a:xfrm>
            <a:off x="502920" y="2697479"/>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651760"/>
            <a:ext cx="7589520" cy="868680"/>
          </a:xfrm>
          <a:prstGeom prst="rect">
            <a:avLst/>
          </a:prstGeom>
          <a:noFill/>
        </p:spPr>
        <p:txBody>
          <a:bodyPr wrap="square">
            <a:spAutoFit/>
          </a:bodyPr>
          <a:lstStyle/>
          <a:p>
            <a:pPr>
              <a:lnSpc>
                <a:spcPct val="130000"/>
              </a:lnSpc>
              <a:defRPr sz="1600">
                <a:solidFill>
                  <a:srgbClr val="F3F4F6"/>
                </a:solidFill>
              </a:defRPr>
            </a:pPr>
            <a:r>
              <a:t>Campus life: Extracurricular activities</a:t>
            </a:r>
          </a:p>
        </p:txBody>
      </p:sp>
      <p:sp>
        <p:nvSpPr>
          <p:cNvPr id="7" name="Oval 6"/>
          <p:cNvSpPr/>
          <p:nvPr/>
        </p:nvSpPr>
        <p:spPr>
          <a:xfrm>
            <a:off x="502920" y="3447287"/>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401568"/>
            <a:ext cx="7589520" cy="868680"/>
          </a:xfrm>
          <a:prstGeom prst="rect">
            <a:avLst/>
          </a:prstGeom>
          <a:noFill/>
        </p:spPr>
        <p:txBody>
          <a:bodyPr wrap="square">
            <a:spAutoFit/>
          </a:bodyPr>
          <a:lstStyle/>
          <a:p>
            <a:pPr>
              <a:lnSpc>
                <a:spcPct val="130000"/>
              </a:lnSpc>
              <a:defRPr sz="1600">
                <a:solidFill>
                  <a:srgbClr val="F3F4F6"/>
                </a:solidFill>
              </a:defRPr>
            </a:pPr>
            <a:r>
              <a:t>Clubs and organizations: Sports, Cultural, etc.</a:t>
            </a:r>
          </a:p>
        </p:txBody>
      </p:sp>
      <p:sp>
        <p:nvSpPr>
          <p:cNvPr id="9" name="Oval 8"/>
          <p:cNvSpPr/>
          <p:nvPr/>
        </p:nvSpPr>
        <p:spPr>
          <a:xfrm>
            <a:off x="502920" y="4197096"/>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151376"/>
            <a:ext cx="7589520" cy="868680"/>
          </a:xfrm>
          <a:prstGeom prst="rect">
            <a:avLst/>
          </a:prstGeom>
          <a:noFill/>
        </p:spPr>
        <p:txBody>
          <a:bodyPr wrap="square">
            <a:spAutoFit/>
          </a:bodyPr>
          <a:lstStyle/>
          <a:p>
            <a:pPr>
              <a:lnSpc>
                <a:spcPct val="130000"/>
              </a:lnSpc>
              <a:defRPr sz="1600">
                <a:solidFill>
                  <a:srgbClr val="F3F4F6"/>
                </a:solidFill>
              </a:defRPr>
            </a:pPr>
            <a:r>
              <a:t>Networking opportunities</a:t>
            </a:r>
          </a:p>
        </p:txBody>
      </p:sp>
      <p:sp>
        <p:nvSpPr>
          <p:cNvPr id="11" name="Oval 10"/>
          <p:cNvSpPr/>
          <p:nvPr/>
        </p:nvSpPr>
        <p:spPr>
          <a:xfrm>
            <a:off x="502920" y="4946904"/>
            <a:ext cx="164592" cy="164592"/>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901184"/>
            <a:ext cx="7589520" cy="868680"/>
          </a:xfrm>
          <a:prstGeom prst="rect">
            <a:avLst/>
          </a:prstGeom>
          <a:noFill/>
        </p:spPr>
        <p:txBody>
          <a:bodyPr wrap="square">
            <a:spAutoFit/>
          </a:bodyPr>
          <a:lstStyle/>
          <a:p>
            <a:pPr>
              <a:lnSpc>
                <a:spcPct val="130000"/>
              </a:lnSpc>
              <a:defRPr sz="1600">
                <a:solidFill>
                  <a:srgbClr val="F3F4F6"/>
                </a:solidFill>
              </a:defRPr>
            </a:pPr>
            <a:r>
              <a:t>Resources and support services</a:t>
            </a:r>
          </a:p>
        </p:txBody>
      </p:sp>
      <p:sp>
        <p:nvSpPr>
          <p:cNvPr id="13" name="Rectangle 12"/>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Singapore Management University</a:t>
            </a:r>
          </a:p>
        </p:txBody>
      </p:sp>
      <p:sp>
        <p:nvSpPr>
          <p:cNvPr id="15" name="TextBox 14"/>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FFFFFF"/>
                </a:solidFill>
              </a:defRPr>
            </a:pPr>
            <a:r>
              <a:t>Career Opportunities</a:t>
            </a:r>
          </a:p>
        </p:txBody>
      </p:sp>
      <p:sp>
        <p:nvSpPr>
          <p:cNvPr id="4" name="TextBox 3"/>
          <p:cNvSpPr txBox="1"/>
          <p:nvPr/>
        </p:nvSpPr>
        <p:spPr>
          <a:xfrm>
            <a:off x="457200" y="1417320"/>
            <a:ext cx="4114800" cy="1892807"/>
          </a:xfrm>
          <a:prstGeom prst="rect">
            <a:avLst/>
          </a:prstGeom>
          <a:noFill/>
        </p:spPr>
        <p:txBody>
          <a:bodyPr wrap="square">
            <a:spAutoFit/>
          </a:bodyPr>
          <a:lstStyle/>
          <a:p>
            <a:pPr>
              <a:lnSpc>
                <a:spcPct val="130000"/>
              </a:lnSpc>
              <a:defRPr sz="1400">
                <a:solidFill>
                  <a:srgbClr val="F3F4F6"/>
                </a:solidFill>
              </a:defRPr>
            </a:pPr>
            <a:r>
              <a:t>SMU's strong reputation in the industry means that graduates have access to a wide range of career opportunities. The university has established partnerships with leading companies and organizations, providing students with internships, job placements, and mentorship opportunities.</a:t>
            </a:r>
          </a:p>
        </p:txBody>
      </p:sp>
      <p:sp>
        <p:nvSpPr>
          <p:cNvPr id="5" name="Oval 4"/>
          <p:cNvSpPr/>
          <p:nvPr/>
        </p:nvSpPr>
        <p:spPr>
          <a:xfrm>
            <a:off x="457200" y="368503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3630168"/>
            <a:ext cx="3858768" cy="658368"/>
          </a:xfrm>
          <a:prstGeom prst="rect">
            <a:avLst/>
          </a:prstGeom>
          <a:noFill/>
        </p:spPr>
        <p:txBody>
          <a:bodyPr wrap="square">
            <a:spAutoFit/>
          </a:bodyPr>
          <a:lstStyle/>
          <a:p>
            <a:pPr>
              <a:lnSpc>
                <a:spcPct val="130000"/>
              </a:lnSpc>
              <a:defRPr sz="1500">
                <a:solidFill>
                  <a:srgbClr val="F3F4F6"/>
                </a:solidFill>
              </a:defRPr>
            </a:pPr>
            <a:r>
              <a:t>Career opportunities: Internships, Job Placements</a:t>
            </a:r>
          </a:p>
        </p:txBody>
      </p:sp>
      <p:sp>
        <p:nvSpPr>
          <p:cNvPr id="7" name="Oval 6"/>
          <p:cNvSpPr/>
          <p:nvPr/>
        </p:nvSpPr>
        <p:spPr>
          <a:xfrm>
            <a:off x="457200" y="441655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4361688"/>
            <a:ext cx="3858768" cy="658368"/>
          </a:xfrm>
          <a:prstGeom prst="rect">
            <a:avLst/>
          </a:prstGeom>
          <a:noFill/>
        </p:spPr>
        <p:txBody>
          <a:bodyPr wrap="square">
            <a:spAutoFit/>
          </a:bodyPr>
          <a:lstStyle/>
          <a:p>
            <a:pPr>
              <a:lnSpc>
                <a:spcPct val="130000"/>
              </a:lnSpc>
              <a:defRPr sz="1500">
                <a:solidFill>
                  <a:srgbClr val="F3F4F6"/>
                </a:solidFill>
              </a:defRPr>
            </a:pPr>
            <a:r>
              <a:t>Industry partnerships and collaborations</a:t>
            </a:r>
          </a:p>
        </p:txBody>
      </p:sp>
      <p:sp>
        <p:nvSpPr>
          <p:cNvPr id="9" name="Oval 8"/>
          <p:cNvSpPr/>
          <p:nvPr/>
        </p:nvSpPr>
        <p:spPr>
          <a:xfrm>
            <a:off x="457200" y="514807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093207"/>
            <a:ext cx="3858768" cy="658368"/>
          </a:xfrm>
          <a:prstGeom prst="rect">
            <a:avLst/>
          </a:prstGeom>
          <a:noFill/>
        </p:spPr>
        <p:txBody>
          <a:bodyPr wrap="square">
            <a:spAutoFit/>
          </a:bodyPr>
          <a:lstStyle/>
          <a:p>
            <a:pPr>
              <a:lnSpc>
                <a:spcPct val="130000"/>
              </a:lnSpc>
              <a:defRPr sz="1500">
                <a:solidFill>
                  <a:srgbClr val="F3F4F6"/>
                </a:solidFill>
              </a:defRPr>
            </a:pPr>
            <a:r>
              <a:t>Mentorship opportunities</a:t>
            </a:r>
          </a:p>
        </p:txBody>
      </p:sp>
      <p:sp>
        <p:nvSpPr>
          <p:cNvPr id="11" name="Oval 10"/>
          <p:cNvSpPr/>
          <p:nvPr/>
        </p:nvSpPr>
        <p:spPr>
          <a:xfrm>
            <a:off x="457200" y="5879591"/>
            <a:ext cx="146304" cy="146304"/>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5824727"/>
            <a:ext cx="3858768" cy="658368"/>
          </a:xfrm>
          <a:prstGeom prst="rect">
            <a:avLst/>
          </a:prstGeom>
          <a:noFill/>
        </p:spPr>
        <p:txBody>
          <a:bodyPr wrap="square">
            <a:spAutoFit/>
          </a:bodyPr>
          <a:lstStyle/>
          <a:p>
            <a:pPr>
              <a:lnSpc>
                <a:spcPct val="130000"/>
              </a:lnSpc>
              <a:defRPr sz="1500">
                <a:solidFill>
                  <a:srgbClr val="F3F4F6"/>
                </a:solidFill>
              </a:defRPr>
            </a:pPr>
            <a:r>
              <a:t>Professional network building</a:t>
            </a:r>
          </a:p>
        </p:txBody>
      </p:sp>
      <p:pic>
        <p:nvPicPr>
          <p:cNvPr id="13" name="Picture 12" descr="unsplash_IESB4iFVuzA.jpg"/>
          <p:cNvPicPr>
            <a:picLocks noChangeAspect="1"/>
          </p:cNvPicPr>
          <p:nvPr/>
        </p:nvPicPr>
        <p:blipFill>
          <a:blip r:embed="rId2"/>
          <a:stretch>
            <a:fillRect/>
          </a:stretch>
        </p:blipFill>
        <p:spPr>
          <a:xfrm>
            <a:off x="4754880" y="1280160"/>
            <a:ext cx="3840480" cy="4937760"/>
          </a:xfrm>
          <a:prstGeom prst="rect">
            <a:avLst/>
          </a:prstGeom>
        </p:spPr>
      </p:pic>
      <p:sp>
        <p:nvSpPr>
          <p:cNvPr id="14" name="Rectangle 13"/>
          <p:cNvSpPr/>
          <p:nvPr/>
        </p:nvSpPr>
        <p:spPr>
          <a:xfrm>
            <a:off x="457200" y="6537960"/>
            <a:ext cx="8229600"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6565392"/>
            <a:ext cx="6400800" cy="256032"/>
          </a:xfrm>
          <a:prstGeom prst="rect">
            <a:avLst/>
          </a:prstGeom>
          <a:noFill/>
        </p:spPr>
        <p:txBody>
          <a:bodyPr wrap="none">
            <a:spAutoFit/>
          </a:bodyPr>
          <a:lstStyle/>
          <a:p>
            <a:pPr>
              <a:defRPr sz="900">
                <a:solidFill>
                  <a:srgbClr val="D1D5DB"/>
                </a:solidFill>
              </a:defRPr>
            </a:pPr>
            <a:r>
              <a:t>Singapore Management University</a:t>
            </a:r>
          </a:p>
        </p:txBody>
      </p:sp>
      <p:sp>
        <p:nvSpPr>
          <p:cNvPr id="16" name="TextBox 15"/>
          <p:cNvSpPr txBox="1"/>
          <p:nvPr/>
        </p:nvSpPr>
        <p:spPr>
          <a:xfrm>
            <a:off x="7772400" y="6565392"/>
            <a:ext cx="914400" cy="256032"/>
          </a:xfrm>
          <a:prstGeom prst="rect">
            <a:avLst/>
          </a:prstGeom>
          <a:noFill/>
        </p:spPr>
        <p:txBody>
          <a:bodyPr wrap="none">
            <a:spAutoFit/>
          </a:bodyPr>
          <a:lstStyle/>
          <a:p>
            <a:pPr algn="r">
              <a:defRPr sz="900">
                <a:solidFill>
                  <a:srgbClr val="D1D5DB"/>
                </a:solidFil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41C28"/>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640080"/>
          </a:xfrm>
          <a:prstGeom prst="rect">
            <a:avLst/>
          </a:prstGeom>
          <a:noFill/>
        </p:spPr>
        <p:txBody>
          <a:bodyPr wrap="square">
            <a:spAutoFit/>
          </a:bodyPr>
          <a:lstStyle/>
          <a:p>
            <a:pPr algn="ctr">
              <a:defRPr sz="3200" b="1">
                <a:solidFill>
                  <a:srgbClr val="FFFFFF"/>
                </a:solidFill>
              </a:defRPr>
            </a:pPr>
            <a:r>
              <a:t>Conclusion</a:t>
            </a:r>
          </a:p>
        </p:txBody>
      </p:sp>
      <p:sp>
        <p:nvSpPr>
          <p:cNvPr id="4" name="Rectangle 3"/>
          <p:cNvSpPr/>
          <p:nvPr/>
        </p:nvSpPr>
        <p:spPr>
          <a:xfrm>
            <a:off x="3200400" y="1188720"/>
            <a:ext cx="18288" cy="3840480"/>
          </a:xfrm>
          <a:prstGeom prst="rect">
            <a:avLst/>
          </a:prstGeom>
          <a:solidFill>
            <a:srgbClr val="4B5563"/>
          </a:solidFill>
          <a:ln>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43600" y="1188720"/>
            <a:ext cx="18288" cy="3840480"/>
          </a:xfrm>
          <a:prstGeom prst="rect">
            <a:avLst/>
          </a:prstGeom>
          <a:solidFill>
            <a:srgbClr val="4B5563"/>
          </a:solidFill>
          <a:ln>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188720"/>
            <a:ext cx="2560320" cy="548640"/>
          </a:xfrm>
          <a:prstGeom prst="rect">
            <a:avLst/>
          </a:prstGeom>
          <a:noFill/>
        </p:spPr>
        <p:txBody>
          <a:bodyPr wrap="square">
            <a:spAutoFit/>
          </a:bodyPr>
          <a:lstStyle/>
          <a:p>
            <a:pPr algn="ctr">
              <a:defRPr sz="1400" b="1">
                <a:solidFill>
                  <a:srgbClr val="22C55E"/>
                </a:solidFill>
              </a:defRPr>
            </a:pPr>
            <a:r>
              <a:t>What We</a:t>
            </a:r>
            <a:br/>
            <a:r>
              <a:t>Learned</a:t>
            </a:r>
          </a:p>
        </p:txBody>
      </p:sp>
      <p:sp>
        <p:nvSpPr>
          <p:cNvPr id="7" name="TextBox 6"/>
          <p:cNvSpPr txBox="1"/>
          <p:nvPr/>
        </p:nvSpPr>
        <p:spPr>
          <a:xfrm>
            <a:off x="8229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F3F4F6"/>
                </a:solidFill>
              </a:defRPr>
            </a:pPr>
            <a:r>
              <a:t>• SMU as a premier institution</a:t>
            </a:r>
          </a:p>
        </p:txBody>
      </p:sp>
      <p:sp>
        <p:nvSpPr>
          <p:cNvPr id="8" name="TextBox 7"/>
          <p:cNvSpPr txBox="1"/>
          <p:nvPr/>
        </p:nvSpPr>
        <p:spPr>
          <a:xfrm>
            <a:off x="3474720" y="1188720"/>
            <a:ext cx="2560320" cy="548640"/>
          </a:xfrm>
          <a:prstGeom prst="rect">
            <a:avLst/>
          </a:prstGeom>
          <a:noFill/>
        </p:spPr>
        <p:txBody>
          <a:bodyPr wrap="square">
            <a:spAutoFit/>
          </a:bodyPr>
          <a:lstStyle/>
          <a:p>
            <a:pPr algn="ctr">
              <a:defRPr sz="1400" b="1">
                <a:solidFill>
                  <a:srgbClr val="22C55E"/>
                </a:solidFill>
              </a:defRPr>
            </a:pPr>
            <a:r>
              <a:t>Key</a:t>
            </a:r>
            <a:br/>
            <a:r>
              <a:t>Actions</a:t>
            </a:r>
          </a:p>
        </p:txBody>
      </p:sp>
      <p:sp>
        <p:nvSpPr>
          <p:cNvPr id="9" name="TextBox 8"/>
          <p:cNvSpPr txBox="1"/>
          <p:nvPr/>
        </p:nvSpPr>
        <p:spPr>
          <a:xfrm>
            <a:off x="3566160"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F3F4F6"/>
                </a:solidFill>
              </a:defRPr>
            </a:pPr>
            <a:r>
              <a:t>• Strengths: Education, Research, Campus Life</a:t>
            </a:r>
          </a:p>
        </p:txBody>
      </p:sp>
      <p:sp>
        <p:nvSpPr>
          <p:cNvPr id="10" name="TextBox 9"/>
          <p:cNvSpPr txBox="1"/>
          <p:nvPr/>
        </p:nvSpPr>
        <p:spPr>
          <a:xfrm>
            <a:off x="6217920" y="1188720"/>
            <a:ext cx="2560320" cy="548640"/>
          </a:xfrm>
          <a:prstGeom prst="rect">
            <a:avLst/>
          </a:prstGeom>
          <a:noFill/>
        </p:spPr>
        <p:txBody>
          <a:bodyPr wrap="square">
            <a:spAutoFit/>
          </a:bodyPr>
          <a:lstStyle/>
          <a:p>
            <a:pPr algn="ctr">
              <a:defRPr sz="1400" b="1">
                <a:solidFill>
                  <a:srgbClr val="22C55E"/>
                </a:solidFill>
              </a:defRPr>
            </a:pPr>
            <a:r>
              <a:t>What's</a:t>
            </a:r>
            <a:br/>
            <a:r>
              <a:t>Next</a:t>
            </a:r>
          </a:p>
        </p:txBody>
      </p:sp>
      <p:sp>
        <p:nvSpPr>
          <p:cNvPr id="11" name="TextBox 10"/>
          <p:cNvSpPr txBox="1"/>
          <p:nvPr/>
        </p:nvSpPr>
        <p:spPr>
          <a:xfrm>
            <a:off x="6309359" y="1920240"/>
            <a:ext cx="2377439" cy="3474720"/>
          </a:xfrm>
          <a:prstGeom prst="rect">
            <a:avLst/>
          </a:prstGeom>
          <a:noFill/>
        </p:spPr>
        <p:txBody>
          <a:bodyPr wrap="square">
            <a:spAutoFit/>
          </a:bodyPr>
          <a:lstStyle/>
          <a:p>
            <a:pPr>
              <a:lnSpc>
                <a:spcPct val="120000"/>
              </a:lnSpc>
              <a:spcBef>
                <a:spcPts val="600"/>
              </a:spcBef>
              <a:spcAft>
                <a:spcPts val="600"/>
              </a:spcAft>
              <a:defRPr sz="1200">
                <a:solidFill>
                  <a:srgbClr val="F3F4F6"/>
                </a:solidFill>
              </a:defRPr>
            </a:pPr>
            <a:r>
              <a:t>• Unique strengths: Entrepreneurship, Innovation, etc.</a:t>
            </a:r>
          </a:p>
          <a:p>
            <a:pPr>
              <a:lnSpc>
                <a:spcPct val="120000"/>
              </a:lnSpc>
              <a:spcBef>
                <a:spcPts val="600"/>
              </a:spcBef>
              <a:spcAft>
                <a:spcPts val="600"/>
              </a:spcAft>
              <a:defRPr sz="1200">
                <a:solidFill>
                  <a:srgbClr val="F3F4F6"/>
                </a:solidFill>
              </a:defRPr>
            </a:pPr>
            <a:r>
              <a:t>• Global connections and partnerships</a:t>
            </a:r>
          </a:p>
          <a:p>
            <a:pPr>
              <a:lnSpc>
                <a:spcPct val="120000"/>
              </a:lnSpc>
              <a:spcBef>
                <a:spcPts val="600"/>
              </a:spcBef>
              <a:spcAft>
                <a:spcPts val="600"/>
              </a:spcAft>
              <a:defRPr sz="1200">
                <a:solidFill>
                  <a:srgbClr val="F3F4F6"/>
                </a:solidFill>
              </a:defRPr>
            </a:pPr>
            <a:r>
              <a:t>• Preparation for success</a:t>
            </a:r>
          </a:p>
        </p:txBody>
      </p:sp>
      <p:sp>
        <p:nvSpPr>
          <p:cNvPr id="12" name="Rectangle 11"/>
          <p:cNvSpPr/>
          <p:nvPr/>
        </p:nvSpPr>
        <p:spPr>
          <a:xfrm>
            <a:off x="457200" y="5120640"/>
            <a:ext cx="8229600" cy="18288"/>
          </a:xfrm>
          <a:prstGeom prst="rect">
            <a:avLst/>
          </a:prstGeom>
          <a:solidFill>
            <a:srgbClr val="4B5563"/>
          </a:solidFill>
          <a:ln>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5303520"/>
            <a:ext cx="8229600" cy="457200"/>
          </a:xfrm>
          <a:prstGeom prst="rect">
            <a:avLst/>
          </a:prstGeom>
          <a:noFill/>
        </p:spPr>
        <p:txBody>
          <a:bodyPr wrap="none">
            <a:spAutoFit/>
          </a:bodyPr>
          <a:lstStyle/>
          <a:p>
            <a:pPr algn="ctr">
              <a:defRPr sz="1100">
                <a:solidFill>
                  <a:srgbClr val="D1D5DB"/>
                </a:solidFill>
              </a:defRPr>
            </a:pPr>
            <a:r>
              <a:t>Thank you for your attention | Questions?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Rectangle 1"/>
          <p:cNvSpPr/>
          <p:nvPr/>
        </p:nvSpPr>
        <p:spPr>
          <a:xfrm>
            <a:off x="0" y="256032"/>
            <a:ext cx="9144000" cy="54864"/>
          </a:xfrm>
          <a:prstGeom prst="rect">
            <a:avLst/>
          </a:prstGeom>
          <a:solidFill>
            <a:srgbClr val="22C55E"/>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9184"/>
            <a:ext cx="8229600" cy="658368"/>
          </a:xfrm>
          <a:prstGeom prst="rect">
            <a:avLst/>
          </a:prstGeom>
          <a:noFill/>
        </p:spPr>
        <p:txBody>
          <a:bodyPr wrap="square">
            <a:spAutoFit/>
          </a:bodyPr>
          <a:lstStyle/>
          <a:p>
            <a:pPr>
              <a:defRPr sz="2600" b="1">
                <a:solidFill>
                  <a:srgbClr val="FFFFFF"/>
                </a:solidFill>
              </a:defRPr>
            </a:pPr>
            <a:r>
              <a:t>Presentation Flow</a:t>
            </a:r>
          </a:p>
        </p:txBody>
      </p:sp>
      <p:cxnSp>
        <p:nvCxnSpPr>
          <p:cNvPr id="900" name="DiagConnector"/>
          <p:cNvCxnSpPr/>
          <p:nvPr/>
        </p:nvCxnSpPr>
        <p:spPr>
          <a:xfrm>
            <a:off x="758952" y="1444752"/>
            <a:ext cx="5029200" cy="2743200"/>
          </a:xfrm>
          <a:prstGeom prst="line">
            <a:avLst/>
          </a:prstGeom>
          <a:ln w="18000">
            <a:solidFill>
              <a:srgbClr val="CBD5E1"/>
            </a:solidFill>
            <a:prstDash val="sysDash"/>
          </a:ln>
        </p:spPr>
      </p:cxnSp>
      <p:sp>
        <p:nvSpPr>
          <p:cNvPr id="901" name="Rectangle 900"/>
          <p:cNvSpPr/>
          <p:nvPr/>
        </p:nvSpPr>
        <p:spPr>
          <a:xfrm>
            <a:off x="557784" y="11521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Rectangle 901"/>
          <p:cNvSpPr/>
          <p:nvPr/>
        </p:nvSpPr>
        <p:spPr>
          <a:xfrm>
            <a:off x="502920" y="10972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Rectangle 902"/>
          <p:cNvSpPr/>
          <p:nvPr/>
        </p:nvSpPr>
        <p:spPr>
          <a:xfrm>
            <a:off x="502920" y="10972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Oval 903"/>
          <p:cNvSpPr/>
          <p:nvPr/>
        </p:nvSpPr>
        <p:spPr>
          <a:xfrm>
            <a:off x="502920" y="11887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1</a:t>
            </a:r>
          </a:p>
        </p:txBody>
      </p:sp>
      <p:sp>
        <p:nvSpPr>
          <p:cNvPr id="905" name="TextBox 904"/>
          <p:cNvSpPr txBox="1"/>
          <p:nvPr/>
        </p:nvSpPr>
        <p:spPr>
          <a:xfrm>
            <a:off x="1271016" y="1261872"/>
            <a:ext cx="2176272" cy="384048"/>
          </a:xfrm>
          <a:prstGeom prst="rect">
            <a:avLst/>
          </a:prstGeom>
          <a:noFill/>
        </p:spPr>
        <p:txBody>
          <a:bodyPr wrap="square">
            <a:spAutoFit/>
          </a:bodyPr>
          <a:lstStyle/>
          <a:p>
            <a:pPr>
              <a:defRPr sz="1400" b="1">
                <a:solidFill>
                  <a:srgbClr val="F3F4F6"/>
                </a:solidFill>
              </a:defRPr>
            </a:pPr>
            <a:r>
              <a:t>Introduction to SMU</a:t>
            </a:r>
          </a:p>
        </p:txBody>
      </p:sp>
      <p:sp>
        <p:nvSpPr>
          <p:cNvPr id="906" name="Rectangle 905"/>
          <p:cNvSpPr/>
          <p:nvPr/>
        </p:nvSpPr>
        <p:spPr>
          <a:xfrm>
            <a:off x="667512" y="17007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TextBox 906"/>
          <p:cNvSpPr txBox="1"/>
          <p:nvPr/>
        </p:nvSpPr>
        <p:spPr>
          <a:xfrm>
            <a:off x="704088" y="17739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SMU's flagship campus in Singapore</a:t>
            </a:r>
          </a:p>
          <a:p>
            <a:pPr>
              <a:lnSpc>
                <a:spcPct val="120000"/>
              </a:lnSpc>
              <a:spcBef>
                <a:spcPts val="300"/>
              </a:spcBef>
              <a:spcAft>
                <a:spcPts val="300"/>
              </a:spcAft>
              <a:defRPr sz="1100">
                <a:solidFill>
                  <a:srgbClr val="D1D5DB"/>
                </a:solidFill>
              </a:defRPr>
            </a:pPr>
            <a:r>
              <a:t>• Strong research focus in business and technology</a:t>
            </a:r>
          </a:p>
          <a:p>
            <a:pPr>
              <a:lnSpc>
                <a:spcPct val="120000"/>
              </a:lnSpc>
              <a:spcBef>
                <a:spcPts val="300"/>
              </a:spcBef>
              <a:spcAft>
                <a:spcPts val="300"/>
              </a:spcAft>
              <a:defRPr sz="1100">
                <a:solidFill>
                  <a:srgbClr val="D1D5DB"/>
                </a:solidFill>
              </a:defRPr>
            </a:pPr>
            <a:r>
              <a:t>• Collaborative learning environment</a:t>
            </a:r>
          </a:p>
        </p:txBody>
      </p:sp>
      <p:sp>
        <p:nvSpPr>
          <p:cNvPr id="908" name="Rectangle 907"/>
          <p:cNvSpPr/>
          <p:nvPr/>
        </p:nvSpPr>
        <p:spPr>
          <a:xfrm>
            <a:off x="3072384" y="25237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Rectangle 908"/>
          <p:cNvSpPr/>
          <p:nvPr/>
        </p:nvSpPr>
        <p:spPr>
          <a:xfrm>
            <a:off x="3017520" y="24688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Rectangle 909"/>
          <p:cNvSpPr/>
          <p:nvPr/>
        </p:nvSpPr>
        <p:spPr>
          <a:xfrm>
            <a:off x="3017520" y="24688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Oval 910"/>
          <p:cNvSpPr/>
          <p:nvPr/>
        </p:nvSpPr>
        <p:spPr>
          <a:xfrm>
            <a:off x="3017520" y="25603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2</a:t>
            </a:r>
          </a:p>
        </p:txBody>
      </p:sp>
      <p:sp>
        <p:nvSpPr>
          <p:cNvPr id="912" name="TextBox 911"/>
          <p:cNvSpPr txBox="1"/>
          <p:nvPr/>
        </p:nvSpPr>
        <p:spPr>
          <a:xfrm>
            <a:off x="3785615" y="2633472"/>
            <a:ext cx="2176272" cy="384048"/>
          </a:xfrm>
          <a:prstGeom prst="rect">
            <a:avLst/>
          </a:prstGeom>
          <a:noFill/>
        </p:spPr>
        <p:txBody>
          <a:bodyPr wrap="square">
            <a:spAutoFit/>
          </a:bodyPr>
          <a:lstStyle/>
          <a:p>
            <a:pPr>
              <a:defRPr sz="1400" b="1">
                <a:solidFill>
                  <a:srgbClr val="F3F4F6"/>
                </a:solidFill>
              </a:defRPr>
            </a:pPr>
            <a:r>
              <a:t>Academic Programs</a:t>
            </a:r>
          </a:p>
        </p:txBody>
      </p:sp>
      <p:sp>
        <p:nvSpPr>
          <p:cNvPr id="913" name="Rectangle 912"/>
          <p:cNvSpPr/>
          <p:nvPr/>
        </p:nvSpPr>
        <p:spPr>
          <a:xfrm>
            <a:off x="3182112" y="30723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TextBox 913"/>
          <p:cNvSpPr txBox="1"/>
          <p:nvPr/>
        </p:nvSpPr>
        <p:spPr>
          <a:xfrm>
            <a:off x="3218688" y="31455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Undergraduate and graduate programs</a:t>
            </a:r>
          </a:p>
          <a:p>
            <a:pPr>
              <a:lnSpc>
                <a:spcPct val="120000"/>
              </a:lnSpc>
              <a:spcBef>
                <a:spcPts val="300"/>
              </a:spcBef>
              <a:spcAft>
                <a:spcPts val="300"/>
              </a:spcAft>
              <a:defRPr sz="1100">
                <a:solidFill>
                  <a:srgbClr val="D1D5DB"/>
                </a:solidFill>
              </a:defRPr>
            </a:pPr>
            <a:r>
              <a:t>• Four schools: Business, IS, Economics, Social Sciences</a:t>
            </a:r>
          </a:p>
          <a:p>
            <a:pPr>
              <a:lnSpc>
                <a:spcPct val="120000"/>
              </a:lnSpc>
              <a:spcBef>
                <a:spcPts val="300"/>
              </a:spcBef>
              <a:spcAft>
                <a:spcPts val="300"/>
              </a:spcAft>
              <a:defRPr sz="1100">
                <a:solidFill>
                  <a:srgbClr val="D1D5DB"/>
                </a:solidFill>
              </a:defRPr>
            </a:pPr>
            <a:r>
              <a:t>• Major options: Business Administration, Finance, Accounting, etc.</a:t>
            </a:r>
          </a:p>
        </p:txBody>
      </p:sp>
      <p:sp>
        <p:nvSpPr>
          <p:cNvPr id="915" name="Rectangle 914"/>
          <p:cNvSpPr/>
          <p:nvPr/>
        </p:nvSpPr>
        <p:spPr>
          <a:xfrm>
            <a:off x="5586983" y="3895344"/>
            <a:ext cx="3108960" cy="1920240"/>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Rectangle 915"/>
          <p:cNvSpPr/>
          <p:nvPr/>
        </p:nvSpPr>
        <p:spPr>
          <a:xfrm>
            <a:off x="5532120" y="3840480"/>
            <a:ext cx="3108960" cy="1920240"/>
          </a:xfrm>
          <a:prstGeom prst="rect">
            <a:avLst/>
          </a:prstGeom>
          <a:solidFill>
            <a:srgbClr val="1F2937"/>
          </a:solidFill>
          <a:ln w="9525">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Rectangle 916"/>
          <p:cNvSpPr/>
          <p:nvPr/>
        </p:nvSpPr>
        <p:spPr>
          <a:xfrm>
            <a:off x="5532120" y="3840480"/>
            <a:ext cx="54864" cy="192024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Oval 917"/>
          <p:cNvSpPr/>
          <p:nvPr/>
        </p:nvSpPr>
        <p:spPr>
          <a:xfrm>
            <a:off x="5532120" y="3931920"/>
            <a:ext cx="512064" cy="512064"/>
          </a:xfrm>
          <a:prstGeom prst="ellipse">
            <a:avLst/>
          </a:prstGeom>
          <a:solidFill>
            <a:srgbClr val="111827"/>
          </a:solidFill>
          <a:ln>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defRPr>
            </a:pPr>
            <a:r>
              <a:t>3</a:t>
            </a:r>
          </a:p>
        </p:txBody>
      </p:sp>
      <p:sp>
        <p:nvSpPr>
          <p:cNvPr id="919" name="TextBox 918"/>
          <p:cNvSpPr txBox="1"/>
          <p:nvPr/>
        </p:nvSpPr>
        <p:spPr>
          <a:xfrm>
            <a:off x="6300215" y="4005072"/>
            <a:ext cx="2176272" cy="384048"/>
          </a:xfrm>
          <a:prstGeom prst="rect">
            <a:avLst/>
          </a:prstGeom>
          <a:noFill/>
        </p:spPr>
        <p:txBody>
          <a:bodyPr wrap="square">
            <a:spAutoFit/>
          </a:bodyPr>
          <a:lstStyle/>
          <a:p>
            <a:pPr>
              <a:defRPr sz="1400" b="1">
                <a:solidFill>
                  <a:srgbClr val="F3F4F6"/>
                </a:solidFill>
              </a:defRPr>
            </a:pPr>
            <a:r>
              <a:t>Research at SMU</a:t>
            </a:r>
          </a:p>
        </p:txBody>
      </p:sp>
      <p:sp>
        <p:nvSpPr>
          <p:cNvPr id="920" name="Rectangle 919"/>
          <p:cNvSpPr/>
          <p:nvPr/>
        </p:nvSpPr>
        <p:spPr>
          <a:xfrm>
            <a:off x="5696712" y="4443984"/>
            <a:ext cx="2779776" cy="18288"/>
          </a:xfrm>
          <a:prstGeom prst="rect">
            <a:avLst/>
          </a:prstGeom>
          <a:solidFill>
            <a:srgbClr val="4B55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TextBox 920"/>
          <p:cNvSpPr txBox="1"/>
          <p:nvPr/>
        </p:nvSpPr>
        <p:spPr>
          <a:xfrm>
            <a:off x="5733288" y="4517136"/>
            <a:ext cx="2743200" cy="1188720"/>
          </a:xfrm>
          <a:prstGeom prst="rect">
            <a:avLst/>
          </a:prstGeom>
          <a:noFill/>
        </p:spPr>
        <p:txBody>
          <a:bodyPr wrap="square">
            <a:spAutoFit/>
          </a:bodyPr>
          <a:lstStyle/>
          <a:p>
            <a:pPr>
              <a:lnSpc>
                <a:spcPct val="120000"/>
              </a:lnSpc>
              <a:spcBef>
                <a:spcPts val="300"/>
              </a:spcBef>
              <a:spcAft>
                <a:spcPts val="300"/>
              </a:spcAft>
              <a:defRPr sz="1100">
                <a:solidFill>
                  <a:srgbClr val="D1D5DB"/>
                </a:solidFill>
              </a:defRPr>
            </a:pPr>
            <a:r>
              <a:t>• Research centers and institutes</a:t>
            </a:r>
          </a:p>
          <a:p>
            <a:pPr>
              <a:lnSpc>
                <a:spcPct val="120000"/>
              </a:lnSpc>
              <a:spcBef>
                <a:spcPts val="300"/>
              </a:spcBef>
              <a:spcAft>
                <a:spcPts val="300"/>
              </a:spcAft>
              <a:defRPr sz="1100">
                <a:solidFill>
                  <a:srgbClr val="D1D5DB"/>
                </a:solidFill>
              </a:defRPr>
            </a:pPr>
            <a:r>
              <a:t>• Focus areas: Entrepreneurship, Innovation, Sustainability, etc.</a:t>
            </a:r>
          </a:p>
          <a:p>
            <a:pPr>
              <a:lnSpc>
                <a:spcPct val="120000"/>
              </a:lnSpc>
              <a:spcBef>
                <a:spcPts val="300"/>
              </a:spcBef>
              <a:spcAft>
                <a:spcPts val="300"/>
              </a:spcAft>
              <a:defRPr sz="1100">
                <a:solidFill>
                  <a:srgbClr val="D1D5DB"/>
                </a:solidFill>
              </a:defRPr>
            </a:pPr>
            <a:r>
              <a:t>• Student-faculty collaboration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11827"/>
        </a:solidFill>
        <a:effectLst/>
      </p:bgPr>
    </p:bg>
    <p:spTree>
      <p:nvGrpSpPr>
        <p:cNvPr id="1" name=""/>
        <p:cNvGrpSpPr/>
        <p:nvPr/>
      </p:nvGrpSpPr>
      <p:grpSpPr/>
      <p:sp>
        <p:nvSpPr>
          <p:cNvPr id="2" name="TextBox 1"/>
          <p:cNvSpPr txBox="1"/>
          <p:nvPr/>
        </p:nvSpPr>
        <p:spPr>
          <a:xfrm>
            <a:off x="457200" y="274320"/>
            <a:ext cx="8229600" cy="594360"/>
          </a:xfrm>
          <a:prstGeom prst="rect">
            <a:avLst/>
          </a:prstGeom>
          <a:noFill/>
        </p:spPr>
        <p:txBody>
          <a:bodyPr wrap="none">
            <a:spAutoFit/>
          </a:bodyPr>
          <a:lstStyle/>
          <a:p>
            <a:pPr algn="ctr">
              <a:defRPr sz="3200" b="1">
                <a:solidFill>
                  <a:srgbClr val="FFFFFF"/>
                </a:solidFill>
              </a:defRPr>
            </a:pPr>
            <a:r>
              <a:t>Key Takeaways</a:t>
            </a:r>
          </a:p>
        </p:txBody>
      </p:sp>
      <p:sp>
        <p:nvSpPr>
          <p:cNvPr id="3" name="Rectangle 2"/>
          <p:cNvSpPr/>
          <p:nvPr/>
        </p:nvSpPr>
        <p:spPr>
          <a:xfrm>
            <a:off x="3200400" y="896112"/>
            <a:ext cx="274320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60120" y="1097280"/>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914400" y="1051560"/>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5568" y="1293876"/>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1</a:t>
            </a:r>
          </a:p>
        </p:txBody>
      </p:sp>
      <p:sp>
        <p:nvSpPr>
          <p:cNvPr id="7" name="TextBox 6"/>
          <p:cNvSpPr txBox="1"/>
          <p:nvPr/>
        </p:nvSpPr>
        <p:spPr>
          <a:xfrm>
            <a:off x="1554480" y="1216151"/>
            <a:ext cx="6565392" cy="457200"/>
          </a:xfrm>
          <a:prstGeom prst="rect">
            <a:avLst/>
          </a:prstGeom>
          <a:noFill/>
        </p:spPr>
        <p:txBody>
          <a:bodyPr wrap="square">
            <a:spAutoFit/>
          </a:bodyPr>
          <a:lstStyle/>
          <a:p>
            <a:pPr>
              <a:lnSpc>
                <a:spcPct val="120000"/>
              </a:lnSpc>
              <a:defRPr sz="1600" b="1">
                <a:solidFill>
                  <a:srgbClr val="111827"/>
                </a:solidFill>
              </a:defRPr>
            </a:pPr>
            <a:r>
              <a:t>Introduction to SMU</a:t>
            </a:r>
          </a:p>
        </p:txBody>
      </p:sp>
      <p:sp>
        <p:nvSpPr>
          <p:cNvPr id="8" name="Rectangle 7"/>
          <p:cNvSpPr/>
          <p:nvPr/>
        </p:nvSpPr>
        <p:spPr>
          <a:xfrm>
            <a:off x="960120" y="1984248"/>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5568" y="2180844"/>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2</a:t>
            </a:r>
          </a:p>
        </p:txBody>
      </p:sp>
      <p:sp>
        <p:nvSpPr>
          <p:cNvPr id="11" name="TextBox 10"/>
          <p:cNvSpPr txBox="1"/>
          <p:nvPr/>
        </p:nvSpPr>
        <p:spPr>
          <a:xfrm>
            <a:off x="1554480" y="2103120"/>
            <a:ext cx="6565392" cy="457200"/>
          </a:xfrm>
          <a:prstGeom prst="rect">
            <a:avLst/>
          </a:prstGeom>
          <a:noFill/>
        </p:spPr>
        <p:txBody>
          <a:bodyPr wrap="square">
            <a:spAutoFit/>
          </a:bodyPr>
          <a:lstStyle/>
          <a:p>
            <a:pPr>
              <a:lnSpc>
                <a:spcPct val="120000"/>
              </a:lnSpc>
              <a:defRPr sz="1600" b="1">
                <a:solidFill>
                  <a:srgbClr val="111827"/>
                </a:solidFill>
              </a:defRPr>
            </a:pPr>
            <a:r>
              <a:t>Academic Programs</a:t>
            </a:r>
          </a:p>
        </p:txBody>
      </p:sp>
      <p:sp>
        <p:nvSpPr>
          <p:cNvPr id="12" name="Rectangle 11"/>
          <p:cNvSpPr/>
          <p:nvPr/>
        </p:nvSpPr>
        <p:spPr>
          <a:xfrm>
            <a:off x="960120" y="2871215"/>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14400" y="2825496"/>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15568" y="3067812"/>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3</a:t>
            </a:r>
          </a:p>
        </p:txBody>
      </p:sp>
      <p:sp>
        <p:nvSpPr>
          <p:cNvPr id="15" name="TextBox 14"/>
          <p:cNvSpPr txBox="1"/>
          <p:nvPr/>
        </p:nvSpPr>
        <p:spPr>
          <a:xfrm>
            <a:off x="1554480" y="2990088"/>
            <a:ext cx="6565392" cy="457200"/>
          </a:xfrm>
          <a:prstGeom prst="rect">
            <a:avLst/>
          </a:prstGeom>
          <a:noFill/>
        </p:spPr>
        <p:txBody>
          <a:bodyPr wrap="square">
            <a:spAutoFit/>
          </a:bodyPr>
          <a:lstStyle/>
          <a:p>
            <a:pPr>
              <a:lnSpc>
                <a:spcPct val="120000"/>
              </a:lnSpc>
              <a:defRPr sz="1600" b="1">
                <a:solidFill>
                  <a:srgbClr val="111827"/>
                </a:solidFill>
              </a:defRPr>
            </a:pPr>
            <a:r>
              <a:t>Research at SMU</a:t>
            </a:r>
          </a:p>
        </p:txBody>
      </p:sp>
      <p:sp>
        <p:nvSpPr>
          <p:cNvPr id="16" name="Rectangle 15"/>
          <p:cNvSpPr/>
          <p:nvPr/>
        </p:nvSpPr>
        <p:spPr>
          <a:xfrm>
            <a:off x="960120" y="3758184"/>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400" y="3712464"/>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15568" y="3954780"/>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4</a:t>
            </a:r>
          </a:p>
        </p:txBody>
      </p:sp>
      <p:sp>
        <p:nvSpPr>
          <p:cNvPr id="19" name="TextBox 18"/>
          <p:cNvSpPr txBox="1"/>
          <p:nvPr/>
        </p:nvSpPr>
        <p:spPr>
          <a:xfrm>
            <a:off x="1554480" y="3877056"/>
            <a:ext cx="6565392" cy="457200"/>
          </a:xfrm>
          <a:prstGeom prst="rect">
            <a:avLst/>
          </a:prstGeom>
          <a:noFill/>
        </p:spPr>
        <p:txBody>
          <a:bodyPr wrap="square">
            <a:spAutoFit/>
          </a:bodyPr>
          <a:lstStyle/>
          <a:p>
            <a:pPr>
              <a:lnSpc>
                <a:spcPct val="120000"/>
              </a:lnSpc>
              <a:defRPr sz="1600" b="1">
                <a:solidFill>
                  <a:srgbClr val="111827"/>
                </a:solidFill>
              </a:defRPr>
            </a:pPr>
            <a:r>
              <a:t>Campus Life</a:t>
            </a:r>
          </a:p>
        </p:txBody>
      </p:sp>
      <p:sp>
        <p:nvSpPr>
          <p:cNvPr id="20" name="Rectangle 19"/>
          <p:cNvSpPr/>
          <p:nvPr/>
        </p:nvSpPr>
        <p:spPr>
          <a:xfrm>
            <a:off x="960120" y="4645151"/>
            <a:ext cx="7315200" cy="777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599431"/>
            <a:ext cx="7315200" cy="777240"/>
          </a:xfrm>
          <a:prstGeom prst="rect">
            <a:avLst/>
          </a:prstGeom>
          <a:solidFill>
            <a:srgbClr val="FFFFFF"/>
          </a:solidFill>
          <a:ln w="6350">
            <a:solidFill>
              <a:srgbClr val="4B55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15568" y="4841747"/>
            <a:ext cx="292608" cy="292608"/>
          </a:xfrm>
          <a:prstGeom prst="ellipse">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defRPr>
            </a:pPr>
            <a:r>
              <a:t>5</a:t>
            </a:r>
          </a:p>
        </p:txBody>
      </p:sp>
      <p:sp>
        <p:nvSpPr>
          <p:cNvPr id="23" name="TextBox 22"/>
          <p:cNvSpPr txBox="1"/>
          <p:nvPr/>
        </p:nvSpPr>
        <p:spPr>
          <a:xfrm>
            <a:off x="1554480" y="4764023"/>
            <a:ext cx="6565392" cy="457200"/>
          </a:xfrm>
          <a:prstGeom prst="rect">
            <a:avLst/>
          </a:prstGeom>
          <a:noFill/>
        </p:spPr>
        <p:txBody>
          <a:bodyPr wrap="square">
            <a:spAutoFit/>
          </a:bodyPr>
          <a:lstStyle/>
          <a:p>
            <a:pPr>
              <a:lnSpc>
                <a:spcPct val="120000"/>
              </a:lnSpc>
              <a:defRPr sz="1600" b="1">
                <a:solidFill>
                  <a:srgbClr val="111827"/>
                </a:solidFill>
              </a:defRPr>
            </a:pPr>
            <a:r>
              <a:t>Career Opportunities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