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Master's in International Relations: Unlocking Global Understanding</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Master's in International Relations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The master's program in international relations is designed to equip students with the knowledge, skills, and expertise to navigate complex global issues. By exploring the intricacies of international politics, economics, and cultures, students gain a deeper understanding of the interconnected world we live in.</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Global perspectives on governance</a:t>
            </a:r>
          </a:p>
          <a:p>
            <a:pPr>
              <a:lnSpc>
                <a:spcPct val="130000"/>
              </a:lnSpc>
              <a:spcBef>
                <a:spcPts val="800"/>
              </a:spcBef>
              <a:spcAft>
                <a:spcPts val="800"/>
              </a:spcAft>
              <a:defRPr sz="1600" b="0" i="0">
                <a:solidFill>
                  <a:srgbClr val="0F172A"/>
                </a:solidFill>
              </a:defRPr>
            </a:pPr>
            <a:r>
              <a:t>• Crisis management techniques</a:t>
            </a:r>
          </a:p>
          <a:p>
            <a:pPr>
              <a:lnSpc>
                <a:spcPct val="130000"/>
              </a:lnSpc>
              <a:spcBef>
                <a:spcPts val="800"/>
              </a:spcBef>
              <a:spcAft>
                <a:spcPts val="800"/>
              </a:spcAft>
              <a:defRPr sz="1600" b="0" i="0">
                <a:solidFill>
                  <a:srgbClr val="0F172A"/>
                </a:solidFill>
              </a:defRPr>
            </a:pPr>
            <a:r>
              <a:t>• International economic systems analysis</a:t>
            </a:r>
          </a:p>
          <a:p>
            <a:pPr>
              <a:lnSpc>
                <a:spcPct val="130000"/>
              </a:lnSpc>
              <a:spcBef>
                <a:spcPts val="800"/>
              </a:spcBef>
              <a:spcAft>
                <a:spcPts val="800"/>
              </a:spcAft>
              <a:defRPr sz="1600" b="0" i="0">
                <a:solidFill>
                  <a:srgbClr val="0F172A"/>
                </a:solidFill>
              </a:defRPr>
            </a:pPr>
            <a:r>
              <a:t>• Geopolitical trends insight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Core Coursework in International Relations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30000"/>
              </a:lnSpc>
              <a:spcBef>
                <a:spcPts val="800"/>
              </a:spcBef>
              <a:spcAft>
                <a:spcPts val="800"/>
              </a:spcAft>
              <a:defRPr sz="1500" b="0" i="0">
                <a:solidFill>
                  <a:srgbClr val="0F172A"/>
                </a:solidFill>
              </a:defRPr>
            </a:pPr>
            <a:r>
              <a:t>The master's program in international relations offers a range of core courses that provide students with a solid foundation in the field. These courses cover topics such as international law, global governance, and international economics, among others.</a:t>
            </a:r>
          </a:p>
          <a:p>
            <a:pPr>
              <a:lnSpc>
                <a:spcPct val="130000"/>
              </a:lnSpc>
              <a:spcBef>
                <a:spcPts val="800"/>
              </a:spcBef>
              <a:spcAft>
                <a:spcPts val="800"/>
              </a:spcAft>
              <a:defRPr sz="800"/>
            </a:pPr>
          </a:p>
          <a:p>
            <a:pPr>
              <a:lnSpc>
                <a:spcPct val="130000"/>
              </a:lnSpc>
              <a:spcBef>
                <a:spcPts val="800"/>
              </a:spcBef>
              <a:spcAft>
                <a:spcPts val="800"/>
              </a:spcAft>
              <a:defRPr sz="1500" b="0" i="0">
                <a:solidFill>
                  <a:srgbClr val="0F172A"/>
                </a:solidFill>
              </a:defRPr>
            </a:pPr>
            <a:r>
              <a:t>• International law and institutions</a:t>
            </a:r>
          </a:p>
          <a:p>
            <a:pPr>
              <a:lnSpc>
                <a:spcPct val="130000"/>
              </a:lnSpc>
              <a:spcBef>
                <a:spcPts val="800"/>
              </a:spcBef>
              <a:spcAft>
                <a:spcPts val="800"/>
              </a:spcAft>
              <a:defRPr sz="1500" b="0" i="0">
                <a:solidFill>
                  <a:srgbClr val="0F172A"/>
                </a:solidFill>
              </a:defRPr>
            </a:pPr>
            <a:r>
              <a:t>• Global economic systems and policies</a:t>
            </a:r>
          </a:p>
          <a:p>
            <a:pPr>
              <a:lnSpc>
                <a:spcPct val="130000"/>
              </a:lnSpc>
              <a:spcBef>
                <a:spcPts val="800"/>
              </a:spcBef>
              <a:spcAft>
                <a:spcPts val="800"/>
              </a:spcAft>
              <a:defRPr sz="1500" b="0" i="0">
                <a:solidFill>
                  <a:srgbClr val="0F172A"/>
                </a:solidFill>
              </a:defRPr>
            </a:pPr>
            <a:r>
              <a:t>• Geopolitics and international relations</a:t>
            </a:r>
          </a:p>
          <a:p>
            <a:pPr>
              <a:lnSpc>
                <a:spcPct val="130000"/>
              </a:lnSpc>
              <a:spcBef>
                <a:spcPts val="800"/>
              </a:spcBef>
              <a:spcAft>
                <a:spcPts val="800"/>
              </a:spcAft>
              <a:defRPr sz="1500" b="0" i="0">
                <a:solidFill>
                  <a:srgbClr val="0F172A"/>
                </a:solidFill>
              </a:defRPr>
            </a:pPr>
            <a:r>
              <a:t>• Conflict resolution and negotiation</a:t>
            </a:r>
          </a:p>
        </p:txBody>
      </p:sp>
      <p:pic>
        <p:nvPicPr>
          <p:cNvPr id="5" name="Picture 4" descr="unsplash_DJWvzY4pkGU.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Specialized Concentrations in International Relations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The master's program in international relations offers students the opportunity to specialize in a particular area of interest. Some examples include concentrations in global health, environmental studies, or security and defense.</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Global health policy and practice</a:t>
            </a:r>
          </a:p>
          <a:p>
            <a:pPr>
              <a:lnSpc>
                <a:spcPct val="130000"/>
              </a:lnSpc>
              <a:spcBef>
                <a:spcPts val="800"/>
              </a:spcBef>
              <a:spcAft>
                <a:spcPts val="800"/>
              </a:spcAft>
              <a:defRPr sz="1600" b="0" i="0">
                <a:solidFill>
                  <a:srgbClr val="0F172A"/>
                </a:solidFill>
              </a:defRPr>
            </a:pPr>
            <a:r>
              <a:t>• Environmental studies and sustainability</a:t>
            </a:r>
          </a:p>
          <a:p>
            <a:pPr>
              <a:lnSpc>
                <a:spcPct val="130000"/>
              </a:lnSpc>
              <a:spcBef>
                <a:spcPts val="800"/>
              </a:spcBef>
              <a:spcAft>
                <a:spcPts val="800"/>
              </a:spcAft>
              <a:defRPr sz="1600" b="0" i="0">
                <a:solidFill>
                  <a:srgbClr val="0F172A"/>
                </a:solidFill>
              </a:defRPr>
            </a:pPr>
            <a:r>
              <a:t>• Security and defense strategies</a:t>
            </a:r>
          </a:p>
          <a:p>
            <a:pPr>
              <a:lnSpc>
                <a:spcPct val="130000"/>
              </a:lnSpc>
              <a:spcBef>
                <a:spcPts val="800"/>
              </a:spcBef>
              <a:spcAft>
                <a:spcPts val="800"/>
              </a:spcAft>
              <a:defRPr sz="1600" b="0" i="0">
                <a:solidFill>
                  <a:srgbClr val="0F172A"/>
                </a:solidFill>
              </a:defRPr>
            </a:pPr>
            <a:r>
              <a:t>• Development and humanitarian aid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Research Opportunities in International Relations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30000"/>
              </a:lnSpc>
              <a:spcBef>
                <a:spcPts val="800"/>
              </a:spcBef>
              <a:spcAft>
                <a:spcPts val="800"/>
              </a:spcAft>
              <a:defRPr sz="1600" b="0" i="0">
                <a:solidFill>
                  <a:srgbClr val="0F172A"/>
                </a:solidFill>
              </a:defRPr>
            </a:pPr>
            <a:r>
              <a:t>The master's program in international relations places a strong emphasis on research and academic inquiry. Students have the opportunity to work closely with faculty members to design and conduct original research projects that address pressing global issues.</a:t>
            </a:r>
          </a:p>
          <a:p>
            <a:pPr>
              <a:lnSpc>
                <a:spcPct val="130000"/>
              </a:lnSpc>
              <a:spcBef>
                <a:spcPts val="800"/>
              </a:spcBef>
              <a:spcAft>
                <a:spcPts val="800"/>
              </a:spcAft>
              <a:defRPr sz="800"/>
            </a:pPr>
          </a:p>
          <a:p>
            <a:pPr>
              <a:lnSpc>
                <a:spcPct val="130000"/>
              </a:lnSpc>
              <a:spcBef>
                <a:spcPts val="800"/>
              </a:spcBef>
              <a:spcAft>
                <a:spcPts val="800"/>
              </a:spcAft>
              <a:defRPr sz="1600" b="0" i="0">
                <a:solidFill>
                  <a:srgbClr val="0F172A"/>
                </a:solidFill>
              </a:defRPr>
            </a:pPr>
            <a:r>
              <a:t>• Research methodologies and design</a:t>
            </a:r>
          </a:p>
          <a:p>
            <a:pPr>
              <a:lnSpc>
                <a:spcPct val="130000"/>
              </a:lnSpc>
              <a:spcBef>
                <a:spcPts val="800"/>
              </a:spcBef>
              <a:spcAft>
                <a:spcPts val="800"/>
              </a:spcAft>
              <a:defRPr sz="1600" b="0" i="0">
                <a:solidFill>
                  <a:srgbClr val="0F172A"/>
                </a:solidFill>
              </a:defRPr>
            </a:pPr>
            <a:r>
              <a:t>• Global issue analysis and recommendation</a:t>
            </a:r>
          </a:p>
          <a:p>
            <a:pPr>
              <a:lnSpc>
                <a:spcPct val="130000"/>
              </a:lnSpc>
              <a:spcBef>
                <a:spcPts val="800"/>
              </a:spcBef>
              <a:spcAft>
                <a:spcPts val="800"/>
              </a:spcAft>
              <a:defRPr sz="1600" b="0" i="0">
                <a:solidFill>
                  <a:srgbClr val="0F172A"/>
                </a:solidFill>
              </a:defRPr>
            </a:pPr>
            <a:r>
              <a:t>• Academic writing and publishing</a:t>
            </a:r>
          </a:p>
          <a:p>
            <a:pPr>
              <a:lnSpc>
                <a:spcPct val="130000"/>
              </a:lnSpc>
              <a:spcBef>
                <a:spcPts val="800"/>
              </a:spcBef>
              <a:spcAft>
                <a:spcPts val="800"/>
              </a:spcAft>
              <a:defRPr sz="1600" b="0" i="0">
                <a:solidFill>
                  <a:srgbClr val="0F172A"/>
                </a:solidFill>
              </a:defRPr>
            </a:pPr>
            <a:r>
              <a:t>• Presenting research findings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Career Opportunities in International Relations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30000"/>
              </a:lnSpc>
              <a:spcBef>
                <a:spcPts val="800"/>
              </a:spcBef>
              <a:spcAft>
                <a:spcPts val="800"/>
              </a:spcAft>
              <a:defRPr sz="1500" b="0" i="0">
                <a:solidFill>
                  <a:srgbClr val="0F172A"/>
                </a:solidFill>
              </a:defRPr>
            </a:pPr>
            <a:r>
              <a:t>The master's program in international relations prepares students for a wide range of career opportunities. Graduates may pursue careers in diplomacy, international business, non-profit organizations, or government agencies.</a:t>
            </a:r>
          </a:p>
          <a:p>
            <a:pPr>
              <a:lnSpc>
                <a:spcPct val="130000"/>
              </a:lnSpc>
              <a:spcBef>
                <a:spcPts val="800"/>
              </a:spcBef>
              <a:spcAft>
                <a:spcPts val="800"/>
              </a:spcAft>
              <a:defRPr sz="800"/>
            </a:pPr>
          </a:p>
          <a:p>
            <a:pPr>
              <a:lnSpc>
                <a:spcPct val="130000"/>
              </a:lnSpc>
              <a:spcBef>
                <a:spcPts val="800"/>
              </a:spcBef>
              <a:spcAft>
                <a:spcPts val="800"/>
              </a:spcAft>
              <a:defRPr sz="1500" b="0" i="0">
                <a:solidFill>
                  <a:srgbClr val="0F172A"/>
                </a:solidFill>
              </a:defRPr>
            </a:pPr>
            <a:r>
              <a:t>• Diplomatic service and foreign policy</a:t>
            </a:r>
          </a:p>
          <a:p>
            <a:pPr>
              <a:lnSpc>
                <a:spcPct val="130000"/>
              </a:lnSpc>
              <a:spcBef>
                <a:spcPts val="800"/>
              </a:spcBef>
              <a:spcAft>
                <a:spcPts val="800"/>
              </a:spcAft>
              <a:defRPr sz="1500" b="0" i="0">
                <a:solidFill>
                  <a:srgbClr val="0F172A"/>
                </a:solidFill>
              </a:defRPr>
            </a:pPr>
            <a:r>
              <a:t>• International business and trade</a:t>
            </a:r>
          </a:p>
          <a:p>
            <a:pPr>
              <a:lnSpc>
                <a:spcPct val="130000"/>
              </a:lnSpc>
              <a:spcBef>
                <a:spcPts val="800"/>
              </a:spcBef>
              <a:spcAft>
                <a:spcPts val="800"/>
              </a:spcAft>
              <a:defRPr sz="1500" b="0" i="0">
                <a:solidFill>
                  <a:srgbClr val="0F172A"/>
                </a:solidFill>
              </a:defRPr>
            </a:pPr>
            <a:r>
              <a:t>• Non-profit organizations and advocacy</a:t>
            </a:r>
          </a:p>
          <a:p>
            <a:pPr>
              <a:lnSpc>
                <a:spcPct val="130000"/>
              </a:lnSpc>
              <a:spcBef>
                <a:spcPts val="800"/>
              </a:spcBef>
              <a:spcAft>
                <a:spcPts val="800"/>
              </a:spcAft>
              <a:defRPr sz="1500" b="0" i="0">
                <a:solidFill>
                  <a:srgbClr val="0F172A"/>
                </a:solidFill>
              </a:defRPr>
            </a:pPr>
            <a:r>
              <a:t>• Government agencies and policy-making</a:t>
            </a:r>
          </a:p>
        </p:txBody>
      </p:sp>
      <p:pic>
        <p:nvPicPr>
          <p:cNvPr id="5" name="Picture 4" descr="unsplash_IESB4iFVuz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Master's in International Relations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Global citizenship and responsibility</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Cross-cultural communication skills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International relations career paths</a:t>
            </a:r>
          </a:p>
          <a:p>
            <a:pPr>
              <a:lnSpc>
                <a:spcPct val="120000"/>
              </a:lnSpc>
              <a:spcBef>
                <a:spcPts val="600"/>
              </a:spcBef>
              <a:spcAft>
                <a:spcPts val="600"/>
              </a:spcAft>
              <a:defRPr sz="1200">
                <a:solidFill>
                  <a:srgbClr val="0F172A"/>
                </a:solidFill>
              </a:defRPr>
            </a:pPr>
            <a:r>
              <a:t>• Research and academic inquiry</a:t>
            </a:r>
          </a:p>
          <a:p>
            <a:pPr>
              <a:lnSpc>
                <a:spcPct val="120000"/>
              </a:lnSpc>
              <a:spcBef>
                <a:spcPts val="600"/>
              </a:spcBef>
              <a:spcAft>
                <a:spcPts val="600"/>
              </a:spcAft>
              <a:defRPr sz="1200">
                <a:solidFill>
                  <a:srgbClr val="0F172A"/>
                </a:solidFill>
              </a:defRPr>
            </a:pPr>
            <a:r>
              <a:t>• Leadership and collaboration</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Master's in International Relations</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Global perspectives on governance</a:t>
            </a:r>
          </a:p>
          <a:p>
            <a:pPr>
              <a:lnSpc>
                <a:spcPct val="120000"/>
              </a:lnSpc>
              <a:spcBef>
                <a:spcPts val="300"/>
              </a:spcBef>
              <a:spcAft>
                <a:spcPts val="300"/>
              </a:spcAft>
              <a:defRPr sz="1100">
                <a:solidFill>
                  <a:srgbClr val="64748B"/>
                </a:solidFill>
              </a:defRPr>
            </a:pPr>
            <a:r>
              <a:t>• Crisis management techniques</a:t>
            </a:r>
          </a:p>
          <a:p>
            <a:pPr>
              <a:lnSpc>
                <a:spcPct val="120000"/>
              </a:lnSpc>
              <a:spcBef>
                <a:spcPts val="300"/>
              </a:spcBef>
              <a:spcAft>
                <a:spcPts val="300"/>
              </a:spcAft>
              <a:defRPr sz="1100">
                <a:solidFill>
                  <a:srgbClr val="64748B"/>
                </a:solidFill>
              </a:defRPr>
            </a:pPr>
            <a:r>
              <a:t>• International economic systems analysis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Core Coursework in International Relations</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International law and institutions</a:t>
            </a:r>
          </a:p>
          <a:p>
            <a:pPr>
              <a:lnSpc>
                <a:spcPct val="120000"/>
              </a:lnSpc>
              <a:spcBef>
                <a:spcPts val="300"/>
              </a:spcBef>
              <a:spcAft>
                <a:spcPts val="300"/>
              </a:spcAft>
              <a:defRPr sz="1100">
                <a:solidFill>
                  <a:srgbClr val="64748B"/>
                </a:solidFill>
              </a:defRPr>
            </a:pPr>
            <a:r>
              <a:t>• Global economic systems and policies</a:t>
            </a:r>
          </a:p>
          <a:p>
            <a:pPr>
              <a:lnSpc>
                <a:spcPct val="120000"/>
              </a:lnSpc>
              <a:spcBef>
                <a:spcPts val="300"/>
              </a:spcBef>
              <a:spcAft>
                <a:spcPts val="300"/>
              </a:spcAft>
              <a:defRPr sz="1100">
                <a:solidFill>
                  <a:srgbClr val="64748B"/>
                </a:solidFill>
              </a:defRPr>
            </a:pPr>
            <a:r>
              <a:t>• Geopolitics and international relations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Specialized Concentrations in International Relations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Global health policy and practice</a:t>
            </a:r>
          </a:p>
          <a:p>
            <a:pPr>
              <a:lnSpc>
                <a:spcPct val="120000"/>
              </a:lnSpc>
              <a:spcBef>
                <a:spcPts val="300"/>
              </a:spcBef>
              <a:spcAft>
                <a:spcPts val="300"/>
              </a:spcAft>
              <a:defRPr sz="1100">
                <a:solidFill>
                  <a:srgbClr val="64748B"/>
                </a:solidFill>
              </a:defRPr>
            </a:pPr>
            <a:r>
              <a:t>• Environmental studies and sustainability</a:t>
            </a:r>
          </a:p>
          <a:p>
            <a:pPr>
              <a:lnSpc>
                <a:spcPct val="120000"/>
              </a:lnSpc>
              <a:spcBef>
                <a:spcPts val="300"/>
              </a:spcBef>
              <a:spcAft>
                <a:spcPts val="300"/>
              </a:spcAft>
              <a:defRPr sz="1100">
                <a:solidFill>
                  <a:srgbClr val="64748B"/>
                </a:solidFill>
              </a:defRPr>
            </a:pPr>
            <a:r>
              <a:t>• Security and defense strategies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Master's in International Relations</a:t>
            </a:r>
          </a:p>
          <a:p>
            <a:pPr>
              <a:spcBef>
                <a:spcPts val="800"/>
              </a:spcBef>
              <a:spcAft>
                <a:spcPts val="800"/>
              </a:spcAft>
              <a:defRPr sz="2000">
                <a:solidFill>
                  <a:srgbClr val="F59E0B"/>
                </a:solidFill>
              </a:defRPr>
            </a:pPr>
            <a:r>
              <a:t>✓ Core Coursework in International Relations</a:t>
            </a:r>
          </a:p>
          <a:p>
            <a:pPr>
              <a:spcBef>
                <a:spcPts val="800"/>
              </a:spcBef>
              <a:spcAft>
                <a:spcPts val="800"/>
              </a:spcAft>
              <a:defRPr sz="2000">
                <a:solidFill>
                  <a:srgbClr val="F59E0B"/>
                </a:solidFill>
              </a:defRPr>
            </a:pPr>
            <a:r>
              <a:t>✓ Specialized Concentrations in International Relations</a:t>
            </a:r>
          </a:p>
          <a:p>
            <a:pPr>
              <a:spcBef>
                <a:spcPts val="800"/>
              </a:spcBef>
              <a:spcAft>
                <a:spcPts val="800"/>
              </a:spcAft>
              <a:defRPr sz="2000">
                <a:solidFill>
                  <a:srgbClr val="F59E0B"/>
                </a:solidFill>
              </a:defRPr>
            </a:pPr>
            <a:r>
              <a:t>✓ Research Opportunities in International Relations</a:t>
            </a:r>
          </a:p>
          <a:p>
            <a:pPr>
              <a:spcBef>
                <a:spcPts val="800"/>
              </a:spcBef>
              <a:spcAft>
                <a:spcPts val="800"/>
              </a:spcAft>
              <a:defRPr sz="2000">
                <a:solidFill>
                  <a:srgbClr val="F59E0B"/>
                </a:solidFill>
              </a:defRPr>
            </a:pPr>
            <a:r>
              <a:t>✓ Career Opportunities in International Relations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