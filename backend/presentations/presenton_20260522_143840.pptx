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Conclusion Index (%)</c:v>
                </c:pt>
              </c:strCache>
            </c:strRef>
          </c:tx>
          <c:cat>
            <c:strRef>
              <c:f>Sheet1!$A$2:$A$6</c:f>
              <c:strCache>
                <c:ptCount val="5"/>
                <c:pt idx="0">
                  <c:v>Access to outdoor</c:v>
                </c:pt>
                <c:pt idx="1">
                  <c:v>Diverse range</c:v>
                </c:pt>
                <c:pt idx="2">
                  <c:v>Excellent</c:v>
                </c:pt>
                <c:pt idx="3">
                  <c:v>High standard</c:v>
                </c:pt>
                <c:pt idx="4">
                  <c:v>Growing demand</c:v>
                </c:pt>
              </c:strCache>
            </c:strRef>
          </c:cat>
          <c:val>
            <c:numRef>
              <c:f>Sheet1!$B$2:$B$6</c:f>
              <c:numCache>
                <c:formatCode>General</c:formatCode>
                <c:ptCount val="5"/>
                <c:pt idx="0">
                  <c:v>75</c:v>
                </c:pt>
                <c:pt idx="1">
                  <c:v>63</c:v>
                </c:pt>
                <c:pt idx="2">
                  <c:v>46</c:v>
                </c:pt>
                <c:pt idx="3">
                  <c:v>38</c:v>
                </c:pt>
                <c:pt idx="4">
                  <c:v>30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Tech Jobs in Singapore: A Growing Market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Tech Jobs in Singapore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Singapore has emerged as a hub for tech talent, with a growing demand for skilled professionals. The country's unique blend of Asian and Western cultures creates an attractive environment for global companies. This presentation will explore the various tech job opportunities available in Singapore.</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Growing demand for tech talent</a:t>
            </a:r>
          </a:p>
          <a:p>
            <a:pPr>
              <a:lnSpc>
                <a:spcPct val="120000"/>
              </a:lnSpc>
              <a:spcBef>
                <a:spcPts val="300"/>
              </a:spcBef>
              <a:spcAft>
                <a:spcPts val="300"/>
              </a:spcAft>
              <a:defRPr sz="1600">
                <a:solidFill>
                  <a:srgbClr val="0F172A"/>
                </a:solidFill>
              </a:defRPr>
            </a:pPr>
            <a:r>
              <a:t>• Unique blend of Asian and Western cultures</a:t>
            </a:r>
          </a:p>
          <a:p>
            <a:pPr>
              <a:lnSpc>
                <a:spcPct val="120000"/>
              </a:lnSpc>
              <a:spcBef>
                <a:spcPts val="300"/>
              </a:spcBef>
              <a:spcAft>
                <a:spcPts val="300"/>
              </a:spcAft>
              <a:defRPr sz="1600">
                <a:solidFill>
                  <a:srgbClr val="0F172A"/>
                </a:solidFill>
              </a:defRPr>
            </a:pPr>
            <a:r>
              <a:t>• Global companies based in Singapore</a:t>
            </a:r>
          </a:p>
          <a:p>
            <a:pPr>
              <a:lnSpc>
                <a:spcPct val="120000"/>
              </a:lnSpc>
              <a:spcBef>
                <a:spcPts val="300"/>
              </a:spcBef>
              <a:spcAft>
                <a:spcPts val="300"/>
              </a:spcAft>
              <a:defRPr sz="1600">
                <a:solidFill>
                  <a:srgbClr val="0F172A"/>
                </a:solidFill>
              </a:defRPr>
            </a:pPr>
            <a:r>
              <a:t>• Attractive environment for foreign professionals</a:t>
            </a:r>
          </a:p>
          <a:p>
            <a:pPr>
              <a:lnSpc>
                <a:spcPct val="120000"/>
              </a:lnSpc>
              <a:spcBef>
                <a:spcPts val="300"/>
              </a:spcBef>
              <a:spcAft>
                <a:spcPts val="300"/>
              </a:spcAft>
              <a:defRPr sz="1600">
                <a:solidFill>
                  <a:srgbClr val="0F172A"/>
                </a:solidFill>
              </a:defRPr>
            </a:pPr>
            <a:r>
              <a:t>• Competitive salary and benefits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In-Demand Tech Jobs in Singapore</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Singapore is home to a wide range of tech industries, from finance and healthcare to e-commerce and artificial intelligence. The following jobs are currently in high demand: </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Data Scientist</a:t>
            </a:r>
          </a:p>
          <a:p>
            <a:pPr>
              <a:lnSpc>
                <a:spcPct val="115000"/>
              </a:lnSpc>
              <a:spcBef>
                <a:spcPts val="200"/>
              </a:spcBef>
              <a:spcAft>
                <a:spcPts val="200"/>
              </a:spcAft>
              <a:defRPr sz="1500">
                <a:solidFill>
                  <a:srgbClr val="0F172A"/>
                </a:solidFill>
              </a:defRPr>
            </a:pPr>
            <a:r>
              <a:t>• Full Stack Developer</a:t>
            </a:r>
          </a:p>
          <a:p>
            <a:pPr>
              <a:lnSpc>
                <a:spcPct val="115000"/>
              </a:lnSpc>
              <a:spcBef>
                <a:spcPts val="200"/>
              </a:spcBef>
              <a:spcAft>
                <a:spcPts val="200"/>
              </a:spcAft>
              <a:defRPr sz="1500">
                <a:solidFill>
                  <a:srgbClr val="0F172A"/>
                </a:solidFill>
              </a:defRPr>
            </a:pPr>
            <a:r>
              <a:t>• Artificial Intelligence Engineer</a:t>
            </a:r>
          </a:p>
          <a:p>
            <a:pPr>
              <a:lnSpc>
                <a:spcPct val="115000"/>
              </a:lnSpc>
              <a:spcBef>
                <a:spcPts val="200"/>
              </a:spcBef>
              <a:spcAft>
                <a:spcPts val="200"/>
              </a:spcAft>
              <a:defRPr sz="1500">
                <a:solidFill>
                  <a:srgbClr val="0F172A"/>
                </a:solidFill>
              </a:defRPr>
            </a:pPr>
            <a:r>
              <a:t>• Cybersecurity Specialist</a:t>
            </a:r>
          </a:p>
          <a:p>
            <a:pPr>
              <a:lnSpc>
                <a:spcPct val="115000"/>
              </a:lnSpc>
              <a:spcBef>
                <a:spcPts val="200"/>
              </a:spcBef>
              <a:spcAft>
                <a:spcPts val="200"/>
              </a:spcAft>
              <a:defRPr sz="1500">
                <a:solidFill>
                  <a:srgbClr val="0F172A"/>
                </a:solidFill>
              </a:defRPr>
            </a:pPr>
            <a:r>
              <a:t>• Cloud Computing Professional</a:t>
            </a:r>
          </a:p>
        </p:txBody>
      </p:sp>
      <p:pic>
        <p:nvPicPr>
          <p:cNvPr id="5" name="Picture 4" descr="unsplash_vmGwPt9gpV0.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Skills Required for Tech Jobs in Singapore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To succeed in the tech job market in Singapore, professionals must possess a range of skills. These include strong programming skills, experience with emerging technologies, and excellent communication abilities.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Programming languages such as Python, Java, and C++</a:t>
            </a:r>
          </a:p>
          <a:p>
            <a:pPr>
              <a:lnSpc>
                <a:spcPct val="120000"/>
              </a:lnSpc>
              <a:spcBef>
                <a:spcPts val="300"/>
              </a:spcBef>
              <a:spcAft>
                <a:spcPts val="300"/>
              </a:spcAft>
              <a:defRPr sz="1600">
                <a:solidFill>
                  <a:srgbClr val="0F172A"/>
                </a:solidFill>
              </a:defRPr>
            </a:pPr>
            <a:r>
              <a:t>• Experience with machine learning and artificial intelligence</a:t>
            </a:r>
          </a:p>
          <a:p>
            <a:pPr>
              <a:lnSpc>
                <a:spcPct val="120000"/>
              </a:lnSpc>
              <a:spcBef>
                <a:spcPts val="300"/>
              </a:spcBef>
              <a:spcAft>
                <a:spcPts val="300"/>
              </a:spcAft>
              <a:defRPr sz="1600">
                <a:solidFill>
                  <a:srgbClr val="0F172A"/>
                </a:solidFill>
              </a:defRPr>
            </a:pPr>
            <a:r>
              <a:t>• Strong analytical and problem-solving skills</a:t>
            </a:r>
          </a:p>
          <a:p>
            <a:pPr>
              <a:lnSpc>
                <a:spcPct val="120000"/>
              </a:lnSpc>
              <a:spcBef>
                <a:spcPts val="300"/>
              </a:spcBef>
              <a:spcAft>
                <a:spcPts val="300"/>
              </a:spcAft>
              <a:defRPr sz="1600">
                <a:solidFill>
                  <a:srgbClr val="0F172A"/>
                </a:solidFill>
              </a:defRPr>
            </a:pPr>
            <a:r>
              <a:t>• Excellent communication and teamwork skills</a:t>
            </a:r>
          </a:p>
          <a:p>
            <a:pPr>
              <a:lnSpc>
                <a:spcPct val="120000"/>
              </a:lnSpc>
              <a:spcBef>
                <a:spcPts val="300"/>
              </a:spcBef>
              <a:spcAft>
                <a:spcPts val="300"/>
              </a:spcAft>
              <a:defRPr sz="1600">
                <a:solidFill>
                  <a:srgbClr val="0F172A"/>
                </a:solidFill>
              </a:defRPr>
            </a:pPr>
            <a:r>
              <a:t>• Certifications in relevant technologies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Benefits of Working in Singapore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Working in Singapore offers many benefits, including a high standard of living, low taxes, and excellent healthcare. The country is also home to many cultural attractions and outdoor activities.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High standard of living</a:t>
            </a:r>
          </a:p>
          <a:p>
            <a:pPr>
              <a:lnSpc>
                <a:spcPct val="120000"/>
              </a:lnSpc>
              <a:spcBef>
                <a:spcPts val="300"/>
              </a:spcBef>
              <a:spcAft>
                <a:spcPts val="300"/>
              </a:spcAft>
              <a:defRPr sz="1600">
                <a:solidFill>
                  <a:srgbClr val="0F172A"/>
                </a:solidFill>
              </a:defRPr>
            </a:pPr>
            <a:r>
              <a:t>• Low taxes</a:t>
            </a:r>
          </a:p>
          <a:p>
            <a:pPr>
              <a:lnSpc>
                <a:spcPct val="120000"/>
              </a:lnSpc>
              <a:spcBef>
                <a:spcPts val="300"/>
              </a:spcBef>
              <a:spcAft>
                <a:spcPts val="300"/>
              </a:spcAft>
              <a:defRPr sz="1600">
                <a:solidFill>
                  <a:srgbClr val="0F172A"/>
                </a:solidFill>
              </a:defRPr>
            </a:pPr>
            <a:r>
              <a:t>• Excellent healthcare system</a:t>
            </a:r>
          </a:p>
          <a:p>
            <a:pPr>
              <a:lnSpc>
                <a:spcPct val="120000"/>
              </a:lnSpc>
              <a:spcBef>
                <a:spcPts val="300"/>
              </a:spcBef>
              <a:spcAft>
                <a:spcPts val="300"/>
              </a:spcAft>
              <a:defRPr sz="1600">
                <a:solidFill>
                  <a:srgbClr val="0F172A"/>
                </a:solidFill>
              </a:defRPr>
            </a:pPr>
            <a:r>
              <a:t>• Diverse range of cultural attractions</a:t>
            </a:r>
          </a:p>
          <a:p>
            <a:pPr>
              <a:lnSpc>
                <a:spcPct val="120000"/>
              </a:lnSpc>
              <a:spcBef>
                <a:spcPts val="300"/>
              </a:spcBef>
              <a:spcAft>
                <a:spcPts val="300"/>
              </a:spcAft>
              <a:defRPr sz="1600">
                <a:solidFill>
                  <a:srgbClr val="0F172A"/>
                </a:solidFill>
              </a:defRPr>
            </a:pPr>
            <a:r>
              <a:t>• Access to outdoor recreational activities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Challenges in the Tech Job Market in Singapore</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While there are many opportunities available in the tech job market in Singapore, there are also challenges that professionals must be aware of. These include stiff competition for jobs and a shortage of skilled workers.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Stiff competition for jobs</a:t>
            </a:r>
          </a:p>
          <a:p>
            <a:pPr>
              <a:lnSpc>
                <a:spcPct val="115000"/>
              </a:lnSpc>
              <a:spcBef>
                <a:spcPts val="200"/>
              </a:spcBef>
              <a:spcAft>
                <a:spcPts val="200"/>
              </a:spcAft>
              <a:defRPr sz="1500">
                <a:solidFill>
                  <a:srgbClr val="0F172A"/>
                </a:solidFill>
              </a:defRPr>
            </a:pPr>
            <a:r>
              <a:t>• Shortage of skilled workers</a:t>
            </a:r>
          </a:p>
          <a:p>
            <a:pPr>
              <a:lnSpc>
                <a:spcPct val="115000"/>
              </a:lnSpc>
              <a:spcBef>
                <a:spcPts val="200"/>
              </a:spcBef>
              <a:spcAft>
                <a:spcPts val="200"/>
              </a:spcAft>
              <a:defRPr sz="1500">
                <a:solidFill>
                  <a:srgbClr val="0F172A"/>
                </a:solidFill>
              </a:defRPr>
            </a:pPr>
            <a:r>
              <a:t>• Rapidly changing technology landscape</a:t>
            </a:r>
          </a:p>
          <a:p>
            <a:pPr>
              <a:lnSpc>
                <a:spcPct val="115000"/>
              </a:lnSpc>
              <a:spcBef>
                <a:spcPts val="200"/>
              </a:spcBef>
              <a:spcAft>
                <a:spcPts val="200"/>
              </a:spcAft>
              <a:defRPr sz="1500">
                <a:solidFill>
                  <a:srgbClr val="0F172A"/>
                </a:solidFill>
              </a:defRPr>
            </a:pPr>
            <a:r>
              <a:t>• High cost of living in Singapore</a:t>
            </a:r>
          </a:p>
          <a:p>
            <a:pPr>
              <a:lnSpc>
                <a:spcPct val="115000"/>
              </a:lnSpc>
              <a:spcBef>
                <a:spcPts val="200"/>
              </a:spcBef>
              <a:spcAft>
                <a:spcPts val="200"/>
              </a:spcAft>
              <a:defRPr sz="1500">
                <a:solidFill>
                  <a:srgbClr val="0F172A"/>
                </a:solidFill>
              </a:defRPr>
            </a:pPr>
            <a:r>
              <a:t>• Language barriers</a:t>
            </a:r>
          </a:p>
        </p:txBody>
      </p:sp>
      <p:pic>
        <p:nvPicPr>
          <p:cNvPr id="5" name="Picture 4" descr="unsplash_vmGwPt9gpV0.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 Conclusion Index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Conclusion - Conclusion Index (%)</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Chart data: {'Conclusion Index (%)': [75, 63, 46, 38,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 to Tech Jobs in Singapore</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Benefits of Working in Singapore</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Tech Jobs in Singapore</a:t>
            </a:r>
          </a:p>
          <a:p>
            <a:pPr>
              <a:spcBef>
                <a:spcPts val="800"/>
              </a:spcBef>
              <a:spcAft>
                <a:spcPts val="800"/>
              </a:spcAft>
              <a:defRPr sz="2000">
                <a:solidFill>
                  <a:srgbClr val="F59E0B"/>
                </a:solidFill>
              </a:defRPr>
            </a:pPr>
            <a:r>
              <a:t>✓ In-Demand Tech Jobs in Singapore</a:t>
            </a:r>
          </a:p>
          <a:p>
            <a:pPr>
              <a:spcBef>
                <a:spcPts val="800"/>
              </a:spcBef>
              <a:spcAft>
                <a:spcPts val="800"/>
              </a:spcAft>
              <a:defRPr sz="2000">
                <a:solidFill>
                  <a:srgbClr val="F59E0B"/>
                </a:solidFill>
              </a:defRPr>
            </a:pPr>
            <a:r>
              <a:t>✓ Skills Required for Tech Jobs in Singapore</a:t>
            </a:r>
          </a:p>
          <a:p>
            <a:pPr>
              <a:spcBef>
                <a:spcPts val="800"/>
              </a:spcBef>
              <a:spcAft>
                <a:spcPts val="800"/>
              </a:spcAft>
              <a:defRPr sz="2000">
                <a:solidFill>
                  <a:srgbClr val="F59E0B"/>
                </a:solidFill>
              </a:defRPr>
            </a:pPr>
            <a:r>
              <a:t>✓ Benefits of Working in Singapore</a:t>
            </a:r>
          </a:p>
          <a:p>
            <a:pPr>
              <a:spcBef>
                <a:spcPts val="800"/>
              </a:spcBef>
              <a:spcAft>
                <a:spcPts val="800"/>
              </a:spcAft>
              <a:defRPr sz="2000">
                <a:solidFill>
                  <a:srgbClr val="F59E0B"/>
                </a:solidFill>
              </a:defRPr>
            </a:pPr>
            <a:r>
              <a:t>✓ Challenges in the Tech Job Market in Singapore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