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Mitigation Index (%)</c:v>
                </c:pt>
              </c:strCache>
            </c:strRef>
          </c:tx>
          <c:cat>
            <c:strRef>
              <c:f>Sheet1!$A$2:$A$6</c:f>
              <c:strCache>
                <c:ptCount val="5"/>
                <c:pt idx="0">
                  <c:v>Transition</c:v>
                </c:pt>
                <c:pt idx="1">
                  <c:v>Renewable energy</c:v>
                </c:pt>
                <c:pt idx="2">
                  <c:v>Electrification</c:v>
                </c:pt>
                <c:pt idx="3">
                  <c:v>Carbon capture</c:v>
                </c:pt>
                <c:pt idx="4">
                  <c:v>Protecting</c:v>
                </c:pt>
              </c:strCache>
            </c:strRef>
          </c:cat>
          <c:val>
            <c:numRef>
              <c:f>Sheet1!$B$2:$B$6</c:f>
              <c:numCache>
                <c:formatCode>General</c:formatCode>
                <c:ptCount val="5"/>
                <c:pt idx="0">
                  <c:v>30</c:v>
                </c:pt>
                <c:pt idx="1">
                  <c:v>37</c:v>
                </c:pt>
                <c:pt idx="2">
                  <c:v>58</c:v>
                </c:pt>
                <c:pt idx="3">
                  <c:v>62</c:v>
                </c:pt>
                <c:pt idx="4">
                  <c:v>85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The Impact of Climate Change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Climate Change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Climate change refers to the long-term warming of the planet, which is primarily caused by human activities that release greenhouse gases, such as carbon dioxide and methane, into the atmosphere. The burning of fossil fuels like coal, oil, and gas, as well as deforestation and land-use changes, are major contributors to climate change. This phenomenon has been observed since the mid-20th century and is mainly driven by human-induced greenhouse gas emissions. As a result, global temperatures have risen by about 1°C since the late 1800s.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climate change?</a:t>
            </a:r>
          </a:p>
          <a:p>
            <a:pPr>
              <a:lnSpc>
                <a:spcPct val="120000"/>
              </a:lnSpc>
              <a:spcBef>
                <a:spcPts val="300"/>
              </a:spcBef>
              <a:spcAft>
                <a:spcPts val="300"/>
              </a:spcAft>
              <a:defRPr sz="1600">
                <a:solidFill>
                  <a:srgbClr val="0F172A"/>
                </a:solidFill>
              </a:defRPr>
            </a:pPr>
            <a:r>
              <a:t>• Causes of climate change</a:t>
            </a:r>
          </a:p>
          <a:p>
            <a:pPr>
              <a:lnSpc>
                <a:spcPct val="120000"/>
              </a:lnSpc>
              <a:spcBef>
                <a:spcPts val="300"/>
              </a:spcBef>
              <a:spcAft>
                <a:spcPts val="300"/>
              </a:spcAft>
              <a:defRPr sz="1600">
                <a:solidFill>
                  <a:srgbClr val="0F172A"/>
                </a:solidFill>
              </a:defRPr>
            </a:pPr>
            <a:r>
              <a:t>• Greenhouse gases and their impact</a:t>
            </a:r>
          </a:p>
          <a:p>
            <a:pPr>
              <a:lnSpc>
                <a:spcPct val="120000"/>
              </a:lnSpc>
              <a:spcBef>
                <a:spcPts val="300"/>
              </a:spcBef>
              <a:spcAft>
                <a:spcPts val="300"/>
              </a:spcAft>
              <a:defRPr sz="1600">
                <a:solidFill>
                  <a:srgbClr val="0F172A"/>
                </a:solidFill>
              </a:defRPr>
            </a:pPr>
            <a:r>
              <a:t>• The role of fossil fuels in climate change</a:t>
            </a:r>
          </a:p>
          <a:p>
            <a:pPr>
              <a:lnSpc>
                <a:spcPct val="120000"/>
              </a:lnSpc>
              <a:spcBef>
                <a:spcPts val="300"/>
              </a:spcBef>
              <a:spcAft>
                <a:spcPts val="300"/>
              </a:spcAft>
              <a:defRPr sz="1600">
                <a:solidFill>
                  <a:srgbClr val="0F172A"/>
                </a:solidFill>
              </a:defRPr>
            </a:pPr>
            <a:r>
              <a:t>• Deforestation and land-use changes as contributors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Effects of Climate Change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Climate change has numerous effects on the environment, ecosystems, and human societies. Rising temperatures are causing melting of polar ice caps, sea-level rise, and more extreme weather events like heatwaves, droughts, and heavy rainfall. Additionally, climate change is altering species distributions, disrupting food chains, and threatening biodiversity. Human populations are also affected by increased risk of natural disasters, water scarcity, and impacts on agriculture, infrastructure, and human health.</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Rising global temperatures</a:t>
            </a:r>
          </a:p>
          <a:p>
            <a:pPr>
              <a:lnSpc>
                <a:spcPct val="120000"/>
              </a:lnSpc>
              <a:spcBef>
                <a:spcPts val="300"/>
              </a:spcBef>
              <a:spcAft>
                <a:spcPts val="300"/>
              </a:spcAft>
              <a:defRPr sz="1600">
                <a:solidFill>
                  <a:srgbClr val="0F172A"/>
                </a:solidFill>
              </a:defRPr>
            </a:pPr>
            <a:r>
              <a:t>• Polar ice cap melting and sea-level rise</a:t>
            </a:r>
          </a:p>
          <a:p>
            <a:pPr>
              <a:lnSpc>
                <a:spcPct val="120000"/>
              </a:lnSpc>
              <a:spcBef>
                <a:spcPts val="300"/>
              </a:spcBef>
              <a:spcAft>
                <a:spcPts val="300"/>
              </a:spcAft>
              <a:defRPr sz="1600">
                <a:solidFill>
                  <a:srgbClr val="0F172A"/>
                </a:solidFill>
              </a:defRPr>
            </a:pPr>
            <a:r>
              <a:t>• Extreme weather events</a:t>
            </a:r>
          </a:p>
          <a:p>
            <a:pPr>
              <a:lnSpc>
                <a:spcPct val="120000"/>
              </a:lnSpc>
              <a:spcBef>
                <a:spcPts val="300"/>
              </a:spcBef>
              <a:spcAft>
                <a:spcPts val="300"/>
              </a:spcAft>
              <a:defRPr sz="1600">
                <a:solidFill>
                  <a:srgbClr val="0F172A"/>
                </a:solidFill>
              </a:defRPr>
            </a:pPr>
            <a:r>
              <a:t>• Impact on ecosystems and biodiversity</a:t>
            </a:r>
          </a:p>
          <a:p>
            <a:pPr>
              <a:lnSpc>
                <a:spcPct val="120000"/>
              </a:lnSpc>
              <a:spcBef>
                <a:spcPts val="300"/>
              </a:spcBef>
              <a:spcAft>
                <a:spcPts val="300"/>
              </a:spcAft>
              <a:defRPr sz="1600">
                <a:solidFill>
                  <a:srgbClr val="0F172A"/>
                </a:solidFill>
              </a:defRPr>
            </a:pPr>
            <a:r>
              <a:t>• Human population effects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Consequences of Inaction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consequences of failing to address climate change are severe. Continued greenhouse gas emissions will lead to increased temperatures, more frequent and intense weather events, and devastating impacts on ecosystems and human societies. Rising sea levels will threaten coastal communities, low-lying areas, and infrastructure. Moreover, the economic costs of inaction will be significant, with projected losses in GDP and global productivity.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Risks of continued greenhouse gas emissions</a:t>
            </a:r>
          </a:p>
          <a:p>
            <a:pPr>
              <a:lnSpc>
                <a:spcPct val="115000"/>
              </a:lnSpc>
              <a:spcBef>
                <a:spcPts val="200"/>
              </a:spcBef>
              <a:spcAft>
                <a:spcPts val="200"/>
              </a:spcAft>
              <a:defRPr sz="1500">
                <a:solidFill>
                  <a:srgbClr val="0F172A"/>
                </a:solidFill>
              </a:defRPr>
            </a:pPr>
            <a:r>
              <a:t>• Increased temperatures and weather events</a:t>
            </a:r>
          </a:p>
          <a:p>
            <a:pPr>
              <a:lnSpc>
                <a:spcPct val="115000"/>
              </a:lnSpc>
              <a:spcBef>
                <a:spcPts val="200"/>
              </a:spcBef>
              <a:spcAft>
                <a:spcPts val="200"/>
              </a:spcAft>
              <a:defRPr sz="1500">
                <a:solidFill>
                  <a:srgbClr val="0F172A"/>
                </a:solidFill>
              </a:defRPr>
            </a:pPr>
            <a:r>
              <a:t>• Sea-level rise and coastal community impacts</a:t>
            </a:r>
          </a:p>
          <a:p>
            <a:pPr>
              <a:lnSpc>
                <a:spcPct val="115000"/>
              </a:lnSpc>
              <a:spcBef>
                <a:spcPts val="200"/>
              </a:spcBef>
              <a:spcAft>
                <a:spcPts val="200"/>
              </a:spcAft>
              <a:defRPr sz="1500">
                <a:solidFill>
                  <a:srgbClr val="0F172A"/>
                </a:solidFill>
              </a:defRPr>
            </a:pPr>
            <a:r>
              <a:t>• Economic costs of inaction</a:t>
            </a:r>
          </a:p>
          <a:p>
            <a:pPr>
              <a:lnSpc>
                <a:spcPct val="115000"/>
              </a:lnSpc>
              <a:spcBef>
                <a:spcPts val="200"/>
              </a:spcBef>
              <a:spcAft>
                <a:spcPts val="200"/>
              </a:spcAft>
              <a:defRPr sz="1500">
                <a:solidFill>
                  <a:srgbClr val="0F172A"/>
                </a:solidFill>
              </a:defRPr>
            </a:pPr>
            <a:r>
              <a:t>• Global productivity and GDP losses</a:t>
            </a:r>
          </a:p>
        </p:txBody>
      </p:sp>
      <p:pic>
        <p:nvPicPr>
          <p:cNvPr id="5" name="Picture 4" descr="unsplash_h36bJDgiQZw.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Mitigation Strategies - Mitigation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Climate Change</a:t>
            </a:r>
          </a:p>
          <a:p>
            <a:pPr>
              <a:spcBef>
                <a:spcPts val="800"/>
              </a:spcBef>
              <a:spcAft>
                <a:spcPts val="800"/>
              </a:spcAft>
              <a:defRPr sz="2000">
                <a:solidFill>
                  <a:srgbClr val="F59E0B"/>
                </a:solidFill>
              </a:defRPr>
            </a:pPr>
            <a:r>
              <a:t>✓ Effects of Climate Change</a:t>
            </a:r>
          </a:p>
          <a:p>
            <a:pPr>
              <a:spcBef>
                <a:spcPts val="800"/>
              </a:spcBef>
              <a:spcAft>
                <a:spcPts val="800"/>
              </a:spcAft>
              <a:defRPr sz="2000">
                <a:solidFill>
                  <a:srgbClr val="F59E0B"/>
                </a:solidFill>
              </a:defRPr>
            </a:pPr>
            <a:r>
              <a:t>✓ Consequences of Inaction</a:t>
            </a:r>
          </a:p>
          <a:p>
            <a:pPr>
              <a:spcBef>
                <a:spcPts val="800"/>
              </a:spcBef>
              <a:spcAft>
                <a:spcPts val="800"/>
              </a:spcAft>
              <a:defRPr sz="2000">
                <a:solidFill>
                  <a:srgbClr val="F59E0B"/>
                </a:solidFill>
              </a:defRPr>
            </a:pPr>
            <a:r>
              <a:t>✓ Mitigation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