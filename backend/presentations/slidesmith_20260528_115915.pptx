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VLSI: A Comprehensive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What is VLSI?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Very Large Scale Integration (VLSI) refers to the process of creating complex electronic circuits using a single integrated circuit. This technology has revolutionized the field of electronics, enabling the development of smaller, faster, and more efficient devices. In this presentation, we will delve into the world of VLSI, exploring its history, principles, and applications.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Definition of VLSI</a:t>
            </a:r>
          </a:p>
          <a:p>
            <a:pPr>
              <a:lnSpc>
                <a:spcPct val="120000"/>
              </a:lnSpc>
              <a:spcBef>
                <a:spcPts val="300"/>
              </a:spcBef>
              <a:spcAft>
                <a:spcPts val="300"/>
              </a:spcAft>
              <a:defRPr sz="1600">
                <a:solidFill>
                  <a:srgbClr val="0F172A"/>
                </a:solidFill>
              </a:defRPr>
            </a:pPr>
            <a:r>
              <a:t>• History of VLSI</a:t>
            </a:r>
          </a:p>
          <a:p>
            <a:pPr>
              <a:lnSpc>
                <a:spcPct val="120000"/>
              </a:lnSpc>
              <a:spcBef>
                <a:spcPts val="300"/>
              </a:spcBef>
              <a:spcAft>
                <a:spcPts val="300"/>
              </a:spcAft>
              <a:defRPr sz="1600">
                <a:solidFill>
                  <a:srgbClr val="0F172A"/>
                </a:solidFill>
              </a:defRPr>
            </a:pPr>
            <a:r>
              <a:t>• Key principles of VLSI</a:t>
            </a:r>
          </a:p>
          <a:p>
            <a:pPr>
              <a:lnSpc>
                <a:spcPct val="120000"/>
              </a:lnSpc>
              <a:spcBef>
                <a:spcPts val="300"/>
              </a:spcBef>
              <a:spcAft>
                <a:spcPts val="300"/>
              </a:spcAft>
              <a:defRPr sz="1600">
                <a:solidFill>
                  <a:srgbClr val="0F172A"/>
                </a:solidFill>
              </a:defRPr>
            </a:pPr>
            <a:r>
              <a:t>• Applications of VLSI</a:t>
            </a:r>
          </a:p>
          <a:p>
            <a:pPr>
              <a:lnSpc>
                <a:spcPct val="120000"/>
              </a:lnSpc>
              <a:spcBef>
                <a:spcPts val="300"/>
              </a:spcBef>
              <a:spcAft>
                <a:spcPts val="300"/>
              </a:spcAft>
              <a:defRPr sz="1600">
                <a:solidFill>
                  <a:srgbClr val="0F172A"/>
                </a:solidFill>
              </a:defRPr>
            </a:pPr>
            <a:r>
              <a:t>• Future of VLSI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Principles of VLSI</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VLSI design involves the creation of custom integrated circuits that are tailored to specific applications. This requires a deep understanding of electronic circuit design, semiconductor materials, and manufacturing processes. The principles of VLSI include the use of abstraction, modular design, and hierarchical architecture.</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Abstraction in VLSI</a:t>
            </a:r>
          </a:p>
          <a:p>
            <a:pPr>
              <a:lnSpc>
                <a:spcPct val="115000"/>
              </a:lnSpc>
              <a:spcBef>
                <a:spcPts val="200"/>
              </a:spcBef>
              <a:spcAft>
                <a:spcPts val="200"/>
              </a:spcAft>
              <a:defRPr sz="1500">
                <a:solidFill>
                  <a:srgbClr val="0F172A"/>
                </a:solidFill>
              </a:defRPr>
            </a:pPr>
            <a:r>
              <a:t>• Modular design principles</a:t>
            </a:r>
          </a:p>
          <a:p>
            <a:pPr>
              <a:lnSpc>
                <a:spcPct val="115000"/>
              </a:lnSpc>
              <a:spcBef>
                <a:spcPts val="200"/>
              </a:spcBef>
              <a:spcAft>
                <a:spcPts val="200"/>
              </a:spcAft>
              <a:defRPr sz="1500">
                <a:solidFill>
                  <a:srgbClr val="0F172A"/>
                </a:solidFill>
              </a:defRPr>
            </a:pPr>
            <a:r>
              <a:t>• Hierarchical architecture</a:t>
            </a:r>
          </a:p>
          <a:p>
            <a:pPr>
              <a:lnSpc>
                <a:spcPct val="115000"/>
              </a:lnSpc>
              <a:spcBef>
                <a:spcPts val="200"/>
              </a:spcBef>
              <a:spcAft>
                <a:spcPts val="200"/>
              </a:spcAft>
              <a:defRPr sz="1500">
                <a:solidFill>
                  <a:srgbClr val="0F172A"/>
                </a:solidFill>
              </a:defRPr>
            </a:pPr>
            <a:r>
              <a:t>• Semiconductor material selection</a:t>
            </a:r>
          </a:p>
          <a:p>
            <a:pPr>
              <a:lnSpc>
                <a:spcPct val="115000"/>
              </a:lnSpc>
              <a:spcBef>
                <a:spcPts val="200"/>
              </a:spcBef>
              <a:spcAft>
                <a:spcPts val="200"/>
              </a:spcAft>
              <a:defRPr sz="1500">
                <a:solidFill>
                  <a:srgbClr val="0F172A"/>
                </a:solidFill>
              </a:defRPr>
            </a:pPr>
            <a:r>
              <a:t>• Manufacturing process considerations</a:t>
            </a:r>
          </a:p>
        </p:txBody>
      </p:sp>
      <p:pic>
        <p:nvPicPr>
          <p:cNvPr id="5" name="Picture 4" descr="picsum_slide_2_seed_505.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VLSI Design Tools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design process for VLSI involves the use of specialized software tools and languages. These include hardware description languages (HDLs) such as Verilog and VHDL, and electronic design automation (EDA) tools like Synopsys and Cadence. The choice of design tool depends on the specific requirements of the project.</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Verilog</a:t>
            </a:r>
          </a:p>
          <a:p>
            <a:pPr>
              <a:lnSpc>
                <a:spcPct val="120000"/>
              </a:lnSpc>
              <a:spcBef>
                <a:spcPts val="300"/>
              </a:spcBef>
              <a:spcAft>
                <a:spcPts val="300"/>
              </a:spcAft>
              <a:defRPr sz="1600">
                <a:solidFill>
                  <a:srgbClr val="0F172A"/>
                </a:solidFill>
              </a:defRPr>
            </a:pPr>
            <a:r>
              <a:t>• VHDL</a:t>
            </a:r>
          </a:p>
          <a:p>
            <a:pPr>
              <a:lnSpc>
                <a:spcPct val="120000"/>
              </a:lnSpc>
              <a:spcBef>
                <a:spcPts val="300"/>
              </a:spcBef>
              <a:spcAft>
                <a:spcPts val="300"/>
              </a:spcAft>
              <a:defRPr sz="1600">
                <a:solidFill>
                  <a:srgbClr val="0F172A"/>
                </a:solidFill>
              </a:defRPr>
            </a:pPr>
            <a:r>
              <a:t>• Synopsys</a:t>
            </a:r>
          </a:p>
          <a:p>
            <a:pPr>
              <a:lnSpc>
                <a:spcPct val="120000"/>
              </a:lnSpc>
              <a:spcBef>
                <a:spcPts val="300"/>
              </a:spcBef>
              <a:spcAft>
                <a:spcPts val="300"/>
              </a:spcAft>
              <a:defRPr sz="1600">
                <a:solidFill>
                  <a:srgbClr val="0F172A"/>
                </a:solidFill>
              </a:defRPr>
            </a:pPr>
            <a:r>
              <a:t>• Cadence</a:t>
            </a:r>
          </a:p>
          <a:p>
            <a:pPr>
              <a:lnSpc>
                <a:spcPct val="120000"/>
              </a:lnSpc>
              <a:spcBef>
                <a:spcPts val="300"/>
              </a:spcBef>
              <a:spcAft>
                <a:spcPts val="300"/>
              </a:spcAft>
              <a:defRPr sz="1600">
                <a:solidFill>
                  <a:srgbClr val="0F172A"/>
                </a:solidFill>
              </a:defRPr>
            </a:pPr>
            <a:r>
              <a:t>• HDL languages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Advantages and Challenges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advantages of VLSI include increased speed, reduced power consumption, and improved reliability. However, the design process can be complex and time-consuming, requiring significant expertise and resources. Additionally, there are challenges related to manufacturing yield, testability, and fault tolerance.</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Increased speed</a:t>
            </a:r>
          </a:p>
          <a:p>
            <a:pPr>
              <a:lnSpc>
                <a:spcPct val="120000"/>
              </a:lnSpc>
              <a:spcBef>
                <a:spcPts val="300"/>
              </a:spcBef>
              <a:spcAft>
                <a:spcPts val="300"/>
              </a:spcAft>
              <a:defRPr sz="1600">
                <a:solidFill>
                  <a:srgbClr val="0F172A"/>
                </a:solidFill>
              </a:defRPr>
            </a:pPr>
            <a:r>
              <a:t>• Reduced power consumption</a:t>
            </a:r>
          </a:p>
          <a:p>
            <a:pPr>
              <a:lnSpc>
                <a:spcPct val="120000"/>
              </a:lnSpc>
              <a:spcBef>
                <a:spcPts val="300"/>
              </a:spcBef>
              <a:spcAft>
                <a:spcPts val="300"/>
              </a:spcAft>
              <a:defRPr sz="1600">
                <a:solidFill>
                  <a:srgbClr val="0F172A"/>
                </a:solidFill>
              </a:defRPr>
            </a:pPr>
            <a:r>
              <a:t>• Improved reliability</a:t>
            </a:r>
          </a:p>
          <a:p>
            <a:pPr>
              <a:lnSpc>
                <a:spcPct val="120000"/>
              </a:lnSpc>
              <a:spcBef>
                <a:spcPts val="300"/>
              </a:spcBef>
              <a:spcAft>
                <a:spcPts val="300"/>
              </a:spcAft>
              <a:defRPr sz="1600">
                <a:solidFill>
                  <a:srgbClr val="0F172A"/>
                </a:solidFill>
              </a:defRPr>
            </a:pPr>
            <a:r>
              <a:t>• Design complexity</a:t>
            </a:r>
          </a:p>
          <a:p>
            <a:pPr>
              <a:lnSpc>
                <a:spcPct val="120000"/>
              </a:lnSpc>
              <a:spcBef>
                <a:spcPts val="300"/>
              </a:spcBef>
              <a:spcAft>
                <a:spcPts val="300"/>
              </a:spcAft>
              <a:defRPr sz="1600">
                <a:solidFill>
                  <a:srgbClr val="0F172A"/>
                </a:solidFill>
              </a:defRPr>
            </a:pPr>
            <a:r>
              <a:t>• Manufacturing challenges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Applications of VLSI</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VLSI has numerous applications across various industries, including computing, communication, and automotive. Examples include microprocessors, memory devices, and custom ASICs. The widespread adoption of VLSI has enabled the development of more powerful and efficient devices.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Microprocessors</a:t>
            </a:r>
          </a:p>
          <a:p>
            <a:pPr>
              <a:lnSpc>
                <a:spcPct val="115000"/>
              </a:lnSpc>
              <a:spcBef>
                <a:spcPts val="200"/>
              </a:spcBef>
              <a:spcAft>
                <a:spcPts val="200"/>
              </a:spcAft>
              <a:defRPr sz="1500">
                <a:solidFill>
                  <a:srgbClr val="0F172A"/>
                </a:solidFill>
              </a:defRPr>
            </a:pPr>
            <a:r>
              <a:t>• Memory devices</a:t>
            </a:r>
          </a:p>
          <a:p>
            <a:pPr>
              <a:lnSpc>
                <a:spcPct val="115000"/>
              </a:lnSpc>
              <a:spcBef>
                <a:spcPts val="200"/>
              </a:spcBef>
              <a:spcAft>
                <a:spcPts val="200"/>
              </a:spcAft>
              <a:defRPr sz="1500">
                <a:solidFill>
                  <a:srgbClr val="0F172A"/>
                </a:solidFill>
              </a:defRPr>
            </a:pPr>
            <a:r>
              <a:t>• Custom ASICs</a:t>
            </a:r>
          </a:p>
          <a:p>
            <a:pPr>
              <a:lnSpc>
                <a:spcPct val="115000"/>
              </a:lnSpc>
              <a:spcBef>
                <a:spcPts val="200"/>
              </a:spcBef>
              <a:spcAft>
                <a:spcPts val="200"/>
              </a:spcAft>
              <a:defRPr sz="1500">
                <a:solidFill>
                  <a:srgbClr val="0F172A"/>
                </a:solidFill>
              </a:defRPr>
            </a:pPr>
            <a:r>
              <a:t>• Computing applications</a:t>
            </a:r>
          </a:p>
          <a:p>
            <a:pPr>
              <a:lnSpc>
                <a:spcPct val="115000"/>
              </a:lnSpc>
              <a:spcBef>
                <a:spcPts val="200"/>
              </a:spcBef>
              <a:spcAft>
                <a:spcPts val="200"/>
              </a:spcAft>
              <a:defRPr sz="1500">
                <a:solidFill>
                  <a:srgbClr val="0F172A"/>
                </a:solidFill>
              </a:defRPr>
            </a:pPr>
            <a:r>
              <a:t>• Communication applications</a:t>
            </a:r>
          </a:p>
        </p:txBody>
      </p:sp>
      <p:pic>
        <p:nvPicPr>
          <p:cNvPr id="5" name="Picture 4" descr="picsum_slide_5_seed_855.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VLSI revolutionizes electronics</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Design process complexities</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Future directions</a:t>
            </a:r>
          </a:p>
          <a:p>
            <a:pPr>
              <a:lnSpc>
                <a:spcPct val="120000"/>
              </a:lnSpc>
              <a:spcBef>
                <a:spcPts val="600"/>
              </a:spcBef>
              <a:spcAft>
                <a:spcPts val="600"/>
              </a:spcAft>
              <a:defRPr sz="1200">
                <a:solidFill>
                  <a:srgbClr val="0F172A"/>
                </a:solidFill>
              </a:defRPr>
            </a:pPr>
            <a:r>
              <a:t>• Innovative applications</a:t>
            </a:r>
          </a:p>
          <a:p>
            <a:pPr>
              <a:lnSpc>
                <a:spcPct val="120000"/>
              </a:lnSpc>
              <a:spcBef>
                <a:spcPts val="600"/>
              </a:spcBef>
              <a:spcAft>
                <a:spcPts val="600"/>
              </a:spcAft>
              <a:defRPr sz="1200">
                <a:solidFill>
                  <a:srgbClr val="0F172A"/>
                </a:solidFill>
              </a:defRPr>
            </a:pPr>
            <a:r>
              <a:t>• Conclusion</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What is VLSI?</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Definition of VLSI</a:t>
            </a:r>
          </a:p>
          <a:p>
            <a:pPr>
              <a:lnSpc>
                <a:spcPct val="120000"/>
              </a:lnSpc>
              <a:spcBef>
                <a:spcPts val="300"/>
              </a:spcBef>
              <a:spcAft>
                <a:spcPts val="300"/>
              </a:spcAft>
              <a:defRPr sz="1100">
                <a:solidFill>
                  <a:srgbClr val="64748B"/>
                </a:solidFill>
              </a:defRPr>
            </a:pPr>
            <a:r>
              <a:t>• History of VLSI</a:t>
            </a:r>
          </a:p>
          <a:p>
            <a:pPr>
              <a:lnSpc>
                <a:spcPct val="120000"/>
              </a:lnSpc>
              <a:spcBef>
                <a:spcPts val="300"/>
              </a:spcBef>
              <a:spcAft>
                <a:spcPts val="300"/>
              </a:spcAft>
              <a:defRPr sz="1100">
                <a:solidFill>
                  <a:srgbClr val="64748B"/>
                </a:solidFill>
              </a:defRPr>
            </a:pPr>
            <a:r>
              <a:t>• Key principles of VLSI</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Principles of VLSI</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Abstraction in VLSI</a:t>
            </a:r>
          </a:p>
          <a:p>
            <a:pPr>
              <a:lnSpc>
                <a:spcPct val="120000"/>
              </a:lnSpc>
              <a:spcBef>
                <a:spcPts val="300"/>
              </a:spcBef>
              <a:spcAft>
                <a:spcPts val="300"/>
              </a:spcAft>
              <a:defRPr sz="1100">
                <a:solidFill>
                  <a:srgbClr val="64748B"/>
                </a:solidFill>
              </a:defRPr>
            </a:pPr>
            <a:r>
              <a:t>• Modular design principles</a:t>
            </a:r>
          </a:p>
          <a:p>
            <a:pPr>
              <a:lnSpc>
                <a:spcPct val="120000"/>
              </a:lnSpc>
              <a:spcBef>
                <a:spcPts val="300"/>
              </a:spcBef>
              <a:spcAft>
                <a:spcPts val="300"/>
              </a:spcAft>
              <a:defRPr sz="1100">
                <a:solidFill>
                  <a:srgbClr val="64748B"/>
                </a:solidFill>
              </a:defRPr>
            </a:pPr>
            <a:r>
              <a:t>• Hierarchical architecture</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VLSI Design Tools</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Verilog</a:t>
            </a:r>
          </a:p>
          <a:p>
            <a:pPr>
              <a:lnSpc>
                <a:spcPct val="120000"/>
              </a:lnSpc>
              <a:spcBef>
                <a:spcPts val="300"/>
              </a:spcBef>
              <a:spcAft>
                <a:spcPts val="300"/>
              </a:spcAft>
              <a:defRPr sz="1100">
                <a:solidFill>
                  <a:srgbClr val="64748B"/>
                </a:solidFill>
              </a:defRPr>
            </a:pPr>
            <a:r>
              <a:t>• VHDL</a:t>
            </a:r>
          </a:p>
          <a:p>
            <a:pPr>
              <a:lnSpc>
                <a:spcPct val="120000"/>
              </a:lnSpc>
              <a:spcBef>
                <a:spcPts val="300"/>
              </a:spcBef>
              <a:spcAft>
                <a:spcPts val="300"/>
              </a:spcAft>
              <a:defRPr sz="1100">
                <a:solidFill>
                  <a:srgbClr val="64748B"/>
                </a:solidFill>
              </a:defRPr>
            </a:pPr>
            <a:r>
              <a:t>• Synopsys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What is VLSI?</a:t>
            </a:r>
          </a:p>
          <a:p>
            <a:pPr>
              <a:spcBef>
                <a:spcPts val="800"/>
              </a:spcBef>
              <a:spcAft>
                <a:spcPts val="800"/>
              </a:spcAft>
              <a:defRPr sz="2000">
                <a:solidFill>
                  <a:srgbClr val="F59E0B"/>
                </a:solidFill>
              </a:defRPr>
            </a:pPr>
            <a:r>
              <a:t>✓ Principles of VLSI</a:t>
            </a:r>
          </a:p>
          <a:p>
            <a:pPr>
              <a:spcBef>
                <a:spcPts val="800"/>
              </a:spcBef>
              <a:spcAft>
                <a:spcPts val="800"/>
              </a:spcAft>
              <a:defRPr sz="2000">
                <a:solidFill>
                  <a:srgbClr val="F59E0B"/>
                </a:solidFill>
              </a:defRPr>
            </a:pPr>
            <a:r>
              <a:t>✓ VLSI Design Tools</a:t>
            </a:r>
          </a:p>
          <a:p>
            <a:pPr>
              <a:spcBef>
                <a:spcPts val="800"/>
              </a:spcBef>
              <a:spcAft>
                <a:spcPts val="800"/>
              </a:spcAft>
              <a:defRPr sz="2000">
                <a:solidFill>
                  <a:srgbClr val="F59E0B"/>
                </a:solidFill>
              </a:defRPr>
            </a:pPr>
            <a:r>
              <a:t>✓ Advantages and Challenges</a:t>
            </a:r>
          </a:p>
          <a:p>
            <a:pPr>
              <a:spcBef>
                <a:spcPts val="800"/>
              </a:spcBef>
              <a:spcAft>
                <a:spcPts val="800"/>
              </a:spcAft>
              <a:defRPr sz="2000">
                <a:solidFill>
                  <a:srgbClr val="F59E0B"/>
                </a:solidFill>
              </a:defRPr>
            </a:pPr>
            <a:r>
              <a:t>✓ Applications of VLSI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