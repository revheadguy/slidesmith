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Wireless Communication for 5G Network</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Wireless Communication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200"/>
              </a:spcBef>
              <a:spcAft>
                <a:spcPts val="200"/>
              </a:spcAft>
              <a:defRPr sz="1400" i="1">
                <a:solidFill>
                  <a:srgbClr val="64748B"/>
                </a:solidFill>
              </a:defRPr>
            </a:pPr>
            <a:r>
              <a:t>Wireless communication has revolutionized the way we interact with each other and access information. With the advent of 5G technology, wireless communication is expected to become even more ubiquitous.</a:t>
            </a:r>
          </a:p>
          <a:p>
            <a:pPr>
              <a:lnSpc>
                <a:spcPct val="120000"/>
              </a:lnSpc>
              <a:spcBef>
                <a:spcPts val="200"/>
              </a:spcBef>
              <a:spcAft>
                <a:spcPts val="200"/>
              </a:spcAft>
              <a:defRPr sz="600"/>
            </a:pPr>
          </a:p>
          <a:p>
            <a:pPr>
              <a:lnSpc>
                <a:spcPct val="120000"/>
              </a:lnSpc>
              <a:spcBef>
                <a:spcPts val="200"/>
              </a:spcBef>
              <a:spcAft>
                <a:spcPts val="200"/>
              </a:spcAft>
              <a:defRPr sz="1600" b="0">
                <a:solidFill>
                  <a:srgbClr val="0F172A"/>
                </a:solidFill>
              </a:defRPr>
            </a:pPr>
            <a:r>
              <a:t>• Fundamental concepts</a:t>
            </a:r>
          </a:p>
          <a:p>
            <a:pPr>
              <a:lnSpc>
                <a:spcPct val="120000"/>
              </a:lnSpc>
              <a:spcBef>
                <a:spcPts val="200"/>
              </a:spcBef>
              <a:spcAft>
                <a:spcPts val="200"/>
              </a:spcAft>
              <a:defRPr sz="1600" b="0">
                <a:solidFill>
                  <a:srgbClr val="0F172A"/>
                </a:solidFill>
              </a:defRPr>
            </a:pPr>
            <a:r>
              <a:t>• Radio frequency signals</a:t>
            </a:r>
          </a:p>
          <a:p>
            <a:pPr>
              <a:lnSpc>
                <a:spcPct val="120000"/>
              </a:lnSpc>
              <a:spcBef>
                <a:spcPts val="200"/>
              </a:spcBef>
              <a:spcAft>
                <a:spcPts val="200"/>
              </a:spcAft>
              <a:defRPr sz="1600" b="0">
                <a:solidFill>
                  <a:srgbClr val="0F172A"/>
                </a:solidFill>
              </a:defRPr>
            </a:pPr>
            <a:r>
              <a:t>• Transmission modes</a:t>
            </a:r>
          </a:p>
          <a:p>
            <a:pPr>
              <a:lnSpc>
                <a:spcPct val="120000"/>
              </a:lnSpc>
              <a:spcBef>
                <a:spcPts val="200"/>
              </a:spcBef>
              <a:spcAft>
                <a:spcPts val="200"/>
              </a:spcAft>
              <a:defRPr sz="1600" b="0">
                <a:solidFill>
                  <a:srgbClr val="0F172A"/>
                </a:solidFill>
              </a:defRPr>
            </a:pPr>
            <a:r>
              <a:t>• Error correction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Radio Frequency Signals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300" i="1">
                <a:solidFill>
                  <a:srgbClr val="64748B"/>
                </a:solidFill>
              </a:defRPr>
            </a:pPr>
            <a:r>
              <a:t>Radio frequency (RF) signals are the foundation of wireless communication. RF signals are used to transmit information wirelessly over short or long distances.</a:t>
            </a:r>
          </a:p>
          <a:p>
            <a:pPr>
              <a:lnSpc>
                <a:spcPct val="115000"/>
              </a:lnSpc>
              <a:spcBef>
                <a:spcPts val="200"/>
              </a:spcBef>
              <a:spcAft>
                <a:spcPts val="200"/>
              </a:spcAft>
              <a:defRPr sz="600"/>
            </a:pPr>
          </a:p>
          <a:p>
            <a:pPr>
              <a:lnSpc>
                <a:spcPct val="115000"/>
              </a:lnSpc>
              <a:spcBef>
                <a:spcPts val="200"/>
              </a:spcBef>
              <a:spcAft>
                <a:spcPts val="200"/>
              </a:spcAft>
              <a:defRPr sz="1500" b="0">
                <a:solidFill>
                  <a:srgbClr val="0F172A"/>
                </a:solidFill>
              </a:defRPr>
            </a:pPr>
            <a:r>
              <a:t>• Frequency bands</a:t>
            </a:r>
          </a:p>
          <a:p>
            <a:pPr>
              <a:lnSpc>
                <a:spcPct val="115000"/>
              </a:lnSpc>
              <a:spcBef>
                <a:spcPts val="200"/>
              </a:spcBef>
              <a:spcAft>
                <a:spcPts val="200"/>
              </a:spcAft>
              <a:defRPr sz="1500" b="0">
                <a:solidFill>
                  <a:srgbClr val="0F172A"/>
                </a:solidFill>
              </a:defRPr>
            </a:pPr>
            <a:r>
              <a:t>• Modulation techniques</a:t>
            </a:r>
          </a:p>
          <a:p>
            <a:pPr>
              <a:lnSpc>
                <a:spcPct val="115000"/>
              </a:lnSpc>
              <a:spcBef>
                <a:spcPts val="200"/>
              </a:spcBef>
              <a:spcAft>
                <a:spcPts val="200"/>
              </a:spcAft>
              <a:defRPr sz="1500" b="0">
                <a:solidFill>
                  <a:srgbClr val="0F172A"/>
                </a:solidFill>
              </a:defRPr>
            </a:pPr>
            <a:r>
              <a:t>• Pulse width modulation</a:t>
            </a:r>
          </a:p>
          <a:p>
            <a:pPr>
              <a:lnSpc>
                <a:spcPct val="115000"/>
              </a:lnSpc>
              <a:spcBef>
                <a:spcPts val="200"/>
              </a:spcBef>
              <a:spcAft>
                <a:spcPts val="200"/>
              </a:spcAft>
              <a:defRPr sz="1500" b="0">
                <a:solidFill>
                  <a:srgbClr val="0F172A"/>
                </a:solidFill>
              </a:defRPr>
            </a:pPr>
            <a:r>
              <a:t>• Orthogonal frequency division multiplexing (OFDM)</a:t>
            </a:r>
          </a:p>
        </p:txBody>
      </p:sp>
      <p:pic>
        <p:nvPicPr>
          <p:cNvPr id="5" name="Picture 4" descr="unsplash_8e0EHPUx3Mo.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5G Wireless Communication Technologies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200"/>
              </a:spcBef>
              <a:spcAft>
                <a:spcPts val="200"/>
              </a:spcAft>
              <a:defRPr sz="1400" i="1">
                <a:solidFill>
                  <a:srgbClr val="64748B"/>
                </a:solidFill>
              </a:defRPr>
            </a:pPr>
            <a:r>
              <a:t>5G wireless communication technologies are designed to provide faster data rates, lower latency, and greater connectivity than previous generations of wireless networks. Key features include beamforming, massive MIMO, and millimeter wave (mmWave) technology.</a:t>
            </a:r>
          </a:p>
          <a:p>
            <a:pPr>
              <a:lnSpc>
                <a:spcPct val="120000"/>
              </a:lnSpc>
              <a:spcBef>
                <a:spcPts val="200"/>
              </a:spcBef>
              <a:spcAft>
                <a:spcPts val="200"/>
              </a:spcAft>
              <a:defRPr sz="600"/>
            </a:pPr>
          </a:p>
          <a:p>
            <a:pPr>
              <a:lnSpc>
                <a:spcPct val="120000"/>
              </a:lnSpc>
              <a:spcBef>
                <a:spcPts val="200"/>
              </a:spcBef>
              <a:spcAft>
                <a:spcPts val="200"/>
              </a:spcAft>
              <a:defRPr sz="1600" b="0">
                <a:solidFill>
                  <a:srgbClr val="0F172A"/>
                </a:solidFill>
              </a:defRPr>
            </a:pPr>
            <a:r>
              <a:t>• Massive MIMO</a:t>
            </a:r>
          </a:p>
          <a:p>
            <a:pPr>
              <a:lnSpc>
                <a:spcPct val="120000"/>
              </a:lnSpc>
              <a:spcBef>
                <a:spcPts val="200"/>
              </a:spcBef>
              <a:spcAft>
                <a:spcPts val="200"/>
              </a:spcAft>
              <a:defRPr sz="1600" b="0">
                <a:solidFill>
                  <a:srgbClr val="0F172A"/>
                </a:solidFill>
              </a:defRPr>
            </a:pPr>
            <a:r>
              <a:t>• Beamforming</a:t>
            </a:r>
          </a:p>
          <a:p>
            <a:pPr>
              <a:lnSpc>
                <a:spcPct val="120000"/>
              </a:lnSpc>
              <a:spcBef>
                <a:spcPts val="200"/>
              </a:spcBef>
              <a:spcAft>
                <a:spcPts val="200"/>
              </a:spcAft>
              <a:defRPr sz="1600" b="0">
                <a:solidFill>
                  <a:srgbClr val="0F172A"/>
                </a:solidFill>
              </a:defRPr>
            </a:pPr>
            <a:r>
              <a:t>• mmWave technology</a:t>
            </a:r>
          </a:p>
          <a:p>
            <a:pPr>
              <a:lnSpc>
                <a:spcPct val="120000"/>
              </a:lnSpc>
              <a:spcBef>
                <a:spcPts val="200"/>
              </a:spcBef>
              <a:spcAft>
                <a:spcPts val="200"/>
              </a:spcAft>
              <a:defRPr sz="1600" b="0">
                <a:solidFill>
                  <a:srgbClr val="0F172A"/>
                </a:solidFill>
              </a:defRPr>
            </a:pPr>
            <a:r>
              <a:t>• Network slicing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Channel Models for Wireless Communication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200"/>
              </a:spcBef>
              <a:spcAft>
                <a:spcPts val="200"/>
              </a:spcAft>
              <a:defRPr sz="1400" i="1">
                <a:solidFill>
                  <a:srgbClr val="64748B"/>
                </a:solidFill>
              </a:defRPr>
            </a:pPr>
            <a:r>
              <a:t>Understanding channel models is crucial for designing and optimizing wireless communication systems. Channel models simulate the effects of interference, fading, and other phenomena that can impact wireless signal quality.</a:t>
            </a:r>
          </a:p>
          <a:p>
            <a:pPr>
              <a:lnSpc>
                <a:spcPct val="120000"/>
              </a:lnSpc>
              <a:spcBef>
                <a:spcPts val="200"/>
              </a:spcBef>
              <a:spcAft>
                <a:spcPts val="200"/>
              </a:spcAft>
              <a:defRPr sz="600"/>
            </a:pPr>
          </a:p>
          <a:p>
            <a:pPr>
              <a:lnSpc>
                <a:spcPct val="120000"/>
              </a:lnSpc>
              <a:spcBef>
                <a:spcPts val="200"/>
              </a:spcBef>
              <a:spcAft>
                <a:spcPts val="200"/>
              </a:spcAft>
              <a:defRPr sz="1600" b="0">
                <a:solidFill>
                  <a:srgbClr val="0F172A"/>
                </a:solidFill>
              </a:defRPr>
            </a:pPr>
            <a:r>
              <a:t>• Fading models</a:t>
            </a:r>
          </a:p>
          <a:p>
            <a:pPr>
              <a:lnSpc>
                <a:spcPct val="120000"/>
              </a:lnSpc>
              <a:spcBef>
                <a:spcPts val="200"/>
              </a:spcBef>
              <a:spcAft>
                <a:spcPts val="200"/>
              </a:spcAft>
              <a:defRPr sz="1600" b="0">
                <a:solidFill>
                  <a:srgbClr val="0F172A"/>
                </a:solidFill>
              </a:defRPr>
            </a:pPr>
            <a:r>
              <a:t>• Interference models</a:t>
            </a:r>
          </a:p>
          <a:p>
            <a:pPr>
              <a:lnSpc>
                <a:spcPct val="120000"/>
              </a:lnSpc>
              <a:spcBef>
                <a:spcPts val="200"/>
              </a:spcBef>
              <a:spcAft>
                <a:spcPts val="200"/>
              </a:spcAft>
              <a:defRPr sz="1600" b="0">
                <a:solidFill>
                  <a:srgbClr val="0F172A"/>
                </a:solidFill>
              </a:defRPr>
            </a:pPr>
            <a:r>
              <a:t>• Multipath models</a:t>
            </a:r>
          </a:p>
          <a:p>
            <a:pPr>
              <a:lnSpc>
                <a:spcPct val="120000"/>
              </a:lnSpc>
              <a:spcBef>
                <a:spcPts val="200"/>
              </a:spcBef>
              <a:spcAft>
                <a:spcPts val="200"/>
              </a:spcAft>
              <a:defRPr sz="1600" b="0">
                <a:solidFill>
                  <a:srgbClr val="0F172A"/>
                </a:solidFill>
              </a:defRPr>
            </a:pPr>
            <a:r>
              <a:t>• Shadowing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Security in Wireless Communication</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300" i="1">
                <a:solidFill>
                  <a:srgbClr val="64748B"/>
                </a:solidFill>
              </a:defRPr>
            </a:pPr>
            <a:r>
              <a:t>Wireless communication is vulnerable to various security threats, including eavesdropping, spoofing, and jamming. To address these concerns, wireless communication systems must employ robust security mechanisms.</a:t>
            </a:r>
          </a:p>
          <a:p>
            <a:pPr>
              <a:lnSpc>
                <a:spcPct val="115000"/>
              </a:lnSpc>
              <a:spcBef>
                <a:spcPts val="200"/>
              </a:spcBef>
              <a:spcAft>
                <a:spcPts val="200"/>
              </a:spcAft>
              <a:defRPr sz="600"/>
            </a:pPr>
          </a:p>
          <a:p>
            <a:pPr>
              <a:lnSpc>
                <a:spcPct val="115000"/>
              </a:lnSpc>
              <a:spcBef>
                <a:spcPts val="200"/>
              </a:spcBef>
              <a:spcAft>
                <a:spcPts val="200"/>
              </a:spcAft>
              <a:defRPr sz="1500" b="0">
                <a:solidFill>
                  <a:srgbClr val="0F172A"/>
                </a:solidFill>
              </a:defRPr>
            </a:pPr>
            <a:r>
              <a:t>• Encryption</a:t>
            </a:r>
          </a:p>
          <a:p>
            <a:pPr>
              <a:lnSpc>
                <a:spcPct val="115000"/>
              </a:lnSpc>
              <a:spcBef>
                <a:spcPts val="200"/>
              </a:spcBef>
              <a:spcAft>
                <a:spcPts val="200"/>
              </a:spcAft>
              <a:defRPr sz="1500" b="0">
                <a:solidFill>
                  <a:srgbClr val="0F172A"/>
                </a:solidFill>
              </a:defRPr>
            </a:pPr>
            <a:r>
              <a:t>• Authentication</a:t>
            </a:r>
          </a:p>
          <a:p>
            <a:pPr>
              <a:lnSpc>
                <a:spcPct val="115000"/>
              </a:lnSpc>
              <a:spcBef>
                <a:spcPts val="200"/>
              </a:spcBef>
              <a:spcAft>
                <a:spcPts val="200"/>
              </a:spcAft>
              <a:defRPr sz="1500" b="0">
                <a:solidFill>
                  <a:srgbClr val="0F172A"/>
                </a:solidFill>
              </a:defRPr>
            </a:pPr>
            <a:r>
              <a:t>• Key exchange protocols</a:t>
            </a:r>
          </a:p>
          <a:p>
            <a:pPr>
              <a:lnSpc>
                <a:spcPct val="115000"/>
              </a:lnSpc>
              <a:spcBef>
                <a:spcPts val="200"/>
              </a:spcBef>
              <a:spcAft>
                <a:spcPts val="200"/>
              </a:spcAft>
              <a:defRPr sz="1500" b="0">
                <a:solidFill>
                  <a:srgbClr val="0F172A"/>
                </a:solidFill>
              </a:defRPr>
            </a:pPr>
            <a:r>
              <a:t>• Secure socket layer (SSL)</a:t>
            </a:r>
          </a:p>
        </p:txBody>
      </p:sp>
      <p:pic>
        <p:nvPicPr>
          <p:cNvPr id="5" name="Picture 4" descr="unsplash_C5pXRFEjq3w.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and Future Directions</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Emerging technologies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Future research directions</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Industry collaborations</a:t>
            </a:r>
          </a:p>
          <a:p>
            <a:pPr>
              <a:lnSpc>
                <a:spcPct val="120000"/>
              </a:lnSpc>
              <a:spcBef>
                <a:spcPts val="600"/>
              </a:spcBef>
              <a:spcAft>
                <a:spcPts val="600"/>
              </a:spcAft>
              <a:defRPr sz="1200">
                <a:solidFill>
                  <a:srgbClr val="0F172A"/>
                </a:solidFill>
              </a:defRPr>
            </a:pPr>
            <a:r>
              <a:t>• Regulatory frameworks</a:t>
            </a:r>
          </a:p>
          <a:p>
            <a:pPr>
              <a:lnSpc>
                <a:spcPct val="120000"/>
              </a:lnSpc>
              <a:spcBef>
                <a:spcPts val="600"/>
              </a:spcBef>
              <a:spcAft>
                <a:spcPts val="600"/>
              </a:spcAft>
              <a:defRPr sz="1200">
                <a:solidFill>
                  <a:srgbClr val="0F172A"/>
                </a:solidFill>
              </a:defRPr>
            </a:pPr>
            <a:r>
              <a:t>• Scalability</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 to Wireless Communication</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Fundamental concepts</a:t>
            </a:r>
          </a:p>
          <a:p>
            <a:pPr>
              <a:lnSpc>
                <a:spcPct val="120000"/>
              </a:lnSpc>
              <a:spcBef>
                <a:spcPts val="300"/>
              </a:spcBef>
              <a:spcAft>
                <a:spcPts val="300"/>
              </a:spcAft>
              <a:defRPr sz="1100">
                <a:solidFill>
                  <a:srgbClr val="64748B"/>
                </a:solidFill>
              </a:defRPr>
            </a:pPr>
            <a:r>
              <a:t>• Radio frequency signals</a:t>
            </a:r>
          </a:p>
          <a:p>
            <a:pPr>
              <a:lnSpc>
                <a:spcPct val="120000"/>
              </a:lnSpc>
              <a:spcBef>
                <a:spcPts val="300"/>
              </a:spcBef>
              <a:spcAft>
                <a:spcPts val="300"/>
              </a:spcAft>
              <a:defRPr sz="1100">
                <a:solidFill>
                  <a:srgbClr val="64748B"/>
                </a:solidFill>
              </a:defRPr>
            </a:pPr>
            <a:r>
              <a:t>• Transmission modes</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Radio Frequency Signals</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Frequency bands</a:t>
            </a:r>
          </a:p>
          <a:p>
            <a:pPr>
              <a:lnSpc>
                <a:spcPct val="120000"/>
              </a:lnSpc>
              <a:spcBef>
                <a:spcPts val="300"/>
              </a:spcBef>
              <a:spcAft>
                <a:spcPts val="300"/>
              </a:spcAft>
              <a:defRPr sz="1100">
                <a:solidFill>
                  <a:srgbClr val="64748B"/>
                </a:solidFill>
              </a:defRPr>
            </a:pPr>
            <a:r>
              <a:t>• Modulation techniques</a:t>
            </a:r>
          </a:p>
          <a:p>
            <a:pPr>
              <a:lnSpc>
                <a:spcPct val="120000"/>
              </a:lnSpc>
              <a:spcBef>
                <a:spcPts val="300"/>
              </a:spcBef>
              <a:spcAft>
                <a:spcPts val="300"/>
              </a:spcAft>
              <a:defRPr sz="1100">
                <a:solidFill>
                  <a:srgbClr val="64748B"/>
                </a:solidFill>
              </a:defRPr>
            </a:pPr>
            <a:r>
              <a:t>• Pulse width modulation</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5G Wireless Communication Technologies</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Massive MIMO</a:t>
            </a:r>
          </a:p>
          <a:p>
            <a:pPr>
              <a:lnSpc>
                <a:spcPct val="120000"/>
              </a:lnSpc>
              <a:spcBef>
                <a:spcPts val="300"/>
              </a:spcBef>
              <a:spcAft>
                <a:spcPts val="300"/>
              </a:spcAft>
              <a:defRPr sz="1100">
                <a:solidFill>
                  <a:srgbClr val="64748B"/>
                </a:solidFill>
              </a:defRPr>
            </a:pPr>
            <a:r>
              <a:t>• Beamforming</a:t>
            </a:r>
          </a:p>
          <a:p>
            <a:pPr>
              <a:lnSpc>
                <a:spcPct val="120000"/>
              </a:lnSpc>
              <a:spcBef>
                <a:spcPts val="300"/>
              </a:spcBef>
              <a:spcAft>
                <a:spcPts val="300"/>
              </a:spcAft>
              <a:defRPr sz="1100">
                <a:solidFill>
                  <a:srgbClr val="64748B"/>
                </a:solidFill>
              </a:defRPr>
            </a:pPr>
            <a:r>
              <a:t>• mmWave technology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Wireless Communication</a:t>
            </a:r>
          </a:p>
          <a:p>
            <a:pPr>
              <a:spcBef>
                <a:spcPts val="800"/>
              </a:spcBef>
              <a:spcAft>
                <a:spcPts val="800"/>
              </a:spcAft>
              <a:defRPr sz="2000">
                <a:solidFill>
                  <a:srgbClr val="F59E0B"/>
                </a:solidFill>
              </a:defRPr>
            </a:pPr>
            <a:r>
              <a:t>✓ Radio Frequency Signals</a:t>
            </a:r>
          </a:p>
          <a:p>
            <a:pPr>
              <a:spcBef>
                <a:spcPts val="800"/>
              </a:spcBef>
              <a:spcAft>
                <a:spcPts val="800"/>
              </a:spcAft>
              <a:defRPr sz="2000">
                <a:solidFill>
                  <a:srgbClr val="F59E0B"/>
                </a:solidFill>
              </a:defRPr>
            </a:pPr>
            <a:r>
              <a:t>✓ 5G Wireless Communication Technologies</a:t>
            </a:r>
          </a:p>
          <a:p>
            <a:pPr>
              <a:spcBef>
                <a:spcPts val="800"/>
              </a:spcBef>
              <a:spcAft>
                <a:spcPts val="800"/>
              </a:spcAft>
              <a:defRPr sz="2000">
                <a:solidFill>
                  <a:srgbClr val="F59E0B"/>
                </a:solidFill>
              </a:defRPr>
            </a:pPr>
            <a:r>
              <a:t>✓ Channel Models for Wireless Communication</a:t>
            </a:r>
          </a:p>
          <a:p>
            <a:pPr>
              <a:spcBef>
                <a:spcPts val="800"/>
              </a:spcBef>
              <a:spcAft>
                <a:spcPts val="800"/>
              </a:spcAft>
              <a:defRPr sz="2000">
                <a:solidFill>
                  <a:srgbClr val="F59E0B"/>
                </a:solidFill>
              </a:defRPr>
            </a:pPr>
            <a:r>
              <a:t>✓ Security in Wireless Communication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