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F51B5"/>
        </a:solidFill>
        <a:effectLst/>
      </p:bgPr>
    </p:bg>
    <p:spTree>
      <p:nvGrpSpPr>
        <p:cNvPr id="1" name=""/>
        <p:cNvGrpSpPr/>
        <p:nvPr/>
      </p:nvGrpSpPr>
      <p:grpSpPr/>
      <p:sp>
        <p:nvSpPr>
          <p:cNvPr id="2" name="Oval 1"/>
          <p:cNvSpPr/>
          <p:nvPr/>
        </p:nvSpPr>
        <p:spPr>
          <a:xfrm>
            <a:off x="6355079" y="-1143000"/>
            <a:ext cx="4114800" cy="411480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 y="4754880"/>
            <a:ext cx="2011680" cy="2011680"/>
          </a:xfrm>
          <a:prstGeom prst="ellipse">
            <a:avLst/>
          </a:prstGeom>
          <a:noFill/>
          <a:ln w="31750">
            <a:solidFill>
              <a:srgbClr val="5C6B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7680960" cy="2011680"/>
          </a:xfrm>
          <a:prstGeom prst="rect">
            <a:avLst/>
          </a:prstGeom>
          <a:noFill/>
        </p:spPr>
        <p:txBody>
          <a:bodyPr wrap="square">
            <a:spAutoFit/>
          </a:bodyPr>
          <a:lstStyle/>
          <a:p>
            <a:pPr algn="ctr">
              <a:lnSpc>
                <a:spcPct val="115000"/>
              </a:lnSpc>
              <a:defRPr sz="4000" b="1">
                <a:solidFill>
                  <a:srgbClr val="FFFFFF"/>
                </a:solidFill>
              </a:defRPr>
            </a:pPr>
            <a:r>
              <a:t>Financial Performance of Google</a:t>
            </a:r>
          </a:p>
        </p:txBody>
      </p:sp>
      <p:sp>
        <p:nvSpPr>
          <p:cNvPr id="5" name="Rectangle 4"/>
          <p:cNvSpPr/>
          <p:nvPr/>
        </p:nvSpPr>
        <p:spPr>
          <a:xfrm>
            <a:off x="0" y="6748272"/>
            <a:ext cx="9144000" cy="109728"/>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 to Google's Financial Performance</a:t>
            </a:r>
          </a:p>
        </p:txBody>
      </p:sp>
      <p:sp>
        <p:nvSpPr>
          <p:cNvPr id="4" name="TextBox 3"/>
          <p:cNvSpPr txBox="1"/>
          <p:nvPr/>
        </p:nvSpPr>
        <p:spPr>
          <a:xfrm>
            <a:off x="731520" y="1417320"/>
            <a:ext cx="7680960" cy="685800"/>
          </a:xfrm>
          <a:prstGeom prst="rect">
            <a:avLst/>
          </a:prstGeom>
          <a:noFill/>
        </p:spPr>
        <p:txBody>
          <a:bodyPr wrap="square">
            <a:spAutoFit/>
          </a:bodyPr>
          <a:lstStyle/>
          <a:p>
            <a:pPr>
              <a:lnSpc>
                <a:spcPct val="130000"/>
              </a:lnSpc>
              <a:defRPr sz="1600">
                <a:solidFill>
                  <a:srgbClr val="0F172A"/>
                </a:solidFill>
              </a:defRPr>
            </a:pPr>
            <a:r>
              <a:t>Google is one of the most successful and innovative companies in the world. Its financial performance has been impressive over the years, with consistent growth in revenue and profits.</a:t>
            </a:r>
          </a:p>
        </p:txBody>
      </p:sp>
      <p:sp>
        <p:nvSpPr>
          <p:cNvPr id="5" name="Oval 4"/>
          <p:cNvSpPr/>
          <p:nvPr/>
        </p:nvSpPr>
        <p:spPr>
          <a:xfrm>
            <a:off x="502920" y="242316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377440"/>
            <a:ext cx="7589520" cy="685800"/>
          </a:xfrm>
          <a:prstGeom prst="rect">
            <a:avLst/>
          </a:prstGeom>
          <a:noFill/>
        </p:spPr>
        <p:txBody>
          <a:bodyPr wrap="square">
            <a:spAutoFit/>
          </a:bodyPr>
          <a:lstStyle/>
          <a:p>
            <a:pPr>
              <a:lnSpc>
                <a:spcPct val="130000"/>
              </a:lnSpc>
              <a:defRPr sz="1600">
                <a:solidFill>
                  <a:srgbClr val="0F172A"/>
                </a:solidFill>
              </a:defRPr>
            </a:pPr>
            <a:r>
              <a:t>Global search giant</a:t>
            </a:r>
          </a:p>
        </p:txBody>
      </p:sp>
      <p:sp>
        <p:nvSpPr>
          <p:cNvPr id="7" name="Oval 6"/>
          <p:cNvSpPr/>
          <p:nvPr/>
        </p:nvSpPr>
        <p:spPr>
          <a:xfrm>
            <a:off x="502920" y="3172968"/>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127248"/>
            <a:ext cx="7589520" cy="685800"/>
          </a:xfrm>
          <a:prstGeom prst="rect">
            <a:avLst/>
          </a:prstGeom>
          <a:noFill/>
        </p:spPr>
        <p:txBody>
          <a:bodyPr wrap="square">
            <a:spAutoFit/>
          </a:bodyPr>
          <a:lstStyle/>
          <a:p>
            <a:pPr>
              <a:lnSpc>
                <a:spcPct val="130000"/>
              </a:lnSpc>
              <a:defRPr sz="1600">
                <a:solidFill>
                  <a:srgbClr val="0F172A"/>
                </a:solidFill>
              </a:defRPr>
            </a:pPr>
            <a:r>
              <a:t>Consistent revenue growth</a:t>
            </a:r>
          </a:p>
        </p:txBody>
      </p:sp>
      <p:sp>
        <p:nvSpPr>
          <p:cNvPr id="9" name="Oval 8"/>
          <p:cNvSpPr/>
          <p:nvPr/>
        </p:nvSpPr>
        <p:spPr>
          <a:xfrm>
            <a:off x="502920" y="392277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877056"/>
            <a:ext cx="7589520" cy="685800"/>
          </a:xfrm>
          <a:prstGeom prst="rect">
            <a:avLst/>
          </a:prstGeom>
          <a:noFill/>
        </p:spPr>
        <p:txBody>
          <a:bodyPr wrap="square">
            <a:spAutoFit/>
          </a:bodyPr>
          <a:lstStyle/>
          <a:p>
            <a:pPr>
              <a:lnSpc>
                <a:spcPct val="130000"/>
              </a:lnSpc>
              <a:defRPr sz="1600">
                <a:solidFill>
                  <a:srgbClr val="0F172A"/>
                </a:solidFill>
              </a:defRPr>
            </a:pPr>
            <a:r>
              <a:t>Diversified business model</a:t>
            </a:r>
          </a:p>
        </p:txBody>
      </p:sp>
      <p:sp>
        <p:nvSpPr>
          <p:cNvPr id="11" name="Oval 10"/>
          <p:cNvSpPr/>
          <p:nvPr/>
        </p:nvSpPr>
        <p:spPr>
          <a:xfrm>
            <a:off x="502920" y="467258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626864"/>
            <a:ext cx="7589520" cy="685800"/>
          </a:xfrm>
          <a:prstGeom prst="rect">
            <a:avLst/>
          </a:prstGeom>
          <a:noFill/>
        </p:spPr>
        <p:txBody>
          <a:bodyPr wrap="square">
            <a:spAutoFit/>
          </a:bodyPr>
          <a:lstStyle/>
          <a:p>
            <a:pPr>
              <a:lnSpc>
                <a:spcPct val="130000"/>
              </a:lnSpc>
              <a:defRPr sz="1600">
                <a:solidFill>
                  <a:srgbClr val="0F172A"/>
                </a:solidFill>
              </a:defRPr>
            </a:pPr>
            <a:r>
              <a:t>Strong brand recognition</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Financial Performance of Google</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Revenue Growth</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0F172A"/>
                </a:solidFill>
              </a:defRPr>
            </a:pPr>
            <a:r>
              <a:t>Google's revenue has consistently grown over the years, driven by its search and advertising businesses. The company has been able to expand its reach into new markets and diversify its offerings, leading to increased revenue.</a:t>
            </a:r>
          </a:p>
        </p:txBody>
      </p:sp>
      <p:sp>
        <p:nvSpPr>
          <p:cNvPr id="5" name="Oval 4"/>
          <p:cNvSpPr/>
          <p:nvPr/>
        </p:nvSpPr>
        <p:spPr>
          <a:xfrm>
            <a:off x="502920" y="26974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685800"/>
          </a:xfrm>
          <a:prstGeom prst="rect">
            <a:avLst/>
          </a:prstGeom>
          <a:noFill/>
        </p:spPr>
        <p:txBody>
          <a:bodyPr wrap="square">
            <a:spAutoFit/>
          </a:bodyPr>
          <a:lstStyle/>
          <a:p>
            <a:pPr>
              <a:lnSpc>
                <a:spcPct val="130000"/>
              </a:lnSpc>
              <a:defRPr sz="1600">
                <a:solidFill>
                  <a:srgbClr val="0F172A"/>
                </a:solidFill>
              </a:defRPr>
            </a:pPr>
            <a:r>
              <a:t>Consistent annual growth</a:t>
            </a:r>
          </a:p>
        </p:txBody>
      </p:sp>
      <p:sp>
        <p:nvSpPr>
          <p:cNvPr id="7" name="Oval 6"/>
          <p:cNvSpPr/>
          <p:nvPr/>
        </p:nvSpPr>
        <p:spPr>
          <a:xfrm>
            <a:off x="502920" y="344728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685800"/>
          </a:xfrm>
          <a:prstGeom prst="rect">
            <a:avLst/>
          </a:prstGeom>
          <a:noFill/>
        </p:spPr>
        <p:txBody>
          <a:bodyPr wrap="square">
            <a:spAutoFit/>
          </a:bodyPr>
          <a:lstStyle/>
          <a:p>
            <a:pPr>
              <a:lnSpc>
                <a:spcPct val="130000"/>
              </a:lnSpc>
              <a:defRPr sz="1600">
                <a:solidFill>
                  <a:srgbClr val="0F172A"/>
                </a:solidFill>
              </a:defRPr>
            </a:pPr>
            <a:r>
              <a:t>Diversified revenue streams</a:t>
            </a:r>
          </a:p>
        </p:txBody>
      </p:sp>
      <p:sp>
        <p:nvSpPr>
          <p:cNvPr id="9" name="Oval 8"/>
          <p:cNvSpPr/>
          <p:nvPr/>
        </p:nvSpPr>
        <p:spPr>
          <a:xfrm>
            <a:off x="502920" y="419709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685800"/>
          </a:xfrm>
          <a:prstGeom prst="rect">
            <a:avLst/>
          </a:prstGeom>
          <a:noFill/>
        </p:spPr>
        <p:txBody>
          <a:bodyPr wrap="square">
            <a:spAutoFit/>
          </a:bodyPr>
          <a:lstStyle/>
          <a:p>
            <a:pPr>
              <a:lnSpc>
                <a:spcPct val="130000"/>
              </a:lnSpc>
              <a:defRPr sz="1600">
                <a:solidFill>
                  <a:srgbClr val="0F172A"/>
                </a:solidFill>
              </a:defRPr>
            </a:pPr>
            <a:r>
              <a:t>Strong brand recognition drives sales</a:t>
            </a:r>
          </a:p>
        </p:txBody>
      </p:sp>
      <p:sp>
        <p:nvSpPr>
          <p:cNvPr id="11" name="Oval 10"/>
          <p:cNvSpPr/>
          <p:nvPr/>
        </p:nvSpPr>
        <p:spPr>
          <a:xfrm>
            <a:off x="502920" y="494690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685800"/>
          </a:xfrm>
          <a:prstGeom prst="rect">
            <a:avLst/>
          </a:prstGeom>
          <a:noFill/>
        </p:spPr>
        <p:txBody>
          <a:bodyPr wrap="square">
            <a:spAutoFit/>
          </a:bodyPr>
          <a:lstStyle/>
          <a:p>
            <a:pPr>
              <a:lnSpc>
                <a:spcPct val="130000"/>
              </a:lnSpc>
              <a:defRPr sz="1600">
                <a:solidFill>
                  <a:srgbClr val="0F172A"/>
                </a:solidFill>
              </a:defRPr>
            </a:pPr>
            <a:r>
              <a:t>Increasing demand for digital advertising</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Financial Performance of Google</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Profitability</a:t>
            </a:r>
          </a:p>
        </p:txBody>
      </p:sp>
      <p:sp>
        <p:nvSpPr>
          <p:cNvPr id="4" name="TextBox 3"/>
          <p:cNvSpPr txBox="1"/>
          <p:nvPr/>
        </p:nvSpPr>
        <p:spPr>
          <a:xfrm>
            <a:off x="457200" y="1417320"/>
            <a:ext cx="4114800" cy="1600200"/>
          </a:xfrm>
          <a:prstGeom prst="rect">
            <a:avLst/>
          </a:prstGeom>
          <a:noFill/>
        </p:spPr>
        <p:txBody>
          <a:bodyPr wrap="square">
            <a:spAutoFit/>
          </a:bodyPr>
          <a:lstStyle/>
          <a:p>
            <a:pPr>
              <a:lnSpc>
                <a:spcPct val="130000"/>
              </a:lnSpc>
              <a:defRPr sz="1400">
                <a:solidFill>
                  <a:srgbClr val="0F172A"/>
                </a:solidFill>
              </a:defRPr>
            </a:pPr>
            <a:r>
              <a:t>Google's profitability has also been impressive, with the company reporting consistent profits over the years. This is due to its ability to generate significant revenue from its search and advertising businesses, while keeping costs under control.</a:t>
            </a:r>
          </a:p>
        </p:txBody>
      </p:sp>
      <p:sp>
        <p:nvSpPr>
          <p:cNvPr id="5" name="Oval 4"/>
          <p:cNvSpPr/>
          <p:nvPr/>
        </p:nvSpPr>
        <p:spPr>
          <a:xfrm>
            <a:off x="457200" y="339242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337560"/>
            <a:ext cx="3858768" cy="658368"/>
          </a:xfrm>
          <a:prstGeom prst="rect">
            <a:avLst/>
          </a:prstGeom>
          <a:noFill/>
        </p:spPr>
        <p:txBody>
          <a:bodyPr wrap="square">
            <a:spAutoFit/>
          </a:bodyPr>
          <a:lstStyle/>
          <a:p>
            <a:pPr>
              <a:lnSpc>
                <a:spcPct val="130000"/>
              </a:lnSpc>
              <a:defRPr sz="1500">
                <a:solidFill>
                  <a:srgbClr val="0F172A"/>
                </a:solidFill>
              </a:defRPr>
            </a:pPr>
            <a:r>
              <a:t>Consistent profitability</a:t>
            </a:r>
          </a:p>
        </p:txBody>
      </p:sp>
      <p:sp>
        <p:nvSpPr>
          <p:cNvPr id="7" name="Oval 6"/>
          <p:cNvSpPr/>
          <p:nvPr/>
        </p:nvSpPr>
        <p:spPr>
          <a:xfrm>
            <a:off x="457200" y="412394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4069080"/>
            <a:ext cx="3858768" cy="658368"/>
          </a:xfrm>
          <a:prstGeom prst="rect">
            <a:avLst/>
          </a:prstGeom>
          <a:noFill/>
        </p:spPr>
        <p:txBody>
          <a:bodyPr wrap="square">
            <a:spAutoFit/>
          </a:bodyPr>
          <a:lstStyle/>
          <a:p>
            <a:pPr>
              <a:lnSpc>
                <a:spcPct val="130000"/>
              </a:lnSpc>
              <a:defRPr sz="1500">
                <a:solidFill>
                  <a:srgbClr val="0F172A"/>
                </a:solidFill>
              </a:defRPr>
            </a:pPr>
            <a:r>
              <a:t>High profit margins</a:t>
            </a:r>
          </a:p>
        </p:txBody>
      </p:sp>
      <p:sp>
        <p:nvSpPr>
          <p:cNvPr id="9" name="Oval 8"/>
          <p:cNvSpPr/>
          <p:nvPr/>
        </p:nvSpPr>
        <p:spPr>
          <a:xfrm>
            <a:off x="457200" y="485546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4800600"/>
            <a:ext cx="3858768" cy="658368"/>
          </a:xfrm>
          <a:prstGeom prst="rect">
            <a:avLst/>
          </a:prstGeom>
          <a:noFill/>
        </p:spPr>
        <p:txBody>
          <a:bodyPr wrap="square">
            <a:spAutoFit/>
          </a:bodyPr>
          <a:lstStyle/>
          <a:p>
            <a:pPr>
              <a:lnSpc>
                <a:spcPct val="130000"/>
              </a:lnSpc>
              <a:defRPr sz="1500">
                <a:solidFill>
                  <a:srgbClr val="0F172A"/>
                </a:solidFill>
              </a:defRPr>
            </a:pPr>
            <a:r>
              <a:t>Efficient operations</a:t>
            </a:r>
          </a:p>
        </p:txBody>
      </p:sp>
      <p:sp>
        <p:nvSpPr>
          <p:cNvPr id="11" name="Oval 10"/>
          <p:cNvSpPr/>
          <p:nvPr/>
        </p:nvSpPr>
        <p:spPr>
          <a:xfrm>
            <a:off x="457200" y="5586983"/>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532120"/>
            <a:ext cx="3858768" cy="658368"/>
          </a:xfrm>
          <a:prstGeom prst="rect">
            <a:avLst/>
          </a:prstGeom>
          <a:noFill/>
        </p:spPr>
        <p:txBody>
          <a:bodyPr wrap="square">
            <a:spAutoFit/>
          </a:bodyPr>
          <a:lstStyle/>
          <a:p>
            <a:pPr>
              <a:lnSpc>
                <a:spcPct val="130000"/>
              </a:lnSpc>
              <a:defRPr sz="1500">
                <a:solidFill>
                  <a:srgbClr val="0F172A"/>
                </a:solidFill>
              </a:defRPr>
            </a:pPr>
            <a:r>
              <a:t>Strategic investments</a:t>
            </a:r>
          </a:p>
        </p:txBody>
      </p:sp>
      <p:pic>
        <p:nvPicPr>
          <p:cNvPr id="13" name="Picture 12" descr="unsplash_w9coDxtsfts.jpg"/>
          <p:cNvPicPr>
            <a:picLocks noChangeAspect="1"/>
          </p:cNvPicPr>
          <p:nvPr/>
        </p:nvPicPr>
        <p:blipFill>
          <a:blip r:embed="rId2"/>
          <a:stretch>
            <a:fillRect/>
          </a:stretch>
        </p:blipFill>
        <p:spPr>
          <a:xfrm>
            <a:off x="4754880" y="1280160"/>
            <a:ext cx="3840480" cy="4937760"/>
          </a:xfrm>
          <a:prstGeom prst="rect">
            <a:avLst/>
          </a:prstGeom>
        </p:spPr>
      </p:pic>
      <p:sp>
        <p:nvSpPr>
          <p:cNvPr id="14" name="Rectangle 13"/>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Financial Performance of Google</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Operating Expenses</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0F172A"/>
                </a:solidFill>
              </a:defRPr>
            </a:pPr>
            <a:r>
              <a:t>Google's operating expenses have increased over the years, driven by its growing workforce and expanding business. The company has invested heavily in research and development, as well as in its sales and marketing efforts.</a:t>
            </a:r>
          </a:p>
        </p:txBody>
      </p:sp>
      <p:sp>
        <p:nvSpPr>
          <p:cNvPr id="5" name="Oval 4"/>
          <p:cNvSpPr/>
          <p:nvPr/>
        </p:nvSpPr>
        <p:spPr>
          <a:xfrm>
            <a:off x="502920" y="26974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685800"/>
          </a:xfrm>
          <a:prstGeom prst="rect">
            <a:avLst/>
          </a:prstGeom>
          <a:noFill/>
        </p:spPr>
        <p:txBody>
          <a:bodyPr wrap="square">
            <a:spAutoFit/>
          </a:bodyPr>
          <a:lstStyle/>
          <a:p>
            <a:pPr>
              <a:lnSpc>
                <a:spcPct val="130000"/>
              </a:lnSpc>
              <a:defRPr sz="1600">
                <a:solidFill>
                  <a:srgbClr val="0F172A"/>
                </a:solidFill>
              </a:defRPr>
            </a:pPr>
            <a:r>
              <a:t>Increasing workforce</a:t>
            </a:r>
          </a:p>
        </p:txBody>
      </p:sp>
      <p:sp>
        <p:nvSpPr>
          <p:cNvPr id="7" name="Oval 6"/>
          <p:cNvSpPr/>
          <p:nvPr/>
        </p:nvSpPr>
        <p:spPr>
          <a:xfrm>
            <a:off x="502920" y="344728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685800"/>
          </a:xfrm>
          <a:prstGeom prst="rect">
            <a:avLst/>
          </a:prstGeom>
          <a:noFill/>
        </p:spPr>
        <p:txBody>
          <a:bodyPr wrap="square">
            <a:spAutoFit/>
          </a:bodyPr>
          <a:lstStyle/>
          <a:p>
            <a:pPr>
              <a:lnSpc>
                <a:spcPct val="130000"/>
              </a:lnSpc>
              <a:defRPr sz="1600">
                <a:solidFill>
                  <a:srgbClr val="0F172A"/>
                </a:solidFill>
              </a:defRPr>
            </a:pPr>
            <a:r>
              <a:t>Strategic investments</a:t>
            </a:r>
          </a:p>
        </p:txBody>
      </p:sp>
      <p:sp>
        <p:nvSpPr>
          <p:cNvPr id="9" name="Oval 8"/>
          <p:cNvSpPr/>
          <p:nvPr/>
        </p:nvSpPr>
        <p:spPr>
          <a:xfrm>
            <a:off x="502920" y="419709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685800"/>
          </a:xfrm>
          <a:prstGeom prst="rect">
            <a:avLst/>
          </a:prstGeom>
          <a:noFill/>
        </p:spPr>
        <p:txBody>
          <a:bodyPr wrap="square">
            <a:spAutoFit/>
          </a:bodyPr>
          <a:lstStyle/>
          <a:p>
            <a:pPr>
              <a:lnSpc>
                <a:spcPct val="130000"/>
              </a:lnSpc>
              <a:defRPr sz="1600">
                <a:solidFill>
                  <a:srgbClr val="0F172A"/>
                </a:solidFill>
              </a:defRPr>
            </a:pPr>
            <a:r>
              <a:t>Growing R&amp;D expenditures</a:t>
            </a:r>
          </a:p>
        </p:txBody>
      </p:sp>
      <p:sp>
        <p:nvSpPr>
          <p:cNvPr id="11" name="Oval 10"/>
          <p:cNvSpPr/>
          <p:nvPr/>
        </p:nvSpPr>
        <p:spPr>
          <a:xfrm>
            <a:off x="502920" y="494690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685800"/>
          </a:xfrm>
          <a:prstGeom prst="rect">
            <a:avLst/>
          </a:prstGeom>
          <a:noFill/>
        </p:spPr>
        <p:txBody>
          <a:bodyPr wrap="square">
            <a:spAutoFit/>
          </a:bodyPr>
          <a:lstStyle/>
          <a:p>
            <a:pPr>
              <a:lnSpc>
                <a:spcPct val="130000"/>
              </a:lnSpc>
              <a:defRPr sz="1600">
                <a:solidFill>
                  <a:srgbClr val="0F172A"/>
                </a:solidFill>
              </a:defRPr>
            </a:pPr>
            <a:r>
              <a:t>Expanding business operations</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Financial Performance of Google</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Capital Expenditures</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0F172A"/>
                </a:solidFill>
              </a:defRPr>
            </a:pPr>
            <a:r>
              <a:t>Google's capital expenditures have been significant over the years, driven by its need to invest in new technologies and expand its infrastructure. The company has invested heavily in data centers, servers, and other hardware, as well as in software development.</a:t>
            </a:r>
          </a:p>
        </p:txBody>
      </p:sp>
      <p:sp>
        <p:nvSpPr>
          <p:cNvPr id="5" name="Oval 4"/>
          <p:cNvSpPr/>
          <p:nvPr/>
        </p:nvSpPr>
        <p:spPr>
          <a:xfrm>
            <a:off x="502920" y="26974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685800"/>
          </a:xfrm>
          <a:prstGeom prst="rect">
            <a:avLst/>
          </a:prstGeom>
          <a:noFill/>
        </p:spPr>
        <p:txBody>
          <a:bodyPr wrap="square">
            <a:spAutoFit/>
          </a:bodyPr>
          <a:lstStyle/>
          <a:p>
            <a:pPr>
              <a:lnSpc>
                <a:spcPct val="130000"/>
              </a:lnSpc>
              <a:defRPr sz="1600">
                <a:solidFill>
                  <a:srgbClr val="0F172A"/>
                </a:solidFill>
              </a:defRPr>
            </a:pPr>
            <a:r>
              <a:t>Significant capital expenditures</a:t>
            </a:r>
          </a:p>
        </p:txBody>
      </p:sp>
      <p:sp>
        <p:nvSpPr>
          <p:cNvPr id="7" name="Oval 6"/>
          <p:cNvSpPr/>
          <p:nvPr/>
        </p:nvSpPr>
        <p:spPr>
          <a:xfrm>
            <a:off x="502920" y="344728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685800"/>
          </a:xfrm>
          <a:prstGeom prst="rect">
            <a:avLst/>
          </a:prstGeom>
          <a:noFill/>
        </p:spPr>
        <p:txBody>
          <a:bodyPr wrap="square">
            <a:spAutoFit/>
          </a:bodyPr>
          <a:lstStyle/>
          <a:p>
            <a:pPr>
              <a:lnSpc>
                <a:spcPct val="130000"/>
              </a:lnSpc>
              <a:defRPr sz="1600">
                <a:solidFill>
                  <a:srgbClr val="0F172A"/>
                </a:solidFill>
              </a:defRPr>
            </a:pPr>
            <a:r>
              <a:t>Investing in new technologies</a:t>
            </a:r>
          </a:p>
        </p:txBody>
      </p:sp>
      <p:sp>
        <p:nvSpPr>
          <p:cNvPr id="9" name="Oval 8"/>
          <p:cNvSpPr/>
          <p:nvPr/>
        </p:nvSpPr>
        <p:spPr>
          <a:xfrm>
            <a:off x="502920" y="419709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685800"/>
          </a:xfrm>
          <a:prstGeom prst="rect">
            <a:avLst/>
          </a:prstGeom>
          <a:noFill/>
        </p:spPr>
        <p:txBody>
          <a:bodyPr wrap="square">
            <a:spAutoFit/>
          </a:bodyPr>
          <a:lstStyle/>
          <a:p>
            <a:pPr>
              <a:lnSpc>
                <a:spcPct val="130000"/>
              </a:lnSpc>
              <a:defRPr sz="1600">
                <a:solidFill>
                  <a:srgbClr val="0F172A"/>
                </a:solidFill>
              </a:defRPr>
            </a:pPr>
            <a:r>
              <a:t>Expanding infrastructure</a:t>
            </a:r>
          </a:p>
        </p:txBody>
      </p:sp>
      <p:sp>
        <p:nvSpPr>
          <p:cNvPr id="11" name="Oval 10"/>
          <p:cNvSpPr/>
          <p:nvPr/>
        </p:nvSpPr>
        <p:spPr>
          <a:xfrm>
            <a:off x="502920" y="494690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685800"/>
          </a:xfrm>
          <a:prstGeom prst="rect">
            <a:avLst/>
          </a:prstGeom>
          <a:noFill/>
        </p:spPr>
        <p:txBody>
          <a:bodyPr wrap="square">
            <a:spAutoFit/>
          </a:bodyPr>
          <a:lstStyle/>
          <a:p>
            <a:pPr>
              <a:lnSpc>
                <a:spcPct val="130000"/>
              </a:lnSpc>
              <a:defRPr sz="1600">
                <a:solidFill>
                  <a:srgbClr val="0F172A"/>
                </a:solidFill>
              </a:defRPr>
            </a:pPr>
            <a:r>
              <a:t>Maintaining market leadership</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Financial Performance of Google</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Return on Investment (ROI)</a:t>
            </a:r>
          </a:p>
        </p:txBody>
      </p:sp>
      <p:sp>
        <p:nvSpPr>
          <p:cNvPr id="4" name="TextBox 3"/>
          <p:cNvSpPr txBox="1"/>
          <p:nvPr/>
        </p:nvSpPr>
        <p:spPr>
          <a:xfrm>
            <a:off x="457200" y="1417320"/>
            <a:ext cx="4114800" cy="1600200"/>
          </a:xfrm>
          <a:prstGeom prst="rect">
            <a:avLst/>
          </a:prstGeom>
          <a:noFill/>
        </p:spPr>
        <p:txBody>
          <a:bodyPr wrap="square">
            <a:spAutoFit/>
          </a:bodyPr>
          <a:lstStyle/>
          <a:p>
            <a:pPr>
              <a:lnSpc>
                <a:spcPct val="130000"/>
              </a:lnSpc>
              <a:defRPr sz="1400">
                <a:solidFill>
                  <a:srgbClr val="0F172A"/>
                </a:solidFill>
              </a:defRPr>
            </a:pPr>
            <a:r>
              <a:t>Google's return on investment has been impressive, with the company generating significant returns from its investments. The company's focus on innovation and efficiency has enabled it to maintain high ROI levels, driving long-term growth and profitability.</a:t>
            </a:r>
          </a:p>
        </p:txBody>
      </p:sp>
      <p:sp>
        <p:nvSpPr>
          <p:cNvPr id="5" name="Oval 4"/>
          <p:cNvSpPr/>
          <p:nvPr/>
        </p:nvSpPr>
        <p:spPr>
          <a:xfrm>
            <a:off x="457200" y="339242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337560"/>
            <a:ext cx="3858768" cy="658368"/>
          </a:xfrm>
          <a:prstGeom prst="rect">
            <a:avLst/>
          </a:prstGeom>
          <a:noFill/>
        </p:spPr>
        <p:txBody>
          <a:bodyPr wrap="square">
            <a:spAutoFit/>
          </a:bodyPr>
          <a:lstStyle/>
          <a:p>
            <a:pPr>
              <a:lnSpc>
                <a:spcPct val="130000"/>
              </a:lnSpc>
              <a:defRPr sz="1500">
                <a:solidFill>
                  <a:srgbClr val="0F172A"/>
                </a:solidFill>
              </a:defRPr>
            </a:pPr>
            <a:r>
              <a:t>High return on investment</a:t>
            </a:r>
          </a:p>
        </p:txBody>
      </p:sp>
      <p:sp>
        <p:nvSpPr>
          <p:cNvPr id="7" name="Oval 6"/>
          <p:cNvSpPr/>
          <p:nvPr/>
        </p:nvSpPr>
        <p:spPr>
          <a:xfrm>
            <a:off x="457200" y="412394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4069080"/>
            <a:ext cx="3858768" cy="658368"/>
          </a:xfrm>
          <a:prstGeom prst="rect">
            <a:avLst/>
          </a:prstGeom>
          <a:noFill/>
        </p:spPr>
        <p:txBody>
          <a:bodyPr wrap="square">
            <a:spAutoFit/>
          </a:bodyPr>
          <a:lstStyle/>
          <a:p>
            <a:pPr>
              <a:lnSpc>
                <a:spcPct val="130000"/>
              </a:lnSpc>
              <a:defRPr sz="1500">
                <a:solidFill>
                  <a:srgbClr val="0F172A"/>
                </a:solidFill>
              </a:defRPr>
            </a:pPr>
            <a:r>
              <a:t>Strategic investments</a:t>
            </a:r>
          </a:p>
        </p:txBody>
      </p:sp>
      <p:sp>
        <p:nvSpPr>
          <p:cNvPr id="9" name="Oval 8"/>
          <p:cNvSpPr/>
          <p:nvPr/>
        </p:nvSpPr>
        <p:spPr>
          <a:xfrm>
            <a:off x="457200" y="485546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4800600"/>
            <a:ext cx="3858768" cy="658368"/>
          </a:xfrm>
          <a:prstGeom prst="rect">
            <a:avLst/>
          </a:prstGeom>
          <a:noFill/>
        </p:spPr>
        <p:txBody>
          <a:bodyPr wrap="square">
            <a:spAutoFit/>
          </a:bodyPr>
          <a:lstStyle/>
          <a:p>
            <a:pPr>
              <a:lnSpc>
                <a:spcPct val="130000"/>
              </a:lnSpc>
              <a:defRPr sz="1500">
                <a:solidFill>
                  <a:srgbClr val="0F172A"/>
                </a:solidFill>
              </a:defRPr>
            </a:pPr>
            <a:r>
              <a:t>Efficient operations</a:t>
            </a:r>
          </a:p>
        </p:txBody>
      </p:sp>
      <p:sp>
        <p:nvSpPr>
          <p:cNvPr id="11" name="Oval 10"/>
          <p:cNvSpPr/>
          <p:nvPr/>
        </p:nvSpPr>
        <p:spPr>
          <a:xfrm>
            <a:off x="457200" y="5586983"/>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532120"/>
            <a:ext cx="3858768" cy="658368"/>
          </a:xfrm>
          <a:prstGeom prst="rect">
            <a:avLst/>
          </a:prstGeom>
          <a:noFill/>
        </p:spPr>
        <p:txBody>
          <a:bodyPr wrap="square">
            <a:spAutoFit/>
          </a:bodyPr>
          <a:lstStyle/>
          <a:p>
            <a:pPr>
              <a:lnSpc>
                <a:spcPct val="130000"/>
              </a:lnSpc>
              <a:defRPr sz="1500">
                <a:solidFill>
                  <a:srgbClr val="0F172A"/>
                </a:solidFill>
              </a:defRPr>
            </a:pPr>
            <a:r>
              <a:t>Long-term growth</a:t>
            </a:r>
          </a:p>
        </p:txBody>
      </p:sp>
      <p:pic>
        <p:nvPicPr>
          <p:cNvPr id="13" name="Picture 12" descr="unsplash_OlSGcrLSYkw.jpg"/>
          <p:cNvPicPr>
            <a:picLocks noChangeAspect="1"/>
          </p:cNvPicPr>
          <p:nvPr/>
        </p:nvPicPr>
        <p:blipFill>
          <a:blip r:embed="rId2"/>
          <a:stretch>
            <a:fillRect/>
          </a:stretch>
        </p:blipFill>
        <p:spPr>
          <a:xfrm>
            <a:off x="4754880" y="1280160"/>
            <a:ext cx="3840480" cy="4937760"/>
          </a:xfrm>
          <a:prstGeom prst="rect">
            <a:avLst/>
          </a:prstGeom>
        </p:spPr>
      </p:pic>
      <p:sp>
        <p:nvSpPr>
          <p:cNvPr id="14" name="Rectangle 13"/>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Financial Performance of Google</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Industry Comparison</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0F172A"/>
                </a:solidFill>
              </a:defRPr>
            </a:pPr>
            <a:r>
              <a:t>Google's financial performance is comparable to that of its peers in the technology industry. The company has consistently outperformed many of its competitors, driven by its innovative products and services, as well as its strong brand recognition.</a:t>
            </a:r>
          </a:p>
        </p:txBody>
      </p:sp>
      <p:sp>
        <p:nvSpPr>
          <p:cNvPr id="5" name="Oval 4"/>
          <p:cNvSpPr/>
          <p:nvPr/>
        </p:nvSpPr>
        <p:spPr>
          <a:xfrm>
            <a:off x="502920" y="26974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685800"/>
          </a:xfrm>
          <a:prstGeom prst="rect">
            <a:avLst/>
          </a:prstGeom>
          <a:noFill/>
        </p:spPr>
        <p:txBody>
          <a:bodyPr wrap="square">
            <a:spAutoFit/>
          </a:bodyPr>
          <a:lstStyle/>
          <a:p>
            <a:pPr>
              <a:lnSpc>
                <a:spcPct val="130000"/>
              </a:lnSpc>
              <a:defRPr sz="1600">
                <a:solidFill>
                  <a:srgbClr val="0F172A"/>
                </a:solidFill>
              </a:defRPr>
            </a:pPr>
            <a:r>
              <a:t>Comparable to industry peers</a:t>
            </a:r>
          </a:p>
        </p:txBody>
      </p:sp>
      <p:sp>
        <p:nvSpPr>
          <p:cNvPr id="7" name="Oval 6"/>
          <p:cNvSpPr/>
          <p:nvPr/>
        </p:nvSpPr>
        <p:spPr>
          <a:xfrm>
            <a:off x="502920" y="344728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685800"/>
          </a:xfrm>
          <a:prstGeom prst="rect">
            <a:avLst/>
          </a:prstGeom>
          <a:noFill/>
        </p:spPr>
        <p:txBody>
          <a:bodyPr wrap="square">
            <a:spAutoFit/>
          </a:bodyPr>
          <a:lstStyle/>
          <a:p>
            <a:pPr>
              <a:lnSpc>
                <a:spcPct val="130000"/>
              </a:lnSpc>
              <a:defRPr sz="1600">
                <a:solidFill>
                  <a:srgbClr val="0F172A"/>
                </a:solidFill>
              </a:defRPr>
            </a:pPr>
            <a:r>
              <a:t>Strong brand recognition</a:t>
            </a:r>
          </a:p>
        </p:txBody>
      </p:sp>
      <p:sp>
        <p:nvSpPr>
          <p:cNvPr id="9" name="Oval 8"/>
          <p:cNvSpPr/>
          <p:nvPr/>
        </p:nvSpPr>
        <p:spPr>
          <a:xfrm>
            <a:off x="502920" y="419709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685800"/>
          </a:xfrm>
          <a:prstGeom prst="rect">
            <a:avLst/>
          </a:prstGeom>
          <a:noFill/>
        </p:spPr>
        <p:txBody>
          <a:bodyPr wrap="square">
            <a:spAutoFit/>
          </a:bodyPr>
          <a:lstStyle/>
          <a:p>
            <a:pPr>
              <a:lnSpc>
                <a:spcPct val="130000"/>
              </a:lnSpc>
              <a:defRPr sz="1600">
                <a:solidFill>
                  <a:srgbClr val="0F172A"/>
                </a:solidFill>
              </a:defRPr>
            </a:pPr>
            <a:r>
              <a:t>Innovative products and services</a:t>
            </a:r>
          </a:p>
        </p:txBody>
      </p:sp>
      <p:sp>
        <p:nvSpPr>
          <p:cNvPr id="11" name="Oval 10"/>
          <p:cNvSpPr/>
          <p:nvPr/>
        </p:nvSpPr>
        <p:spPr>
          <a:xfrm>
            <a:off x="502920" y="494690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685800"/>
          </a:xfrm>
          <a:prstGeom prst="rect">
            <a:avLst/>
          </a:prstGeom>
          <a:noFill/>
        </p:spPr>
        <p:txBody>
          <a:bodyPr wrap="square">
            <a:spAutoFit/>
          </a:bodyPr>
          <a:lstStyle/>
          <a:p>
            <a:pPr>
              <a:lnSpc>
                <a:spcPct val="130000"/>
              </a:lnSpc>
              <a:defRPr sz="1600">
                <a:solidFill>
                  <a:srgbClr val="0F172A"/>
                </a:solidFill>
              </a:defRPr>
            </a:pPr>
            <a:r>
              <a:t>Consistent performance</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Financial Performance of Google</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ctr">
              <a:defRPr sz="3200" b="1">
                <a:solidFill>
                  <a:srgbClr val="1E40AF"/>
                </a:solidFill>
              </a:defRPr>
            </a:pPr>
            <a:r>
              <a:t>Conclusion</a:t>
            </a:r>
          </a:p>
        </p:txBody>
      </p:sp>
      <p:sp>
        <p:nvSpPr>
          <p:cNvPr id="4" name="Rectangle 3"/>
          <p:cNvSpPr/>
          <p:nvPr/>
        </p:nvSpPr>
        <p:spPr>
          <a:xfrm>
            <a:off x="32004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88720"/>
            <a:ext cx="2560320" cy="548640"/>
          </a:xfrm>
          <a:prstGeom prst="rect">
            <a:avLst/>
          </a:prstGeom>
          <a:noFill/>
        </p:spPr>
        <p:txBody>
          <a:bodyPr wrap="square">
            <a:spAutoFit/>
          </a:bodyPr>
          <a:lstStyle/>
          <a:p>
            <a:pPr algn="ctr">
              <a:defRPr sz="1400" b="1">
                <a:solidFill>
                  <a:srgbClr val="F59E0B"/>
                </a:solidFill>
              </a:defRPr>
            </a:pPr>
            <a:r>
              <a:t>What We</a:t>
            </a:r>
            <a:br/>
            <a:r>
              <a:t>Learned</a:t>
            </a:r>
          </a:p>
        </p:txBody>
      </p:sp>
      <p:sp>
        <p:nvSpPr>
          <p:cNvPr id="7" name="TextBox 6"/>
          <p:cNvSpPr txBox="1"/>
          <p:nvPr/>
        </p:nvSpPr>
        <p:spPr>
          <a:xfrm>
            <a:off x="8229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Consistent performance</a:t>
            </a:r>
          </a:p>
        </p:txBody>
      </p:sp>
      <p:sp>
        <p:nvSpPr>
          <p:cNvPr id="8" name="TextBox 7"/>
          <p:cNvSpPr txBox="1"/>
          <p:nvPr/>
        </p:nvSpPr>
        <p:spPr>
          <a:xfrm>
            <a:off x="3474720" y="1188720"/>
            <a:ext cx="2560320" cy="548640"/>
          </a:xfrm>
          <a:prstGeom prst="rect">
            <a:avLst/>
          </a:prstGeom>
          <a:noFill/>
        </p:spPr>
        <p:txBody>
          <a:bodyPr wrap="square">
            <a:spAutoFit/>
          </a:bodyPr>
          <a:lstStyle/>
          <a:p>
            <a:pPr algn="ctr">
              <a:defRPr sz="1400" b="1">
                <a:solidFill>
                  <a:srgbClr val="F59E0B"/>
                </a:solidFill>
              </a:defRPr>
            </a:pPr>
            <a:r>
              <a:t>Key</a:t>
            </a:r>
            <a:br/>
            <a:r>
              <a:t>Actions</a:t>
            </a:r>
          </a:p>
        </p:txBody>
      </p:sp>
      <p:sp>
        <p:nvSpPr>
          <p:cNvPr id="9" name="TextBox 8"/>
          <p:cNvSpPr txBox="1"/>
          <p:nvPr/>
        </p:nvSpPr>
        <p:spPr>
          <a:xfrm>
            <a:off x="35661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Strong brand recognition</a:t>
            </a:r>
          </a:p>
        </p:txBody>
      </p:sp>
      <p:sp>
        <p:nvSpPr>
          <p:cNvPr id="10" name="TextBox 9"/>
          <p:cNvSpPr txBox="1"/>
          <p:nvPr/>
        </p:nvSpPr>
        <p:spPr>
          <a:xfrm>
            <a:off x="6217920" y="1188720"/>
            <a:ext cx="2560320" cy="548640"/>
          </a:xfrm>
          <a:prstGeom prst="rect">
            <a:avLst/>
          </a:prstGeom>
          <a:noFill/>
        </p:spPr>
        <p:txBody>
          <a:bodyPr wrap="square">
            <a:spAutoFit/>
          </a:bodyPr>
          <a:lstStyle/>
          <a:p>
            <a:pPr algn="ctr">
              <a:defRPr sz="1400" b="1">
                <a:solidFill>
                  <a:srgbClr val="F59E0B"/>
                </a:solidFill>
              </a:defRPr>
            </a:pPr>
            <a:r>
              <a:t>What's</a:t>
            </a:r>
            <a:br/>
            <a:r>
              <a:t>Next</a:t>
            </a:r>
          </a:p>
        </p:txBody>
      </p:sp>
      <p:sp>
        <p:nvSpPr>
          <p:cNvPr id="11" name="TextBox 10"/>
          <p:cNvSpPr txBox="1"/>
          <p:nvPr/>
        </p:nvSpPr>
        <p:spPr>
          <a:xfrm>
            <a:off x="6309359"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Innovative products and services</a:t>
            </a:r>
          </a:p>
          <a:p>
            <a:pPr>
              <a:lnSpc>
                <a:spcPct val="120000"/>
              </a:lnSpc>
              <a:spcBef>
                <a:spcPts val="600"/>
              </a:spcBef>
              <a:spcAft>
                <a:spcPts val="600"/>
              </a:spcAft>
              <a:defRPr sz="1200">
                <a:solidFill>
                  <a:srgbClr val="0F172A"/>
                </a:solidFill>
              </a:defRPr>
            </a:pPr>
            <a:r>
              <a:t>• Competitive advantage</a:t>
            </a:r>
          </a:p>
          <a:p>
            <a:pPr>
              <a:lnSpc>
                <a:spcPct val="120000"/>
              </a:lnSpc>
              <a:spcBef>
                <a:spcPts val="600"/>
              </a:spcBef>
              <a:spcAft>
                <a:spcPts val="600"/>
              </a:spcAft>
              <a:defRPr sz="1200">
                <a:solidFill>
                  <a:srgbClr val="0F172A"/>
                </a:solidFill>
              </a:defRPr>
            </a:pPr>
            <a:r>
              <a:t>• Long-term growth</a:t>
            </a:r>
          </a:p>
        </p:txBody>
      </p:sp>
      <p:sp>
        <p:nvSpPr>
          <p:cNvPr id="12" name="Rectangle 11"/>
          <p:cNvSpPr/>
          <p:nvPr/>
        </p:nvSpPr>
        <p:spPr>
          <a:xfrm>
            <a:off x="457200" y="5120640"/>
            <a:ext cx="822960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303520"/>
            <a:ext cx="8229600" cy="457200"/>
          </a:xfrm>
          <a:prstGeom prst="rect">
            <a:avLst/>
          </a:prstGeom>
          <a:noFill/>
        </p:spPr>
        <p:txBody>
          <a:bodyPr wrap="none">
            <a:spAutoFit/>
          </a:bodyPr>
          <a:lstStyle/>
          <a:p>
            <a:pPr algn="ctr">
              <a:defRPr sz="1100">
                <a:solidFill>
                  <a:srgbClr val="64748B"/>
                </a:solidFill>
              </a:defRPr>
            </a:pPr>
            <a:r>
              <a:t>Thank you for your attention | Questions?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256032"/>
            <a:ext cx="9144000" cy="5486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9184"/>
            <a:ext cx="8229600" cy="658368"/>
          </a:xfrm>
          <a:prstGeom prst="rect">
            <a:avLst/>
          </a:prstGeom>
          <a:noFill/>
        </p:spPr>
        <p:txBody>
          <a:bodyPr wrap="square">
            <a:spAutoFit/>
          </a:bodyPr>
          <a:lstStyle/>
          <a:p>
            <a:pPr>
              <a:defRPr sz="2600" b="1">
                <a:solidFill>
                  <a:srgbClr val="1E40AF"/>
                </a:solidFill>
              </a:defRPr>
            </a:pPr>
            <a:r>
              <a:t>Presentation Flow</a:t>
            </a:r>
          </a:p>
        </p:txBody>
      </p:sp>
      <p:cxnSp>
        <p:nvCxnSpPr>
          <p:cNvPr id="900" name="DiagConnector"/>
          <p:cNvCxnSpPr/>
          <p:nvPr/>
        </p:nvCxnSpPr>
        <p:spPr>
          <a:xfrm>
            <a:off x="758952" y="1444752"/>
            <a:ext cx="5029200" cy="2743200"/>
          </a:xfrm>
          <a:prstGeom prst="line">
            <a:avLst/>
          </a:prstGeom>
          <a:ln w="18000">
            <a:solidFill>
              <a:srgbClr val="CBD5E1"/>
            </a:solidFill>
            <a:prstDash val="sysDash"/>
          </a:ln>
        </p:spPr>
      </p:cxnSp>
      <p:sp>
        <p:nvSpPr>
          <p:cNvPr id="901" name="Rectangle 900"/>
          <p:cNvSpPr/>
          <p:nvPr/>
        </p:nvSpPr>
        <p:spPr>
          <a:xfrm>
            <a:off x="557784" y="11521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Rectangle 901"/>
          <p:cNvSpPr/>
          <p:nvPr/>
        </p:nvSpPr>
        <p:spPr>
          <a:xfrm>
            <a:off x="502920" y="10972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Rectangle 902"/>
          <p:cNvSpPr/>
          <p:nvPr/>
        </p:nvSpPr>
        <p:spPr>
          <a:xfrm>
            <a:off x="502920" y="10972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502920" y="11887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1</a:t>
            </a:r>
          </a:p>
        </p:txBody>
      </p:sp>
      <p:sp>
        <p:nvSpPr>
          <p:cNvPr id="905" name="TextBox 904"/>
          <p:cNvSpPr txBox="1"/>
          <p:nvPr/>
        </p:nvSpPr>
        <p:spPr>
          <a:xfrm>
            <a:off x="1271016" y="1261872"/>
            <a:ext cx="2176272" cy="384048"/>
          </a:xfrm>
          <a:prstGeom prst="rect">
            <a:avLst/>
          </a:prstGeom>
          <a:noFill/>
        </p:spPr>
        <p:txBody>
          <a:bodyPr wrap="square">
            <a:spAutoFit/>
          </a:bodyPr>
          <a:lstStyle/>
          <a:p>
            <a:pPr>
              <a:defRPr sz="1400" b="1">
                <a:solidFill>
                  <a:srgbClr val="1E40AF"/>
                </a:solidFill>
              </a:defRPr>
            </a:pPr>
            <a:r>
              <a:t>Introduction to Google's Financial Performance</a:t>
            </a:r>
          </a:p>
        </p:txBody>
      </p:sp>
      <p:sp>
        <p:nvSpPr>
          <p:cNvPr id="906" name="Rectangle 905"/>
          <p:cNvSpPr/>
          <p:nvPr/>
        </p:nvSpPr>
        <p:spPr>
          <a:xfrm>
            <a:off x="667512" y="17007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TextBox 906"/>
          <p:cNvSpPr txBox="1"/>
          <p:nvPr/>
        </p:nvSpPr>
        <p:spPr>
          <a:xfrm>
            <a:off x="704088" y="17739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Global search giant</a:t>
            </a:r>
          </a:p>
          <a:p>
            <a:pPr>
              <a:lnSpc>
                <a:spcPct val="120000"/>
              </a:lnSpc>
              <a:spcBef>
                <a:spcPts val="300"/>
              </a:spcBef>
              <a:spcAft>
                <a:spcPts val="300"/>
              </a:spcAft>
              <a:defRPr sz="1100">
                <a:solidFill>
                  <a:srgbClr val="64748B"/>
                </a:solidFill>
              </a:defRPr>
            </a:pPr>
            <a:r>
              <a:t>• Consistent revenue growth</a:t>
            </a:r>
          </a:p>
          <a:p>
            <a:pPr>
              <a:lnSpc>
                <a:spcPct val="120000"/>
              </a:lnSpc>
              <a:spcBef>
                <a:spcPts val="300"/>
              </a:spcBef>
              <a:spcAft>
                <a:spcPts val="300"/>
              </a:spcAft>
              <a:defRPr sz="1100">
                <a:solidFill>
                  <a:srgbClr val="64748B"/>
                </a:solidFill>
              </a:defRPr>
            </a:pPr>
            <a:r>
              <a:t>• Diversified business model</a:t>
            </a:r>
          </a:p>
        </p:txBody>
      </p:sp>
      <p:sp>
        <p:nvSpPr>
          <p:cNvPr id="908" name="Rectangle 907"/>
          <p:cNvSpPr/>
          <p:nvPr/>
        </p:nvSpPr>
        <p:spPr>
          <a:xfrm>
            <a:off x="3072384" y="25237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Rectangle 908"/>
          <p:cNvSpPr/>
          <p:nvPr/>
        </p:nvSpPr>
        <p:spPr>
          <a:xfrm>
            <a:off x="3017520" y="24688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Rectangle 909"/>
          <p:cNvSpPr/>
          <p:nvPr/>
        </p:nvSpPr>
        <p:spPr>
          <a:xfrm>
            <a:off x="3017520" y="24688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3017520" y="25603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2</a:t>
            </a:r>
          </a:p>
        </p:txBody>
      </p:sp>
      <p:sp>
        <p:nvSpPr>
          <p:cNvPr id="912" name="TextBox 911"/>
          <p:cNvSpPr txBox="1"/>
          <p:nvPr/>
        </p:nvSpPr>
        <p:spPr>
          <a:xfrm>
            <a:off x="3785615" y="2633472"/>
            <a:ext cx="2176272" cy="384048"/>
          </a:xfrm>
          <a:prstGeom prst="rect">
            <a:avLst/>
          </a:prstGeom>
          <a:noFill/>
        </p:spPr>
        <p:txBody>
          <a:bodyPr wrap="square">
            <a:spAutoFit/>
          </a:bodyPr>
          <a:lstStyle/>
          <a:p>
            <a:pPr>
              <a:defRPr sz="1400" b="1">
                <a:solidFill>
                  <a:srgbClr val="1E40AF"/>
                </a:solidFill>
              </a:defRPr>
            </a:pPr>
            <a:r>
              <a:t>Revenue Growth</a:t>
            </a:r>
          </a:p>
        </p:txBody>
      </p:sp>
      <p:sp>
        <p:nvSpPr>
          <p:cNvPr id="913" name="Rectangle 912"/>
          <p:cNvSpPr/>
          <p:nvPr/>
        </p:nvSpPr>
        <p:spPr>
          <a:xfrm>
            <a:off x="3182112" y="30723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TextBox 913"/>
          <p:cNvSpPr txBox="1"/>
          <p:nvPr/>
        </p:nvSpPr>
        <p:spPr>
          <a:xfrm>
            <a:off x="3218688" y="31455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Consistent annual growth</a:t>
            </a:r>
          </a:p>
          <a:p>
            <a:pPr>
              <a:lnSpc>
                <a:spcPct val="120000"/>
              </a:lnSpc>
              <a:spcBef>
                <a:spcPts val="300"/>
              </a:spcBef>
              <a:spcAft>
                <a:spcPts val="300"/>
              </a:spcAft>
              <a:defRPr sz="1100">
                <a:solidFill>
                  <a:srgbClr val="64748B"/>
                </a:solidFill>
              </a:defRPr>
            </a:pPr>
            <a:r>
              <a:t>• Diversified revenue streams</a:t>
            </a:r>
          </a:p>
          <a:p>
            <a:pPr>
              <a:lnSpc>
                <a:spcPct val="120000"/>
              </a:lnSpc>
              <a:spcBef>
                <a:spcPts val="300"/>
              </a:spcBef>
              <a:spcAft>
                <a:spcPts val="300"/>
              </a:spcAft>
              <a:defRPr sz="1100">
                <a:solidFill>
                  <a:srgbClr val="64748B"/>
                </a:solidFill>
              </a:defRPr>
            </a:pPr>
            <a:r>
              <a:t>• Strong brand recognition drives sales</a:t>
            </a:r>
          </a:p>
        </p:txBody>
      </p:sp>
      <p:sp>
        <p:nvSpPr>
          <p:cNvPr id="915" name="Rectangle 914"/>
          <p:cNvSpPr/>
          <p:nvPr/>
        </p:nvSpPr>
        <p:spPr>
          <a:xfrm>
            <a:off x="5586983" y="38953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Rectangle 915"/>
          <p:cNvSpPr/>
          <p:nvPr/>
        </p:nvSpPr>
        <p:spPr>
          <a:xfrm>
            <a:off x="5532120" y="38404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Rectangle 916"/>
          <p:cNvSpPr/>
          <p:nvPr/>
        </p:nvSpPr>
        <p:spPr>
          <a:xfrm>
            <a:off x="5532120" y="38404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5532120" y="39319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3</a:t>
            </a:r>
          </a:p>
        </p:txBody>
      </p:sp>
      <p:sp>
        <p:nvSpPr>
          <p:cNvPr id="919" name="TextBox 918"/>
          <p:cNvSpPr txBox="1"/>
          <p:nvPr/>
        </p:nvSpPr>
        <p:spPr>
          <a:xfrm>
            <a:off x="6300215" y="4005072"/>
            <a:ext cx="2176272" cy="384048"/>
          </a:xfrm>
          <a:prstGeom prst="rect">
            <a:avLst/>
          </a:prstGeom>
          <a:noFill/>
        </p:spPr>
        <p:txBody>
          <a:bodyPr wrap="square">
            <a:spAutoFit/>
          </a:bodyPr>
          <a:lstStyle/>
          <a:p>
            <a:pPr>
              <a:defRPr sz="1400" b="1">
                <a:solidFill>
                  <a:srgbClr val="1E40AF"/>
                </a:solidFill>
              </a:defRPr>
            </a:pPr>
            <a:r>
              <a:t>Profitability</a:t>
            </a:r>
          </a:p>
        </p:txBody>
      </p:sp>
      <p:sp>
        <p:nvSpPr>
          <p:cNvPr id="920" name="Rectangle 919"/>
          <p:cNvSpPr/>
          <p:nvPr/>
        </p:nvSpPr>
        <p:spPr>
          <a:xfrm>
            <a:off x="5696712" y="44439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TextBox 920"/>
          <p:cNvSpPr txBox="1"/>
          <p:nvPr/>
        </p:nvSpPr>
        <p:spPr>
          <a:xfrm>
            <a:off x="5733288" y="45171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Consistent profitability</a:t>
            </a:r>
          </a:p>
          <a:p>
            <a:pPr>
              <a:lnSpc>
                <a:spcPct val="120000"/>
              </a:lnSpc>
              <a:spcBef>
                <a:spcPts val="300"/>
              </a:spcBef>
              <a:spcAft>
                <a:spcPts val="300"/>
              </a:spcAft>
              <a:defRPr sz="1100">
                <a:solidFill>
                  <a:srgbClr val="64748B"/>
                </a:solidFill>
              </a:defRPr>
            </a:pPr>
            <a:r>
              <a:t>• High profit margins</a:t>
            </a:r>
          </a:p>
          <a:p>
            <a:pPr>
              <a:lnSpc>
                <a:spcPct val="120000"/>
              </a:lnSpc>
              <a:spcBef>
                <a:spcPts val="300"/>
              </a:spcBef>
              <a:spcAft>
                <a:spcPts val="300"/>
              </a:spcAft>
              <a:defRPr sz="1100">
                <a:solidFill>
                  <a:srgbClr val="64748B"/>
                </a:solidFill>
              </a:defRPr>
            </a:pPr>
            <a:r>
              <a:t>• Efficient operations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74320"/>
            <a:ext cx="8229600" cy="594360"/>
          </a:xfrm>
          <a:prstGeom prst="rect">
            <a:avLst/>
          </a:prstGeom>
          <a:noFill/>
        </p:spPr>
        <p:txBody>
          <a:bodyPr wrap="none">
            <a:spAutoFit/>
          </a:bodyPr>
          <a:lstStyle/>
          <a:p>
            <a:pPr algn="ctr">
              <a:defRPr sz="3200" b="1">
                <a:solidFill>
                  <a:srgbClr val="FFFFFF"/>
                </a:solidFill>
              </a:defRPr>
            </a:pPr>
            <a:r>
              <a:t>Key Takeaways</a:t>
            </a:r>
          </a:p>
        </p:txBody>
      </p:sp>
      <p:sp>
        <p:nvSpPr>
          <p:cNvPr id="3" name="Rectangle 2"/>
          <p:cNvSpPr/>
          <p:nvPr/>
        </p:nvSpPr>
        <p:spPr>
          <a:xfrm>
            <a:off x="3200400" y="896112"/>
            <a:ext cx="27432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1097280"/>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1051560"/>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5568" y="1293876"/>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1</a:t>
            </a:r>
          </a:p>
        </p:txBody>
      </p:sp>
      <p:sp>
        <p:nvSpPr>
          <p:cNvPr id="7" name="TextBox 6"/>
          <p:cNvSpPr txBox="1"/>
          <p:nvPr/>
        </p:nvSpPr>
        <p:spPr>
          <a:xfrm>
            <a:off x="1554480" y="1216151"/>
            <a:ext cx="6565392" cy="457200"/>
          </a:xfrm>
          <a:prstGeom prst="rect">
            <a:avLst/>
          </a:prstGeom>
          <a:noFill/>
        </p:spPr>
        <p:txBody>
          <a:bodyPr wrap="square">
            <a:spAutoFit/>
          </a:bodyPr>
          <a:lstStyle/>
          <a:p>
            <a:pPr>
              <a:lnSpc>
                <a:spcPct val="120000"/>
              </a:lnSpc>
              <a:defRPr sz="1600" b="1">
                <a:solidFill>
                  <a:srgbClr val="1E40AF"/>
                </a:solidFill>
              </a:defRPr>
            </a:pPr>
            <a:r>
              <a:t>Introduction to Google's Financial Performance</a:t>
            </a:r>
          </a:p>
        </p:txBody>
      </p:sp>
      <p:sp>
        <p:nvSpPr>
          <p:cNvPr id="8" name="Rectangle 7"/>
          <p:cNvSpPr/>
          <p:nvPr/>
        </p:nvSpPr>
        <p:spPr>
          <a:xfrm>
            <a:off x="960120" y="1984248"/>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1938528"/>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5568" y="2180844"/>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2</a:t>
            </a:r>
          </a:p>
        </p:txBody>
      </p:sp>
      <p:sp>
        <p:nvSpPr>
          <p:cNvPr id="11" name="TextBox 10"/>
          <p:cNvSpPr txBox="1"/>
          <p:nvPr/>
        </p:nvSpPr>
        <p:spPr>
          <a:xfrm>
            <a:off x="1554480" y="2103120"/>
            <a:ext cx="6565392" cy="457200"/>
          </a:xfrm>
          <a:prstGeom prst="rect">
            <a:avLst/>
          </a:prstGeom>
          <a:noFill/>
        </p:spPr>
        <p:txBody>
          <a:bodyPr wrap="square">
            <a:spAutoFit/>
          </a:bodyPr>
          <a:lstStyle/>
          <a:p>
            <a:pPr>
              <a:lnSpc>
                <a:spcPct val="120000"/>
              </a:lnSpc>
              <a:defRPr sz="1600" b="1">
                <a:solidFill>
                  <a:srgbClr val="1E40AF"/>
                </a:solidFill>
              </a:defRPr>
            </a:pPr>
            <a:r>
              <a:t>Revenue Growth</a:t>
            </a:r>
          </a:p>
        </p:txBody>
      </p:sp>
      <p:sp>
        <p:nvSpPr>
          <p:cNvPr id="12" name="Rectangle 11"/>
          <p:cNvSpPr/>
          <p:nvPr/>
        </p:nvSpPr>
        <p:spPr>
          <a:xfrm>
            <a:off x="960120" y="2871215"/>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2825496"/>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15568" y="3067812"/>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3</a:t>
            </a:r>
          </a:p>
        </p:txBody>
      </p:sp>
      <p:sp>
        <p:nvSpPr>
          <p:cNvPr id="15" name="TextBox 14"/>
          <p:cNvSpPr txBox="1"/>
          <p:nvPr/>
        </p:nvSpPr>
        <p:spPr>
          <a:xfrm>
            <a:off x="1554480" y="2990088"/>
            <a:ext cx="6565392" cy="457200"/>
          </a:xfrm>
          <a:prstGeom prst="rect">
            <a:avLst/>
          </a:prstGeom>
          <a:noFill/>
        </p:spPr>
        <p:txBody>
          <a:bodyPr wrap="square">
            <a:spAutoFit/>
          </a:bodyPr>
          <a:lstStyle/>
          <a:p>
            <a:pPr>
              <a:lnSpc>
                <a:spcPct val="120000"/>
              </a:lnSpc>
              <a:defRPr sz="1600" b="1">
                <a:solidFill>
                  <a:srgbClr val="1E40AF"/>
                </a:solidFill>
              </a:defRPr>
            </a:pPr>
            <a:r>
              <a:t>Profitability</a:t>
            </a:r>
          </a:p>
        </p:txBody>
      </p:sp>
      <p:sp>
        <p:nvSpPr>
          <p:cNvPr id="16" name="Rectangle 15"/>
          <p:cNvSpPr/>
          <p:nvPr/>
        </p:nvSpPr>
        <p:spPr>
          <a:xfrm>
            <a:off x="960120" y="3758184"/>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400" y="3712464"/>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15568" y="3954780"/>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4</a:t>
            </a:r>
          </a:p>
        </p:txBody>
      </p:sp>
      <p:sp>
        <p:nvSpPr>
          <p:cNvPr id="19" name="TextBox 18"/>
          <p:cNvSpPr txBox="1"/>
          <p:nvPr/>
        </p:nvSpPr>
        <p:spPr>
          <a:xfrm>
            <a:off x="1554480" y="3877056"/>
            <a:ext cx="6565392" cy="457200"/>
          </a:xfrm>
          <a:prstGeom prst="rect">
            <a:avLst/>
          </a:prstGeom>
          <a:noFill/>
        </p:spPr>
        <p:txBody>
          <a:bodyPr wrap="square">
            <a:spAutoFit/>
          </a:bodyPr>
          <a:lstStyle/>
          <a:p>
            <a:pPr>
              <a:lnSpc>
                <a:spcPct val="120000"/>
              </a:lnSpc>
              <a:defRPr sz="1600" b="1">
                <a:solidFill>
                  <a:srgbClr val="1E40AF"/>
                </a:solidFill>
              </a:defRPr>
            </a:pPr>
            <a:r>
              <a:t>Operating Expenses</a:t>
            </a:r>
          </a:p>
        </p:txBody>
      </p:sp>
      <p:sp>
        <p:nvSpPr>
          <p:cNvPr id="20" name="Rectangle 19"/>
          <p:cNvSpPr/>
          <p:nvPr/>
        </p:nvSpPr>
        <p:spPr>
          <a:xfrm>
            <a:off x="960120" y="4645151"/>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 y="4599431"/>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15568" y="4841747"/>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5</a:t>
            </a:r>
          </a:p>
        </p:txBody>
      </p:sp>
      <p:sp>
        <p:nvSpPr>
          <p:cNvPr id="23" name="TextBox 22"/>
          <p:cNvSpPr txBox="1"/>
          <p:nvPr/>
        </p:nvSpPr>
        <p:spPr>
          <a:xfrm>
            <a:off x="1554480" y="4764023"/>
            <a:ext cx="6565392" cy="457200"/>
          </a:xfrm>
          <a:prstGeom prst="rect">
            <a:avLst/>
          </a:prstGeom>
          <a:noFill/>
        </p:spPr>
        <p:txBody>
          <a:bodyPr wrap="square">
            <a:spAutoFit/>
          </a:bodyPr>
          <a:lstStyle/>
          <a:p>
            <a:pPr>
              <a:lnSpc>
                <a:spcPct val="120000"/>
              </a:lnSpc>
              <a:defRPr sz="1600" b="1">
                <a:solidFill>
                  <a:srgbClr val="1E40AF"/>
                </a:solidFill>
              </a:defRPr>
            </a:pPr>
            <a:r>
              <a:t>Capital Expenditures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