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
                </c:pt>
              </c:strCache>
            </c:strRef>
          </c:tx>
          <c:dPt>
            <c:idx val="0"/>
            <c:spPr>
              <a:solidFill>
                <a:srgbClr val="1E40AF"/>
              </a:solidFill>
            </c:spPr>
          </c:dPt>
          <c:dPt>
            <c:idx val="1"/>
            <c:spPr>
              <a:solidFill>
                <a:srgbClr val="F59E0B"/>
              </a:solidFill>
            </c:spPr>
          </c:dPt>
          <c:cat>
            <c:strRef>
              <c:f>Sheet1!$A$2:$A$3</c:f>
              <c:strCache>
                <c:ptCount val="2"/>
                <c:pt idx="0">
                  <c:v>total smartphone revenue</c:v>
                </c:pt>
                <c:pt idx="1">
                  <c:v>we expect Apple to maintain its market d</c:v>
                </c:pt>
              </c:strCache>
            </c:strRef>
          </c:cat>
          <c:val>
            <c:numRef>
              <c:f>Sheet1!$B$2:$B$3</c:f>
              <c:numCache>
                <c:formatCode>General</c:formatCode>
                <c:ptCount val="2"/>
                <c:pt idx="0">
                  <c:v>40.0</c:v>
                </c:pt>
                <c:pt idx="1">
                  <c:v>17.0</c:v>
                </c:pt>
              </c:numCache>
            </c:numRef>
          </c:val>
        </c:ser>
        <c:dLbls>
          <c:txPr>
            <a:bodyPr/>
            <a:lstStyle/>
            <a:p>
              <a:pPr>
                <a:defRPr sz="1100" b="1">
                  <a:solidFill>
                    <a:srgbClr val="FFFFFF"/>
                  </a:solidFill>
                </a:defRPr>
              </a:pPr>
            </a:p>
          </c:txPr>
          <c:showLegendKey val="0"/>
          <c:showVal val="0"/>
          <c:showCatName val="0"/>
          <c:showSerName val="0"/>
          <c:showPercent val="1"/>
          <c:showBubbleSize val="0"/>
          <c:showLeaderLines val="1"/>
        </c:dLbls>
      </c:pieChart>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
                </c:pt>
              </c:strCache>
            </c:strRef>
          </c:tx>
          <c:dPt>
            <c:idx val="0"/>
            <c:spPr>
              <a:solidFill>
                <a:srgbClr val="1E40AF"/>
              </a:solidFill>
            </c:spPr>
          </c:dPt>
          <c:dPt>
            <c:idx val="1"/>
            <c:spPr>
              <a:solidFill>
                <a:srgbClr val="F59E0B"/>
              </a:solidFill>
            </c:spPr>
          </c:dPt>
          <c:cat>
            <c:strRef>
              <c:f>Sheet1!$A$2:$A$3</c:f>
              <c:strCache>
                <c:ptCount val="2"/>
                <c:pt idx="0">
                  <c:v>total tablet revenue</c:v>
                </c:pt>
                <c:pt idx="1">
                  <c:v>we expect Apple to continue its tablet m</c:v>
                </c:pt>
              </c:strCache>
            </c:strRef>
          </c:cat>
          <c:val>
            <c:numRef>
              <c:f>Sheet1!$B$2:$B$3</c:f>
              <c:numCache>
                <c:formatCode>General</c:formatCode>
                <c:ptCount val="2"/>
                <c:pt idx="0">
                  <c:v>50.0</c:v>
                </c:pt>
                <c:pt idx="1">
                  <c:v>25.0</c:v>
                </c:pt>
              </c:numCache>
            </c:numRef>
          </c:val>
        </c:ser>
        <c:dLbls>
          <c:txPr>
            <a:bodyPr/>
            <a:lstStyle/>
            <a:p>
              <a:pPr>
                <a:defRPr sz="1100" b="1">
                  <a:solidFill>
                    <a:srgbClr val="FFFFFF"/>
                  </a:solidFill>
                </a:defRPr>
              </a:pPr>
            </a:p>
          </c:txPr>
          <c:showLegendKey val="0"/>
          <c:showVal val="0"/>
          <c:showCatName val="0"/>
          <c:showSerName val="0"/>
          <c:showPercent val="1"/>
          <c:showBubbleSize val="0"/>
          <c:showLeaderLines val="1"/>
        </c:dLbls>
      </c:pieChart>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Q1–Q4 2025 Apple Product Revenue &amp; Market Share Analysis</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Introduction</a:t>
            </a:r>
          </a:p>
        </p:txBody>
      </p:sp>
      <p:sp>
        <p:nvSpPr>
          <p:cNvPr id="4" name="Rectangle 3"/>
          <p:cNvSpPr/>
          <p:nvPr/>
        </p:nvSpPr>
        <p:spPr>
          <a:xfrm>
            <a:off x="3291840" y="1234440"/>
            <a:ext cx="256032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91840" y="1234440"/>
            <a:ext cx="25603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344168"/>
            <a:ext cx="2377439" cy="822960"/>
          </a:xfrm>
          <a:prstGeom prst="rect">
            <a:avLst/>
          </a:prstGeom>
          <a:noFill/>
        </p:spPr>
        <p:txBody>
          <a:bodyPr wrap="none">
            <a:spAutoFit/>
          </a:bodyPr>
          <a:lstStyle/>
          <a:p>
            <a:pPr algn="ctr">
              <a:defRPr sz="3600" b="1">
                <a:solidFill>
                  <a:srgbClr val="1E40AF"/>
                </a:solidFill>
              </a:defRPr>
            </a:pPr>
            <a:r>
              <a:t>2025</a:t>
            </a:r>
          </a:p>
        </p:txBody>
      </p:sp>
      <p:sp>
        <p:nvSpPr>
          <p:cNvPr id="7" name="TextBox 6"/>
          <p:cNvSpPr txBox="1"/>
          <p:nvPr/>
        </p:nvSpPr>
        <p:spPr>
          <a:xfrm>
            <a:off x="3383280" y="2194560"/>
            <a:ext cx="2377439" cy="685800"/>
          </a:xfrm>
          <a:prstGeom prst="rect">
            <a:avLst/>
          </a:prstGeom>
          <a:noFill/>
        </p:spPr>
        <p:txBody>
          <a:bodyPr wrap="square">
            <a:spAutoFit/>
          </a:bodyPr>
          <a:lstStyle/>
          <a:p>
            <a:pPr algn="ctr">
              <a:lnSpc>
                <a:spcPct val="120000"/>
              </a:lnSpc>
              <a:defRPr sz="1200">
                <a:solidFill>
                  <a:srgbClr val="64748B"/>
                </a:solidFill>
              </a:defRPr>
            </a:pPr>
            <a:r>
              <a:t>Apple's  outlook</a:t>
            </a:r>
          </a:p>
        </p:txBody>
      </p:sp>
      <p:sp>
        <p:nvSpPr>
          <p:cNvPr id="8" name="TextBox 7"/>
          <p:cNvSpPr txBox="1"/>
          <p:nvPr/>
        </p:nvSpPr>
        <p:spPr>
          <a:xfrm>
            <a:off x="731520" y="3154680"/>
            <a:ext cx="7680960" cy="914399"/>
          </a:xfrm>
          <a:prstGeom prst="rect">
            <a:avLst/>
          </a:prstGeom>
          <a:noFill/>
        </p:spPr>
        <p:txBody>
          <a:bodyPr wrap="square">
            <a:spAutoFit/>
          </a:bodyPr>
          <a:lstStyle/>
          <a:p>
            <a:pPr>
              <a:lnSpc>
                <a:spcPct val="130000"/>
              </a:lnSpc>
              <a:defRPr sz="1400">
                <a:solidFill>
                  <a:srgbClr val="64748B"/>
                </a:solidFill>
              </a:defRPr>
            </a:pPr>
            <a:r>
              <a:t>This presentation provides an in-depth analysis of Apple's product revenue and market share for Q1-Q4 2025. It will cover the company's performance across various product categories, including smartphones, laptops, tablets, and wearables.</a:t>
            </a:r>
          </a:p>
        </p:txBody>
      </p:sp>
      <p:sp>
        <p:nvSpPr>
          <p:cNvPr id="9" name="Oval 8"/>
          <p:cNvSpPr/>
          <p:nvPr/>
        </p:nvSpPr>
        <p:spPr>
          <a:xfrm>
            <a:off x="502920" y="43434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97680"/>
            <a:ext cx="7589520" cy="685800"/>
          </a:xfrm>
          <a:prstGeom prst="rect">
            <a:avLst/>
          </a:prstGeom>
          <a:noFill/>
        </p:spPr>
        <p:txBody>
          <a:bodyPr wrap="square">
            <a:spAutoFit/>
          </a:bodyPr>
          <a:lstStyle/>
          <a:p>
            <a:pPr>
              <a:lnSpc>
                <a:spcPct val="130000"/>
              </a:lnSpc>
              <a:defRPr sz="1600">
                <a:solidFill>
                  <a:srgbClr val="0F172A"/>
                </a:solidFill>
              </a:defRPr>
            </a:pPr>
            <a:r>
              <a:t>Product lines focus</a:t>
            </a:r>
          </a:p>
        </p:txBody>
      </p:sp>
      <p:sp>
        <p:nvSpPr>
          <p:cNvPr id="11" name="Oval 10"/>
          <p:cNvSpPr/>
          <p:nvPr/>
        </p:nvSpPr>
        <p:spPr>
          <a:xfrm>
            <a:off x="502920" y="507492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029200"/>
            <a:ext cx="7589520" cy="685800"/>
          </a:xfrm>
          <a:prstGeom prst="rect">
            <a:avLst/>
          </a:prstGeom>
          <a:noFill/>
        </p:spPr>
        <p:txBody>
          <a:bodyPr wrap="square">
            <a:spAutoFit/>
          </a:bodyPr>
          <a:lstStyle/>
          <a:p>
            <a:pPr>
              <a:lnSpc>
                <a:spcPct val="130000"/>
              </a:lnSpc>
              <a:defRPr sz="1600">
                <a:solidFill>
                  <a:srgbClr val="0F172A"/>
                </a:solidFill>
              </a:defRPr>
            </a:pPr>
            <a:r>
              <a:t>Market share insights</a:t>
            </a:r>
          </a:p>
        </p:txBody>
      </p:sp>
      <p:sp>
        <p:nvSpPr>
          <p:cNvPr id="13" name="Oval 12"/>
          <p:cNvSpPr/>
          <p:nvPr/>
        </p:nvSpPr>
        <p:spPr>
          <a:xfrm>
            <a:off x="502920" y="580644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760720"/>
            <a:ext cx="7589520" cy="685800"/>
          </a:xfrm>
          <a:prstGeom prst="rect">
            <a:avLst/>
          </a:prstGeom>
          <a:noFill/>
        </p:spPr>
        <p:txBody>
          <a:bodyPr wrap="square">
            <a:spAutoFit/>
          </a:bodyPr>
          <a:lstStyle/>
          <a:p>
            <a:pPr>
              <a:lnSpc>
                <a:spcPct val="130000"/>
              </a:lnSpc>
              <a:defRPr sz="1600">
                <a:solidFill>
                  <a:srgbClr val="0F172A"/>
                </a:solidFill>
              </a:defRPr>
            </a:pPr>
            <a:r>
              <a:t>Competitor analysis</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Q1–Q4 2025 Apple Product Revenue &amp; Market Share Analysis</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Smartphone Revenue</a:t>
            </a:r>
          </a:p>
        </p:txBody>
      </p:sp>
      <p:sp>
        <p:nvSpPr>
          <p:cNvPr id="4" name="TextBox 3"/>
          <p:cNvSpPr txBox="1"/>
          <p:nvPr/>
        </p:nvSpPr>
        <p:spPr>
          <a:xfrm>
            <a:off x="457200" y="1325880"/>
            <a:ext cx="3931920" cy="1188720"/>
          </a:xfrm>
          <a:prstGeom prst="rect">
            <a:avLst/>
          </a:prstGeom>
          <a:noFill/>
        </p:spPr>
        <p:txBody>
          <a:bodyPr wrap="square">
            <a:spAutoFit/>
          </a:bodyPr>
          <a:lstStyle/>
          <a:p>
            <a:pPr>
              <a:lnSpc>
                <a:spcPct val="130000"/>
              </a:lnSpc>
              <a:defRPr sz="1300">
                <a:solidFill>
                  <a:srgbClr val="64748B"/>
                </a:solidFill>
              </a:defRPr>
            </a:pPr>
            <a:r>
              <a:t>Apple's iPhone series has been a driving force behind the company's growth. In Q1-Q4 2025, we expect Apple to maintain its market dominance with a significant revenue share of over 17%.</a:t>
            </a:r>
          </a:p>
        </p:txBody>
      </p:sp>
      <p:sp>
        <p:nvSpPr>
          <p:cNvPr id="5" name="Oval 4"/>
          <p:cNvSpPr/>
          <p:nvPr/>
        </p:nvSpPr>
        <p:spPr>
          <a:xfrm>
            <a:off x="502920" y="283463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88920"/>
            <a:ext cx="7589520" cy="685800"/>
          </a:xfrm>
          <a:prstGeom prst="rect">
            <a:avLst/>
          </a:prstGeom>
          <a:noFill/>
        </p:spPr>
        <p:txBody>
          <a:bodyPr wrap="square">
            <a:spAutoFit/>
          </a:bodyPr>
          <a:lstStyle/>
          <a:p>
            <a:pPr>
              <a:lnSpc>
                <a:spcPct val="130000"/>
              </a:lnSpc>
              <a:defRPr sz="1600">
                <a:solidFill>
                  <a:srgbClr val="0F172A"/>
                </a:solidFill>
              </a:defRPr>
            </a:pPr>
            <a:r>
              <a:t>iPhone 15 Pro</a:t>
            </a:r>
          </a:p>
        </p:txBody>
      </p:sp>
      <p:sp>
        <p:nvSpPr>
          <p:cNvPr id="7" name="Oval 6"/>
          <p:cNvSpPr/>
          <p:nvPr/>
        </p:nvSpPr>
        <p:spPr>
          <a:xfrm>
            <a:off x="502920" y="349300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47287"/>
            <a:ext cx="7589520" cy="685800"/>
          </a:xfrm>
          <a:prstGeom prst="rect">
            <a:avLst/>
          </a:prstGeom>
          <a:noFill/>
        </p:spPr>
        <p:txBody>
          <a:bodyPr wrap="square">
            <a:spAutoFit/>
          </a:bodyPr>
          <a:lstStyle/>
          <a:p>
            <a:pPr>
              <a:lnSpc>
                <a:spcPct val="130000"/>
              </a:lnSpc>
              <a:defRPr sz="1600">
                <a:solidFill>
                  <a:srgbClr val="0F172A"/>
                </a:solidFill>
              </a:defRPr>
            </a:pPr>
            <a:r>
              <a:t>Increased adoption</a:t>
            </a:r>
          </a:p>
        </p:txBody>
      </p:sp>
      <p:sp>
        <p:nvSpPr>
          <p:cNvPr id="9" name="Oval 8"/>
          <p:cNvSpPr/>
          <p:nvPr/>
        </p:nvSpPr>
        <p:spPr>
          <a:xfrm>
            <a:off x="502920" y="4151375"/>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05655"/>
            <a:ext cx="7589520" cy="685800"/>
          </a:xfrm>
          <a:prstGeom prst="rect">
            <a:avLst/>
          </a:prstGeom>
          <a:noFill/>
        </p:spPr>
        <p:txBody>
          <a:bodyPr wrap="square">
            <a:spAutoFit/>
          </a:bodyPr>
          <a:lstStyle/>
          <a:p>
            <a:pPr>
              <a:lnSpc>
                <a:spcPct val="130000"/>
              </a:lnSpc>
              <a:defRPr sz="1600">
                <a:solidFill>
                  <a:srgbClr val="0F172A"/>
                </a:solidFill>
              </a:defRPr>
            </a:pPr>
            <a:r>
              <a:t>Market leader</a:t>
            </a:r>
          </a:p>
        </p:txBody>
      </p:sp>
      <p:sp>
        <p:nvSpPr>
          <p:cNvPr id="11" name="Oval 10"/>
          <p:cNvSpPr/>
          <p:nvPr/>
        </p:nvSpPr>
        <p:spPr>
          <a:xfrm>
            <a:off x="502920" y="4809743"/>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64023"/>
            <a:ext cx="7589520" cy="685800"/>
          </a:xfrm>
          <a:prstGeom prst="rect">
            <a:avLst/>
          </a:prstGeom>
          <a:noFill/>
        </p:spPr>
        <p:txBody>
          <a:bodyPr wrap="square">
            <a:spAutoFit/>
          </a:bodyPr>
          <a:lstStyle/>
          <a:p>
            <a:pPr>
              <a:lnSpc>
                <a:spcPct val="130000"/>
              </a:lnSpc>
              <a:defRPr sz="1600">
                <a:solidFill>
                  <a:srgbClr val="0F172A"/>
                </a:solidFill>
              </a:defRPr>
            </a:pPr>
            <a:r>
              <a:t>Revenue growth</a:t>
            </a:r>
          </a:p>
        </p:txBody>
      </p:sp>
      <p:graphicFrame>
        <p:nvGraphicFramePr>
          <p:cNvPr id="13" name="Chart 12"/>
          <p:cNvGraphicFramePr>
            <a:graphicFrameLocks noGrp="1"/>
          </p:cNvGraphicFramePr>
          <p:nvPr/>
        </p:nvGraphicFramePr>
        <p:xfrm>
          <a:off x="4389120" y="1097280"/>
          <a:ext cx="4572000" cy="5029200"/>
        </p:xfrm>
        <a:graphic>
          <a:graphicData uri="http://schemas.openxmlformats.org/drawingml/2006/chart">
            <c:chart xmlns:c="http://schemas.openxmlformats.org/drawingml/2006/chart" r:id="rId2"/>
          </a:graphicData>
        </a:graphic>
      </p:graphicFrame>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Q1–Q4 2025 Apple Product Revenue &amp; Market Share Analysis</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Laptop Revenue</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Apple's MacBook series will continue to thrive in Q1-Q4 2025, driven by the popularity of MacBook Air and MacBook Pro. We anticipate Apple to maintain its market share of around 12%, with a revenue growth rate of over 10%.</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MacBook Pro</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M2 chip boost</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Market share maintained</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Revenue growth</a:t>
            </a:r>
          </a:p>
        </p:txBody>
      </p:sp>
      <p:pic>
        <p:nvPicPr>
          <p:cNvPr id="13" name="Picture 12" descr="unsplash_Im7lZjxeLhg.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Q1–Q4 2025 Apple Product Revenue &amp; Market Share Analysis</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Tablet Revenue</a:t>
            </a:r>
          </a:p>
        </p:txBody>
      </p:sp>
      <p:sp>
        <p:nvSpPr>
          <p:cNvPr id="4" name="TextBox 3"/>
          <p:cNvSpPr txBox="1"/>
          <p:nvPr/>
        </p:nvSpPr>
        <p:spPr>
          <a:xfrm>
            <a:off x="457200" y="1325880"/>
            <a:ext cx="3931920" cy="1188720"/>
          </a:xfrm>
          <a:prstGeom prst="rect">
            <a:avLst/>
          </a:prstGeom>
          <a:noFill/>
        </p:spPr>
        <p:txBody>
          <a:bodyPr wrap="square">
            <a:spAutoFit/>
          </a:bodyPr>
          <a:lstStyle/>
          <a:p>
            <a:pPr>
              <a:lnSpc>
                <a:spcPct val="130000"/>
              </a:lnSpc>
              <a:defRPr sz="1300">
                <a:solidFill>
                  <a:srgbClr val="64748B"/>
                </a:solidFill>
              </a:defRPr>
            </a:pPr>
            <a:r>
              <a:t>Apple's iPad series has seen steady growth in recent years. In Q1-Q4 2025, we expect Apple to continue its tablet market dominance with a revenue share of over 25%.</a:t>
            </a:r>
          </a:p>
        </p:txBody>
      </p:sp>
      <p:sp>
        <p:nvSpPr>
          <p:cNvPr id="5" name="Oval 4"/>
          <p:cNvSpPr/>
          <p:nvPr/>
        </p:nvSpPr>
        <p:spPr>
          <a:xfrm>
            <a:off x="502920" y="283463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88920"/>
            <a:ext cx="7589520" cy="685800"/>
          </a:xfrm>
          <a:prstGeom prst="rect">
            <a:avLst/>
          </a:prstGeom>
          <a:noFill/>
        </p:spPr>
        <p:txBody>
          <a:bodyPr wrap="square">
            <a:spAutoFit/>
          </a:bodyPr>
          <a:lstStyle/>
          <a:p>
            <a:pPr>
              <a:lnSpc>
                <a:spcPct val="130000"/>
              </a:lnSpc>
              <a:defRPr sz="1600">
                <a:solidFill>
                  <a:srgbClr val="0F172A"/>
                </a:solidFill>
              </a:defRPr>
            </a:pPr>
            <a:r>
              <a:t>iPad Air</a:t>
            </a:r>
          </a:p>
        </p:txBody>
      </p:sp>
      <p:sp>
        <p:nvSpPr>
          <p:cNvPr id="7" name="Oval 6"/>
          <p:cNvSpPr/>
          <p:nvPr/>
        </p:nvSpPr>
        <p:spPr>
          <a:xfrm>
            <a:off x="502920" y="349300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47287"/>
            <a:ext cx="7589520" cy="685800"/>
          </a:xfrm>
          <a:prstGeom prst="rect">
            <a:avLst/>
          </a:prstGeom>
          <a:noFill/>
        </p:spPr>
        <p:txBody>
          <a:bodyPr wrap="square">
            <a:spAutoFit/>
          </a:bodyPr>
          <a:lstStyle/>
          <a:p>
            <a:pPr>
              <a:lnSpc>
                <a:spcPct val="130000"/>
              </a:lnSpc>
              <a:defRPr sz="1600">
                <a:solidFill>
                  <a:srgbClr val="0F172A"/>
                </a:solidFill>
              </a:defRPr>
            </a:pPr>
            <a:r>
              <a:t>iPad Pro growth</a:t>
            </a:r>
          </a:p>
        </p:txBody>
      </p:sp>
      <p:sp>
        <p:nvSpPr>
          <p:cNvPr id="9" name="Oval 8"/>
          <p:cNvSpPr/>
          <p:nvPr/>
        </p:nvSpPr>
        <p:spPr>
          <a:xfrm>
            <a:off x="502920" y="4151375"/>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05655"/>
            <a:ext cx="7589520" cy="685800"/>
          </a:xfrm>
          <a:prstGeom prst="rect">
            <a:avLst/>
          </a:prstGeom>
          <a:noFill/>
        </p:spPr>
        <p:txBody>
          <a:bodyPr wrap="square">
            <a:spAutoFit/>
          </a:bodyPr>
          <a:lstStyle/>
          <a:p>
            <a:pPr>
              <a:lnSpc>
                <a:spcPct val="130000"/>
              </a:lnSpc>
              <a:defRPr sz="1600">
                <a:solidFill>
                  <a:srgbClr val="0F172A"/>
                </a:solidFill>
              </a:defRPr>
            </a:pPr>
            <a:r>
              <a:t>Market leader</a:t>
            </a:r>
          </a:p>
        </p:txBody>
      </p:sp>
      <p:sp>
        <p:nvSpPr>
          <p:cNvPr id="11" name="Oval 10"/>
          <p:cNvSpPr/>
          <p:nvPr/>
        </p:nvSpPr>
        <p:spPr>
          <a:xfrm>
            <a:off x="502920" y="4809743"/>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64023"/>
            <a:ext cx="7589520" cy="685800"/>
          </a:xfrm>
          <a:prstGeom prst="rect">
            <a:avLst/>
          </a:prstGeom>
          <a:noFill/>
        </p:spPr>
        <p:txBody>
          <a:bodyPr wrap="square">
            <a:spAutoFit/>
          </a:bodyPr>
          <a:lstStyle/>
          <a:p>
            <a:pPr>
              <a:lnSpc>
                <a:spcPct val="130000"/>
              </a:lnSpc>
              <a:defRPr sz="1600">
                <a:solidFill>
                  <a:srgbClr val="0F172A"/>
                </a:solidFill>
              </a:defRPr>
            </a:pPr>
            <a:r>
              <a:t>Revenue growth</a:t>
            </a:r>
          </a:p>
        </p:txBody>
      </p:sp>
      <p:graphicFrame>
        <p:nvGraphicFramePr>
          <p:cNvPr id="13" name="Chart 12"/>
          <p:cNvGraphicFramePr>
            <a:graphicFrameLocks noGrp="1"/>
          </p:cNvGraphicFramePr>
          <p:nvPr/>
        </p:nvGraphicFramePr>
        <p:xfrm>
          <a:off x="4389120" y="1097280"/>
          <a:ext cx="4572000" cy="5029200"/>
        </p:xfrm>
        <a:graphic>
          <a:graphicData uri="http://schemas.openxmlformats.org/drawingml/2006/chart">
            <c:chart xmlns:c="http://schemas.openxmlformats.org/drawingml/2006/chart" r:id="rId2"/>
          </a:graphicData>
        </a:graphic>
      </p:graphicFrame>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Q1–Q4 2025 Apple Product Revenue &amp; Market Share Analysis</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Wearable Revenue</a:t>
            </a:r>
          </a:p>
        </p:txBody>
      </p:sp>
      <p:sp>
        <p:nvSpPr>
          <p:cNvPr id="4" name="TextBox 3"/>
          <p:cNvSpPr txBox="1"/>
          <p:nvPr/>
        </p:nvSpPr>
        <p:spPr>
          <a:xfrm>
            <a:off x="731520" y="1417320"/>
            <a:ext cx="7680960" cy="914399"/>
          </a:xfrm>
          <a:prstGeom prst="rect">
            <a:avLst/>
          </a:prstGeom>
          <a:noFill/>
        </p:spPr>
        <p:txBody>
          <a:bodyPr wrap="square">
            <a:spAutoFit/>
          </a:bodyPr>
          <a:lstStyle/>
          <a:p>
            <a:pPr>
              <a:lnSpc>
                <a:spcPct val="130000"/>
              </a:lnSpc>
              <a:defRPr sz="1400">
                <a:solidFill>
                  <a:srgbClr val="64748B"/>
                </a:solidFill>
              </a:defRPr>
            </a:pPr>
            <a:r>
              <a:t>Apple's wearable product lineup has been a significant contributor to the company's revenue. In Q1-Q4 2025, we anticipate Apple Watch and AirPods Pro to drive sales, with the latter expected to account for more than 30% of total wearable revenue.</a:t>
            </a:r>
          </a:p>
        </p:txBody>
      </p:sp>
      <p:sp>
        <p:nvSpPr>
          <p:cNvPr id="5" name="Oval 4"/>
          <p:cNvSpPr/>
          <p:nvPr/>
        </p:nvSpPr>
        <p:spPr>
          <a:xfrm>
            <a:off x="502920" y="260603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60320"/>
            <a:ext cx="7589520" cy="685800"/>
          </a:xfrm>
          <a:prstGeom prst="rect">
            <a:avLst/>
          </a:prstGeom>
          <a:noFill/>
        </p:spPr>
        <p:txBody>
          <a:bodyPr wrap="square">
            <a:spAutoFit/>
          </a:bodyPr>
          <a:lstStyle/>
          <a:p>
            <a:pPr>
              <a:lnSpc>
                <a:spcPct val="130000"/>
              </a:lnSpc>
              <a:defRPr sz="1600">
                <a:solidFill>
                  <a:srgbClr val="0F172A"/>
                </a:solidFill>
              </a:defRPr>
            </a:pPr>
            <a:r>
              <a:t>Apple Watch</a:t>
            </a:r>
          </a:p>
        </p:txBody>
      </p:sp>
      <p:sp>
        <p:nvSpPr>
          <p:cNvPr id="7" name="Oval 6"/>
          <p:cNvSpPr/>
          <p:nvPr/>
        </p:nvSpPr>
        <p:spPr>
          <a:xfrm>
            <a:off x="502920" y="333755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91839"/>
            <a:ext cx="7589520" cy="685800"/>
          </a:xfrm>
          <a:prstGeom prst="rect">
            <a:avLst/>
          </a:prstGeom>
          <a:noFill/>
        </p:spPr>
        <p:txBody>
          <a:bodyPr wrap="square">
            <a:spAutoFit/>
          </a:bodyPr>
          <a:lstStyle/>
          <a:p>
            <a:pPr>
              <a:lnSpc>
                <a:spcPct val="130000"/>
              </a:lnSpc>
              <a:defRPr sz="1600">
                <a:solidFill>
                  <a:srgbClr val="0F172A"/>
                </a:solidFill>
              </a:defRPr>
            </a:pPr>
            <a:r>
              <a:t>AirPods Pro growth</a:t>
            </a:r>
          </a:p>
        </p:txBody>
      </p:sp>
      <p:sp>
        <p:nvSpPr>
          <p:cNvPr id="9" name="Oval 8"/>
          <p:cNvSpPr/>
          <p:nvPr/>
        </p:nvSpPr>
        <p:spPr>
          <a:xfrm>
            <a:off x="502920" y="40690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23359"/>
            <a:ext cx="7589520" cy="685800"/>
          </a:xfrm>
          <a:prstGeom prst="rect">
            <a:avLst/>
          </a:prstGeom>
          <a:noFill/>
        </p:spPr>
        <p:txBody>
          <a:bodyPr wrap="square">
            <a:spAutoFit/>
          </a:bodyPr>
          <a:lstStyle/>
          <a:p>
            <a:pPr>
              <a:lnSpc>
                <a:spcPct val="130000"/>
              </a:lnSpc>
              <a:defRPr sz="1600">
                <a:solidFill>
                  <a:srgbClr val="0F172A"/>
                </a:solidFill>
              </a:defRPr>
            </a:pPr>
            <a:r>
              <a:t>Market leader</a:t>
            </a:r>
          </a:p>
        </p:txBody>
      </p:sp>
      <p:sp>
        <p:nvSpPr>
          <p:cNvPr id="11" name="Rectangle 10"/>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Q1–Q4 2025 Apple Product Revenue &amp; Market Share Analysis</a:t>
            </a:r>
          </a:p>
        </p:txBody>
      </p:sp>
      <p:sp>
        <p:nvSpPr>
          <p:cNvPr id="13" name="TextBox 12"/>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Competitor Analysis</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In the competitive tech landscape, Apple faces challenges from other major players such as Samsung, Huawei, and Google. While these competitors have their strengths, Apple's ecosystem and brand loyalty will continue to drive its market share and revenue.</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Samsung challenge</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Huawei threat</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Google competition</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Brand loyalty advantage</a:t>
            </a:r>
          </a:p>
        </p:txBody>
      </p:sp>
      <p:pic>
        <p:nvPicPr>
          <p:cNvPr id="13" name="Picture 12" descr="unsplash_8mikJ83LmSQ.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Q1–Q4 2025 Apple Product Revenue &amp; Market Share Analysis</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Market Share Analysis</a:t>
            </a:r>
          </a:p>
        </p:txBody>
      </p:sp>
      <p:sp>
        <p:nvSpPr>
          <p:cNvPr id="4" name="TextBox 3"/>
          <p:cNvSpPr txBox="1"/>
          <p:nvPr/>
        </p:nvSpPr>
        <p:spPr>
          <a:xfrm>
            <a:off x="731520" y="1417320"/>
            <a:ext cx="7680960" cy="914399"/>
          </a:xfrm>
          <a:prstGeom prst="rect">
            <a:avLst/>
          </a:prstGeom>
          <a:noFill/>
        </p:spPr>
        <p:txBody>
          <a:bodyPr wrap="square">
            <a:spAutoFit/>
          </a:bodyPr>
          <a:lstStyle/>
          <a:p>
            <a:pPr>
              <a:lnSpc>
                <a:spcPct val="130000"/>
              </a:lnSpc>
              <a:defRPr sz="1400">
                <a:solidFill>
                  <a:srgbClr val="64748B"/>
                </a:solidFill>
              </a:defRPr>
            </a:pPr>
            <a:r>
              <a:t>Our analysis indicates that Apple will maintain its market share across various product categories in Q1-Q4 2025. The company's focus on innovation and customer experience will continue to drive growth and revenue.</a:t>
            </a:r>
          </a:p>
        </p:txBody>
      </p:sp>
      <p:sp>
        <p:nvSpPr>
          <p:cNvPr id="5" name="Oval 4"/>
          <p:cNvSpPr/>
          <p:nvPr/>
        </p:nvSpPr>
        <p:spPr>
          <a:xfrm>
            <a:off x="502920" y="260603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60320"/>
            <a:ext cx="7589520" cy="685800"/>
          </a:xfrm>
          <a:prstGeom prst="rect">
            <a:avLst/>
          </a:prstGeom>
          <a:noFill/>
        </p:spPr>
        <p:txBody>
          <a:bodyPr wrap="square">
            <a:spAutoFit/>
          </a:bodyPr>
          <a:lstStyle/>
          <a:p>
            <a:pPr>
              <a:lnSpc>
                <a:spcPct val="130000"/>
              </a:lnSpc>
              <a:defRPr sz="1600">
                <a:solidFill>
                  <a:srgbClr val="0F172A"/>
                </a:solidFill>
              </a:defRPr>
            </a:pPr>
            <a:r>
              <a:t>Apple market share maintained</a:t>
            </a:r>
          </a:p>
        </p:txBody>
      </p:sp>
      <p:sp>
        <p:nvSpPr>
          <p:cNvPr id="7" name="Oval 6"/>
          <p:cNvSpPr/>
          <p:nvPr/>
        </p:nvSpPr>
        <p:spPr>
          <a:xfrm>
            <a:off x="502920" y="333755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91839"/>
            <a:ext cx="7589520" cy="685800"/>
          </a:xfrm>
          <a:prstGeom prst="rect">
            <a:avLst/>
          </a:prstGeom>
          <a:noFill/>
        </p:spPr>
        <p:txBody>
          <a:bodyPr wrap="square">
            <a:spAutoFit/>
          </a:bodyPr>
          <a:lstStyle/>
          <a:p>
            <a:pPr>
              <a:lnSpc>
                <a:spcPct val="130000"/>
              </a:lnSpc>
              <a:defRPr sz="1600">
                <a:solidFill>
                  <a:srgbClr val="0F172A"/>
                </a:solidFill>
              </a:defRPr>
            </a:pPr>
            <a:r>
              <a:t>Innovation driver</a:t>
            </a:r>
          </a:p>
        </p:txBody>
      </p:sp>
      <p:sp>
        <p:nvSpPr>
          <p:cNvPr id="9" name="Oval 8"/>
          <p:cNvSpPr/>
          <p:nvPr/>
        </p:nvSpPr>
        <p:spPr>
          <a:xfrm>
            <a:off x="502920" y="40690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23359"/>
            <a:ext cx="7589520" cy="685800"/>
          </a:xfrm>
          <a:prstGeom prst="rect">
            <a:avLst/>
          </a:prstGeom>
          <a:noFill/>
        </p:spPr>
        <p:txBody>
          <a:bodyPr wrap="square">
            <a:spAutoFit/>
          </a:bodyPr>
          <a:lstStyle/>
          <a:p>
            <a:pPr>
              <a:lnSpc>
                <a:spcPct val="130000"/>
              </a:lnSpc>
              <a:defRPr sz="1600">
                <a:solidFill>
                  <a:srgbClr val="0F172A"/>
                </a:solidFill>
              </a:defRPr>
            </a:pPr>
            <a:r>
              <a:t>Customer experience key</a:t>
            </a:r>
          </a:p>
        </p:txBody>
      </p:sp>
      <p:sp>
        <p:nvSpPr>
          <p:cNvPr id="11" name="Rectangle 10"/>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Q1–Q4 2025 Apple Product Revenue &amp; Market Share Analysis</a:t>
            </a:r>
          </a:p>
        </p:txBody>
      </p:sp>
      <p:sp>
        <p:nvSpPr>
          <p:cNvPr id="13" name="TextBox 12"/>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Apple success</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Revenue growth expected</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Market leader position maintained</a:t>
            </a:r>
          </a:p>
          <a:p>
            <a:pPr>
              <a:lnSpc>
                <a:spcPct val="120000"/>
              </a:lnSpc>
              <a:spcBef>
                <a:spcPts val="600"/>
              </a:spcBef>
              <a:spcAft>
                <a:spcPts val="600"/>
              </a:spcAft>
              <a:defRPr sz="1200">
                <a:solidFill>
                  <a:srgbClr val="0F172A"/>
                </a:solidFill>
              </a:defRPr>
            </a:pPr>
            <a:r>
              <a:t>• Innovation driver</a:t>
            </a:r>
          </a:p>
          <a:p>
            <a:pPr>
              <a:lnSpc>
                <a:spcPct val="120000"/>
              </a:lnSpc>
              <a:spcBef>
                <a:spcPts val="600"/>
              </a:spcBef>
              <a:spcAft>
                <a:spcPts val="600"/>
              </a:spcAft>
              <a:defRPr sz="1200">
                <a:solidFill>
                  <a:srgbClr val="0F172A"/>
                </a:solidFill>
              </a:defRPr>
            </a:pPr>
            <a:r>
              <a:t>• Customer experience key</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Apple's 2025 outlook</a:t>
            </a:r>
          </a:p>
          <a:p>
            <a:pPr>
              <a:lnSpc>
                <a:spcPct val="120000"/>
              </a:lnSpc>
              <a:spcBef>
                <a:spcPts val="300"/>
              </a:spcBef>
              <a:spcAft>
                <a:spcPts val="300"/>
              </a:spcAft>
              <a:defRPr sz="1100">
                <a:solidFill>
                  <a:srgbClr val="64748B"/>
                </a:solidFill>
              </a:defRPr>
            </a:pPr>
            <a:r>
              <a:t>• Product lines focus</a:t>
            </a:r>
          </a:p>
          <a:p>
            <a:pPr>
              <a:lnSpc>
                <a:spcPct val="120000"/>
              </a:lnSpc>
              <a:spcBef>
                <a:spcPts val="300"/>
              </a:spcBef>
              <a:spcAft>
                <a:spcPts val="300"/>
              </a:spcAft>
              <a:defRPr sz="1100">
                <a:solidFill>
                  <a:srgbClr val="64748B"/>
                </a:solidFill>
              </a:defRPr>
            </a:pPr>
            <a:r>
              <a:t>• Market share insights</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Smartphone Revenue</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iPhone 15 Pro</a:t>
            </a:r>
          </a:p>
          <a:p>
            <a:pPr>
              <a:lnSpc>
                <a:spcPct val="120000"/>
              </a:lnSpc>
              <a:spcBef>
                <a:spcPts val="300"/>
              </a:spcBef>
              <a:spcAft>
                <a:spcPts val="300"/>
              </a:spcAft>
              <a:defRPr sz="1100">
                <a:solidFill>
                  <a:srgbClr val="64748B"/>
                </a:solidFill>
              </a:defRPr>
            </a:pPr>
            <a:r>
              <a:t>• Increased adoption</a:t>
            </a:r>
          </a:p>
          <a:p>
            <a:pPr>
              <a:lnSpc>
                <a:spcPct val="120000"/>
              </a:lnSpc>
              <a:spcBef>
                <a:spcPts val="300"/>
              </a:spcBef>
              <a:spcAft>
                <a:spcPts val="300"/>
              </a:spcAft>
              <a:defRPr sz="1100">
                <a:solidFill>
                  <a:srgbClr val="64748B"/>
                </a:solidFill>
              </a:defRPr>
            </a:pPr>
            <a:r>
              <a:t>• Market leader</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Laptop Revenue</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MacBook Pro</a:t>
            </a:r>
          </a:p>
          <a:p>
            <a:pPr>
              <a:lnSpc>
                <a:spcPct val="120000"/>
              </a:lnSpc>
              <a:spcBef>
                <a:spcPts val="300"/>
              </a:spcBef>
              <a:spcAft>
                <a:spcPts val="300"/>
              </a:spcAft>
              <a:defRPr sz="1100">
                <a:solidFill>
                  <a:srgbClr val="64748B"/>
                </a:solidFill>
              </a:defRPr>
            </a:pPr>
            <a:r>
              <a:t>• M2 chip boost</a:t>
            </a:r>
          </a:p>
          <a:p>
            <a:pPr>
              <a:lnSpc>
                <a:spcPct val="120000"/>
              </a:lnSpc>
              <a:spcBef>
                <a:spcPts val="300"/>
              </a:spcBef>
              <a:spcAft>
                <a:spcPts val="300"/>
              </a:spcAft>
              <a:defRPr sz="1100">
                <a:solidFill>
                  <a:srgbClr val="64748B"/>
                </a:solidFill>
              </a:defRPr>
            </a:pPr>
            <a:r>
              <a:t>• Market share maintained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Introduction</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Smartphone Revenue</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Laptop Revenue</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Tablet Revenue</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Wearable Revenue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